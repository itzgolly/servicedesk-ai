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We are Aarush and Gomatheswar. This is our final demonstration of ServiceDesk AI, Project 19 from the Customer Support SaaS category. We will show the working system first, then explain the architecture, the testing and what is not finished.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scale of what we built and where we stand against the nine mandatory requirements. Seven are complete. Two are not, and we want to say that at the start rather than hide it at the end: the application is not yet deployed to the public cloud, so the live URL and the cloud database instance are outstanding. Everything else you are about to see is real and running.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order of the demonstration. Six steps, about seven minutes. The important thing to note is that none of it is staged — we create a ticket live, and the classification comes from the words we type.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architecture as built. Three tiers on three managed platforms. The key property is the middle one being stateless — sessions are JWTs and everything else lives in Postgres, which is exactly what makes it horizontally scalable. We deliberately did not use Kubernetes or microservices; neither solves a problem we have at this scale.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Eight tables. Three decisions worth defending: enums rather than lookup tables, because the values are fixed by the specification and the declaration order gives us correct priority sorting for free; delete rules chosen per relationship to express what should happen to real data; and business invariants expressed as database constraints so they hold even when our application code is wrong. That last one caught a real bug during development — an early reopen operation did not clear the resolved timestamp and the database rejected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authorisation layers, both server-side. Twenty-six tests call the API directly with the wrong role to prove the interface is not what protects us. Two details worth pointing out: another customer's ticket returns 404 rather than 403, so an attacker cannot probe IDs to discover what exists; and the login error is identical for an unknown email and a wrong password, including the timing, so the endpoint cannot be used to enumerate accounts.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want to be honest: AI was not required by the specification. We added it, so we designed it so nothing depends on it. Three properties make that true, and each has a test number next to it. Classification runs after the commit; the fallback is a real working classifier, not a stub; and generating a draft creates zero customer-visible messages. If you ask us to unplug the AI right now, everything else keeps working.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92 tests, all passing, against a real Postgres database. We tested against a real database deliberately — a mock would have accepted a row that our check constraint rejects, so the tests would pass while the deployed system misbehaved. Three defects were found and fixed. The third is the most instructive: the build passed, types passed, the API returned correct data, and every chart still rendered empty. Only looking at the running page found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would rather tell you what is not done than have you find it. Deployment is the one blocking item and three things depend on it: the live URL, the cloud database instance and the screenshots. The procedure is written and the configuration is in the repository. The other three gaps — attachments, frontend tests and load testing — are genuine scope decisions we can defend.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remaining work, roughly seventy-five minutes. The order matters because each tier needs the address of the one before it. Two things we want to flag: the free tier sleeps, which is why we have a keep-alive ping and why we open the app five minutes before a demo; and after deploying we grep the built JavaScript for the AI key to prove it never reaches the browser.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enhancements, ordered by value against effort. Email notifications and attachments are the two we would do first. Multi-tenancy is the biggest, but it is worth noting that the design decision to apply role scoping in one shared query builder is exactly what would make adding a tenant filter tractable rather than a rewrite.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To be clear about status once more: the repository is live and the test suite passes, and the application is not yet deployed — we will not claim a public URL before it exists. We are both happy to take questions, and to modify the code if you would like to see a change made live.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2E36"/>
        </a:solidFill>
      </p:bgPr>
    </p:bg>
    <p:spTree>
      <p:nvGrpSpPr>
        <p:cNvPr id="1" name=""/>
        <p:cNvGrpSpPr/>
        <p:nvPr/>
      </p:nvGrpSpPr>
      <p:grpSpPr>
        <a:xfrm>
          <a:off x="0" y="0"/>
          <a:ext cx="0" cy="0"/>
          <a:chOff x="0" y="0"/>
          <a:chExt cx="0" cy="0"/>
        </a:xfrm>
      </p:grpSpPr>
      <p:sp>
        <p:nvSpPr>
          <p:cNvPr id="2" name="Shape 0"/>
          <p:cNvSpPr/>
          <p:nvPr/>
        </p:nvSpPr>
        <p:spPr>
          <a:xfrm>
            <a:off x="9281160" y="3246120"/>
            <a:ext cx="3931920" cy="3931920"/>
          </a:xfrm>
          <a:prstGeom prst="ellipse">
            <a:avLst/>
          </a:prstGeom>
          <a:ln w="13970">
            <a:solidFill>
              <a:srgbClr val="028090"/>
            </a:solidFill>
            <a:prstDash val="solid"/>
          </a:ln>
        </p:spPr>
      </p:sp>
      <p:sp>
        <p:nvSpPr>
          <p:cNvPr id="3" name="Shape 1"/>
          <p:cNvSpPr/>
          <p:nvPr/>
        </p:nvSpPr>
        <p:spPr>
          <a:xfrm>
            <a:off x="10104120" y="4069080"/>
            <a:ext cx="2286000" cy="2286000"/>
          </a:xfrm>
          <a:prstGeom prst="ellipse">
            <a:avLst/>
          </a:prstGeom>
          <a:ln w="13970">
            <a:solidFill>
              <a:srgbClr val="00A896"/>
            </a:solidFill>
            <a:prstDash val="solid"/>
          </a:ln>
        </p:spPr>
      </p:sp>
      <p:sp>
        <p:nvSpPr>
          <p:cNvPr id="4" name="Shape 2"/>
          <p:cNvSpPr/>
          <p:nvPr/>
        </p:nvSpPr>
        <p:spPr>
          <a:xfrm>
            <a:off x="10744200" y="4709160"/>
            <a:ext cx="1005840" cy="1005840"/>
          </a:xfrm>
          <a:prstGeom prst="ellipse">
            <a:avLst/>
          </a:prstGeom>
          <a:solidFill>
            <a:srgbClr val="02C39A"/>
          </a:solidFill>
          <a:ln/>
        </p:spPr>
      </p:sp>
      <p:sp>
        <p:nvSpPr>
          <p:cNvPr id="5" name="Text 3"/>
          <p:cNvSpPr/>
          <p:nvPr/>
        </p:nvSpPr>
        <p:spPr>
          <a:xfrm>
            <a:off x="566928" y="731520"/>
            <a:ext cx="8686800" cy="256032"/>
          </a:xfrm>
          <a:prstGeom prst="rect">
            <a:avLst/>
          </a:prstGeom>
          <a:noFill/>
          <a:ln/>
        </p:spPr>
        <p:txBody>
          <a:bodyPr wrap="square" lIns="0" tIns="0" rIns="0" bIns="0" rtlCol="0" anchor="ctr"/>
          <a:lstStyle/>
          <a:p>
            <a:pPr indent="0" marL="0">
              <a:buNone/>
            </a:pPr>
            <a:r>
              <a:rPr lang="en-US" sz="1100" b="1" spc="200" kern="0" dirty="0">
                <a:solidFill>
                  <a:srgbClr val="02C39A"/>
                </a:solidFill>
                <a:latin typeface="Calibri" pitchFamily="34" charset="0"/>
                <a:ea typeface="Calibri" pitchFamily="34" charset="-122"/>
                <a:cs typeface="Calibri" pitchFamily="34" charset="-120"/>
              </a:rPr>
              <a:t>VELLORE INSTITUTE OF TECHNOLOGY, CHENNAI</a:t>
            </a:r>
            <a:endParaRPr lang="en-US" sz="1100" dirty="0"/>
          </a:p>
        </p:txBody>
      </p:sp>
      <p:sp>
        <p:nvSpPr>
          <p:cNvPr id="6" name="Text 4"/>
          <p:cNvSpPr/>
          <p:nvPr/>
        </p:nvSpPr>
        <p:spPr>
          <a:xfrm>
            <a:off x="566928" y="987552"/>
            <a:ext cx="8686800" cy="256032"/>
          </a:xfrm>
          <a:prstGeom prst="rect">
            <a:avLst/>
          </a:prstGeom>
          <a:noFill/>
          <a:ln/>
        </p:spPr>
        <p:txBody>
          <a:bodyPr wrap="square" lIns="0" tIns="0" rIns="0" bIns="0" rtlCol="0" anchor="ctr"/>
          <a:lstStyle/>
          <a:p>
            <a:pPr indent="0" marL="0">
              <a:buNone/>
            </a:pPr>
            <a:r>
              <a:rPr lang="en-US" sz="1100" dirty="0">
                <a:solidFill>
                  <a:srgbClr val="9DB6BC"/>
                </a:solidFill>
                <a:latin typeface="Calibri" pitchFamily="34" charset="0"/>
                <a:ea typeface="Calibri" pitchFamily="34" charset="-122"/>
                <a:cs typeface="Calibri" pitchFamily="34" charset="-120"/>
              </a:rPr>
              <a:t>School of Computer Science Engineering and Information Systems</a:t>
            </a:r>
            <a:endParaRPr lang="en-US" sz="1100" dirty="0"/>
          </a:p>
        </p:txBody>
      </p:sp>
      <p:sp>
        <p:nvSpPr>
          <p:cNvPr id="7" name="Text 5"/>
          <p:cNvSpPr/>
          <p:nvPr/>
        </p:nvSpPr>
        <p:spPr>
          <a:xfrm>
            <a:off x="566928" y="1874520"/>
            <a:ext cx="8778240" cy="1051560"/>
          </a:xfrm>
          <a:prstGeom prst="rect">
            <a:avLst/>
          </a:prstGeom>
          <a:noFill/>
          <a:ln/>
        </p:spPr>
        <p:txBody>
          <a:bodyPr wrap="square" lIns="0" tIns="0" rIns="0" bIns="0" rtlCol="0" anchor="ctr"/>
          <a:lstStyle/>
          <a:p>
            <a:pPr indent="0" marL="0">
              <a:buNone/>
            </a:pPr>
            <a:r>
              <a:rPr lang="en-US" sz="6000" b="1" dirty="0">
                <a:solidFill>
                  <a:srgbClr val="FFFFFF"/>
                </a:solidFill>
                <a:latin typeface="Cambria" pitchFamily="34" charset="0"/>
                <a:ea typeface="Cambria" pitchFamily="34" charset="-122"/>
                <a:cs typeface="Cambria" pitchFamily="34" charset="-120"/>
              </a:rPr>
              <a:t>ServiceDesk AI</a:t>
            </a:r>
            <a:endParaRPr lang="en-US" sz="6000" dirty="0"/>
          </a:p>
        </p:txBody>
      </p:sp>
      <p:sp>
        <p:nvSpPr>
          <p:cNvPr id="8" name="Text 6"/>
          <p:cNvSpPr/>
          <p:nvPr/>
        </p:nvSpPr>
        <p:spPr>
          <a:xfrm>
            <a:off x="566928" y="2944368"/>
            <a:ext cx="8412480" cy="457200"/>
          </a:xfrm>
          <a:prstGeom prst="rect">
            <a:avLst/>
          </a:prstGeom>
          <a:noFill/>
          <a:ln/>
        </p:spPr>
        <p:txBody>
          <a:bodyPr wrap="square" lIns="0" tIns="0" rIns="0" bIns="0" rtlCol="0" anchor="ctr"/>
          <a:lstStyle/>
          <a:p>
            <a:pPr indent="0" marL="0">
              <a:buNone/>
            </a:pPr>
            <a:r>
              <a:rPr lang="en-US" sz="1700" dirty="0">
                <a:solidFill>
                  <a:srgbClr val="BCD4D8"/>
                </a:solidFill>
                <a:latin typeface="Cambria" pitchFamily="34" charset="0"/>
                <a:ea typeface="Cambria" pitchFamily="34" charset="-122"/>
                <a:cs typeface="Cambria" pitchFamily="34" charset="-120"/>
              </a:rPr>
              <a:t>A cloud-native customer support SaaS platform for small businesses</a:t>
            </a:r>
            <a:endParaRPr lang="en-US" sz="1700" dirty="0"/>
          </a:p>
        </p:txBody>
      </p:sp>
      <p:sp>
        <p:nvSpPr>
          <p:cNvPr id="9" name="Text 7"/>
          <p:cNvSpPr/>
          <p:nvPr/>
        </p:nvSpPr>
        <p:spPr>
          <a:xfrm>
            <a:off x="566928" y="3611880"/>
            <a:ext cx="8778240" cy="274320"/>
          </a:xfrm>
          <a:prstGeom prst="rect">
            <a:avLst/>
          </a:prstGeom>
          <a:noFill/>
          <a:ln/>
        </p:spPr>
        <p:txBody>
          <a:bodyPr wrap="square" lIns="0" tIns="0" rIns="0" bIns="0" rtlCol="0" anchor="ctr"/>
          <a:lstStyle/>
          <a:p>
            <a:pPr indent="0" marL="0">
              <a:buNone/>
            </a:pPr>
            <a:r>
              <a:rPr lang="en-US" sz="1200" b="1" dirty="0">
                <a:solidFill>
                  <a:srgbClr val="00A896"/>
                </a:solidFill>
                <a:latin typeface="Calibri" pitchFamily="34" charset="0"/>
                <a:ea typeface="Calibri" pitchFamily="34" charset="-122"/>
                <a:cs typeface="Calibri" pitchFamily="34" charset="-120"/>
              </a:rPr>
              <a:t>Project 19  ·  Customer Support SaaS  ·  Final Demonstration  ·  15 October 2026</a:t>
            </a:r>
            <a:endParaRPr lang="en-US" sz="1200" dirty="0"/>
          </a:p>
        </p:txBody>
      </p:sp>
      <p:sp>
        <p:nvSpPr>
          <p:cNvPr id="10" name="Shape 8"/>
          <p:cNvSpPr/>
          <p:nvPr/>
        </p:nvSpPr>
        <p:spPr>
          <a:xfrm>
            <a:off x="566928" y="4343400"/>
            <a:ext cx="3063240" cy="896112"/>
          </a:xfrm>
          <a:prstGeom prst="roundRect">
            <a:avLst>
              <a:gd name="adj" fmla="val 10204"/>
            </a:avLst>
          </a:prstGeom>
          <a:solidFill>
            <a:srgbClr val="12414C"/>
          </a:solidFill>
          <a:ln w="9525">
            <a:solidFill>
              <a:srgbClr val="1D5361"/>
            </a:solidFill>
            <a:prstDash val="solid"/>
          </a:ln>
        </p:spPr>
      </p:sp>
      <p:sp>
        <p:nvSpPr>
          <p:cNvPr id="11" name="Text 9"/>
          <p:cNvSpPr/>
          <p:nvPr/>
        </p:nvSpPr>
        <p:spPr>
          <a:xfrm>
            <a:off x="804672" y="4489704"/>
            <a:ext cx="2606040" cy="292608"/>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Aarush Jagannathan</a:t>
            </a:r>
            <a:endParaRPr lang="en-US" sz="1400" dirty="0"/>
          </a:p>
        </p:txBody>
      </p:sp>
      <p:sp>
        <p:nvSpPr>
          <p:cNvPr id="12" name="Text 10"/>
          <p:cNvSpPr/>
          <p:nvPr/>
        </p:nvSpPr>
        <p:spPr>
          <a:xfrm>
            <a:off x="804672" y="4818888"/>
            <a:ext cx="2606040" cy="256032"/>
          </a:xfrm>
          <a:prstGeom prst="rect">
            <a:avLst/>
          </a:prstGeom>
          <a:noFill/>
          <a:ln/>
        </p:spPr>
        <p:txBody>
          <a:bodyPr wrap="square" lIns="0" tIns="0" rIns="0" bIns="0" rtlCol="0" anchor="ctr"/>
          <a:lstStyle/>
          <a:p>
            <a:pPr indent="0" marL="0">
              <a:buNone/>
            </a:pPr>
            <a:r>
              <a:rPr lang="en-US" sz="1200" dirty="0">
                <a:solidFill>
                  <a:srgbClr val="02C39A"/>
                </a:solidFill>
                <a:latin typeface="Calibri" pitchFamily="34" charset="0"/>
                <a:ea typeface="Calibri" pitchFamily="34" charset="-122"/>
                <a:cs typeface="Calibri" pitchFamily="34" charset="-120"/>
              </a:rPr>
              <a:t>23BLC1211</a:t>
            </a:r>
            <a:endParaRPr lang="en-US" sz="1200" dirty="0"/>
          </a:p>
        </p:txBody>
      </p:sp>
      <p:sp>
        <p:nvSpPr>
          <p:cNvPr id="13" name="Shape 11"/>
          <p:cNvSpPr/>
          <p:nvPr/>
        </p:nvSpPr>
        <p:spPr>
          <a:xfrm>
            <a:off x="3886200" y="4343400"/>
            <a:ext cx="3063240" cy="896112"/>
          </a:xfrm>
          <a:prstGeom prst="roundRect">
            <a:avLst>
              <a:gd name="adj" fmla="val 10204"/>
            </a:avLst>
          </a:prstGeom>
          <a:solidFill>
            <a:srgbClr val="12414C"/>
          </a:solidFill>
          <a:ln w="9525">
            <a:solidFill>
              <a:srgbClr val="1D5361"/>
            </a:solidFill>
            <a:prstDash val="solid"/>
          </a:ln>
        </p:spPr>
      </p:sp>
      <p:sp>
        <p:nvSpPr>
          <p:cNvPr id="14" name="Text 12"/>
          <p:cNvSpPr/>
          <p:nvPr/>
        </p:nvSpPr>
        <p:spPr>
          <a:xfrm>
            <a:off x="4123944" y="4489704"/>
            <a:ext cx="2606040" cy="292608"/>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Gomatheswar M</a:t>
            </a:r>
            <a:endParaRPr lang="en-US" sz="1400" dirty="0"/>
          </a:p>
        </p:txBody>
      </p:sp>
      <p:sp>
        <p:nvSpPr>
          <p:cNvPr id="15" name="Text 13"/>
          <p:cNvSpPr/>
          <p:nvPr/>
        </p:nvSpPr>
        <p:spPr>
          <a:xfrm>
            <a:off x="4123944" y="4818888"/>
            <a:ext cx="2606040" cy="256032"/>
          </a:xfrm>
          <a:prstGeom prst="rect">
            <a:avLst/>
          </a:prstGeom>
          <a:noFill/>
          <a:ln/>
        </p:spPr>
        <p:txBody>
          <a:bodyPr wrap="square" lIns="0" tIns="0" rIns="0" bIns="0" rtlCol="0" anchor="ctr"/>
          <a:lstStyle/>
          <a:p>
            <a:pPr indent="0" marL="0">
              <a:buNone/>
            </a:pPr>
            <a:r>
              <a:rPr lang="en-US" sz="1200" dirty="0">
                <a:solidFill>
                  <a:srgbClr val="02C39A"/>
                </a:solidFill>
                <a:latin typeface="Calibri" pitchFamily="34" charset="0"/>
                <a:ea typeface="Calibri" pitchFamily="34" charset="-122"/>
                <a:cs typeface="Calibri" pitchFamily="34" charset="-120"/>
              </a:rPr>
              <a:t>23BLC1195</a:t>
            </a:r>
            <a:endParaRPr lang="en-US" sz="1200" dirty="0"/>
          </a:p>
        </p:txBody>
      </p:sp>
      <p:sp>
        <p:nvSpPr>
          <p:cNvPr id="16" name="Text 14"/>
          <p:cNvSpPr/>
          <p:nvPr/>
        </p:nvSpPr>
        <p:spPr>
          <a:xfrm>
            <a:off x="566928" y="5760720"/>
            <a:ext cx="8778240" cy="274320"/>
          </a:xfrm>
          <a:prstGeom prst="rect">
            <a:avLst/>
          </a:prstGeom>
          <a:noFill/>
          <a:ln/>
        </p:spPr>
        <p:txBody>
          <a:bodyPr wrap="square" lIns="0" tIns="0" rIns="0" bIns="0" rtlCol="0" anchor="ctr"/>
          <a:lstStyle/>
          <a:p>
            <a:pPr indent="0" marL="0">
              <a:buNone/>
            </a:pPr>
            <a:r>
              <a:rPr lang="en-US" sz="1100" dirty="0">
                <a:solidFill>
                  <a:srgbClr val="6E8C94"/>
                </a:solidFill>
                <a:latin typeface="Calibri" pitchFamily="34" charset="0"/>
                <a:ea typeface="Calibri" pitchFamily="34" charset="-122"/>
                <a:cs typeface="Calibri" pitchFamily="34" charset="-120"/>
              </a:rPr>
              <a:t>Guide: Dr. M Dinakaran   |   BCSE408L — Cloud Computing   |   AY 2026–2027</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65760"/>
            <a:ext cx="11027664" cy="237744"/>
          </a:xfrm>
          <a:prstGeom prst="rect">
            <a:avLst/>
          </a:prstGeom>
          <a:noFill/>
          <a:ln/>
        </p:spPr>
        <p:txBody>
          <a:bodyPr wrap="square" lIns="0" tIns="0" rIns="0" bIns="0" rtlCol="0" anchor="ctr"/>
          <a:lstStyle/>
          <a:p>
            <a:pPr indent="0" marL="0">
              <a:buNone/>
            </a:pPr>
            <a:r>
              <a:rPr lang="en-US" sz="1100" b="1" spc="220" kern="0" dirty="0">
                <a:solidFill>
                  <a:srgbClr val="028090"/>
                </a:solidFill>
                <a:latin typeface="Calibri" pitchFamily="34" charset="0"/>
                <a:ea typeface="Calibri" pitchFamily="34" charset="-122"/>
                <a:cs typeface="Calibri" pitchFamily="34" charset="-120"/>
              </a:rPr>
              <a:t>FINAL DEMONSTRATION</a:t>
            </a:r>
            <a:endParaRPr lang="en-US" sz="1100" dirty="0"/>
          </a:p>
        </p:txBody>
      </p:sp>
      <p:sp>
        <p:nvSpPr>
          <p:cNvPr id="3" name="Text 1"/>
          <p:cNvSpPr/>
          <p:nvPr/>
        </p:nvSpPr>
        <p:spPr>
          <a:xfrm>
            <a:off x="566928" y="621792"/>
            <a:ext cx="11027664" cy="621792"/>
          </a:xfrm>
          <a:prstGeom prst="rect">
            <a:avLst/>
          </a:prstGeom>
          <a:noFill/>
          <a:ln/>
        </p:spPr>
        <p:txBody>
          <a:bodyPr wrap="square" lIns="0" tIns="0" rIns="0" bIns="0" rtlCol="0" anchor="t"/>
          <a:lstStyle/>
          <a:p>
            <a:pPr indent="0" marL="0">
              <a:buNone/>
            </a:pPr>
            <a:r>
              <a:rPr lang="en-US" sz="3000" b="1" dirty="0">
                <a:solidFill>
                  <a:srgbClr val="0A2E36"/>
                </a:solidFill>
                <a:latin typeface="Cambria" pitchFamily="34" charset="0"/>
                <a:ea typeface="Cambria" pitchFamily="34" charset="-122"/>
                <a:cs typeface="Cambria" pitchFamily="34" charset="-120"/>
              </a:rPr>
              <a:t>What We Built</a:t>
            </a:r>
            <a:endParaRPr lang="en-US" sz="3000" dirty="0"/>
          </a:p>
        </p:txBody>
      </p:sp>
      <p:sp>
        <p:nvSpPr>
          <p:cNvPr id="4" name="Text 2"/>
          <p:cNvSpPr/>
          <p:nvPr/>
        </p:nvSpPr>
        <p:spPr>
          <a:xfrm>
            <a:off x="566928" y="1335024"/>
            <a:ext cx="10424160" cy="438912"/>
          </a:xfrm>
          <a:prstGeom prst="rect">
            <a:avLst/>
          </a:prstGeom>
          <a:noFill/>
          <a:ln/>
        </p:spPr>
        <p:txBody>
          <a:bodyPr wrap="square" lIns="0" tIns="0" rIns="0" bIns="0" rtlCol="0" anchor="t"/>
          <a:lstStyle/>
          <a:p>
            <a:pPr indent="0" marL="0">
              <a:lnSpc>
                <a:spcPts val="1700"/>
              </a:lnSpc>
              <a:buNone/>
            </a:pPr>
            <a:r>
              <a:rPr lang="en-US" sz="1300" dirty="0">
                <a:solidFill>
                  <a:srgbClr val="445C64"/>
                </a:solidFill>
                <a:latin typeface="Calibri" pitchFamily="34" charset="0"/>
                <a:ea typeface="Calibri" pitchFamily="34" charset="-122"/>
                <a:cs typeface="Calibri" pitchFamily="34" charset="-120"/>
              </a:rPr>
              <a:t>A complete customer support platform: three roles, a guarded ticket lifecycle, dashboards and reports on live data, and an AI assistance layer that never acts without a human.</a:t>
            </a:r>
            <a:endParaRPr lang="en-US" sz="1300" dirty="0"/>
          </a:p>
        </p:txBody>
      </p:sp>
      <p:sp>
        <p:nvSpPr>
          <p:cNvPr id="5" name="Shape 3"/>
          <p:cNvSpPr/>
          <p:nvPr/>
        </p:nvSpPr>
        <p:spPr>
          <a:xfrm>
            <a:off x="566928" y="1920240"/>
            <a:ext cx="2564892" cy="1298448"/>
          </a:xfrm>
          <a:prstGeom prst="roundRect">
            <a:avLst>
              <a:gd name="adj" fmla="val 7042"/>
            </a:avLst>
          </a:prstGeom>
          <a:solidFill>
            <a:srgbClr val="EEF6F7"/>
          </a:solidFill>
          <a:ln w="9525">
            <a:solidFill>
              <a:srgbClr val="D3E3E6"/>
            </a:solidFill>
            <a:prstDash val="solid"/>
          </a:ln>
          <a:effectLst>
            <a:outerShdw sx="100000" sy="100000" kx="0" ky="0" algn="bl" rotWithShape="0" blurRad="127000" dist="25400" dir="5400000">
              <a:srgbClr val="0A2E36">
                <a:alpha val="10000"/>
              </a:srgbClr>
            </a:outerShdw>
          </a:effectLst>
        </p:spPr>
      </p:sp>
      <p:sp>
        <p:nvSpPr>
          <p:cNvPr id="6" name="Text 4"/>
          <p:cNvSpPr/>
          <p:nvPr/>
        </p:nvSpPr>
        <p:spPr>
          <a:xfrm>
            <a:off x="822960" y="2066544"/>
            <a:ext cx="2052828" cy="548640"/>
          </a:xfrm>
          <a:prstGeom prst="rect">
            <a:avLst/>
          </a:prstGeom>
          <a:noFill/>
          <a:ln/>
        </p:spPr>
        <p:txBody>
          <a:bodyPr wrap="square" lIns="0" tIns="0" rIns="0" bIns="0" rtlCol="0" anchor="ctr"/>
          <a:lstStyle/>
          <a:p>
            <a:pPr indent="0" marL="0">
              <a:buNone/>
            </a:pPr>
            <a:r>
              <a:rPr lang="en-US" sz="3400" b="1" dirty="0">
                <a:solidFill>
                  <a:srgbClr val="028090"/>
                </a:solidFill>
                <a:latin typeface="Cambria" pitchFamily="34" charset="0"/>
                <a:ea typeface="Cambria" pitchFamily="34" charset="-122"/>
                <a:cs typeface="Cambria" pitchFamily="34" charset="-120"/>
              </a:rPr>
              <a:t>40</a:t>
            </a:r>
            <a:endParaRPr lang="en-US" sz="3400" dirty="0"/>
          </a:p>
        </p:txBody>
      </p:sp>
      <p:sp>
        <p:nvSpPr>
          <p:cNvPr id="7" name="Text 5"/>
          <p:cNvSpPr/>
          <p:nvPr/>
        </p:nvSpPr>
        <p:spPr>
          <a:xfrm>
            <a:off x="822960" y="2651760"/>
            <a:ext cx="2052828" cy="256032"/>
          </a:xfrm>
          <a:prstGeom prst="rect">
            <a:avLst/>
          </a:prstGeom>
          <a:noFill/>
          <a:ln/>
        </p:spPr>
        <p:txBody>
          <a:bodyPr wrap="square" lIns="0" tIns="0" rIns="0" bIns="0" rtlCol="0" anchor="ctr"/>
          <a:lstStyle/>
          <a:p>
            <a:pPr indent="0" marL="0">
              <a:buNone/>
            </a:pPr>
            <a:r>
              <a:rPr lang="en-US" sz="1300" b="1" dirty="0">
                <a:solidFill>
                  <a:srgbClr val="0A2E36"/>
                </a:solidFill>
                <a:latin typeface="Calibri" pitchFamily="34" charset="0"/>
                <a:ea typeface="Calibri" pitchFamily="34" charset="-122"/>
                <a:cs typeface="Calibri" pitchFamily="34" charset="-120"/>
              </a:rPr>
              <a:t>REST endpoints</a:t>
            </a:r>
            <a:endParaRPr lang="en-US" sz="1300" dirty="0"/>
          </a:p>
        </p:txBody>
      </p:sp>
      <p:sp>
        <p:nvSpPr>
          <p:cNvPr id="8" name="Text 6"/>
          <p:cNvSpPr/>
          <p:nvPr/>
        </p:nvSpPr>
        <p:spPr>
          <a:xfrm>
            <a:off x="822960" y="2907792"/>
            <a:ext cx="2052828" cy="256032"/>
          </a:xfrm>
          <a:prstGeom prst="rect">
            <a:avLst/>
          </a:prstGeom>
          <a:noFill/>
          <a:ln/>
        </p:spPr>
        <p:txBody>
          <a:bodyPr wrap="square" lIns="0" tIns="0" rIns="0" bIns="0" rtlCol="0" anchor="t"/>
          <a:lstStyle/>
          <a:p>
            <a:pPr indent="0" marL="0">
              <a:lnSpc>
                <a:spcPts val="1700"/>
              </a:lnSpc>
              <a:buNone/>
            </a:pPr>
            <a:r>
              <a:rPr lang="en-US" sz="1100" dirty="0">
                <a:solidFill>
                  <a:srgbClr val="7C939B"/>
                </a:solidFill>
                <a:latin typeface="Calibri" pitchFamily="34" charset="0"/>
                <a:ea typeface="Calibri" pitchFamily="34" charset="-122"/>
                <a:cs typeface="Calibri" pitchFamily="34" charset="-120"/>
              </a:rPr>
              <a:t>across 9 groups</a:t>
            </a:r>
            <a:endParaRPr lang="en-US" sz="1100" dirty="0"/>
          </a:p>
        </p:txBody>
      </p:sp>
      <p:sp>
        <p:nvSpPr>
          <p:cNvPr id="9" name="Shape 7"/>
          <p:cNvSpPr/>
          <p:nvPr/>
        </p:nvSpPr>
        <p:spPr>
          <a:xfrm>
            <a:off x="3387852" y="1920240"/>
            <a:ext cx="2564892" cy="1298448"/>
          </a:xfrm>
          <a:prstGeom prst="roundRect">
            <a:avLst>
              <a:gd name="adj" fmla="val 7042"/>
            </a:avLst>
          </a:prstGeom>
          <a:solidFill>
            <a:srgbClr val="EEF6F7"/>
          </a:solidFill>
          <a:ln w="9525">
            <a:solidFill>
              <a:srgbClr val="D3E3E6"/>
            </a:solidFill>
            <a:prstDash val="solid"/>
          </a:ln>
          <a:effectLst>
            <a:outerShdw sx="100000" sy="100000" kx="0" ky="0" algn="bl" rotWithShape="0" blurRad="127000" dist="25400" dir="5400000">
              <a:srgbClr val="0A2E36">
                <a:alpha val="10000"/>
              </a:srgbClr>
            </a:outerShdw>
          </a:effectLst>
        </p:spPr>
      </p:sp>
      <p:sp>
        <p:nvSpPr>
          <p:cNvPr id="10" name="Text 8"/>
          <p:cNvSpPr/>
          <p:nvPr/>
        </p:nvSpPr>
        <p:spPr>
          <a:xfrm>
            <a:off x="3643884" y="2066544"/>
            <a:ext cx="2052828" cy="548640"/>
          </a:xfrm>
          <a:prstGeom prst="rect">
            <a:avLst/>
          </a:prstGeom>
          <a:noFill/>
          <a:ln/>
        </p:spPr>
        <p:txBody>
          <a:bodyPr wrap="square" lIns="0" tIns="0" rIns="0" bIns="0" rtlCol="0" anchor="ctr"/>
          <a:lstStyle/>
          <a:p>
            <a:pPr indent="0" marL="0">
              <a:buNone/>
            </a:pPr>
            <a:r>
              <a:rPr lang="en-US" sz="3400" b="1" dirty="0">
                <a:solidFill>
                  <a:srgbClr val="028090"/>
                </a:solidFill>
                <a:latin typeface="Cambria" pitchFamily="34" charset="0"/>
                <a:ea typeface="Cambria" pitchFamily="34" charset="-122"/>
                <a:cs typeface="Cambria" pitchFamily="34" charset="-120"/>
              </a:rPr>
              <a:t>17</a:t>
            </a:r>
            <a:endParaRPr lang="en-US" sz="3400" dirty="0"/>
          </a:p>
        </p:txBody>
      </p:sp>
      <p:sp>
        <p:nvSpPr>
          <p:cNvPr id="11" name="Text 9"/>
          <p:cNvSpPr/>
          <p:nvPr/>
        </p:nvSpPr>
        <p:spPr>
          <a:xfrm>
            <a:off x="3643884" y="2651760"/>
            <a:ext cx="2052828" cy="256032"/>
          </a:xfrm>
          <a:prstGeom prst="rect">
            <a:avLst/>
          </a:prstGeom>
          <a:noFill/>
          <a:ln/>
        </p:spPr>
        <p:txBody>
          <a:bodyPr wrap="square" lIns="0" tIns="0" rIns="0" bIns="0" rtlCol="0" anchor="ctr"/>
          <a:lstStyle/>
          <a:p>
            <a:pPr indent="0" marL="0">
              <a:buNone/>
            </a:pPr>
            <a:r>
              <a:rPr lang="en-US" sz="1300" b="1" dirty="0">
                <a:solidFill>
                  <a:srgbClr val="0A2E36"/>
                </a:solidFill>
                <a:latin typeface="Calibri" pitchFamily="34" charset="0"/>
                <a:ea typeface="Calibri" pitchFamily="34" charset="-122"/>
                <a:cs typeface="Calibri" pitchFamily="34" charset="-120"/>
              </a:rPr>
              <a:t>Screens</a:t>
            </a:r>
            <a:endParaRPr lang="en-US" sz="1300" dirty="0"/>
          </a:p>
        </p:txBody>
      </p:sp>
      <p:sp>
        <p:nvSpPr>
          <p:cNvPr id="12" name="Text 10"/>
          <p:cNvSpPr/>
          <p:nvPr/>
        </p:nvSpPr>
        <p:spPr>
          <a:xfrm>
            <a:off x="3643884" y="2907792"/>
            <a:ext cx="2052828" cy="256032"/>
          </a:xfrm>
          <a:prstGeom prst="rect">
            <a:avLst/>
          </a:prstGeom>
          <a:noFill/>
          <a:ln/>
        </p:spPr>
        <p:txBody>
          <a:bodyPr wrap="square" lIns="0" tIns="0" rIns="0" bIns="0" rtlCol="0" anchor="t"/>
          <a:lstStyle/>
          <a:p>
            <a:pPr indent="0" marL="0">
              <a:lnSpc>
                <a:spcPts val="1700"/>
              </a:lnSpc>
              <a:buNone/>
            </a:pPr>
            <a:r>
              <a:rPr lang="en-US" sz="1100" dirty="0">
                <a:solidFill>
                  <a:srgbClr val="7C939B"/>
                </a:solidFill>
                <a:latin typeface="Calibri" pitchFamily="34" charset="0"/>
                <a:ea typeface="Calibri" pitchFamily="34" charset="-122"/>
                <a:cs typeface="Calibri" pitchFamily="34" charset="-120"/>
              </a:rPr>
              <a:t>responsive from 375 px</a:t>
            </a:r>
            <a:endParaRPr lang="en-US" sz="1100" dirty="0"/>
          </a:p>
        </p:txBody>
      </p:sp>
      <p:sp>
        <p:nvSpPr>
          <p:cNvPr id="13" name="Shape 11"/>
          <p:cNvSpPr/>
          <p:nvPr/>
        </p:nvSpPr>
        <p:spPr>
          <a:xfrm>
            <a:off x="6208776" y="1920240"/>
            <a:ext cx="2564892" cy="1298448"/>
          </a:xfrm>
          <a:prstGeom prst="roundRect">
            <a:avLst>
              <a:gd name="adj" fmla="val 7042"/>
            </a:avLst>
          </a:prstGeom>
          <a:solidFill>
            <a:srgbClr val="EEF6F7"/>
          </a:solidFill>
          <a:ln w="9525">
            <a:solidFill>
              <a:srgbClr val="D3E3E6"/>
            </a:solidFill>
            <a:prstDash val="solid"/>
          </a:ln>
          <a:effectLst>
            <a:outerShdw sx="100000" sy="100000" kx="0" ky="0" algn="bl" rotWithShape="0" blurRad="127000" dist="25400" dir="5400000">
              <a:srgbClr val="0A2E36">
                <a:alpha val="10000"/>
              </a:srgbClr>
            </a:outerShdw>
          </a:effectLst>
        </p:spPr>
      </p:sp>
      <p:sp>
        <p:nvSpPr>
          <p:cNvPr id="14" name="Text 12"/>
          <p:cNvSpPr/>
          <p:nvPr/>
        </p:nvSpPr>
        <p:spPr>
          <a:xfrm>
            <a:off x="6464808" y="2066544"/>
            <a:ext cx="2052828" cy="548640"/>
          </a:xfrm>
          <a:prstGeom prst="rect">
            <a:avLst/>
          </a:prstGeom>
          <a:noFill/>
          <a:ln/>
        </p:spPr>
        <p:txBody>
          <a:bodyPr wrap="square" lIns="0" tIns="0" rIns="0" bIns="0" rtlCol="0" anchor="ctr"/>
          <a:lstStyle/>
          <a:p>
            <a:pPr indent="0" marL="0">
              <a:buNone/>
            </a:pPr>
            <a:r>
              <a:rPr lang="en-US" sz="3400" b="1" dirty="0">
                <a:solidFill>
                  <a:srgbClr val="028090"/>
                </a:solidFill>
                <a:latin typeface="Cambria" pitchFamily="34" charset="0"/>
                <a:ea typeface="Cambria" pitchFamily="34" charset="-122"/>
                <a:cs typeface="Cambria" pitchFamily="34" charset="-120"/>
              </a:rPr>
              <a:t>8</a:t>
            </a:r>
            <a:endParaRPr lang="en-US" sz="3400" dirty="0"/>
          </a:p>
        </p:txBody>
      </p:sp>
      <p:sp>
        <p:nvSpPr>
          <p:cNvPr id="15" name="Text 13"/>
          <p:cNvSpPr/>
          <p:nvPr/>
        </p:nvSpPr>
        <p:spPr>
          <a:xfrm>
            <a:off x="6464808" y="2651760"/>
            <a:ext cx="2052828" cy="256032"/>
          </a:xfrm>
          <a:prstGeom prst="rect">
            <a:avLst/>
          </a:prstGeom>
          <a:noFill/>
          <a:ln/>
        </p:spPr>
        <p:txBody>
          <a:bodyPr wrap="square" lIns="0" tIns="0" rIns="0" bIns="0" rtlCol="0" anchor="ctr"/>
          <a:lstStyle/>
          <a:p>
            <a:pPr indent="0" marL="0">
              <a:buNone/>
            </a:pPr>
            <a:r>
              <a:rPr lang="en-US" sz="1300" b="1" dirty="0">
                <a:solidFill>
                  <a:srgbClr val="0A2E36"/>
                </a:solidFill>
                <a:latin typeface="Calibri" pitchFamily="34" charset="0"/>
                <a:ea typeface="Calibri" pitchFamily="34" charset="-122"/>
                <a:cs typeface="Calibri" pitchFamily="34" charset="-120"/>
              </a:rPr>
              <a:t>Database tables</a:t>
            </a:r>
            <a:endParaRPr lang="en-US" sz="1300" dirty="0"/>
          </a:p>
        </p:txBody>
      </p:sp>
      <p:sp>
        <p:nvSpPr>
          <p:cNvPr id="16" name="Text 14"/>
          <p:cNvSpPr/>
          <p:nvPr/>
        </p:nvSpPr>
        <p:spPr>
          <a:xfrm>
            <a:off x="6464808" y="2907792"/>
            <a:ext cx="2052828" cy="256032"/>
          </a:xfrm>
          <a:prstGeom prst="rect">
            <a:avLst/>
          </a:prstGeom>
          <a:noFill/>
          <a:ln/>
        </p:spPr>
        <p:txBody>
          <a:bodyPr wrap="square" lIns="0" tIns="0" rIns="0" bIns="0" rtlCol="0" anchor="t"/>
          <a:lstStyle/>
          <a:p>
            <a:pPr indent="0" marL="0">
              <a:lnSpc>
                <a:spcPts val="1700"/>
              </a:lnSpc>
              <a:buNone/>
            </a:pPr>
            <a:r>
              <a:rPr lang="en-US" sz="1100" dirty="0">
                <a:solidFill>
                  <a:srgbClr val="7C939B"/>
                </a:solidFill>
                <a:latin typeface="Calibri" pitchFamily="34" charset="0"/>
                <a:ea typeface="Calibri" pitchFamily="34" charset="-122"/>
                <a:cs typeface="Calibri" pitchFamily="34" charset="-120"/>
              </a:rPr>
              <a:t>versioned SQL migrations</a:t>
            </a:r>
            <a:endParaRPr lang="en-US" sz="1100" dirty="0"/>
          </a:p>
        </p:txBody>
      </p:sp>
      <p:sp>
        <p:nvSpPr>
          <p:cNvPr id="17" name="Shape 15"/>
          <p:cNvSpPr/>
          <p:nvPr/>
        </p:nvSpPr>
        <p:spPr>
          <a:xfrm>
            <a:off x="9029700" y="1920240"/>
            <a:ext cx="2564892" cy="1298448"/>
          </a:xfrm>
          <a:prstGeom prst="roundRect">
            <a:avLst>
              <a:gd name="adj" fmla="val 7042"/>
            </a:avLst>
          </a:prstGeom>
          <a:solidFill>
            <a:srgbClr val="EEF6F7"/>
          </a:solidFill>
          <a:ln w="9525">
            <a:solidFill>
              <a:srgbClr val="D3E3E6"/>
            </a:solidFill>
            <a:prstDash val="solid"/>
          </a:ln>
          <a:effectLst>
            <a:outerShdw sx="100000" sy="100000" kx="0" ky="0" algn="bl" rotWithShape="0" blurRad="127000" dist="25400" dir="5400000">
              <a:srgbClr val="0A2E36">
                <a:alpha val="10000"/>
              </a:srgbClr>
            </a:outerShdw>
          </a:effectLst>
        </p:spPr>
      </p:sp>
      <p:sp>
        <p:nvSpPr>
          <p:cNvPr id="18" name="Text 16"/>
          <p:cNvSpPr/>
          <p:nvPr/>
        </p:nvSpPr>
        <p:spPr>
          <a:xfrm>
            <a:off x="9285732" y="2066544"/>
            <a:ext cx="2052828" cy="548640"/>
          </a:xfrm>
          <a:prstGeom prst="rect">
            <a:avLst/>
          </a:prstGeom>
          <a:noFill/>
          <a:ln/>
        </p:spPr>
        <p:txBody>
          <a:bodyPr wrap="square" lIns="0" tIns="0" rIns="0" bIns="0" rtlCol="0" anchor="ctr"/>
          <a:lstStyle/>
          <a:p>
            <a:pPr indent="0" marL="0">
              <a:buNone/>
            </a:pPr>
            <a:r>
              <a:rPr lang="en-US" sz="3400" b="1" dirty="0">
                <a:solidFill>
                  <a:srgbClr val="028090"/>
                </a:solidFill>
                <a:latin typeface="Cambria" pitchFamily="34" charset="0"/>
                <a:ea typeface="Cambria" pitchFamily="34" charset="-122"/>
                <a:cs typeface="Cambria" pitchFamily="34" charset="-120"/>
              </a:rPr>
              <a:t>92</a:t>
            </a:r>
            <a:endParaRPr lang="en-US" sz="3400" dirty="0"/>
          </a:p>
        </p:txBody>
      </p:sp>
      <p:sp>
        <p:nvSpPr>
          <p:cNvPr id="19" name="Text 17"/>
          <p:cNvSpPr/>
          <p:nvPr/>
        </p:nvSpPr>
        <p:spPr>
          <a:xfrm>
            <a:off x="9285732" y="2651760"/>
            <a:ext cx="2052828" cy="256032"/>
          </a:xfrm>
          <a:prstGeom prst="rect">
            <a:avLst/>
          </a:prstGeom>
          <a:noFill/>
          <a:ln/>
        </p:spPr>
        <p:txBody>
          <a:bodyPr wrap="square" lIns="0" tIns="0" rIns="0" bIns="0" rtlCol="0" anchor="ctr"/>
          <a:lstStyle/>
          <a:p>
            <a:pPr indent="0" marL="0">
              <a:buNone/>
            </a:pPr>
            <a:r>
              <a:rPr lang="en-US" sz="1300" b="1" dirty="0">
                <a:solidFill>
                  <a:srgbClr val="0A2E36"/>
                </a:solidFill>
                <a:latin typeface="Calibri" pitchFamily="34" charset="0"/>
                <a:ea typeface="Calibri" pitchFamily="34" charset="-122"/>
                <a:cs typeface="Calibri" pitchFamily="34" charset="-120"/>
              </a:rPr>
              <a:t>Automated tests</a:t>
            </a:r>
            <a:endParaRPr lang="en-US" sz="1300" dirty="0"/>
          </a:p>
        </p:txBody>
      </p:sp>
      <p:sp>
        <p:nvSpPr>
          <p:cNvPr id="20" name="Text 18"/>
          <p:cNvSpPr/>
          <p:nvPr/>
        </p:nvSpPr>
        <p:spPr>
          <a:xfrm>
            <a:off x="9285732" y="2907792"/>
            <a:ext cx="2052828" cy="256032"/>
          </a:xfrm>
          <a:prstGeom prst="rect">
            <a:avLst/>
          </a:prstGeom>
          <a:noFill/>
          <a:ln/>
        </p:spPr>
        <p:txBody>
          <a:bodyPr wrap="square" lIns="0" tIns="0" rIns="0" bIns="0" rtlCol="0" anchor="t"/>
          <a:lstStyle/>
          <a:p>
            <a:pPr indent="0" marL="0">
              <a:lnSpc>
                <a:spcPts val="1700"/>
              </a:lnSpc>
              <a:buNone/>
            </a:pPr>
            <a:r>
              <a:rPr lang="en-US" sz="1100" dirty="0">
                <a:solidFill>
                  <a:srgbClr val="7C939B"/>
                </a:solidFill>
                <a:latin typeface="Calibri" pitchFamily="34" charset="0"/>
                <a:ea typeface="Calibri" pitchFamily="34" charset="-122"/>
                <a:cs typeface="Calibri" pitchFamily="34" charset="-120"/>
              </a:rPr>
              <a:t>all passing</a:t>
            </a:r>
            <a:endParaRPr lang="en-US" sz="1100" dirty="0"/>
          </a:p>
        </p:txBody>
      </p:sp>
      <p:sp>
        <p:nvSpPr>
          <p:cNvPr id="21" name="Text 19"/>
          <p:cNvSpPr/>
          <p:nvPr/>
        </p:nvSpPr>
        <p:spPr>
          <a:xfrm>
            <a:off x="566928" y="3474720"/>
            <a:ext cx="11027664" cy="292608"/>
          </a:xfrm>
          <a:prstGeom prst="rect">
            <a:avLst/>
          </a:prstGeom>
          <a:noFill/>
          <a:ln/>
        </p:spPr>
        <p:txBody>
          <a:bodyPr wrap="square" lIns="0" tIns="0" rIns="0" bIns="0" rtlCol="0" anchor="ctr"/>
          <a:lstStyle/>
          <a:p>
            <a:pPr indent="0" marL="0">
              <a:buNone/>
            </a:pPr>
            <a:r>
              <a:rPr lang="en-US" sz="1500" b="1" dirty="0">
                <a:solidFill>
                  <a:srgbClr val="0A2E36"/>
                </a:solidFill>
                <a:latin typeface="Cambria" pitchFamily="34" charset="0"/>
                <a:ea typeface="Cambria" pitchFamily="34" charset="-122"/>
                <a:cs typeface="Cambria" pitchFamily="34" charset="-120"/>
              </a:rPr>
              <a:t>Delivered against the nine mandatory requirements</a:t>
            </a:r>
            <a:endParaRPr lang="en-US" sz="1500" dirty="0"/>
          </a:p>
        </p:txBody>
      </p:sp>
      <p:sp>
        <p:nvSpPr>
          <p:cNvPr id="22" name="Shape 20"/>
          <p:cNvSpPr/>
          <p:nvPr/>
        </p:nvSpPr>
        <p:spPr>
          <a:xfrm>
            <a:off x="566928" y="3858768"/>
            <a:ext cx="3553968" cy="457200"/>
          </a:xfrm>
          <a:prstGeom prst="roundRect">
            <a:avLst>
              <a:gd name="adj" fmla="val 20000"/>
            </a:avLst>
          </a:prstGeom>
          <a:solidFill>
            <a:srgbClr val="EAF6F5"/>
          </a:solidFill>
          <a:ln w="9525">
            <a:solidFill>
              <a:srgbClr val="BFE0DD"/>
            </a:solidFill>
            <a:prstDash val="solid"/>
          </a:ln>
          <a:effectLst>
            <a:outerShdw sx="100000" sy="100000" kx="0" ky="0" algn="bl" rotWithShape="0" blurRad="127000" dist="25400" dir="5400000">
              <a:srgbClr val="0A2E36">
                <a:alpha val="10000"/>
              </a:srgbClr>
            </a:outerShdw>
          </a:effectLst>
        </p:spPr>
      </p:sp>
      <p:sp>
        <p:nvSpPr>
          <p:cNvPr id="23" name="Shape 21"/>
          <p:cNvSpPr/>
          <p:nvPr/>
        </p:nvSpPr>
        <p:spPr>
          <a:xfrm>
            <a:off x="713232" y="3941064"/>
            <a:ext cx="292608" cy="292608"/>
          </a:xfrm>
          <a:prstGeom prst="ellipse">
            <a:avLst/>
          </a:prstGeom>
          <a:solidFill>
            <a:srgbClr val="028090"/>
          </a:solidFill>
          <a:ln/>
        </p:spPr>
      </p:sp>
      <p:sp>
        <p:nvSpPr>
          <p:cNvPr id="24" name="Text 22"/>
          <p:cNvSpPr/>
          <p:nvPr/>
        </p:nvSpPr>
        <p:spPr>
          <a:xfrm>
            <a:off x="713232" y="3941064"/>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t>
            </a:r>
            <a:endParaRPr lang="en-US" sz="1200" dirty="0"/>
          </a:p>
        </p:txBody>
      </p:sp>
      <p:sp>
        <p:nvSpPr>
          <p:cNvPr id="25" name="Text 23"/>
          <p:cNvSpPr/>
          <p:nvPr/>
        </p:nvSpPr>
        <p:spPr>
          <a:xfrm>
            <a:off x="1115568" y="3858768"/>
            <a:ext cx="2859024" cy="457200"/>
          </a:xfrm>
          <a:prstGeom prst="rect">
            <a:avLst/>
          </a:prstGeom>
          <a:noFill/>
          <a:ln/>
        </p:spPr>
        <p:txBody>
          <a:bodyPr wrap="square" lIns="0" tIns="0" rIns="0" bIns="0" rtlCol="0" anchor="ctr"/>
          <a:lstStyle/>
          <a:p>
            <a:pPr indent="0" marL="0">
              <a:buNone/>
            </a:pPr>
            <a:r>
              <a:rPr lang="en-US" sz="1250" b="1" dirty="0">
                <a:solidFill>
                  <a:srgbClr val="0A2E36"/>
                </a:solidFill>
                <a:latin typeface="Calibri" pitchFamily="34" charset="0"/>
                <a:ea typeface="Calibri" pitchFamily="34" charset="-122"/>
                <a:cs typeface="Calibri" pitchFamily="34" charset="-120"/>
              </a:rPr>
              <a:t>Registration &amp; login</a:t>
            </a:r>
            <a:endParaRPr lang="en-US" sz="1250" dirty="0"/>
          </a:p>
        </p:txBody>
      </p:sp>
      <p:sp>
        <p:nvSpPr>
          <p:cNvPr id="26" name="Shape 24"/>
          <p:cNvSpPr/>
          <p:nvPr/>
        </p:nvSpPr>
        <p:spPr>
          <a:xfrm>
            <a:off x="4303776" y="3858768"/>
            <a:ext cx="3553968" cy="457200"/>
          </a:xfrm>
          <a:prstGeom prst="roundRect">
            <a:avLst>
              <a:gd name="adj" fmla="val 20000"/>
            </a:avLst>
          </a:prstGeom>
          <a:solidFill>
            <a:srgbClr val="EAF6F5"/>
          </a:solidFill>
          <a:ln w="9525">
            <a:solidFill>
              <a:srgbClr val="BFE0DD"/>
            </a:solidFill>
            <a:prstDash val="solid"/>
          </a:ln>
          <a:effectLst>
            <a:outerShdw sx="100000" sy="100000" kx="0" ky="0" algn="bl" rotWithShape="0" blurRad="127000" dist="25400" dir="5400000">
              <a:srgbClr val="0A2E36">
                <a:alpha val="10000"/>
              </a:srgbClr>
            </a:outerShdw>
          </a:effectLst>
        </p:spPr>
      </p:sp>
      <p:sp>
        <p:nvSpPr>
          <p:cNvPr id="27" name="Shape 25"/>
          <p:cNvSpPr/>
          <p:nvPr/>
        </p:nvSpPr>
        <p:spPr>
          <a:xfrm>
            <a:off x="4450080" y="3941064"/>
            <a:ext cx="292608" cy="292608"/>
          </a:xfrm>
          <a:prstGeom prst="ellipse">
            <a:avLst/>
          </a:prstGeom>
          <a:solidFill>
            <a:srgbClr val="028090"/>
          </a:solidFill>
          <a:ln/>
        </p:spPr>
      </p:sp>
      <p:sp>
        <p:nvSpPr>
          <p:cNvPr id="28" name="Text 26"/>
          <p:cNvSpPr/>
          <p:nvPr/>
        </p:nvSpPr>
        <p:spPr>
          <a:xfrm>
            <a:off x="4450080" y="3941064"/>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t>
            </a:r>
            <a:endParaRPr lang="en-US" sz="1200" dirty="0"/>
          </a:p>
        </p:txBody>
      </p:sp>
      <p:sp>
        <p:nvSpPr>
          <p:cNvPr id="29" name="Text 27"/>
          <p:cNvSpPr/>
          <p:nvPr/>
        </p:nvSpPr>
        <p:spPr>
          <a:xfrm>
            <a:off x="4852416" y="3858768"/>
            <a:ext cx="2859024" cy="457200"/>
          </a:xfrm>
          <a:prstGeom prst="rect">
            <a:avLst/>
          </a:prstGeom>
          <a:noFill/>
          <a:ln/>
        </p:spPr>
        <p:txBody>
          <a:bodyPr wrap="square" lIns="0" tIns="0" rIns="0" bIns="0" rtlCol="0" anchor="ctr"/>
          <a:lstStyle/>
          <a:p>
            <a:pPr indent="0" marL="0">
              <a:buNone/>
            </a:pPr>
            <a:r>
              <a:rPr lang="en-US" sz="1250" b="1" dirty="0">
                <a:solidFill>
                  <a:srgbClr val="0A2E36"/>
                </a:solidFill>
                <a:latin typeface="Calibri" pitchFamily="34" charset="0"/>
                <a:ea typeface="Calibri" pitchFamily="34" charset="-122"/>
                <a:cs typeface="Calibri" pitchFamily="34" charset="-120"/>
              </a:rPr>
              <a:t>Role-based access</a:t>
            </a:r>
            <a:endParaRPr lang="en-US" sz="1250" dirty="0"/>
          </a:p>
        </p:txBody>
      </p:sp>
      <p:sp>
        <p:nvSpPr>
          <p:cNvPr id="30" name="Shape 28"/>
          <p:cNvSpPr/>
          <p:nvPr/>
        </p:nvSpPr>
        <p:spPr>
          <a:xfrm>
            <a:off x="8040624" y="3858768"/>
            <a:ext cx="3553968" cy="457200"/>
          </a:xfrm>
          <a:prstGeom prst="roundRect">
            <a:avLst>
              <a:gd name="adj" fmla="val 20000"/>
            </a:avLst>
          </a:prstGeom>
          <a:solidFill>
            <a:srgbClr val="EAF6F5"/>
          </a:solidFill>
          <a:ln w="9525">
            <a:solidFill>
              <a:srgbClr val="BFE0DD"/>
            </a:solidFill>
            <a:prstDash val="solid"/>
          </a:ln>
          <a:effectLst>
            <a:outerShdw sx="100000" sy="100000" kx="0" ky="0" algn="bl" rotWithShape="0" blurRad="127000" dist="25400" dir="5400000">
              <a:srgbClr val="0A2E36">
                <a:alpha val="10000"/>
              </a:srgbClr>
            </a:outerShdw>
          </a:effectLst>
        </p:spPr>
      </p:sp>
      <p:sp>
        <p:nvSpPr>
          <p:cNvPr id="31" name="Shape 29"/>
          <p:cNvSpPr/>
          <p:nvPr/>
        </p:nvSpPr>
        <p:spPr>
          <a:xfrm>
            <a:off x="8186928" y="3941064"/>
            <a:ext cx="292608" cy="292608"/>
          </a:xfrm>
          <a:prstGeom prst="ellipse">
            <a:avLst/>
          </a:prstGeom>
          <a:solidFill>
            <a:srgbClr val="028090"/>
          </a:solidFill>
          <a:ln/>
        </p:spPr>
      </p:sp>
      <p:sp>
        <p:nvSpPr>
          <p:cNvPr id="32" name="Text 30"/>
          <p:cNvSpPr/>
          <p:nvPr/>
        </p:nvSpPr>
        <p:spPr>
          <a:xfrm>
            <a:off x="8186928" y="3941064"/>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t>
            </a:r>
            <a:endParaRPr lang="en-US" sz="1200" dirty="0"/>
          </a:p>
        </p:txBody>
      </p:sp>
      <p:sp>
        <p:nvSpPr>
          <p:cNvPr id="33" name="Text 31"/>
          <p:cNvSpPr/>
          <p:nvPr/>
        </p:nvSpPr>
        <p:spPr>
          <a:xfrm>
            <a:off x="8589264" y="3858768"/>
            <a:ext cx="2859024" cy="457200"/>
          </a:xfrm>
          <a:prstGeom prst="rect">
            <a:avLst/>
          </a:prstGeom>
          <a:noFill/>
          <a:ln/>
        </p:spPr>
        <p:txBody>
          <a:bodyPr wrap="square" lIns="0" tIns="0" rIns="0" bIns="0" rtlCol="0" anchor="ctr"/>
          <a:lstStyle/>
          <a:p>
            <a:pPr indent="0" marL="0">
              <a:buNone/>
            </a:pPr>
            <a:r>
              <a:rPr lang="en-US" sz="1250" b="1" dirty="0">
                <a:solidFill>
                  <a:srgbClr val="0A2E36"/>
                </a:solidFill>
                <a:latin typeface="Calibri" pitchFamily="34" charset="0"/>
                <a:ea typeface="Calibri" pitchFamily="34" charset="-122"/>
                <a:cs typeface="Calibri" pitchFamily="34" charset="-120"/>
              </a:rPr>
              <a:t>CRUD operations</a:t>
            </a:r>
            <a:endParaRPr lang="en-US" sz="1250" dirty="0"/>
          </a:p>
        </p:txBody>
      </p:sp>
      <p:sp>
        <p:nvSpPr>
          <p:cNvPr id="34" name="Shape 32"/>
          <p:cNvSpPr/>
          <p:nvPr/>
        </p:nvSpPr>
        <p:spPr>
          <a:xfrm>
            <a:off x="566928" y="4425696"/>
            <a:ext cx="3553968" cy="457200"/>
          </a:xfrm>
          <a:prstGeom prst="roundRect">
            <a:avLst>
              <a:gd name="adj" fmla="val 20000"/>
            </a:avLst>
          </a:prstGeom>
          <a:solidFill>
            <a:srgbClr val="EAF6F5"/>
          </a:solidFill>
          <a:ln w="9525">
            <a:solidFill>
              <a:srgbClr val="BFE0DD"/>
            </a:solidFill>
            <a:prstDash val="solid"/>
          </a:ln>
          <a:effectLst>
            <a:outerShdw sx="100000" sy="100000" kx="0" ky="0" algn="bl" rotWithShape="0" blurRad="127000" dist="25400" dir="5400000">
              <a:srgbClr val="0A2E36">
                <a:alpha val="10000"/>
              </a:srgbClr>
            </a:outerShdw>
          </a:effectLst>
        </p:spPr>
      </p:sp>
      <p:sp>
        <p:nvSpPr>
          <p:cNvPr id="35" name="Shape 33"/>
          <p:cNvSpPr/>
          <p:nvPr/>
        </p:nvSpPr>
        <p:spPr>
          <a:xfrm>
            <a:off x="713232" y="4507992"/>
            <a:ext cx="292608" cy="292608"/>
          </a:xfrm>
          <a:prstGeom prst="ellipse">
            <a:avLst/>
          </a:prstGeom>
          <a:solidFill>
            <a:srgbClr val="028090"/>
          </a:solidFill>
          <a:ln/>
        </p:spPr>
      </p:sp>
      <p:sp>
        <p:nvSpPr>
          <p:cNvPr id="36" name="Text 34"/>
          <p:cNvSpPr/>
          <p:nvPr/>
        </p:nvSpPr>
        <p:spPr>
          <a:xfrm>
            <a:off x="713232" y="4507992"/>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t>
            </a:r>
            <a:endParaRPr lang="en-US" sz="1200" dirty="0"/>
          </a:p>
        </p:txBody>
      </p:sp>
      <p:sp>
        <p:nvSpPr>
          <p:cNvPr id="37" name="Text 35"/>
          <p:cNvSpPr/>
          <p:nvPr/>
        </p:nvSpPr>
        <p:spPr>
          <a:xfrm>
            <a:off x="1115568" y="4425696"/>
            <a:ext cx="2859024" cy="457200"/>
          </a:xfrm>
          <a:prstGeom prst="rect">
            <a:avLst/>
          </a:prstGeom>
          <a:noFill/>
          <a:ln/>
        </p:spPr>
        <p:txBody>
          <a:bodyPr wrap="square" lIns="0" tIns="0" rIns="0" bIns="0" rtlCol="0" anchor="ctr"/>
          <a:lstStyle/>
          <a:p>
            <a:pPr indent="0" marL="0">
              <a:buNone/>
            </a:pPr>
            <a:r>
              <a:rPr lang="en-US" sz="1250" b="1" dirty="0">
                <a:solidFill>
                  <a:srgbClr val="0A2E36"/>
                </a:solidFill>
                <a:latin typeface="Calibri" pitchFamily="34" charset="0"/>
                <a:ea typeface="Calibri" pitchFamily="34" charset="-122"/>
                <a:cs typeface="Calibri" pitchFamily="34" charset="-120"/>
              </a:rPr>
              <a:t>Dashboard &amp; reports</a:t>
            </a:r>
            <a:endParaRPr lang="en-US" sz="1250" dirty="0"/>
          </a:p>
        </p:txBody>
      </p:sp>
      <p:sp>
        <p:nvSpPr>
          <p:cNvPr id="38" name="Shape 36"/>
          <p:cNvSpPr/>
          <p:nvPr/>
        </p:nvSpPr>
        <p:spPr>
          <a:xfrm>
            <a:off x="4303776" y="4425696"/>
            <a:ext cx="3553968" cy="457200"/>
          </a:xfrm>
          <a:prstGeom prst="roundRect">
            <a:avLst>
              <a:gd name="adj" fmla="val 20000"/>
            </a:avLst>
          </a:prstGeom>
          <a:solidFill>
            <a:srgbClr val="EAF6F5"/>
          </a:solidFill>
          <a:ln w="9525">
            <a:solidFill>
              <a:srgbClr val="BFE0DD"/>
            </a:solidFill>
            <a:prstDash val="solid"/>
          </a:ln>
          <a:effectLst>
            <a:outerShdw sx="100000" sy="100000" kx="0" ky="0" algn="bl" rotWithShape="0" blurRad="127000" dist="25400" dir="5400000">
              <a:srgbClr val="0A2E36">
                <a:alpha val="10000"/>
              </a:srgbClr>
            </a:outerShdw>
          </a:effectLst>
        </p:spPr>
      </p:sp>
      <p:sp>
        <p:nvSpPr>
          <p:cNvPr id="39" name="Shape 37"/>
          <p:cNvSpPr/>
          <p:nvPr/>
        </p:nvSpPr>
        <p:spPr>
          <a:xfrm>
            <a:off x="4450080" y="4507992"/>
            <a:ext cx="292608" cy="292608"/>
          </a:xfrm>
          <a:prstGeom prst="ellipse">
            <a:avLst/>
          </a:prstGeom>
          <a:solidFill>
            <a:srgbClr val="028090"/>
          </a:solidFill>
          <a:ln/>
        </p:spPr>
      </p:sp>
      <p:sp>
        <p:nvSpPr>
          <p:cNvPr id="40" name="Text 38"/>
          <p:cNvSpPr/>
          <p:nvPr/>
        </p:nvSpPr>
        <p:spPr>
          <a:xfrm>
            <a:off x="4450080" y="4507992"/>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t>
            </a:r>
            <a:endParaRPr lang="en-US" sz="1200" dirty="0"/>
          </a:p>
        </p:txBody>
      </p:sp>
      <p:sp>
        <p:nvSpPr>
          <p:cNvPr id="41" name="Text 39"/>
          <p:cNvSpPr/>
          <p:nvPr/>
        </p:nvSpPr>
        <p:spPr>
          <a:xfrm>
            <a:off x="4852416" y="4425696"/>
            <a:ext cx="2859024" cy="457200"/>
          </a:xfrm>
          <a:prstGeom prst="rect">
            <a:avLst/>
          </a:prstGeom>
          <a:noFill/>
          <a:ln/>
        </p:spPr>
        <p:txBody>
          <a:bodyPr wrap="square" lIns="0" tIns="0" rIns="0" bIns="0" rtlCol="0" anchor="ctr"/>
          <a:lstStyle/>
          <a:p>
            <a:pPr indent="0" marL="0">
              <a:buNone/>
            </a:pPr>
            <a:r>
              <a:rPr lang="en-US" sz="1250" b="1" dirty="0">
                <a:solidFill>
                  <a:srgbClr val="0A2E36"/>
                </a:solidFill>
                <a:latin typeface="Calibri" pitchFamily="34" charset="0"/>
                <a:ea typeface="Calibri" pitchFamily="34" charset="-122"/>
                <a:cs typeface="Calibri" pitchFamily="34" charset="-120"/>
              </a:rPr>
              <a:t>REST APIs</a:t>
            </a:r>
            <a:endParaRPr lang="en-US" sz="1250" dirty="0"/>
          </a:p>
        </p:txBody>
      </p:sp>
      <p:sp>
        <p:nvSpPr>
          <p:cNvPr id="42" name="Shape 40"/>
          <p:cNvSpPr/>
          <p:nvPr/>
        </p:nvSpPr>
        <p:spPr>
          <a:xfrm>
            <a:off x="8040624" y="4425696"/>
            <a:ext cx="3553968" cy="457200"/>
          </a:xfrm>
          <a:prstGeom prst="roundRect">
            <a:avLst>
              <a:gd name="adj" fmla="val 20000"/>
            </a:avLst>
          </a:prstGeom>
          <a:solidFill>
            <a:srgbClr val="EAF6F5"/>
          </a:solidFill>
          <a:ln w="9525">
            <a:solidFill>
              <a:srgbClr val="BFE0DD"/>
            </a:solidFill>
            <a:prstDash val="solid"/>
          </a:ln>
          <a:effectLst>
            <a:outerShdw sx="100000" sy="100000" kx="0" ky="0" algn="bl" rotWithShape="0" blurRad="127000" dist="25400" dir="5400000">
              <a:srgbClr val="0A2E36">
                <a:alpha val="10000"/>
              </a:srgbClr>
            </a:outerShdw>
          </a:effectLst>
        </p:spPr>
      </p:sp>
      <p:sp>
        <p:nvSpPr>
          <p:cNvPr id="43" name="Shape 41"/>
          <p:cNvSpPr/>
          <p:nvPr/>
        </p:nvSpPr>
        <p:spPr>
          <a:xfrm>
            <a:off x="8186928" y="4507992"/>
            <a:ext cx="292608" cy="292608"/>
          </a:xfrm>
          <a:prstGeom prst="ellipse">
            <a:avLst/>
          </a:prstGeom>
          <a:solidFill>
            <a:srgbClr val="028090"/>
          </a:solidFill>
          <a:ln/>
        </p:spPr>
      </p:sp>
      <p:sp>
        <p:nvSpPr>
          <p:cNvPr id="44" name="Text 42"/>
          <p:cNvSpPr/>
          <p:nvPr/>
        </p:nvSpPr>
        <p:spPr>
          <a:xfrm>
            <a:off x="8186928" y="4507992"/>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t>
            </a:r>
            <a:endParaRPr lang="en-US" sz="1200" dirty="0"/>
          </a:p>
        </p:txBody>
      </p:sp>
      <p:sp>
        <p:nvSpPr>
          <p:cNvPr id="45" name="Text 43"/>
          <p:cNvSpPr/>
          <p:nvPr/>
        </p:nvSpPr>
        <p:spPr>
          <a:xfrm>
            <a:off x="8589264" y="4425696"/>
            <a:ext cx="2859024" cy="457200"/>
          </a:xfrm>
          <a:prstGeom prst="rect">
            <a:avLst/>
          </a:prstGeom>
          <a:noFill/>
          <a:ln/>
        </p:spPr>
        <p:txBody>
          <a:bodyPr wrap="square" lIns="0" tIns="0" rIns="0" bIns="0" rtlCol="0" anchor="ctr"/>
          <a:lstStyle/>
          <a:p>
            <a:pPr indent="0" marL="0">
              <a:buNone/>
            </a:pPr>
            <a:r>
              <a:rPr lang="en-US" sz="1250" b="1" dirty="0">
                <a:solidFill>
                  <a:srgbClr val="0A2E36"/>
                </a:solidFill>
                <a:latin typeface="Calibri" pitchFamily="34" charset="0"/>
                <a:ea typeface="Calibri" pitchFamily="34" charset="-122"/>
                <a:cs typeface="Calibri" pitchFamily="34" charset="-120"/>
              </a:rPr>
              <a:t>Responsive UI</a:t>
            </a:r>
            <a:endParaRPr lang="en-US" sz="1250" dirty="0"/>
          </a:p>
        </p:txBody>
      </p:sp>
      <p:sp>
        <p:nvSpPr>
          <p:cNvPr id="46" name="Shape 44"/>
          <p:cNvSpPr/>
          <p:nvPr/>
        </p:nvSpPr>
        <p:spPr>
          <a:xfrm>
            <a:off x="566928" y="4992624"/>
            <a:ext cx="3553968" cy="457200"/>
          </a:xfrm>
          <a:prstGeom prst="roundRect">
            <a:avLst>
              <a:gd name="adj" fmla="val 20000"/>
            </a:avLst>
          </a:prstGeom>
          <a:solidFill>
            <a:srgbClr val="EAF6F5"/>
          </a:solidFill>
          <a:ln w="9525">
            <a:solidFill>
              <a:srgbClr val="BFE0DD"/>
            </a:solidFill>
            <a:prstDash val="solid"/>
          </a:ln>
          <a:effectLst>
            <a:outerShdw sx="100000" sy="100000" kx="0" ky="0" algn="bl" rotWithShape="0" blurRad="127000" dist="25400" dir="5400000">
              <a:srgbClr val="0A2E36">
                <a:alpha val="10000"/>
              </a:srgbClr>
            </a:outerShdw>
          </a:effectLst>
        </p:spPr>
      </p:sp>
      <p:sp>
        <p:nvSpPr>
          <p:cNvPr id="47" name="Shape 45"/>
          <p:cNvSpPr/>
          <p:nvPr/>
        </p:nvSpPr>
        <p:spPr>
          <a:xfrm>
            <a:off x="713232" y="5074920"/>
            <a:ext cx="292608" cy="292608"/>
          </a:xfrm>
          <a:prstGeom prst="ellipse">
            <a:avLst/>
          </a:prstGeom>
          <a:solidFill>
            <a:srgbClr val="028090"/>
          </a:solidFill>
          <a:ln/>
        </p:spPr>
      </p:sp>
      <p:sp>
        <p:nvSpPr>
          <p:cNvPr id="48" name="Text 46"/>
          <p:cNvSpPr/>
          <p:nvPr/>
        </p:nvSpPr>
        <p:spPr>
          <a:xfrm>
            <a:off x="713232" y="5074920"/>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t>
            </a:r>
            <a:endParaRPr lang="en-US" sz="1200" dirty="0"/>
          </a:p>
        </p:txBody>
      </p:sp>
      <p:sp>
        <p:nvSpPr>
          <p:cNvPr id="49" name="Text 47"/>
          <p:cNvSpPr/>
          <p:nvPr/>
        </p:nvSpPr>
        <p:spPr>
          <a:xfrm>
            <a:off x="1115568" y="4992624"/>
            <a:ext cx="2859024" cy="457200"/>
          </a:xfrm>
          <a:prstGeom prst="rect">
            <a:avLst/>
          </a:prstGeom>
          <a:noFill/>
          <a:ln/>
        </p:spPr>
        <p:txBody>
          <a:bodyPr wrap="square" lIns="0" tIns="0" rIns="0" bIns="0" rtlCol="0" anchor="ctr"/>
          <a:lstStyle/>
          <a:p>
            <a:pPr indent="0" marL="0">
              <a:buNone/>
            </a:pPr>
            <a:r>
              <a:rPr lang="en-US" sz="1250" b="1" dirty="0">
                <a:solidFill>
                  <a:srgbClr val="0A2E36"/>
                </a:solidFill>
                <a:latin typeface="Calibri" pitchFamily="34" charset="0"/>
                <a:ea typeface="Calibri" pitchFamily="34" charset="-122"/>
                <a:cs typeface="Calibri" pitchFamily="34" charset="-120"/>
              </a:rPr>
              <a:t>GitHub repository</a:t>
            </a:r>
            <a:endParaRPr lang="en-US" sz="1250" dirty="0"/>
          </a:p>
        </p:txBody>
      </p:sp>
      <p:sp>
        <p:nvSpPr>
          <p:cNvPr id="50" name="Shape 48"/>
          <p:cNvSpPr/>
          <p:nvPr/>
        </p:nvSpPr>
        <p:spPr>
          <a:xfrm>
            <a:off x="4303776" y="4992624"/>
            <a:ext cx="3553968" cy="457200"/>
          </a:xfrm>
          <a:prstGeom prst="roundRect">
            <a:avLst>
              <a:gd name="adj" fmla="val 20000"/>
            </a:avLst>
          </a:prstGeom>
          <a:solidFill>
            <a:srgbClr val="FBF7EF"/>
          </a:solidFill>
          <a:ln w="9525">
            <a:solidFill>
              <a:srgbClr val="EBDFC8"/>
            </a:solidFill>
            <a:prstDash val="solid"/>
          </a:ln>
          <a:effectLst>
            <a:outerShdw sx="100000" sy="100000" kx="0" ky="0" algn="bl" rotWithShape="0" blurRad="127000" dist="25400" dir="5400000">
              <a:srgbClr val="0A2E36">
                <a:alpha val="10000"/>
              </a:srgbClr>
            </a:outerShdw>
          </a:effectLst>
        </p:spPr>
      </p:sp>
      <p:sp>
        <p:nvSpPr>
          <p:cNvPr id="51" name="Shape 49"/>
          <p:cNvSpPr/>
          <p:nvPr/>
        </p:nvSpPr>
        <p:spPr>
          <a:xfrm>
            <a:off x="4450080" y="5074920"/>
            <a:ext cx="292608" cy="292608"/>
          </a:xfrm>
          <a:prstGeom prst="ellipse">
            <a:avLst/>
          </a:prstGeom>
          <a:solidFill>
            <a:srgbClr val="C77800"/>
          </a:solidFill>
          <a:ln/>
        </p:spPr>
      </p:sp>
      <p:sp>
        <p:nvSpPr>
          <p:cNvPr id="52" name="Text 50"/>
          <p:cNvSpPr/>
          <p:nvPr/>
        </p:nvSpPr>
        <p:spPr>
          <a:xfrm>
            <a:off x="4450080" y="5074920"/>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t>
            </a:r>
            <a:endParaRPr lang="en-US" sz="1200" dirty="0"/>
          </a:p>
        </p:txBody>
      </p:sp>
      <p:sp>
        <p:nvSpPr>
          <p:cNvPr id="53" name="Text 51"/>
          <p:cNvSpPr/>
          <p:nvPr/>
        </p:nvSpPr>
        <p:spPr>
          <a:xfrm>
            <a:off x="4852416" y="4992624"/>
            <a:ext cx="2859024" cy="457200"/>
          </a:xfrm>
          <a:prstGeom prst="rect">
            <a:avLst/>
          </a:prstGeom>
          <a:noFill/>
          <a:ln/>
        </p:spPr>
        <p:txBody>
          <a:bodyPr wrap="square" lIns="0" tIns="0" rIns="0" bIns="0" rtlCol="0" anchor="ctr"/>
          <a:lstStyle/>
          <a:p>
            <a:pPr indent="0" marL="0">
              <a:buNone/>
            </a:pPr>
            <a:r>
              <a:rPr lang="en-US" sz="1250" b="1" dirty="0">
                <a:solidFill>
                  <a:srgbClr val="0A2E36"/>
                </a:solidFill>
                <a:latin typeface="Calibri" pitchFamily="34" charset="0"/>
                <a:ea typeface="Calibri" pitchFamily="34" charset="-122"/>
                <a:cs typeface="Calibri" pitchFamily="34" charset="-120"/>
              </a:rPr>
              <a:t>Cloud database</a:t>
            </a:r>
            <a:endParaRPr lang="en-US" sz="1250" dirty="0"/>
          </a:p>
        </p:txBody>
      </p:sp>
      <p:sp>
        <p:nvSpPr>
          <p:cNvPr id="54" name="Shape 52"/>
          <p:cNvSpPr/>
          <p:nvPr/>
        </p:nvSpPr>
        <p:spPr>
          <a:xfrm>
            <a:off x="8040624" y="4992624"/>
            <a:ext cx="3553968" cy="457200"/>
          </a:xfrm>
          <a:prstGeom prst="roundRect">
            <a:avLst>
              <a:gd name="adj" fmla="val 20000"/>
            </a:avLst>
          </a:prstGeom>
          <a:solidFill>
            <a:srgbClr val="FBF7EF"/>
          </a:solidFill>
          <a:ln w="9525">
            <a:solidFill>
              <a:srgbClr val="EBDFC8"/>
            </a:solidFill>
            <a:prstDash val="solid"/>
          </a:ln>
          <a:effectLst>
            <a:outerShdw sx="100000" sy="100000" kx="0" ky="0" algn="bl" rotWithShape="0" blurRad="127000" dist="25400" dir="5400000">
              <a:srgbClr val="0A2E36">
                <a:alpha val="10000"/>
              </a:srgbClr>
            </a:outerShdw>
          </a:effectLst>
        </p:spPr>
      </p:sp>
      <p:sp>
        <p:nvSpPr>
          <p:cNvPr id="55" name="Shape 53"/>
          <p:cNvSpPr/>
          <p:nvPr/>
        </p:nvSpPr>
        <p:spPr>
          <a:xfrm>
            <a:off x="8186928" y="5074920"/>
            <a:ext cx="292608" cy="292608"/>
          </a:xfrm>
          <a:prstGeom prst="ellipse">
            <a:avLst/>
          </a:prstGeom>
          <a:solidFill>
            <a:srgbClr val="C77800"/>
          </a:solidFill>
          <a:ln/>
        </p:spPr>
      </p:sp>
      <p:sp>
        <p:nvSpPr>
          <p:cNvPr id="56" name="Text 54"/>
          <p:cNvSpPr/>
          <p:nvPr/>
        </p:nvSpPr>
        <p:spPr>
          <a:xfrm>
            <a:off x="8186928" y="5074920"/>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t>
            </a:r>
            <a:endParaRPr lang="en-US" sz="1200" dirty="0"/>
          </a:p>
        </p:txBody>
      </p:sp>
      <p:sp>
        <p:nvSpPr>
          <p:cNvPr id="57" name="Text 55"/>
          <p:cNvSpPr/>
          <p:nvPr/>
        </p:nvSpPr>
        <p:spPr>
          <a:xfrm>
            <a:off x="8589264" y="4992624"/>
            <a:ext cx="2859024" cy="457200"/>
          </a:xfrm>
          <a:prstGeom prst="rect">
            <a:avLst/>
          </a:prstGeom>
          <a:noFill/>
          <a:ln/>
        </p:spPr>
        <p:txBody>
          <a:bodyPr wrap="square" lIns="0" tIns="0" rIns="0" bIns="0" rtlCol="0" anchor="ctr"/>
          <a:lstStyle/>
          <a:p>
            <a:pPr indent="0" marL="0">
              <a:buNone/>
            </a:pPr>
            <a:r>
              <a:rPr lang="en-US" sz="1250" b="1" dirty="0">
                <a:solidFill>
                  <a:srgbClr val="0A2E36"/>
                </a:solidFill>
                <a:latin typeface="Calibri" pitchFamily="34" charset="0"/>
                <a:ea typeface="Calibri" pitchFamily="34" charset="-122"/>
                <a:cs typeface="Calibri" pitchFamily="34" charset="-120"/>
              </a:rPr>
              <a:t>Live deployment</a:t>
            </a:r>
            <a:endParaRPr lang="en-US" sz="1250" dirty="0"/>
          </a:p>
        </p:txBody>
      </p:sp>
      <p:sp>
        <p:nvSpPr>
          <p:cNvPr id="58" name="Shape 56"/>
          <p:cNvSpPr/>
          <p:nvPr/>
        </p:nvSpPr>
        <p:spPr>
          <a:xfrm>
            <a:off x="566928" y="5632704"/>
            <a:ext cx="11027664" cy="548640"/>
          </a:xfrm>
          <a:prstGeom prst="roundRect">
            <a:avLst>
              <a:gd name="adj" fmla="val 16667"/>
            </a:avLst>
          </a:prstGeom>
          <a:solidFill>
            <a:srgbClr val="0A2E36"/>
          </a:solidFill>
          <a:ln/>
          <a:effectLst>
            <a:outerShdw sx="100000" sy="100000" kx="0" ky="0" algn="bl" rotWithShape="0" blurRad="127000" dist="25400" dir="5400000">
              <a:srgbClr val="0A2E36">
                <a:alpha val="10000"/>
              </a:srgbClr>
            </a:outerShdw>
          </a:effectLst>
        </p:spPr>
      </p:sp>
      <p:sp>
        <p:nvSpPr>
          <p:cNvPr id="59" name="Text 57"/>
          <p:cNvSpPr/>
          <p:nvPr/>
        </p:nvSpPr>
        <p:spPr>
          <a:xfrm>
            <a:off x="877824" y="5632704"/>
            <a:ext cx="10405872" cy="548640"/>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Two items are not complete: the cloud database is provisioned locally, not in the cloud, because the application is not yet deployed. We will be explicit about that.</a:t>
            </a:r>
            <a:endParaRPr lang="en-US" sz="1200" dirty="0"/>
          </a:p>
        </p:txBody>
      </p:sp>
      <p:sp>
        <p:nvSpPr>
          <p:cNvPr id="60" name="Text 58"/>
          <p:cNvSpPr/>
          <p:nvPr/>
        </p:nvSpPr>
        <p:spPr>
          <a:xfrm>
            <a:off x="566928" y="6345936"/>
            <a:ext cx="7315200" cy="219456"/>
          </a:xfrm>
          <a:prstGeom prst="rect">
            <a:avLst/>
          </a:prstGeom>
          <a:noFill/>
          <a:ln/>
        </p:spPr>
        <p:txBody>
          <a:bodyPr wrap="square" lIns="0" tIns="0" rIns="0" bIns="0" rtlCol="0" anchor="ctr"/>
          <a:lstStyle/>
          <a:p>
            <a:pPr indent="0" marL="0">
              <a:buNone/>
            </a:pPr>
            <a:r>
              <a:rPr lang="en-US" sz="900" dirty="0">
                <a:solidFill>
                  <a:srgbClr val="7C939B"/>
                </a:solidFill>
                <a:latin typeface="Calibri" pitchFamily="34" charset="0"/>
                <a:ea typeface="Calibri" pitchFamily="34" charset="-122"/>
                <a:cs typeface="Calibri" pitchFamily="34" charset="-120"/>
              </a:rPr>
              <a:t>ServiceDesk AI  ·  BCSE408L Cloud Computing  ·  Final Demonstration</a:t>
            </a:r>
            <a:endParaRPr lang="en-US" sz="900" dirty="0"/>
          </a:p>
        </p:txBody>
      </p:sp>
      <p:sp>
        <p:nvSpPr>
          <p:cNvPr id="61" name="Text 59"/>
          <p:cNvSpPr/>
          <p:nvPr/>
        </p:nvSpPr>
        <p:spPr>
          <a:xfrm>
            <a:off x="10680192" y="6345936"/>
            <a:ext cx="914400" cy="219456"/>
          </a:xfrm>
          <a:prstGeom prst="rect">
            <a:avLst/>
          </a:prstGeom>
          <a:noFill/>
          <a:ln/>
        </p:spPr>
        <p:txBody>
          <a:bodyPr wrap="square" lIns="0" tIns="0" rIns="0" bIns="0" rtlCol="0" anchor="ctr"/>
          <a:lstStyle/>
          <a:p>
            <a:pPr algn="r" indent="0" marL="0">
              <a:buNone/>
            </a:pPr>
            <a:r>
              <a:rPr lang="en-US" sz="900" dirty="0">
                <a:solidFill>
                  <a:srgbClr val="7C939B"/>
                </a:solidFill>
                <a:latin typeface="Calibri" pitchFamily="34" charset="0"/>
                <a:ea typeface="Calibri" pitchFamily="34" charset="-122"/>
                <a:cs typeface="Calibri" pitchFamily="34" charset="-120"/>
              </a:rPr>
              <a:t>1</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65760"/>
            <a:ext cx="11027664" cy="237744"/>
          </a:xfrm>
          <a:prstGeom prst="rect">
            <a:avLst/>
          </a:prstGeom>
          <a:noFill/>
          <a:ln/>
        </p:spPr>
        <p:txBody>
          <a:bodyPr wrap="square" lIns="0" tIns="0" rIns="0" bIns="0" rtlCol="0" anchor="ctr"/>
          <a:lstStyle/>
          <a:p>
            <a:pPr indent="0" marL="0">
              <a:buNone/>
            </a:pPr>
            <a:r>
              <a:rPr lang="en-US" sz="1100" b="1" spc="220" kern="0" dirty="0">
                <a:solidFill>
                  <a:srgbClr val="028090"/>
                </a:solidFill>
                <a:latin typeface="Calibri" pitchFamily="34" charset="0"/>
                <a:ea typeface="Calibri" pitchFamily="34" charset="-122"/>
                <a:cs typeface="Calibri" pitchFamily="34" charset="-120"/>
              </a:rPr>
              <a:t>LIVE SYSTEM</a:t>
            </a:r>
            <a:endParaRPr lang="en-US" sz="1100" dirty="0"/>
          </a:p>
        </p:txBody>
      </p:sp>
      <p:sp>
        <p:nvSpPr>
          <p:cNvPr id="3" name="Text 1"/>
          <p:cNvSpPr/>
          <p:nvPr/>
        </p:nvSpPr>
        <p:spPr>
          <a:xfrm>
            <a:off x="566928" y="621792"/>
            <a:ext cx="11027664" cy="621792"/>
          </a:xfrm>
          <a:prstGeom prst="rect">
            <a:avLst/>
          </a:prstGeom>
          <a:noFill/>
          <a:ln/>
        </p:spPr>
        <p:txBody>
          <a:bodyPr wrap="square" lIns="0" tIns="0" rIns="0" bIns="0" rtlCol="0" anchor="t"/>
          <a:lstStyle/>
          <a:p>
            <a:pPr indent="0" marL="0">
              <a:buNone/>
            </a:pPr>
            <a:r>
              <a:rPr lang="en-US" sz="3000" b="1" dirty="0">
                <a:solidFill>
                  <a:srgbClr val="0A2E36"/>
                </a:solidFill>
                <a:latin typeface="Cambria" pitchFamily="34" charset="0"/>
                <a:ea typeface="Cambria" pitchFamily="34" charset="-122"/>
                <a:cs typeface="Cambria" pitchFamily="34" charset="-120"/>
              </a:rPr>
              <a:t>What We Will Show You</a:t>
            </a:r>
            <a:endParaRPr lang="en-US" sz="3000" dirty="0"/>
          </a:p>
        </p:txBody>
      </p:sp>
      <p:sp>
        <p:nvSpPr>
          <p:cNvPr id="4" name="Shape 2"/>
          <p:cNvSpPr/>
          <p:nvPr/>
        </p:nvSpPr>
        <p:spPr>
          <a:xfrm>
            <a:off x="566928" y="1463040"/>
            <a:ext cx="3517392" cy="1371600"/>
          </a:xfrm>
          <a:prstGeom prst="roundRect">
            <a:avLst>
              <a:gd name="adj" fmla="val 6667"/>
            </a:avLst>
          </a:prstGeom>
          <a:solidFill>
            <a:srgbClr val="EEF6F7"/>
          </a:solidFill>
          <a:ln w="9525">
            <a:solidFill>
              <a:srgbClr val="D3E3E6"/>
            </a:solidFill>
            <a:prstDash val="solid"/>
          </a:ln>
          <a:effectLst>
            <a:outerShdw sx="100000" sy="100000" kx="0" ky="0" algn="bl" rotWithShape="0" blurRad="127000" dist="25400" dir="5400000">
              <a:srgbClr val="0A2E36">
                <a:alpha val="10000"/>
              </a:srgbClr>
            </a:outerShdw>
          </a:effectLst>
        </p:spPr>
      </p:sp>
      <p:sp>
        <p:nvSpPr>
          <p:cNvPr id="5" name="Shape 3"/>
          <p:cNvSpPr/>
          <p:nvPr/>
        </p:nvSpPr>
        <p:spPr>
          <a:xfrm>
            <a:off x="822960" y="1700784"/>
            <a:ext cx="457200" cy="457200"/>
          </a:xfrm>
          <a:prstGeom prst="ellipse">
            <a:avLst/>
          </a:prstGeom>
          <a:solidFill>
            <a:srgbClr val="028090"/>
          </a:solidFill>
          <a:ln/>
        </p:spPr>
      </p:sp>
      <p:sp>
        <p:nvSpPr>
          <p:cNvPr id="6" name="Text 4"/>
          <p:cNvSpPr/>
          <p:nvPr/>
        </p:nvSpPr>
        <p:spPr>
          <a:xfrm>
            <a:off x="822960" y="1700784"/>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7" name="Text 5"/>
          <p:cNvSpPr/>
          <p:nvPr/>
        </p:nvSpPr>
        <p:spPr>
          <a:xfrm>
            <a:off x="1426464" y="1700784"/>
            <a:ext cx="2420112" cy="457200"/>
          </a:xfrm>
          <a:prstGeom prst="rect">
            <a:avLst/>
          </a:prstGeom>
          <a:noFill/>
          <a:ln/>
        </p:spPr>
        <p:txBody>
          <a:bodyPr wrap="square" lIns="0" tIns="0" rIns="0" bIns="0" rtlCol="0" anchor="ctr"/>
          <a:lstStyle/>
          <a:p>
            <a:pPr indent="0" marL="0">
              <a:buNone/>
            </a:pPr>
            <a:r>
              <a:rPr lang="en-US" sz="1600" b="1" dirty="0">
                <a:solidFill>
                  <a:srgbClr val="0A2E36"/>
                </a:solidFill>
                <a:latin typeface="Cambria" pitchFamily="34" charset="0"/>
                <a:ea typeface="Cambria" pitchFamily="34" charset="-122"/>
                <a:cs typeface="Cambria" pitchFamily="34" charset="-120"/>
              </a:rPr>
              <a:t>Customer</a:t>
            </a:r>
            <a:endParaRPr lang="en-US" sz="1600" dirty="0"/>
          </a:p>
        </p:txBody>
      </p:sp>
      <p:sp>
        <p:nvSpPr>
          <p:cNvPr id="8" name="Text 6"/>
          <p:cNvSpPr/>
          <p:nvPr/>
        </p:nvSpPr>
        <p:spPr>
          <a:xfrm>
            <a:off x="822960" y="2267712"/>
            <a:ext cx="3005328" cy="457200"/>
          </a:xfrm>
          <a:prstGeom prst="rect">
            <a:avLst/>
          </a:prstGeom>
          <a:noFill/>
          <a:ln/>
        </p:spPr>
        <p:txBody>
          <a:bodyPr wrap="square" lIns="0" tIns="0" rIns="0" bIns="0" rtlCol="0" anchor="t"/>
          <a:lstStyle/>
          <a:p>
            <a:pPr indent="0" marL="0">
              <a:lnSpc>
                <a:spcPts val="1400"/>
              </a:lnSpc>
              <a:buNone/>
            </a:pPr>
            <a:r>
              <a:rPr lang="en-US" sz="1150" dirty="0">
                <a:solidFill>
                  <a:srgbClr val="445C64"/>
                </a:solidFill>
                <a:latin typeface="Calibri" pitchFamily="34" charset="0"/>
                <a:ea typeface="Calibri" pitchFamily="34" charset="-122"/>
                <a:cs typeface="Calibri" pitchFamily="34" charset="-120"/>
              </a:rPr>
              <a:t>Register, raise a complaint, watch it get classified automatically</a:t>
            </a:r>
            <a:endParaRPr lang="en-US" sz="1150" dirty="0"/>
          </a:p>
        </p:txBody>
      </p:sp>
      <p:sp>
        <p:nvSpPr>
          <p:cNvPr id="9" name="Shape 7"/>
          <p:cNvSpPr/>
          <p:nvPr/>
        </p:nvSpPr>
        <p:spPr>
          <a:xfrm>
            <a:off x="4322064" y="1463040"/>
            <a:ext cx="3517392" cy="1371600"/>
          </a:xfrm>
          <a:prstGeom prst="roundRect">
            <a:avLst>
              <a:gd name="adj" fmla="val 6667"/>
            </a:avLst>
          </a:prstGeom>
          <a:solidFill>
            <a:srgbClr val="EEF6F7"/>
          </a:solidFill>
          <a:ln w="9525">
            <a:solidFill>
              <a:srgbClr val="D3E3E6"/>
            </a:solidFill>
            <a:prstDash val="solid"/>
          </a:ln>
          <a:effectLst>
            <a:outerShdw sx="100000" sy="100000" kx="0" ky="0" algn="bl" rotWithShape="0" blurRad="127000" dist="25400" dir="5400000">
              <a:srgbClr val="0A2E36">
                <a:alpha val="10000"/>
              </a:srgbClr>
            </a:outerShdw>
          </a:effectLst>
        </p:spPr>
      </p:sp>
      <p:sp>
        <p:nvSpPr>
          <p:cNvPr id="10" name="Shape 8"/>
          <p:cNvSpPr/>
          <p:nvPr/>
        </p:nvSpPr>
        <p:spPr>
          <a:xfrm>
            <a:off x="4578096" y="1700784"/>
            <a:ext cx="457200" cy="457200"/>
          </a:xfrm>
          <a:prstGeom prst="ellipse">
            <a:avLst/>
          </a:prstGeom>
          <a:solidFill>
            <a:srgbClr val="028090"/>
          </a:solidFill>
          <a:ln/>
        </p:spPr>
      </p:sp>
      <p:sp>
        <p:nvSpPr>
          <p:cNvPr id="11" name="Text 9"/>
          <p:cNvSpPr/>
          <p:nvPr/>
        </p:nvSpPr>
        <p:spPr>
          <a:xfrm>
            <a:off x="4578096" y="1700784"/>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2" name="Text 10"/>
          <p:cNvSpPr/>
          <p:nvPr/>
        </p:nvSpPr>
        <p:spPr>
          <a:xfrm>
            <a:off x="5181600" y="1700784"/>
            <a:ext cx="2420112" cy="457200"/>
          </a:xfrm>
          <a:prstGeom prst="rect">
            <a:avLst/>
          </a:prstGeom>
          <a:noFill/>
          <a:ln/>
        </p:spPr>
        <p:txBody>
          <a:bodyPr wrap="square" lIns="0" tIns="0" rIns="0" bIns="0" rtlCol="0" anchor="ctr"/>
          <a:lstStyle/>
          <a:p>
            <a:pPr indent="0" marL="0">
              <a:buNone/>
            </a:pPr>
            <a:r>
              <a:rPr lang="en-US" sz="1600" b="1" dirty="0">
                <a:solidFill>
                  <a:srgbClr val="0A2E36"/>
                </a:solidFill>
                <a:latin typeface="Cambria" pitchFamily="34" charset="0"/>
                <a:ea typeface="Cambria" pitchFamily="34" charset="-122"/>
                <a:cs typeface="Cambria" pitchFamily="34" charset="-120"/>
              </a:rPr>
              <a:t>Isolation</a:t>
            </a:r>
            <a:endParaRPr lang="en-US" sz="1600" dirty="0"/>
          </a:p>
        </p:txBody>
      </p:sp>
      <p:sp>
        <p:nvSpPr>
          <p:cNvPr id="13" name="Text 11"/>
          <p:cNvSpPr/>
          <p:nvPr/>
        </p:nvSpPr>
        <p:spPr>
          <a:xfrm>
            <a:off x="4578096" y="2267712"/>
            <a:ext cx="3005328" cy="457200"/>
          </a:xfrm>
          <a:prstGeom prst="rect">
            <a:avLst/>
          </a:prstGeom>
          <a:noFill/>
          <a:ln/>
        </p:spPr>
        <p:txBody>
          <a:bodyPr wrap="square" lIns="0" tIns="0" rIns="0" bIns="0" rtlCol="0" anchor="t"/>
          <a:lstStyle/>
          <a:p>
            <a:pPr indent="0" marL="0">
              <a:lnSpc>
                <a:spcPts val="1400"/>
              </a:lnSpc>
              <a:buNone/>
            </a:pPr>
            <a:r>
              <a:rPr lang="en-US" sz="1150" dirty="0">
                <a:solidFill>
                  <a:srgbClr val="445C64"/>
                </a:solidFill>
                <a:latin typeface="Calibri" pitchFamily="34" charset="0"/>
                <a:ea typeface="Calibri" pitchFamily="34" charset="-122"/>
                <a:cs typeface="Calibri" pitchFamily="34" charset="-120"/>
              </a:rPr>
              <a:t>Try to open another customer's ticket — and fail</a:t>
            </a:r>
            <a:endParaRPr lang="en-US" sz="1150" dirty="0"/>
          </a:p>
        </p:txBody>
      </p:sp>
      <p:sp>
        <p:nvSpPr>
          <p:cNvPr id="14" name="Shape 12"/>
          <p:cNvSpPr/>
          <p:nvPr/>
        </p:nvSpPr>
        <p:spPr>
          <a:xfrm>
            <a:off x="8077200" y="1463040"/>
            <a:ext cx="3517392" cy="1371600"/>
          </a:xfrm>
          <a:prstGeom prst="roundRect">
            <a:avLst>
              <a:gd name="adj" fmla="val 6667"/>
            </a:avLst>
          </a:prstGeom>
          <a:solidFill>
            <a:srgbClr val="EEF6F7"/>
          </a:solidFill>
          <a:ln w="9525">
            <a:solidFill>
              <a:srgbClr val="D3E3E6"/>
            </a:solidFill>
            <a:prstDash val="solid"/>
          </a:ln>
          <a:effectLst>
            <a:outerShdw sx="100000" sy="100000" kx="0" ky="0" algn="bl" rotWithShape="0" blurRad="127000" dist="25400" dir="5400000">
              <a:srgbClr val="0A2E36">
                <a:alpha val="10000"/>
              </a:srgbClr>
            </a:outerShdw>
          </a:effectLst>
        </p:spPr>
      </p:sp>
      <p:sp>
        <p:nvSpPr>
          <p:cNvPr id="15" name="Shape 13"/>
          <p:cNvSpPr/>
          <p:nvPr/>
        </p:nvSpPr>
        <p:spPr>
          <a:xfrm>
            <a:off x="8333232" y="1700784"/>
            <a:ext cx="457200" cy="457200"/>
          </a:xfrm>
          <a:prstGeom prst="ellipse">
            <a:avLst/>
          </a:prstGeom>
          <a:solidFill>
            <a:srgbClr val="028090"/>
          </a:solidFill>
          <a:ln/>
        </p:spPr>
      </p:sp>
      <p:sp>
        <p:nvSpPr>
          <p:cNvPr id="16" name="Text 14"/>
          <p:cNvSpPr/>
          <p:nvPr/>
        </p:nvSpPr>
        <p:spPr>
          <a:xfrm>
            <a:off x="8333232" y="1700784"/>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17" name="Text 15"/>
          <p:cNvSpPr/>
          <p:nvPr/>
        </p:nvSpPr>
        <p:spPr>
          <a:xfrm>
            <a:off x="8936736" y="1700784"/>
            <a:ext cx="2420112" cy="457200"/>
          </a:xfrm>
          <a:prstGeom prst="rect">
            <a:avLst/>
          </a:prstGeom>
          <a:noFill/>
          <a:ln/>
        </p:spPr>
        <p:txBody>
          <a:bodyPr wrap="square" lIns="0" tIns="0" rIns="0" bIns="0" rtlCol="0" anchor="ctr"/>
          <a:lstStyle/>
          <a:p>
            <a:pPr indent="0" marL="0">
              <a:buNone/>
            </a:pPr>
            <a:r>
              <a:rPr lang="en-US" sz="1600" b="1" dirty="0">
                <a:solidFill>
                  <a:srgbClr val="0A2E36"/>
                </a:solidFill>
                <a:latin typeface="Cambria" pitchFamily="34" charset="0"/>
                <a:ea typeface="Cambria" pitchFamily="34" charset="-122"/>
                <a:cs typeface="Cambria" pitchFamily="34" charset="-120"/>
              </a:rPr>
              <a:t>Agent</a:t>
            </a:r>
            <a:endParaRPr lang="en-US" sz="1600" dirty="0"/>
          </a:p>
        </p:txBody>
      </p:sp>
      <p:sp>
        <p:nvSpPr>
          <p:cNvPr id="18" name="Text 16"/>
          <p:cNvSpPr/>
          <p:nvPr/>
        </p:nvSpPr>
        <p:spPr>
          <a:xfrm>
            <a:off x="8333232" y="2267712"/>
            <a:ext cx="3005328" cy="457200"/>
          </a:xfrm>
          <a:prstGeom prst="rect">
            <a:avLst/>
          </a:prstGeom>
          <a:noFill/>
          <a:ln/>
        </p:spPr>
        <p:txBody>
          <a:bodyPr wrap="square" lIns="0" tIns="0" rIns="0" bIns="0" rtlCol="0" anchor="t"/>
          <a:lstStyle/>
          <a:p>
            <a:pPr indent="0" marL="0">
              <a:lnSpc>
                <a:spcPts val="1400"/>
              </a:lnSpc>
              <a:buNone/>
            </a:pPr>
            <a:r>
              <a:rPr lang="en-US" sz="1150" dirty="0">
                <a:solidFill>
                  <a:srgbClr val="445C64"/>
                </a:solidFill>
                <a:latin typeface="Calibri" pitchFamily="34" charset="0"/>
                <a:ea typeface="Calibri" pitchFamily="34" charset="-122"/>
                <a:cs typeface="Calibri" pitchFamily="34" charset="-120"/>
              </a:rPr>
              <a:t>Prioritised queue, filters, full-text search</a:t>
            </a:r>
            <a:endParaRPr lang="en-US" sz="1150" dirty="0"/>
          </a:p>
        </p:txBody>
      </p:sp>
      <p:sp>
        <p:nvSpPr>
          <p:cNvPr id="19" name="Shape 17"/>
          <p:cNvSpPr/>
          <p:nvPr/>
        </p:nvSpPr>
        <p:spPr>
          <a:xfrm>
            <a:off x="566928" y="3035808"/>
            <a:ext cx="3517392" cy="1371600"/>
          </a:xfrm>
          <a:prstGeom prst="roundRect">
            <a:avLst>
              <a:gd name="adj" fmla="val 6667"/>
            </a:avLst>
          </a:prstGeom>
          <a:solidFill>
            <a:srgbClr val="EEF6F7"/>
          </a:solidFill>
          <a:ln w="9525">
            <a:solidFill>
              <a:srgbClr val="D3E3E6"/>
            </a:solidFill>
            <a:prstDash val="solid"/>
          </a:ln>
          <a:effectLst>
            <a:outerShdw sx="100000" sy="100000" kx="0" ky="0" algn="bl" rotWithShape="0" blurRad="127000" dist="25400" dir="5400000">
              <a:srgbClr val="0A2E36">
                <a:alpha val="10000"/>
              </a:srgbClr>
            </a:outerShdw>
          </a:effectLst>
        </p:spPr>
      </p:sp>
      <p:sp>
        <p:nvSpPr>
          <p:cNvPr id="20" name="Shape 18"/>
          <p:cNvSpPr/>
          <p:nvPr/>
        </p:nvSpPr>
        <p:spPr>
          <a:xfrm>
            <a:off x="822960" y="3273552"/>
            <a:ext cx="457200" cy="457200"/>
          </a:xfrm>
          <a:prstGeom prst="ellipse">
            <a:avLst/>
          </a:prstGeom>
          <a:solidFill>
            <a:srgbClr val="028090"/>
          </a:solidFill>
          <a:ln/>
        </p:spPr>
      </p:sp>
      <p:sp>
        <p:nvSpPr>
          <p:cNvPr id="21" name="Text 19"/>
          <p:cNvSpPr/>
          <p:nvPr/>
        </p:nvSpPr>
        <p:spPr>
          <a:xfrm>
            <a:off x="822960" y="3273552"/>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22" name="Text 20"/>
          <p:cNvSpPr/>
          <p:nvPr/>
        </p:nvSpPr>
        <p:spPr>
          <a:xfrm>
            <a:off x="1426464" y="3273552"/>
            <a:ext cx="2420112" cy="457200"/>
          </a:xfrm>
          <a:prstGeom prst="rect">
            <a:avLst/>
          </a:prstGeom>
          <a:noFill/>
          <a:ln/>
        </p:spPr>
        <p:txBody>
          <a:bodyPr wrap="square" lIns="0" tIns="0" rIns="0" bIns="0" rtlCol="0" anchor="ctr"/>
          <a:lstStyle/>
          <a:p>
            <a:pPr indent="0" marL="0">
              <a:buNone/>
            </a:pPr>
            <a:r>
              <a:rPr lang="en-US" sz="1600" b="1" dirty="0">
                <a:solidFill>
                  <a:srgbClr val="0A2E36"/>
                </a:solidFill>
                <a:latin typeface="Cambria" pitchFamily="34" charset="0"/>
                <a:ea typeface="Cambria" pitchFamily="34" charset="-122"/>
                <a:cs typeface="Cambria" pitchFamily="34" charset="-120"/>
              </a:rPr>
              <a:t>AI</a:t>
            </a:r>
            <a:endParaRPr lang="en-US" sz="1600" dirty="0"/>
          </a:p>
        </p:txBody>
      </p:sp>
      <p:sp>
        <p:nvSpPr>
          <p:cNvPr id="23" name="Text 21"/>
          <p:cNvSpPr/>
          <p:nvPr/>
        </p:nvSpPr>
        <p:spPr>
          <a:xfrm>
            <a:off x="822960" y="3840480"/>
            <a:ext cx="3005328" cy="457200"/>
          </a:xfrm>
          <a:prstGeom prst="rect">
            <a:avLst/>
          </a:prstGeom>
          <a:noFill/>
          <a:ln/>
        </p:spPr>
        <p:txBody>
          <a:bodyPr wrap="square" lIns="0" tIns="0" rIns="0" bIns="0" rtlCol="0" anchor="t"/>
          <a:lstStyle/>
          <a:p>
            <a:pPr indent="0" marL="0">
              <a:lnSpc>
                <a:spcPts val="1400"/>
              </a:lnSpc>
              <a:buNone/>
            </a:pPr>
            <a:r>
              <a:rPr lang="en-US" sz="1150" dirty="0">
                <a:solidFill>
                  <a:srgbClr val="445C64"/>
                </a:solidFill>
                <a:latin typeface="Calibri" pitchFamily="34" charset="0"/>
                <a:ea typeface="Calibri" pitchFamily="34" charset="-122"/>
                <a:cs typeface="Calibri" pitchFamily="34" charset="-120"/>
              </a:rPr>
              <a:t>Generate a draft, edit it, send it as a human</a:t>
            </a:r>
            <a:endParaRPr lang="en-US" sz="1150" dirty="0"/>
          </a:p>
        </p:txBody>
      </p:sp>
      <p:sp>
        <p:nvSpPr>
          <p:cNvPr id="24" name="Shape 22"/>
          <p:cNvSpPr/>
          <p:nvPr/>
        </p:nvSpPr>
        <p:spPr>
          <a:xfrm>
            <a:off x="4322064" y="3035808"/>
            <a:ext cx="3517392" cy="1371600"/>
          </a:xfrm>
          <a:prstGeom prst="roundRect">
            <a:avLst>
              <a:gd name="adj" fmla="val 6667"/>
            </a:avLst>
          </a:prstGeom>
          <a:solidFill>
            <a:srgbClr val="EEF6F7"/>
          </a:solidFill>
          <a:ln w="9525">
            <a:solidFill>
              <a:srgbClr val="D3E3E6"/>
            </a:solidFill>
            <a:prstDash val="solid"/>
          </a:ln>
          <a:effectLst>
            <a:outerShdw sx="100000" sy="100000" kx="0" ky="0" algn="bl" rotWithShape="0" blurRad="127000" dist="25400" dir="5400000">
              <a:srgbClr val="0A2E36">
                <a:alpha val="10000"/>
              </a:srgbClr>
            </a:outerShdw>
          </a:effectLst>
        </p:spPr>
      </p:sp>
      <p:sp>
        <p:nvSpPr>
          <p:cNvPr id="25" name="Shape 23"/>
          <p:cNvSpPr/>
          <p:nvPr/>
        </p:nvSpPr>
        <p:spPr>
          <a:xfrm>
            <a:off x="4578096" y="3273552"/>
            <a:ext cx="457200" cy="457200"/>
          </a:xfrm>
          <a:prstGeom prst="ellipse">
            <a:avLst/>
          </a:prstGeom>
          <a:solidFill>
            <a:srgbClr val="028090"/>
          </a:solidFill>
          <a:ln/>
        </p:spPr>
      </p:sp>
      <p:sp>
        <p:nvSpPr>
          <p:cNvPr id="26" name="Text 24"/>
          <p:cNvSpPr/>
          <p:nvPr/>
        </p:nvSpPr>
        <p:spPr>
          <a:xfrm>
            <a:off x="4578096" y="3273552"/>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5</a:t>
            </a:r>
            <a:endParaRPr lang="en-US" sz="1600" dirty="0"/>
          </a:p>
        </p:txBody>
      </p:sp>
      <p:sp>
        <p:nvSpPr>
          <p:cNvPr id="27" name="Text 25"/>
          <p:cNvSpPr/>
          <p:nvPr/>
        </p:nvSpPr>
        <p:spPr>
          <a:xfrm>
            <a:off x="5181600" y="3273552"/>
            <a:ext cx="2420112" cy="457200"/>
          </a:xfrm>
          <a:prstGeom prst="rect">
            <a:avLst/>
          </a:prstGeom>
          <a:noFill/>
          <a:ln/>
        </p:spPr>
        <p:txBody>
          <a:bodyPr wrap="square" lIns="0" tIns="0" rIns="0" bIns="0" rtlCol="0" anchor="ctr"/>
          <a:lstStyle/>
          <a:p>
            <a:pPr indent="0" marL="0">
              <a:buNone/>
            </a:pPr>
            <a:r>
              <a:rPr lang="en-US" sz="1600" b="1" dirty="0">
                <a:solidFill>
                  <a:srgbClr val="0A2E36"/>
                </a:solidFill>
                <a:latin typeface="Cambria" pitchFamily="34" charset="0"/>
                <a:ea typeface="Cambria" pitchFamily="34" charset="-122"/>
                <a:cs typeface="Cambria" pitchFamily="34" charset="-120"/>
              </a:rPr>
              <a:t>Lifecycle</a:t>
            </a:r>
            <a:endParaRPr lang="en-US" sz="1600" dirty="0"/>
          </a:p>
        </p:txBody>
      </p:sp>
      <p:sp>
        <p:nvSpPr>
          <p:cNvPr id="28" name="Text 26"/>
          <p:cNvSpPr/>
          <p:nvPr/>
        </p:nvSpPr>
        <p:spPr>
          <a:xfrm>
            <a:off x="4578096" y="3840480"/>
            <a:ext cx="3005328" cy="457200"/>
          </a:xfrm>
          <a:prstGeom prst="rect">
            <a:avLst/>
          </a:prstGeom>
          <a:noFill/>
          <a:ln/>
        </p:spPr>
        <p:txBody>
          <a:bodyPr wrap="square" lIns="0" tIns="0" rIns="0" bIns="0" rtlCol="0" anchor="t"/>
          <a:lstStyle/>
          <a:p>
            <a:pPr indent="0" marL="0">
              <a:lnSpc>
                <a:spcPts val="1400"/>
              </a:lnSpc>
              <a:buNone/>
            </a:pPr>
            <a:r>
              <a:rPr lang="en-US" sz="1150" dirty="0">
                <a:solidFill>
                  <a:srgbClr val="445C64"/>
                </a:solidFill>
                <a:latin typeface="Calibri" pitchFamily="34" charset="0"/>
                <a:ea typeface="Calibri" pitchFamily="34" charset="-122"/>
                <a:cs typeface="Calibri" pitchFamily="34" charset="-120"/>
              </a:rPr>
              <a:t>Advance status, then attempt an invalid transition</a:t>
            </a:r>
            <a:endParaRPr lang="en-US" sz="1150" dirty="0"/>
          </a:p>
        </p:txBody>
      </p:sp>
      <p:sp>
        <p:nvSpPr>
          <p:cNvPr id="29" name="Shape 27"/>
          <p:cNvSpPr/>
          <p:nvPr/>
        </p:nvSpPr>
        <p:spPr>
          <a:xfrm>
            <a:off x="8077200" y="3035808"/>
            <a:ext cx="3517392" cy="1371600"/>
          </a:xfrm>
          <a:prstGeom prst="roundRect">
            <a:avLst>
              <a:gd name="adj" fmla="val 6667"/>
            </a:avLst>
          </a:prstGeom>
          <a:solidFill>
            <a:srgbClr val="EEF6F7"/>
          </a:solidFill>
          <a:ln w="9525">
            <a:solidFill>
              <a:srgbClr val="D3E3E6"/>
            </a:solidFill>
            <a:prstDash val="solid"/>
          </a:ln>
          <a:effectLst>
            <a:outerShdw sx="100000" sy="100000" kx="0" ky="0" algn="bl" rotWithShape="0" blurRad="127000" dist="25400" dir="5400000">
              <a:srgbClr val="0A2E36">
                <a:alpha val="10000"/>
              </a:srgbClr>
            </a:outerShdw>
          </a:effectLst>
        </p:spPr>
      </p:sp>
      <p:sp>
        <p:nvSpPr>
          <p:cNvPr id="30" name="Shape 28"/>
          <p:cNvSpPr/>
          <p:nvPr/>
        </p:nvSpPr>
        <p:spPr>
          <a:xfrm>
            <a:off x="8333232" y="3273552"/>
            <a:ext cx="457200" cy="457200"/>
          </a:xfrm>
          <a:prstGeom prst="ellipse">
            <a:avLst/>
          </a:prstGeom>
          <a:solidFill>
            <a:srgbClr val="028090"/>
          </a:solidFill>
          <a:ln/>
        </p:spPr>
      </p:sp>
      <p:sp>
        <p:nvSpPr>
          <p:cNvPr id="31" name="Text 29"/>
          <p:cNvSpPr/>
          <p:nvPr/>
        </p:nvSpPr>
        <p:spPr>
          <a:xfrm>
            <a:off x="8333232" y="3273552"/>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6</a:t>
            </a:r>
            <a:endParaRPr lang="en-US" sz="1600" dirty="0"/>
          </a:p>
        </p:txBody>
      </p:sp>
      <p:sp>
        <p:nvSpPr>
          <p:cNvPr id="32" name="Text 30"/>
          <p:cNvSpPr/>
          <p:nvPr/>
        </p:nvSpPr>
        <p:spPr>
          <a:xfrm>
            <a:off x="8936736" y="3273552"/>
            <a:ext cx="2420112" cy="457200"/>
          </a:xfrm>
          <a:prstGeom prst="rect">
            <a:avLst/>
          </a:prstGeom>
          <a:noFill/>
          <a:ln/>
        </p:spPr>
        <p:txBody>
          <a:bodyPr wrap="square" lIns="0" tIns="0" rIns="0" bIns="0" rtlCol="0" anchor="ctr"/>
          <a:lstStyle/>
          <a:p>
            <a:pPr indent="0" marL="0">
              <a:buNone/>
            </a:pPr>
            <a:r>
              <a:rPr lang="en-US" sz="1600" b="1" dirty="0">
                <a:solidFill>
                  <a:srgbClr val="0A2E36"/>
                </a:solidFill>
                <a:latin typeface="Cambria" pitchFamily="34" charset="0"/>
                <a:ea typeface="Cambria" pitchFamily="34" charset="-122"/>
                <a:cs typeface="Cambria" pitchFamily="34" charset="-120"/>
              </a:rPr>
              <a:t>Admin</a:t>
            </a:r>
            <a:endParaRPr lang="en-US" sz="1600" dirty="0"/>
          </a:p>
        </p:txBody>
      </p:sp>
      <p:sp>
        <p:nvSpPr>
          <p:cNvPr id="33" name="Text 31"/>
          <p:cNvSpPr/>
          <p:nvPr/>
        </p:nvSpPr>
        <p:spPr>
          <a:xfrm>
            <a:off x="8333232" y="3840480"/>
            <a:ext cx="3005328" cy="457200"/>
          </a:xfrm>
          <a:prstGeom prst="rect">
            <a:avLst/>
          </a:prstGeom>
          <a:noFill/>
          <a:ln/>
        </p:spPr>
        <p:txBody>
          <a:bodyPr wrap="square" lIns="0" tIns="0" rIns="0" bIns="0" rtlCol="0" anchor="t"/>
          <a:lstStyle/>
          <a:p>
            <a:pPr indent="0" marL="0">
              <a:lnSpc>
                <a:spcPts val="1400"/>
              </a:lnSpc>
              <a:buNone/>
            </a:pPr>
            <a:r>
              <a:rPr lang="en-US" sz="1150" dirty="0">
                <a:solidFill>
                  <a:srgbClr val="445C64"/>
                </a:solidFill>
                <a:latin typeface="Calibri" pitchFamily="34" charset="0"/>
                <a:ea typeface="Calibri" pitchFamily="34" charset="-122"/>
                <a:cs typeface="Calibri" pitchFamily="34" charset="-120"/>
              </a:rPr>
              <a:t>Dashboards and reports computed from live data</a:t>
            </a:r>
            <a:endParaRPr lang="en-US" sz="1150" dirty="0"/>
          </a:p>
        </p:txBody>
      </p:sp>
      <p:sp>
        <p:nvSpPr>
          <p:cNvPr id="34" name="Shape 32"/>
          <p:cNvSpPr/>
          <p:nvPr/>
        </p:nvSpPr>
        <p:spPr>
          <a:xfrm>
            <a:off x="566928" y="4663440"/>
            <a:ext cx="11027664" cy="1481328"/>
          </a:xfrm>
          <a:prstGeom prst="roundRect">
            <a:avLst>
              <a:gd name="adj" fmla="val 6173"/>
            </a:avLst>
          </a:prstGeom>
          <a:solidFill>
            <a:srgbClr val="EEF6F7"/>
          </a:solidFill>
          <a:ln w="9525">
            <a:solidFill>
              <a:srgbClr val="D3E3E6"/>
            </a:solidFill>
            <a:prstDash val="solid"/>
          </a:ln>
          <a:effectLst>
            <a:outerShdw sx="100000" sy="100000" kx="0" ky="0" algn="bl" rotWithShape="0" blurRad="127000" dist="25400" dir="5400000">
              <a:srgbClr val="0A2E36">
                <a:alpha val="10000"/>
              </a:srgbClr>
            </a:outerShdw>
          </a:effectLst>
        </p:spPr>
      </p:sp>
      <p:sp>
        <p:nvSpPr>
          <p:cNvPr id="35" name="Text 33"/>
          <p:cNvSpPr/>
          <p:nvPr/>
        </p:nvSpPr>
        <p:spPr>
          <a:xfrm>
            <a:off x="877824" y="4809744"/>
            <a:ext cx="5486400" cy="274320"/>
          </a:xfrm>
          <a:prstGeom prst="rect">
            <a:avLst/>
          </a:prstGeom>
          <a:noFill/>
          <a:ln/>
        </p:spPr>
        <p:txBody>
          <a:bodyPr wrap="square" lIns="0" tIns="0" rIns="0" bIns="0" rtlCol="0" anchor="ctr"/>
          <a:lstStyle/>
          <a:p>
            <a:pPr indent="0" marL="0">
              <a:buNone/>
            </a:pPr>
            <a:r>
              <a:rPr lang="en-US" sz="1400" b="1" dirty="0">
                <a:solidFill>
                  <a:srgbClr val="0A2E36"/>
                </a:solidFill>
                <a:latin typeface="Cambria" pitchFamily="34" charset="0"/>
                <a:ea typeface="Cambria" pitchFamily="34" charset="-122"/>
                <a:cs typeface="Cambria" pitchFamily="34" charset="-120"/>
              </a:rPr>
              <a:t>Everything is real functionality</a:t>
            </a:r>
            <a:endParaRPr lang="en-US" sz="1400" dirty="0"/>
          </a:p>
        </p:txBody>
      </p:sp>
      <p:sp>
        <p:nvSpPr>
          <p:cNvPr id="36" name="Text 34"/>
          <p:cNvSpPr/>
          <p:nvPr/>
        </p:nvSpPr>
        <p:spPr>
          <a:xfrm>
            <a:off x="877824" y="5138928"/>
            <a:ext cx="10405872" cy="877824"/>
          </a:xfrm>
          <a:prstGeom prst="rect">
            <a:avLst/>
          </a:prstGeom>
          <a:noFill/>
          <a:ln/>
        </p:spPr>
        <p:txBody>
          <a:bodyPr wrap="square" lIns="0" tIns="0" rIns="0" bIns="0" rtlCol="0" anchor="t"/>
          <a:lstStyle/>
          <a:p>
            <a:pPr marL="342900" indent="-342900">
              <a:spcAft>
                <a:spcPts val="500"/>
              </a:spcAft>
              <a:buSzPct val="100000"/>
              <a:buChar char="•"/>
            </a:pPr>
            <a:r>
              <a:rPr lang="en-US" sz="1200" dirty="0">
                <a:solidFill>
                  <a:srgbClr val="445C64"/>
                </a:solidFill>
                <a:latin typeface="Calibri" pitchFamily="34" charset="0"/>
                <a:ea typeface="Calibri" pitchFamily="34" charset="-122"/>
                <a:cs typeface="Calibri" pitchFamily="34" charset="-120"/>
              </a:rPr>
              <a:t>No staged screenshots and no rehearsed data — we create a ticket in front of you.</a:t>
            </a:r>
            <a:endParaRPr lang="en-US" sz="1200" dirty="0"/>
          </a:p>
          <a:p>
            <a:pPr marL="342900" indent="-342900">
              <a:spcAft>
                <a:spcPts val="500"/>
              </a:spcAft>
              <a:buSzPct val="100000"/>
              <a:buChar char="•"/>
            </a:pPr>
            <a:r>
              <a:rPr lang="en-US" sz="1200" dirty="0">
                <a:solidFill>
                  <a:srgbClr val="445C64"/>
                </a:solidFill>
                <a:latin typeface="Calibri" pitchFamily="34" charset="0"/>
                <a:ea typeface="Calibri" pitchFamily="34" charset="-122"/>
                <a:cs typeface="Calibri" pitchFamily="34" charset="-120"/>
              </a:rPr>
              <a:t>The classification you will see is derived from the words we type, not pre-set.</a:t>
            </a:r>
            <a:endParaRPr lang="en-US" sz="1200" dirty="0"/>
          </a:p>
          <a:p>
            <a:pPr marL="342900" indent="-342900">
              <a:spcAft>
                <a:spcPts val="500"/>
              </a:spcAft>
              <a:buSzPct val="100000"/>
              <a:buChar char="•"/>
            </a:pPr>
            <a:r>
              <a:rPr lang="en-US" sz="1200" dirty="0">
                <a:solidFill>
                  <a:srgbClr val="445C64"/>
                </a:solidFill>
                <a:latin typeface="Calibri" pitchFamily="34" charset="0"/>
                <a:ea typeface="Calibri" pitchFamily="34" charset="-122"/>
                <a:cs typeface="Calibri" pitchFamily="34" charset="-120"/>
              </a:rPr>
              <a:t>Every dashboard figure is a SQL aggregate run at the moment the page loads.</a:t>
            </a:r>
            <a:endParaRPr lang="en-US" sz="1200" dirty="0"/>
          </a:p>
        </p:txBody>
      </p:sp>
      <p:sp>
        <p:nvSpPr>
          <p:cNvPr id="37" name="Text 35"/>
          <p:cNvSpPr/>
          <p:nvPr/>
        </p:nvSpPr>
        <p:spPr>
          <a:xfrm>
            <a:off x="566928" y="6345936"/>
            <a:ext cx="7315200" cy="219456"/>
          </a:xfrm>
          <a:prstGeom prst="rect">
            <a:avLst/>
          </a:prstGeom>
          <a:noFill/>
          <a:ln/>
        </p:spPr>
        <p:txBody>
          <a:bodyPr wrap="square" lIns="0" tIns="0" rIns="0" bIns="0" rtlCol="0" anchor="ctr"/>
          <a:lstStyle/>
          <a:p>
            <a:pPr indent="0" marL="0">
              <a:buNone/>
            </a:pPr>
            <a:r>
              <a:rPr lang="en-US" sz="900" dirty="0">
                <a:solidFill>
                  <a:srgbClr val="7C939B"/>
                </a:solidFill>
                <a:latin typeface="Calibri" pitchFamily="34" charset="0"/>
                <a:ea typeface="Calibri" pitchFamily="34" charset="-122"/>
                <a:cs typeface="Calibri" pitchFamily="34" charset="-120"/>
              </a:rPr>
              <a:t>ServiceDesk AI  ·  BCSE408L Cloud Computing  ·  Final Demonstration</a:t>
            </a:r>
            <a:endParaRPr lang="en-US" sz="900" dirty="0"/>
          </a:p>
        </p:txBody>
      </p:sp>
      <p:sp>
        <p:nvSpPr>
          <p:cNvPr id="38" name="Text 36"/>
          <p:cNvSpPr/>
          <p:nvPr/>
        </p:nvSpPr>
        <p:spPr>
          <a:xfrm>
            <a:off x="10680192" y="6345936"/>
            <a:ext cx="914400" cy="219456"/>
          </a:xfrm>
          <a:prstGeom prst="rect">
            <a:avLst/>
          </a:prstGeom>
          <a:noFill/>
          <a:ln/>
        </p:spPr>
        <p:txBody>
          <a:bodyPr wrap="square" lIns="0" tIns="0" rIns="0" bIns="0" rtlCol="0" anchor="ctr"/>
          <a:lstStyle/>
          <a:p>
            <a:pPr algn="r" indent="0" marL="0">
              <a:buNone/>
            </a:pPr>
            <a:r>
              <a:rPr lang="en-US" sz="900" dirty="0">
                <a:solidFill>
                  <a:srgbClr val="7C939B"/>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65760"/>
            <a:ext cx="11027664" cy="237744"/>
          </a:xfrm>
          <a:prstGeom prst="rect">
            <a:avLst/>
          </a:prstGeom>
          <a:noFill/>
          <a:ln/>
        </p:spPr>
        <p:txBody>
          <a:bodyPr wrap="square" lIns="0" tIns="0" rIns="0" bIns="0" rtlCol="0" anchor="ctr"/>
          <a:lstStyle/>
          <a:p>
            <a:pPr indent="0" marL="0">
              <a:buNone/>
            </a:pPr>
            <a:r>
              <a:rPr lang="en-US" sz="1100" b="1" spc="220" kern="0" dirty="0">
                <a:solidFill>
                  <a:srgbClr val="028090"/>
                </a:solidFill>
                <a:latin typeface="Calibri" pitchFamily="34" charset="0"/>
                <a:ea typeface="Calibri" pitchFamily="34" charset="-122"/>
                <a:cs typeface="Calibri" pitchFamily="34" charset="-120"/>
              </a:rPr>
              <a:t>AS BUILT</a:t>
            </a:r>
            <a:endParaRPr lang="en-US" sz="1100" dirty="0"/>
          </a:p>
        </p:txBody>
      </p:sp>
      <p:sp>
        <p:nvSpPr>
          <p:cNvPr id="3" name="Text 1"/>
          <p:cNvSpPr/>
          <p:nvPr/>
        </p:nvSpPr>
        <p:spPr>
          <a:xfrm>
            <a:off x="566928" y="621792"/>
            <a:ext cx="11027664" cy="621792"/>
          </a:xfrm>
          <a:prstGeom prst="rect">
            <a:avLst/>
          </a:prstGeom>
          <a:noFill/>
          <a:ln/>
        </p:spPr>
        <p:txBody>
          <a:bodyPr wrap="square" lIns="0" tIns="0" rIns="0" bIns="0" rtlCol="0" anchor="t"/>
          <a:lstStyle/>
          <a:p>
            <a:pPr indent="0" marL="0">
              <a:buNone/>
            </a:pPr>
            <a:r>
              <a:rPr lang="en-US" sz="3000" b="1" dirty="0">
                <a:solidFill>
                  <a:srgbClr val="0A2E36"/>
                </a:solidFill>
                <a:latin typeface="Cambria" pitchFamily="34" charset="0"/>
                <a:ea typeface="Cambria" pitchFamily="34" charset="-122"/>
                <a:cs typeface="Cambria" pitchFamily="34" charset="-120"/>
              </a:rPr>
              <a:t>Cloud Architecture</a:t>
            </a:r>
            <a:endParaRPr lang="en-US" sz="3000" dirty="0"/>
          </a:p>
        </p:txBody>
      </p:sp>
      <p:sp>
        <p:nvSpPr>
          <p:cNvPr id="4" name="Text 2"/>
          <p:cNvSpPr/>
          <p:nvPr/>
        </p:nvSpPr>
        <p:spPr>
          <a:xfrm>
            <a:off x="566928" y="1316736"/>
            <a:ext cx="10424160" cy="402336"/>
          </a:xfrm>
          <a:prstGeom prst="rect">
            <a:avLst/>
          </a:prstGeom>
          <a:noFill/>
          <a:ln/>
        </p:spPr>
        <p:txBody>
          <a:bodyPr wrap="square" lIns="0" tIns="0" rIns="0" bIns="0" rtlCol="0" anchor="t"/>
          <a:lstStyle/>
          <a:p>
            <a:pPr indent="0" marL="0">
              <a:lnSpc>
                <a:spcPts val="1700"/>
              </a:lnSpc>
              <a:buNone/>
            </a:pPr>
            <a:r>
              <a:rPr lang="en-US" sz="1250" dirty="0">
                <a:solidFill>
                  <a:srgbClr val="445C64"/>
                </a:solidFill>
                <a:latin typeface="Calibri" pitchFamily="34" charset="0"/>
                <a:ea typeface="Calibri" pitchFamily="34" charset="-122"/>
                <a:cs typeface="Calibri" pitchFamily="34" charset="-120"/>
              </a:rPr>
              <a:t>Three independently deployable tiers. The browser talks to two hosts and never to the database or the AI provider.</a:t>
            </a:r>
            <a:endParaRPr lang="en-US" sz="1250" dirty="0"/>
          </a:p>
        </p:txBody>
      </p:sp>
      <p:sp>
        <p:nvSpPr>
          <p:cNvPr id="5" name="Shape 3"/>
          <p:cNvSpPr/>
          <p:nvPr/>
        </p:nvSpPr>
        <p:spPr>
          <a:xfrm>
            <a:off x="566928" y="1828800"/>
            <a:ext cx="3310128" cy="2926080"/>
          </a:xfrm>
          <a:prstGeom prst="roundRect">
            <a:avLst>
              <a:gd name="adj" fmla="val 3125"/>
            </a:avLst>
          </a:prstGeom>
          <a:solidFill>
            <a:srgbClr val="FFFFFF"/>
          </a:solidFill>
          <a:ln w="9525">
            <a:solidFill>
              <a:srgbClr val="D3E3E6"/>
            </a:solidFill>
            <a:prstDash val="solid"/>
          </a:ln>
          <a:effectLst>
            <a:outerShdw sx="100000" sy="100000" kx="0" ky="0" algn="bl" rotWithShape="0" blurRad="127000" dist="25400" dir="5400000">
              <a:srgbClr val="0A2E36">
                <a:alpha val="10000"/>
              </a:srgbClr>
            </a:outerShdw>
          </a:effectLst>
        </p:spPr>
      </p:sp>
      <p:sp>
        <p:nvSpPr>
          <p:cNvPr id="6" name="Shape 4"/>
          <p:cNvSpPr/>
          <p:nvPr/>
        </p:nvSpPr>
        <p:spPr>
          <a:xfrm>
            <a:off x="566928" y="1828800"/>
            <a:ext cx="3310128" cy="694944"/>
          </a:xfrm>
          <a:prstGeom prst="roundRect">
            <a:avLst>
              <a:gd name="adj" fmla="val 13158"/>
            </a:avLst>
          </a:prstGeom>
          <a:solidFill>
            <a:srgbClr val="028090"/>
          </a:solidFill>
          <a:ln/>
        </p:spPr>
      </p:sp>
      <p:sp>
        <p:nvSpPr>
          <p:cNvPr id="7" name="Text 5"/>
          <p:cNvSpPr/>
          <p:nvPr/>
        </p:nvSpPr>
        <p:spPr>
          <a:xfrm>
            <a:off x="804672" y="1920240"/>
            <a:ext cx="2834640" cy="274320"/>
          </a:xfrm>
          <a:prstGeom prst="rect">
            <a:avLst/>
          </a:prstGeom>
          <a:noFill/>
          <a:ln/>
        </p:spPr>
        <p:txBody>
          <a:bodyPr wrap="square" lIns="0" tIns="0" rIns="0" bIns="0" rtlCol="0" anchor="ctr"/>
          <a:lstStyle/>
          <a:p>
            <a:pPr indent="0" marL="0">
              <a:buNone/>
            </a:pPr>
            <a:r>
              <a:rPr lang="en-US" sz="1450" b="1" dirty="0">
                <a:solidFill>
                  <a:srgbClr val="FFFFFF"/>
                </a:solidFill>
                <a:latin typeface="Calibri" pitchFamily="34" charset="0"/>
                <a:ea typeface="Calibri" pitchFamily="34" charset="-122"/>
                <a:cs typeface="Calibri" pitchFamily="34" charset="-120"/>
              </a:rPr>
              <a:t>Presentation Tier</a:t>
            </a:r>
            <a:endParaRPr lang="en-US" sz="1450" dirty="0"/>
          </a:p>
        </p:txBody>
      </p:sp>
      <p:sp>
        <p:nvSpPr>
          <p:cNvPr id="8" name="Text 6"/>
          <p:cNvSpPr/>
          <p:nvPr/>
        </p:nvSpPr>
        <p:spPr>
          <a:xfrm>
            <a:off x="804672" y="2194560"/>
            <a:ext cx="2834640" cy="237744"/>
          </a:xfrm>
          <a:prstGeom prst="rect">
            <a:avLst/>
          </a:prstGeom>
          <a:noFill/>
          <a:ln/>
        </p:spPr>
        <p:txBody>
          <a:bodyPr wrap="square" lIns="0" tIns="0" rIns="0" bIns="0" rtlCol="0" anchor="ctr"/>
          <a:lstStyle/>
          <a:p>
            <a:pPr indent="0" marL="0">
              <a:buNone/>
            </a:pPr>
            <a:r>
              <a:rPr lang="en-US" sz="1050" dirty="0">
                <a:solidFill>
                  <a:srgbClr val="CFE8E6"/>
                </a:solidFill>
                <a:latin typeface="Calibri" pitchFamily="34" charset="0"/>
                <a:ea typeface="Calibri" pitchFamily="34" charset="-122"/>
                <a:cs typeface="Calibri" pitchFamily="34" charset="-120"/>
              </a:rPr>
              <a:t>hosted on Vercel</a:t>
            </a:r>
            <a:endParaRPr lang="en-US" sz="1050" dirty="0"/>
          </a:p>
        </p:txBody>
      </p:sp>
      <p:sp>
        <p:nvSpPr>
          <p:cNvPr id="9" name="Text 7"/>
          <p:cNvSpPr/>
          <p:nvPr/>
        </p:nvSpPr>
        <p:spPr>
          <a:xfrm>
            <a:off x="804672" y="2670048"/>
            <a:ext cx="2834640" cy="914400"/>
          </a:xfrm>
          <a:prstGeom prst="rect">
            <a:avLst/>
          </a:prstGeom>
          <a:noFill/>
          <a:ln/>
        </p:spPr>
        <p:txBody>
          <a:bodyPr wrap="square" lIns="0" tIns="0" rIns="0" bIns="0" rtlCol="0" anchor="t"/>
          <a:lstStyle/>
          <a:p>
            <a:pPr indent="0" marL="0">
              <a:lnSpc>
                <a:spcPts val="1500"/>
              </a:lnSpc>
              <a:buNone/>
            </a:pPr>
            <a:r>
              <a:rPr lang="en-US" sz="1150" b="1" dirty="0">
                <a:solidFill>
                  <a:srgbClr val="0A2E36"/>
                </a:solidFill>
                <a:latin typeface="Calibri" pitchFamily="34" charset="0"/>
                <a:ea typeface="Calibri" pitchFamily="34" charset="-122"/>
                <a:cs typeface="Calibri" pitchFamily="34" charset="-120"/>
              </a:rPr>
              <a:t>React 18 · Vite · TypeScript</a:t>
            </a:r>
            <a:endParaRPr lang="en-US" sz="1150" dirty="0"/>
          </a:p>
          <a:p>
            <a:pPr indent="0" marL="0">
              <a:lnSpc>
                <a:spcPts val="1500"/>
              </a:lnSpc>
              <a:buNone/>
            </a:pPr>
            <a:r>
              <a:rPr lang="en-US" sz="1150" b="1" dirty="0">
                <a:solidFill>
                  <a:srgbClr val="0A2E36"/>
                </a:solidFill>
                <a:latin typeface="Calibri" pitchFamily="34" charset="0"/>
                <a:ea typeface="Calibri" pitchFamily="34" charset="-122"/>
                <a:cs typeface="Calibri" pitchFamily="34" charset="-120"/>
              </a:rPr>
              <a:t>Tailwind CSS · TanStack Query</a:t>
            </a:r>
            <a:endParaRPr lang="en-US" sz="1150" dirty="0"/>
          </a:p>
          <a:p>
            <a:pPr indent="0" marL="0">
              <a:lnSpc>
                <a:spcPts val="1500"/>
              </a:lnSpc>
              <a:buNone/>
            </a:pPr>
            <a:r>
              <a:rPr lang="en-US" sz="1150" b="1" dirty="0">
                <a:solidFill>
                  <a:srgbClr val="0A2E36"/>
                </a:solidFill>
                <a:latin typeface="Calibri" pitchFamily="34" charset="0"/>
                <a:ea typeface="Calibri" pitchFamily="34" charset="-122"/>
                <a:cs typeface="Calibri" pitchFamily="34" charset="-120"/>
              </a:rPr>
              <a:t>Recharts</a:t>
            </a:r>
            <a:endParaRPr lang="en-US" sz="1150" dirty="0"/>
          </a:p>
        </p:txBody>
      </p:sp>
      <p:sp>
        <p:nvSpPr>
          <p:cNvPr id="10" name="Text 8"/>
          <p:cNvSpPr/>
          <p:nvPr/>
        </p:nvSpPr>
        <p:spPr>
          <a:xfrm>
            <a:off x="804672" y="3639312"/>
            <a:ext cx="2834640" cy="969264"/>
          </a:xfrm>
          <a:prstGeom prst="rect">
            <a:avLst/>
          </a:prstGeom>
          <a:noFill/>
          <a:ln/>
        </p:spPr>
        <p:txBody>
          <a:bodyPr wrap="square" lIns="0" tIns="0" rIns="0" bIns="0" rtlCol="0" anchor="t"/>
          <a:lstStyle/>
          <a:p>
            <a:pPr indent="0" marL="0">
              <a:lnSpc>
                <a:spcPts val="1400"/>
              </a:lnSpc>
              <a:buNone/>
            </a:pPr>
            <a:r>
              <a:rPr lang="en-US" sz="1100" dirty="0">
                <a:solidFill>
                  <a:srgbClr val="445C64"/>
                </a:solidFill>
                <a:latin typeface="Calibri" pitchFamily="34" charset="0"/>
                <a:ea typeface="Calibri" pitchFamily="34" charset="-122"/>
                <a:cs typeface="Calibri" pitchFamily="34" charset="-120"/>
              </a:rPr>
              <a:t>Static build on a global CDN. Holds no credential and never queries the database.</a:t>
            </a:r>
            <a:endParaRPr lang="en-US" sz="1100" dirty="0"/>
          </a:p>
        </p:txBody>
      </p:sp>
      <p:sp>
        <p:nvSpPr>
          <p:cNvPr id="11" name="Text 9"/>
          <p:cNvSpPr/>
          <p:nvPr/>
        </p:nvSpPr>
        <p:spPr>
          <a:xfrm>
            <a:off x="3931920" y="3017520"/>
            <a:ext cx="438912" cy="365760"/>
          </a:xfrm>
          <a:prstGeom prst="rect">
            <a:avLst/>
          </a:prstGeom>
          <a:noFill/>
          <a:ln/>
        </p:spPr>
        <p:txBody>
          <a:bodyPr wrap="square" lIns="0" tIns="0" rIns="0" bIns="0" rtlCol="0" anchor="ctr"/>
          <a:lstStyle/>
          <a:p>
            <a:pPr algn="ctr" indent="0" marL="0">
              <a:buNone/>
            </a:pPr>
            <a:r>
              <a:rPr lang="en-US" sz="2000" b="1" dirty="0">
                <a:solidFill>
                  <a:srgbClr val="445C64"/>
                </a:solidFill>
                <a:latin typeface="Calibri" pitchFamily="34" charset="0"/>
                <a:ea typeface="Calibri" pitchFamily="34" charset="-122"/>
                <a:cs typeface="Calibri" pitchFamily="34" charset="-120"/>
              </a:rPr>
              <a:t>→</a:t>
            </a:r>
            <a:endParaRPr lang="en-US" sz="2000" dirty="0"/>
          </a:p>
        </p:txBody>
      </p:sp>
      <p:sp>
        <p:nvSpPr>
          <p:cNvPr id="12" name="Text 10"/>
          <p:cNvSpPr/>
          <p:nvPr/>
        </p:nvSpPr>
        <p:spPr>
          <a:xfrm>
            <a:off x="3931920" y="3364992"/>
            <a:ext cx="438912" cy="219456"/>
          </a:xfrm>
          <a:prstGeom prst="rect">
            <a:avLst/>
          </a:prstGeom>
          <a:noFill/>
          <a:ln/>
        </p:spPr>
        <p:txBody>
          <a:bodyPr wrap="square" lIns="0" tIns="0" rIns="0" bIns="0" rtlCol="0" anchor="ctr"/>
          <a:lstStyle/>
          <a:p>
            <a:pPr algn="ctr" indent="0" marL="0">
              <a:buNone/>
            </a:pPr>
            <a:r>
              <a:rPr lang="en-US" sz="800" dirty="0">
                <a:solidFill>
                  <a:srgbClr val="7C939B"/>
                </a:solidFill>
                <a:latin typeface="Calibri" pitchFamily="34" charset="0"/>
                <a:ea typeface="Calibri" pitchFamily="34" charset="-122"/>
                <a:cs typeface="Calibri" pitchFamily="34" charset="-120"/>
              </a:rPr>
              <a:t>HTTPS</a:t>
            </a:r>
            <a:endParaRPr lang="en-US" sz="800" dirty="0"/>
          </a:p>
        </p:txBody>
      </p:sp>
      <p:sp>
        <p:nvSpPr>
          <p:cNvPr id="13" name="Shape 11"/>
          <p:cNvSpPr/>
          <p:nvPr/>
        </p:nvSpPr>
        <p:spPr>
          <a:xfrm>
            <a:off x="4425696" y="1828800"/>
            <a:ext cx="3310128" cy="2926080"/>
          </a:xfrm>
          <a:prstGeom prst="roundRect">
            <a:avLst>
              <a:gd name="adj" fmla="val 3125"/>
            </a:avLst>
          </a:prstGeom>
          <a:solidFill>
            <a:srgbClr val="FFFFFF"/>
          </a:solidFill>
          <a:ln w="9525">
            <a:solidFill>
              <a:srgbClr val="D3E3E6"/>
            </a:solidFill>
            <a:prstDash val="solid"/>
          </a:ln>
          <a:effectLst>
            <a:outerShdw sx="100000" sy="100000" kx="0" ky="0" algn="bl" rotWithShape="0" blurRad="127000" dist="25400" dir="5400000">
              <a:srgbClr val="0A2E36">
                <a:alpha val="10000"/>
              </a:srgbClr>
            </a:outerShdw>
          </a:effectLst>
        </p:spPr>
      </p:sp>
      <p:sp>
        <p:nvSpPr>
          <p:cNvPr id="14" name="Shape 12"/>
          <p:cNvSpPr/>
          <p:nvPr/>
        </p:nvSpPr>
        <p:spPr>
          <a:xfrm>
            <a:off x="4425696" y="1828800"/>
            <a:ext cx="3310128" cy="694944"/>
          </a:xfrm>
          <a:prstGeom prst="roundRect">
            <a:avLst>
              <a:gd name="adj" fmla="val 13158"/>
            </a:avLst>
          </a:prstGeom>
          <a:solidFill>
            <a:srgbClr val="00A896"/>
          </a:solidFill>
          <a:ln/>
        </p:spPr>
      </p:sp>
      <p:sp>
        <p:nvSpPr>
          <p:cNvPr id="15" name="Text 13"/>
          <p:cNvSpPr/>
          <p:nvPr/>
        </p:nvSpPr>
        <p:spPr>
          <a:xfrm>
            <a:off x="4663440" y="1920240"/>
            <a:ext cx="2834640" cy="274320"/>
          </a:xfrm>
          <a:prstGeom prst="rect">
            <a:avLst/>
          </a:prstGeom>
          <a:noFill/>
          <a:ln/>
        </p:spPr>
        <p:txBody>
          <a:bodyPr wrap="square" lIns="0" tIns="0" rIns="0" bIns="0" rtlCol="0" anchor="ctr"/>
          <a:lstStyle/>
          <a:p>
            <a:pPr indent="0" marL="0">
              <a:buNone/>
            </a:pPr>
            <a:r>
              <a:rPr lang="en-US" sz="1450" b="1" dirty="0">
                <a:solidFill>
                  <a:srgbClr val="FFFFFF"/>
                </a:solidFill>
                <a:latin typeface="Calibri" pitchFamily="34" charset="0"/>
                <a:ea typeface="Calibri" pitchFamily="34" charset="-122"/>
                <a:cs typeface="Calibri" pitchFamily="34" charset="-120"/>
              </a:rPr>
              <a:t>Application Tier</a:t>
            </a:r>
            <a:endParaRPr lang="en-US" sz="1450" dirty="0"/>
          </a:p>
        </p:txBody>
      </p:sp>
      <p:sp>
        <p:nvSpPr>
          <p:cNvPr id="16" name="Text 14"/>
          <p:cNvSpPr/>
          <p:nvPr/>
        </p:nvSpPr>
        <p:spPr>
          <a:xfrm>
            <a:off x="4663440" y="2194560"/>
            <a:ext cx="2834640" cy="237744"/>
          </a:xfrm>
          <a:prstGeom prst="rect">
            <a:avLst/>
          </a:prstGeom>
          <a:noFill/>
          <a:ln/>
        </p:spPr>
        <p:txBody>
          <a:bodyPr wrap="square" lIns="0" tIns="0" rIns="0" bIns="0" rtlCol="0" anchor="ctr"/>
          <a:lstStyle/>
          <a:p>
            <a:pPr indent="0" marL="0">
              <a:buNone/>
            </a:pPr>
            <a:r>
              <a:rPr lang="en-US" sz="1050" dirty="0">
                <a:solidFill>
                  <a:srgbClr val="CFE8E6"/>
                </a:solidFill>
                <a:latin typeface="Calibri" pitchFamily="34" charset="0"/>
                <a:ea typeface="Calibri" pitchFamily="34" charset="-122"/>
                <a:cs typeface="Calibri" pitchFamily="34" charset="-120"/>
              </a:rPr>
              <a:t>hosted on Render</a:t>
            </a:r>
            <a:endParaRPr lang="en-US" sz="1050" dirty="0"/>
          </a:p>
        </p:txBody>
      </p:sp>
      <p:sp>
        <p:nvSpPr>
          <p:cNvPr id="17" name="Text 15"/>
          <p:cNvSpPr/>
          <p:nvPr/>
        </p:nvSpPr>
        <p:spPr>
          <a:xfrm>
            <a:off x="4663440" y="2670048"/>
            <a:ext cx="2834640" cy="914400"/>
          </a:xfrm>
          <a:prstGeom prst="rect">
            <a:avLst/>
          </a:prstGeom>
          <a:noFill/>
          <a:ln/>
        </p:spPr>
        <p:txBody>
          <a:bodyPr wrap="square" lIns="0" tIns="0" rIns="0" bIns="0" rtlCol="0" anchor="t"/>
          <a:lstStyle/>
          <a:p>
            <a:pPr indent="0" marL="0">
              <a:lnSpc>
                <a:spcPts val="1500"/>
              </a:lnSpc>
              <a:buNone/>
            </a:pPr>
            <a:r>
              <a:rPr lang="en-US" sz="1150" b="1" dirty="0">
                <a:solidFill>
                  <a:srgbClr val="0A2E36"/>
                </a:solidFill>
                <a:latin typeface="Calibri" pitchFamily="34" charset="0"/>
                <a:ea typeface="Calibri" pitchFamily="34" charset="-122"/>
                <a:cs typeface="Calibri" pitchFamily="34" charset="-120"/>
              </a:rPr>
              <a:t>Node.js 20 · Express · TypeScript</a:t>
            </a:r>
            <a:endParaRPr lang="en-US" sz="1150" dirty="0"/>
          </a:p>
          <a:p>
            <a:pPr indent="0" marL="0">
              <a:lnSpc>
                <a:spcPts val="1500"/>
              </a:lnSpc>
              <a:buNone/>
            </a:pPr>
            <a:r>
              <a:rPr lang="en-US" sz="1150" b="1" dirty="0">
                <a:solidFill>
                  <a:srgbClr val="0A2E36"/>
                </a:solidFill>
                <a:latin typeface="Calibri" pitchFamily="34" charset="0"/>
                <a:ea typeface="Calibri" pitchFamily="34" charset="-122"/>
                <a:cs typeface="Calibri" pitchFamily="34" charset="-120"/>
              </a:rPr>
              <a:t>Zod · JWT · bcrypt</a:t>
            </a:r>
            <a:endParaRPr lang="en-US" sz="1150" dirty="0"/>
          </a:p>
          <a:p>
            <a:pPr indent="0" marL="0">
              <a:lnSpc>
                <a:spcPts val="1500"/>
              </a:lnSpc>
              <a:buNone/>
            </a:pPr>
            <a:r>
              <a:rPr lang="en-US" sz="1150" b="1" dirty="0">
                <a:solidFill>
                  <a:srgbClr val="0A2E36"/>
                </a:solidFill>
                <a:latin typeface="Calibri" pitchFamily="34" charset="0"/>
                <a:ea typeface="Calibri" pitchFamily="34" charset="-122"/>
                <a:cs typeface="Calibri" pitchFamily="34" charset="-120"/>
              </a:rPr>
              <a:t>AI provider adapter</a:t>
            </a:r>
            <a:endParaRPr lang="en-US" sz="1150" dirty="0"/>
          </a:p>
        </p:txBody>
      </p:sp>
      <p:sp>
        <p:nvSpPr>
          <p:cNvPr id="18" name="Text 16"/>
          <p:cNvSpPr/>
          <p:nvPr/>
        </p:nvSpPr>
        <p:spPr>
          <a:xfrm>
            <a:off x="4663440" y="3639312"/>
            <a:ext cx="2834640" cy="969264"/>
          </a:xfrm>
          <a:prstGeom prst="rect">
            <a:avLst/>
          </a:prstGeom>
          <a:noFill/>
          <a:ln/>
        </p:spPr>
        <p:txBody>
          <a:bodyPr wrap="square" lIns="0" tIns="0" rIns="0" bIns="0" rtlCol="0" anchor="t"/>
          <a:lstStyle/>
          <a:p>
            <a:pPr indent="0" marL="0">
              <a:lnSpc>
                <a:spcPts val="1400"/>
              </a:lnSpc>
              <a:buNone/>
            </a:pPr>
            <a:r>
              <a:rPr lang="en-US" sz="1100" dirty="0">
                <a:solidFill>
                  <a:srgbClr val="445C64"/>
                </a:solidFill>
                <a:latin typeface="Calibri" pitchFamily="34" charset="0"/>
                <a:ea typeface="Calibri" pitchFamily="34" charset="-122"/>
                <a:cs typeface="Calibri" pitchFamily="34" charset="-120"/>
              </a:rPr>
              <a:t>Stateless REST API. Enforces auth, RBAC, validation and the ticket lifecycle.</a:t>
            </a:r>
            <a:endParaRPr lang="en-US" sz="1100" dirty="0"/>
          </a:p>
        </p:txBody>
      </p:sp>
      <p:sp>
        <p:nvSpPr>
          <p:cNvPr id="19" name="Text 17"/>
          <p:cNvSpPr/>
          <p:nvPr/>
        </p:nvSpPr>
        <p:spPr>
          <a:xfrm>
            <a:off x="7790688" y="3017520"/>
            <a:ext cx="438912" cy="365760"/>
          </a:xfrm>
          <a:prstGeom prst="rect">
            <a:avLst/>
          </a:prstGeom>
          <a:noFill/>
          <a:ln/>
        </p:spPr>
        <p:txBody>
          <a:bodyPr wrap="square" lIns="0" tIns="0" rIns="0" bIns="0" rtlCol="0" anchor="ctr"/>
          <a:lstStyle/>
          <a:p>
            <a:pPr algn="ctr" indent="0" marL="0">
              <a:buNone/>
            </a:pPr>
            <a:r>
              <a:rPr lang="en-US" sz="2000" b="1" dirty="0">
                <a:solidFill>
                  <a:srgbClr val="445C64"/>
                </a:solidFill>
                <a:latin typeface="Calibri" pitchFamily="34" charset="0"/>
                <a:ea typeface="Calibri" pitchFamily="34" charset="-122"/>
                <a:cs typeface="Calibri" pitchFamily="34" charset="-120"/>
              </a:rPr>
              <a:t>→</a:t>
            </a:r>
            <a:endParaRPr lang="en-US" sz="2000" dirty="0"/>
          </a:p>
        </p:txBody>
      </p:sp>
      <p:sp>
        <p:nvSpPr>
          <p:cNvPr id="20" name="Text 18"/>
          <p:cNvSpPr/>
          <p:nvPr/>
        </p:nvSpPr>
        <p:spPr>
          <a:xfrm>
            <a:off x="7790688" y="3364992"/>
            <a:ext cx="438912" cy="219456"/>
          </a:xfrm>
          <a:prstGeom prst="rect">
            <a:avLst/>
          </a:prstGeom>
          <a:noFill/>
          <a:ln/>
        </p:spPr>
        <p:txBody>
          <a:bodyPr wrap="square" lIns="0" tIns="0" rIns="0" bIns="0" rtlCol="0" anchor="ctr"/>
          <a:lstStyle/>
          <a:p>
            <a:pPr algn="ctr" indent="0" marL="0">
              <a:buNone/>
            </a:pPr>
            <a:r>
              <a:rPr lang="en-US" sz="800" dirty="0">
                <a:solidFill>
                  <a:srgbClr val="7C939B"/>
                </a:solidFill>
                <a:latin typeface="Calibri" pitchFamily="34" charset="0"/>
                <a:ea typeface="Calibri" pitchFamily="34" charset="-122"/>
                <a:cs typeface="Calibri" pitchFamily="34" charset="-120"/>
              </a:rPr>
              <a:t>TLS</a:t>
            </a:r>
            <a:endParaRPr lang="en-US" sz="800" dirty="0"/>
          </a:p>
        </p:txBody>
      </p:sp>
      <p:sp>
        <p:nvSpPr>
          <p:cNvPr id="21" name="Shape 19"/>
          <p:cNvSpPr/>
          <p:nvPr/>
        </p:nvSpPr>
        <p:spPr>
          <a:xfrm>
            <a:off x="8284464" y="1828800"/>
            <a:ext cx="3310128" cy="2926080"/>
          </a:xfrm>
          <a:prstGeom prst="roundRect">
            <a:avLst>
              <a:gd name="adj" fmla="val 3125"/>
            </a:avLst>
          </a:prstGeom>
          <a:solidFill>
            <a:srgbClr val="FFFFFF"/>
          </a:solidFill>
          <a:ln w="9525">
            <a:solidFill>
              <a:srgbClr val="D3E3E6"/>
            </a:solidFill>
            <a:prstDash val="solid"/>
          </a:ln>
          <a:effectLst>
            <a:outerShdw sx="100000" sy="100000" kx="0" ky="0" algn="bl" rotWithShape="0" blurRad="127000" dist="25400" dir="5400000">
              <a:srgbClr val="0A2E36">
                <a:alpha val="10000"/>
              </a:srgbClr>
            </a:outerShdw>
          </a:effectLst>
        </p:spPr>
      </p:sp>
      <p:sp>
        <p:nvSpPr>
          <p:cNvPr id="22" name="Shape 20"/>
          <p:cNvSpPr/>
          <p:nvPr/>
        </p:nvSpPr>
        <p:spPr>
          <a:xfrm>
            <a:off x="8284464" y="1828800"/>
            <a:ext cx="3310128" cy="694944"/>
          </a:xfrm>
          <a:prstGeom prst="roundRect">
            <a:avLst>
              <a:gd name="adj" fmla="val 13158"/>
            </a:avLst>
          </a:prstGeom>
          <a:solidFill>
            <a:srgbClr val="0A2E36"/>
          </a:solidFill>
          <a:ln/>
        </p:spPr>
      </p:sp>
      <p:sp>
        <p:nvSpPr>
          <p:cNvPr id="23" name="Text 21"/>
          <p:cNvSpPr/>
          <p:nvPr/>
        </p:nvSpPr>
        <p:spPr>
          <a:xfrm>
            <a:off x="8522208" y="1920240"/>
            <a:ext cx="2834640" cy="274320"/>
          </a:xfrm>
          <a:prstGeom prst="rect">
            <a:avLst/>
          </a:prstGeom>
          <a:noFill/>
          <a:ln/>
        </p:spPr>
        <p:txBody>
          <a:bodyPr wrap="square" lIns="0" tIns="0" rIns="0" bIns="0" rtlCol="0" anchor="ctr"/>
          <a:lstStyle/>
          <a:p>
            <a:pPr indent="0" marL="0">
              <a:buNone/>
            </a:pPr>
            <a:r>
              <a:rPr lang="en-US" sz="1450" b="1" dirty="0">
                <a:solidFill>
                  <a:srgbClr val="FFFFFF"/>
                </a:solidFill>
                <a:latin typeface="Calibri" pitchFamily="34" charset="0"/>
                <a:ea typeface="Calibri" pitchFamily="34" charset="-122"/>
                <a:cs typeface="Calibri" pitchFamily="34" charset="-120"/>
              </a:rPr>
              <a:t>Data Tier</a:t>
            </a:r>
            <a:endParaRPr lang="en-US" sz="1450" dirty="0"/>
          </a:p>
        </p:txBody>
      </p:sp>
      <p:sp>
        <p:nvSpPr>
          <p:cNvPr id="24" name="Text 22"/>
          <p:cNvSpPr/>
          <p:nvPr/>
        </p:nvSpPr>
        <p:spPr>
          <a:xfrm>
            <a:off x="8522208" y="2194560"/>
            <a:ext cx="2834640" cy="237744"/>
          </a:xfrm>
          <a:prstGeom prst="rect">
            <a:avLst/>
          </a:prstGeom>
          <a:noFill/>
          <a:ln/>
        </p:spPr>
        <p:txBody>
          <a:bodyPr wrap="square" lIns="0" tIns="0" rIns="0" bIns="0" rtlCol="0" anchor="ctr"/>
          <a:lstStyle/>
          <a:p>
            <a:pPr indent="0" marL="0">
              <a:buNone/>
            </a:pPr>
            <a:r>
              <a:rPr lang="en-US" sz="1050" dirty="0">
                <a:solidFill>
                  <a:srgbClr val="CFE8E6"/>
                </a:solidFill>
                <a:latin typeface="Calibri" pitchFamily="34" charset="0"/>
                <a:ea typeface="Calibri" pitchFamily="34" charset="-122"/>
                <a:cs typeface="Calibri" pitchFamily="34" charset="-120"/>
              </a:rPr>
              <a:t>hosted on Supabase</a:t>
            </a:r>
            <a:endParaRPr lang="en-US" sz="1050" dirty="0"/>
          </a:p>
        </p:txBody>
      </p:sp>
      <p:sp>
        <p:nvSpPr>
          <p:cNvPr id="25" name="Text 23"/>
          <p:cNvSpPr/>
          <p:nvPr/>
        </p:nvSpPr>
        <p:spPr>
          <a:xfrm>
            <a:off x="8522208" y="2670048"/>
            <a:ext cx="2834640" cy="914400"/>
          </a:xfrm>
          <a:prstGeom prst="rect">
            <a:avLst/>
          </a:prstGeom>
          <a:noFill/>
          <a:ln/>
        </p:spPr>
        <p:txBody>
          <a:bodyPr wrap="square" lIns="0" tIns="0" rIns="0" bIns="0" rtlCol="0" anchor="t"/>
          <a:lstStyle/>
          <a:p>
            <a:pPr indent="0" marL="0">
              <a:lnSpc>
                <a:spcPts val="1500"/>
              </a:lnSpc>
              <a:buNone/>
            </a:pPr>
            <a:r>
              <a:rPr lang="en-US" sz="1150" b="1" dirty="0">
                <a:solidFill>
                  <a:srgbClr val="0A2E36"/>
                </a:solidFill>
                <a:latin typeface="Calibri" pitchFamily="34" charset="0"/>
                <a:ea typeface="Calibri" pitchFamily="34" charset="-122"/>
                <a:cs typeface="Calibri" pitchFamily="34" charset="-120"/>
              </a:rPr>
              <a:t>Managed PostgreSQL 15</a:t>
            </a:r>
            <a:endParaRPr lang="en-US" sz="1150" dirty="0"/>
          </a:p>
          <a:p>
            <a:pPr indent="0" marL="0">
              <a:lnSpc>
                <a:spcPts val="1500"/>
              </a:lnSpc>
              <a:buNone/>
            </a:pPr>
            <a:r>
              <a:rPr lang="en-US" sz="1150" b="1" dirty="0">
                <a:solidFill>
                  <a:srgbClr val="0A2E36"/>
                </a:solidFill>
                <a:latin typeface="Calibri" pitchFamily="34" charset="0"/>
                <a:ea typeface="Calibri" pitchFamily="34" charset="-122"/>
                <a:cs typeface="Calibri" pitchFamily="34" charset="-120"/>
              </a:rPr>
              <a:t>8 tables · enums · constraints</a:t>
            </a:r>
            <a:endParaRPr lang="en-US" sz="1150" dirty="0"/>
          </a:p>
          <a:p>
            <a:pPr indent="0" marL="0">
              <a:lnSpc>
                <a:spcPts val="1500"/>
              </a:lnSpc>
              <a:buNone/>
            </a:pPr>
            <a:r>
              <a:rPr lang="en-US" sz="1150" b="1" dirty="0">
                <a:solidFill>
                  <a:srgbClr val="0A2E36"/>
                </a:solidFill>
                <a:latin typeface="Calibri" pitchFamily="34" charset="0"/>
                <a:ea typeface="Calibri" pitchFamily="34" charset="-122"/>
                <a:cs typeface="Calibri" pitchFamily="34" charset="-120"/>
              </a:rPr>
              <a:t>Versioned SQL migrations</a:t>
            </a:r>
            <a:endParaRPr lang="en-US" sz="1150" dirty="0"/>
          </a:p>
        </p:txBody>
      </p:sp>
      <p:sp>
        <p:nvSpPr>
          <p:cNvPr id="26" name="Text 24"/>
          <p:cNvSpPr/>
          <p:nvPr/>
        </p:nvSpPr>
        <p:spPr>
          <a:xfrm>
            <a:off x="8522208" y="3639312"/>
            <a:ext cx="2834640" cy="969264"/>
          </a:xfrm>
          <a:prstGeom prst="rect">
            <a:avLst/>
          </a:prstGeom>
          <a:noFill/>
          <a:ln/>
        </p:spPr>
        <p:txBody>
          <a:bodyPr wrap="square" lIns="0" tIns="0" rIns="0" bIns="0" rtlCol="0" anchor="t"/>
          <a:lstStyle/>
          <a:p>
            <a:pPr indent="0" marL="0">
              <a:lnSpc>
                <a:spcPts val="1400"/>
              </a:lnSpc>
              <a:buNone/>
            </a:pPr>
            <a:r>
              <a:rPr lang="en-US" sz="1100" dirty="0">
                <a:solidFill>
                  <a:srgbClr val="445C64"/>
                </a:solidFill>
                <a:latin typeface="Calibri" pitchFamily="34" charset="0"/>
                <a:ea typeface="Calibri" pitchFamily="34" charset="-122"/>
                <a:cs typeface="Calibri" pitchFamily="34" charset="-120"/>
              </a:rPr>
              <a:t>Single source of truth. Invariants enforced as constraints, not just in code.</a:t>
            </a:r>
            <a:endParaRPr lang="en-US" sz="1100" dirty="0"/>
          </a:p>
        </p:txBody>
      </p:sp>
      <p:sp>
        <p:nvSpPr>
          <p:cNvPr id="27" name="Shape 25"/>
          <p:cNvSpPr/>
          <p:nvPr/>
        </p:nvSpPr>
        <p:spPr>
          <a:xfrm>
            <a:off x="566928" y="4956048"/>
            <a:ext cx="3517392" cy="1133856"/>
          </a:xfrm>
          <a:prstGeom prst="roundRect">
            <a:avLst>
              <a:gd name="adj" fmla="val 8065"/>
            </a:avLst>
          </a:prstGeom>
          <a:solidFill>
            <a:srgbClr val="F7FBFB"/>
          </a:solidFill>
          <a:ln w="9525">
            <a:solidFill>
              <a:srgbClr val="D3E3E6"/>
            </a:solidFill>
            <a:prstDash val="solid"/>
          </a:ln>
          <a:effectLst>
            <a:outerShdw sx="100000" sy="100000" kx="0" ky="0" algn="bl" rotWithShape="0" blurRad="127000" dist="25400" dir="5400000">
              <a:srgbClr val="0A2E36">
                <a:alpha val="10000"/>
              </a:srgbClr>
            </a:outerShdw>
          </a:effectLst>
        </p:spPr>
      </p:sp>
      <p:sp>
        <p:nvSpPr>
          <p:cNvPr id="28" name="Text 26"/>
          <p:cNvSpPr/>
          <p:nvPr/>
        </p:nvSpPr>
        <p:spPr>
          <a:xfrm>
            <a:off x="786384" y="5102352"/>
            <a:ext cx="3078480" cy="256032"/>
          </a:xfrm>
          <a:prstGeom prst="rect">
            <a:avLst/>
          </a:prstGeom>
          <a:noFill/>
          <a:ln/>
        </p:spPr>
        <p:txBody>
          <a:bodyPr wrap="square" lIns="0" tIns="0" rIns="0" bIns="0" rtlCol="0" anchor="ctr"/>
          <a:lstStyle/>
          <a:p>
            <a:pPr indent="0" marL="0">
              <a:buNone/>
            </a:pPr>
            <a:r>
              <a:rPr lang="en-US" sz="1250" b="1" dirty="0">
                <a:solidFill>
                  <a:srgbClr val="028090"/>
                </a:solidFill>
                <a:latin typeface="Calibri" pitchFamily="34" charset="0"/>
                <a:ea typeface="Calibri" pitchFamily="34" charset="-122"/>
                <a:cs typeface="Calibri" pitchFamily="34" charset="-120"/>
              </a:rPr>
              <a:t>Why stateless?</a:t>
            </a:r>
            <a:endParaRPr lang="en-US" sz="1250" dirty="0"/>
          </a:p>
        </p:txBody>
      </p:sp>
      <p:sp>
        <p:nvSpPr>
          <p:cNvPr id="29" name="Text 27"/>
          <p:cNvSpPr/>
          <p:nvPr/>
        </p:nvSpPr>
        <p:spPr>
          <a:xfrm>
            <a:off x="786384" y="5376672"/>
            <a:ext cx="3078480" cy="621792"/>
          </a:xfrm>
          <a:prstGeom prst="rect">
            <a:avLst/>
          </a:prstGeom>
          <a:noFill/>
          <a:ln/>
        </p:spPr>
        <p:txBody>
          <a:bodyPr wrap="square" lIns="0" tIns="0" rIns="0" bIns="0" rtlCol="0" anchor="t"/>
          <a:lstStyle/>
          <a:p>
            <a:pPr indent="0" marL="0">
              <a:lnSpc>
                <a:spcPts val="1300"/>
              </a:lnSpc>
              <a:buNone/>
            </a:pPr>
            <a:r>
              <a:rPr lang="en-US" sz="1100" dirty="0">
                <a:solidFill>
                  <a:srgbClr val="445C64"/>
                </a:solidFill>
                <a:latin typeface="Calibri" pitchFamily="34" charset="0"/>
                <a:ea typeface="Calibri" pitchFamily="34" charset="-122"/>
                <a:cs typeface="Calibri" pitchFamily="34" charset="-120"/>
              </a:rPr>
              <a:t>No session state in the API — that is what lets the platform run N replicas with no sticky sessions.</a:t>
            </a:r>
            <a:endParaRPr lang="en-US" sz="1100" dirty="0"/>
          </a:p>
        </p:txBody>
      </p:sp>
      <p:sp>
        <p:nvSpPr>
          <p:cNvPr id="30" name="Shape 28"/>
          <p:cNvSpPr/>
          <p:nvPr/>
        </p:nvSpPr>
        <p:spPr>
          <a:xfrm>
            <a:off x="4322064" y="4956048"/>
            <a:ext cx="3517392" cy="1133856"/>
          </a:xfrm>
          <a:prstGeom prst="roundRect">
            <a:avLst>
              <a:gd name="adj" fmla="val 8065"/>
            </a:avLst>
          </a:prstGeom>
          <a:solidFill>
            <a:srgbClr val="F7FBFB"/>
          </a:solidFill>
          <a:ln w="9525">
            <a:solidFill>
              <a:srgbClr val="D3E3E6"/>
            </a:solidFill>
            <a:prstDash val="solid"/>
          </a:ln>
          <a:effectLst>
            <a:outerShdw sx="100000" sy="100000" kx="0" ky="0" algn="bl" rotWithShape="0" blurRad="127000" dist="25400" dir="5400000">
              <a:srgbClr val="0A2E36">
                <a:alpha val="10000"/>
              </a:srgbClr>
            </a:outerShdw>
          </a:effectLst>
        </p:spPr>
      </p:sp>
      <p:sp>
        <p:nvSpPr>
          <p:cNvPr id="31" name="Text 29"/>
          <p:cNvSpPr/>
          <p:nvPr/>
        </p:nvSpPr>
        <p:spPr>
          <a:xfrm>
            <a:off x="4541520" y="5102352"/>
            <a:ext cx="3078480" cy="256032"/>
          </a:xfrm>
          <a:prstGeom prst="rect">
            <a:avLst/>
          </a:prstGeom>
          <a:noFill/>
          <a:ln/>
        </p:spPr>
        <p:txBody>
          <a:bodyPr wrap="square" lIns="0" tIns="0" rIns="0" bIns="0" rtlCol="0" anchor="ctr"/>
          <a:lstStyle/>
          <a:p>
            <a:pPr indent="0" marL="0">
              <a:buNone/>
            </a:pPr>
            <a:r>
              <a:rPr lang="en-US" sz="1250" b="1" dirty="0">
                <a:solidFill>
                  <a:srgbClr val="028090"/>
                </a:solidFill>
                <a:latin typeface="Calibri" pitchFamily="34" charset="0"/>
                <a:ea typeface="Calibri" pitchFamily="34" charset="-122"/>
                <a:cs typeface="Calibri" pitchFamily="34" charset="-120"/>
              </a:rPr>
              <a:t>Why managed?</a:t>
            </a:r>
            <a:endParaRPr lang="en-US" sz="1250" dirty="0"/>
          </a:p>
        </p:txBody>
      </p:sp>
      <p:sp>
        <p:nvSpPr>
          <p:cNvPr id="32" name="Text 30"/>
          <p:cNvSpPr/>
          <p:nvPr/>
        </p:nvSpPr>
        <p:spPr>
          <a:xfrm>
            <a:off x="4541520" y="5376672"/>
            <a:ext cx="3078480" cy="621792"/>
          </a:xfrm>
          <a:prstGeom prst="rect">
            <a:avLst/>
          </a:prstGeom>
          <a:noFill/>
          <a:ln/>
        </p:spPr>
        <p:txBody>
          <a:bodyPr wrap="square" lIns="0" tIns="0" rIns="0" bIns="0" rtlCol="0" anchor="t"/>
          <a:lstStyle/>
          <a:p>
            <a:pPr indent="0" marL="0">
              <a:lnSpc>
                <a:spcPts val="1300"/>
              </a:lnSpc>
              <a:buNone/>
            </a:pPr>
            <a:r>
              <a:rPr lang="en-US" sz="1100" dirty="0">
                <a:solidFill>
                  <a:srgbClr val="445C64"/>
                </a:solidFill>
                <a:latin typeface="Calibri" pitchFamily="34" charset="0"/>
                <a:ea typeface="Calibri" pitchFamily="34" charset="-122"/>
                <a:cs typeface="Calibri" pitchFamily="34" charset="-120"/>
              </a:rPr>
              <a:t>Nobody on this team patches a server. Backups, pooling and TLS come with the service.</a:t>
            </a:r>
            <a:endParaRPr lang="en-US" sz="1100" dirty="0"/>
          </a:p>
        </p:txBody>
      </p:sp>
      <p:sp>
        <p:nvSpPr>
          <p:cNvPr id="33" name="Shape 31"/>
          <p:cNvSpPr/>
          <p:nvPr/>
        </p:nvSpPr>
        <p:spPr>
          <a:xfrm>
            <a:off x="8077200" y="4956048"/>
            <a:ext cx="3517392" cy="1133856"/>
          </a:xfrm>
          <a:prstGeom prst="roundRect">
            <a:avLst>
              <a:gd name="adj" fmla="val 8065"/>
            </a:avLst>
          </a:prstGeom>
          <a:solidFill>
            <a:srgbClr val="F7FBFB"/>
          </a:solidFill>
          <a:ln w="9525">
            <a:solidFill>
              <a:srgbClr val="D3E3E6"/>
            </a:solidFill>
            <a:prstDash val="solid"/>
          </a:ln>
          <a:effectLst>
            <a:outerShdw sx="100000" sy="100000" kx="0" ky="0" algn="bl" rotWithShape="0" blurRad="127000" dist="25400" dir="5400000">
              <a:srgbClr val="0A2E36">
                <a:alpha val="10000"/>
              </a:srgbClr>
            </a:outerShdw>
          </a:effectLst>
        </p:spPr>
      </p:sp>
      <p:sp>
        <p:nvSpPr>
          <p:cNvPr id="34" name="Text 32"/>
          <p:cNvSpPr/>
          <p:nvPr/>
        </p:nvSpPr>
        <p:spPr>
          <a:xfrm>
            <a:off x="8296656" y="5102352"/>
            <a:ext cx="3078480" cy="256032"/>
          </a:xfrm>
          <a:prstGeom prst="rect">
            <a:avLst/>
          </a:prstGeom>
          <a:noFill/>
          <a:ln/>
        </p:spPr>
        <p:txBody>
          <a:bodyPr wrap="square" lIns="0" tIns="0" rIns="0" bIns="0" rtlCol="0" anchor="ctr"/>
          <a:lstStyle/>
          <a:p>
            <a:pPr indent="0" marL="0">
              <a:buNone/>
            </a:pPr>
            <a:r>
              <a:rPr lang="en-US" sz="1250" b="1" dirty="0">
                <a:solidFill>
                  <a:srgbClr val="028090"/>
                </a:solidFill>
                <a:latin typeface="Calibri" pitchFamily="34" charset="0"/>
                <a:ea typeface="Calibri" pitchFamily="34" charset="-122"/>
                <a:cs typeface="Calibri" pitchFamily="34" charset="-120"/>
              </a:rPr>
              <a:t>Why not microservices?</a:t>
            </a:r>
            <a:endParaRPr lang="en-US" sz="1250" dirty="0"/>
          </a:p>
        </p:txBody>
      </p:sp>
      <p:sp>
        <p:nvSpPr>
          <p:cNvPr id="35" name="Text 33"/>
          <p:cNvSpPr/>
          <p:nvPr/>
        </p:nvSpPr>
        <p:spPr>
          <a:xfrm>
            <a:off x="8296656" y="5376672"/>
            <a:ext cx="3078480" cy="621792"/>
          </a:xfrm>
          <a:prstGeom prst="rect">
            <a:avLst/>
          </a:prstGeom>
          <a:noFill/>
          <a:ln/>
        </p:spPr>
        <p:txBody>
          <a:bodyPr wrap="square" lIns="0" tIns="0" rIns="0" bIns="0" rtlCol="0" anchor="t"/>
          <a:lstStyle/>
          <a:p>
            <a:pPr indent="0" marL="0">
              <a:lnSpc>
                <a:spcPts val="1300"/>
              </a:lnSpc>
              <a:buNone/>
            </a:pPr>
            <a:r>
              <a:rPr lang="en-US" sz="1100" dirty="0">
                <a:solidFill>
                  <a:srgbClr val="445C64"/>
                </a:solidFill>
                <a:latin typeface="Calibri" pitchFamily="34" charset="0"/>
                <a:ea typeface="Calibri" pitchFamily="34" charset="-122"/>
                <a:cs typeface="Calibri" pitchFamily="34" charset="-120"/>
              </a:rPr>
              <a:t>They would add failure modes and deployment coordination and solve no problem we have.</a:t>
            </a:r>
            <a:endParaRPr lang="en-US" sz="1100" dirty="0"/>
          </a:p>
        </p:txBody>
      </p:sp>
      <p:sp>
        <p:nvSpPr>
          <p:cNvPr id="36" name="Text 34"/>
          <p:cNvSpPr/>
          <p:nvPr/>
        </p:nvSpPr>
        <p:spPr>
          <a:xfrm>
            <a:off x="566928" y="6345936"/>
            <a:ext cx="7315200" cy="219456"/>
          </a:xfrm>
          <a:prstGeom prst="rect">
            <a:avLst/>
          </a:prstGeom>
          <a:noFill/>
          <a:ln/>
        </p:spPr>
        <p:txBody>
          <a:bodyPr wrap="square" lIns="0" tIns="0" rIns="0" bIns="0" rtlCol="0" anchor="ctr"/>
          <a:lstStyle/>
          <a:p>
            <a:pPr indent="0" marL="0">
              <a:buNone/>
            </a:pPr>
            <a:r>
              <a:rPr lang="en-US" sz="900" dirty="0">
                <a:solidFill>
                  <a:srgbClr val="7C939B"/>
                </a:solidFill>
                <a:latin typeface="Calibri" pitchFamily="34" charset="0"/>
                <a:ea typeface="Calibri" pitchFamily="34" charset="-122"/>
                <a:cs typeface="Calibri" pitchFamily="34" charset="-120"/>
              </a:rPr>
              <a:t>ServiceDesk AI  ·  BCSE408L Cloud Computing  ·  Final Demonstration</a:t>
            </a:r>
            <a:endParaRPr lang="en-US" sz="900" dirty="0"/>
          </a:p>
        </p:txBody>
      </p:sp>
      <p:sp>
        <p:nvSpPr>
          <p:cNvPr id="37" name="Text 35"/>
          <p:cNvSpPr/>
          <p:nvPr/>
        </p:nvSpPr>
        <p:spPr>
          <a:xfrm>
            <a:off x="10680192" y="6345936"/>
            <a:ext cx="914400" cy="219456"/>
          </a:xfrm>
          <a:prstGeom prst="rect">
            <a:avLst/>
          </a:prstGeom>
          <a:noFill/>
          <a:ln/>
        </p:spPr>
        <p:txBody>
          <a:bodyPr wrap="square" lIns="0" tIns="0" rIns="0" bIns="0" rtlCol="0" anchor="ctr"/>
          <a:lstStyle/>
          <a:p>
            <a:pPr algn="r" indent="0" marL="0">
              <a:buNone/>
            </a:pPr>
            <a:r>
              <a:rPr lang="en-US" sz="900" dirty="0">
                <a:solidFill>
                  <a:srgbClr val="7C939B"/>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65760"/>
            <a:ext cx="11027664" cy="237744"/>
          </a:xfrm>
          <a:prstGeom prst="rect">
            <a:avLst/>
          </a:prstGeom>
          <a:noFill/>
          <a:ln/>
        </p:spPr>
        <p:txBody>
          <a:bodyPr wrap="square" lIns="0" tIns="0" rIns="0" bIns="0" rtlCol="0" anchor="ctr"/>
          <a:lstStyle/>
          <a:p>
            <a:pPr indent="0" marL="0">
              <a:buNone/>
            </a:pPr>
            <a:r>
              <a:rPr lang="en-US" sz="1100" b="1" spc="220" kern="0" dirty="0">
                <a:solidFill>
                  <a:srgbClr val="028090"/>
                </a:solidFill>
                <a:latin typeface="Calibri" pitchFamily="34" charset="0"/>
                <a:ea typeface="Calibri" pitchFamily="34" charset="-122"/>
                <a:cs typeface="Calibri" pitchFamily="34" charset="-120"/>
              </a:rPr>
              <a:t>AS BUILT</a:t>
            </a:r>
            <a:endParaRPr lang="en-US" sz="1100" dirty="0"/>
          </a:p>
        </p:txBody>
      </p:sp>
      <p:sp>
        <p:nvSpPr>
          <p:cNvPr id="3" name="Text 1"/>
          <p:cNvSpPr/>
          <p:nvPr/>
        </p:nvSpPr>
        <p:spPr>
          <a:xfrm>
            <a:off x="566928" y="621792"/>
            <a:ext cx="11027664" cy="621792"/>
          </a:xfrm>
          <a:prstGeom prst="rect">
            <a:avLst/>
          </a:prstGeom>
          <a:noFill/>
          <a:ln/>
        </p:spPr>
        <p:txBody>
          <a:bodyPr wrap="square" lIns="0" tIns="0" rIns="0" bIns="0" rtlCol="0" anchor="t"/>
          <a:lstStyle/>
          <a:p>
            <a:pPr indent="0" marL="0">
              <a:buNone/>
            </a:pPr>
            <a:r>
              <a:rPr lang="en-US" sz="3000" b="1" dirty="0">
                <a:solidFill>
                  <a:srgbClr val="0A2E36"/>
                </a:solidFill>
                <a:latin typeface="Cambria" pitchFamily="34" charset="0"/>
                <a:ea typeface="Cambria" pitchFamily="34" charset="-122"/>
                <a:cs typeface="Cambria" pitchFamily="34" charset="-120"/>
              </a:rPr>
              <a:t>Database Design</a:t>
            </a:r>
            <a:endParaRPr lang="en-US" sz="3000" dirty="0"/>
          </a:p>
        </p:txBody>
      </p:sp>
      <p:sp>
        <p:nvSpPr>
          <p:cNvPr id="4" name="Text 2"/>
          <p:cNvSpPr/>
          <p:nvPr/>
        </p:nvSpPr>
        <p:spPr>
          <a:xfrm>
            <a:off x="566928" y="1316736"/>
            <a:ext cx="10424160" cy="402336"/>
          </a:xfrm>
          <a:prstGeom prst="rect">
            <a:avLst/>
          </a:prstGeom>
          <a:noFill/>
          <a:ln/>
        </p:spPr>
        <p:txBody>
          <a:bodyPr wrap="square" lIns="0" tIns="0" rIns="0" bIns="0" rtlCol="0" anchor="t"/>
          <a:lstStyle/>
          <a:p>
            <a:pPr indent="0" marL="0">
              <a:lnSpc>
                <a:spcPts val="1700"/>
              </a:lnSpc>
              <a:buNone/>
            </a:pPr>
            <a:r>
              <a:rPr lang="en-US" sz="1250" dirty="0">
                <a:solidFill>
                  <a:srgbClr val="445C64"/>
                </a:solidFill>
                <a:latin typeface="Calibri" pitchFamily="34" charset="0"/>
                <a:ea typeface="Calibri" pitchFamily="34" charset="-122"/>
                <a:cs typeface="Calibri" pitchFamily="34" charset="-120"/>
              </a:rPr>
              <a:t>Eight tables, applied by versioned SQL migrations. The ER diagram is derived from the migration file, so it cannot drift from the real schema.</a:t>
            </a:r>
            <a:endParaRPr lang="en-US" sz="1250" dirty="0"/>
          </a:p>
        </p:txBody>
      </p:sp>
      <p:sp>
        <p:nvSpPr>
          <p:cNvPr id="5" name="Shape 3"/>
          <p:cNvSpPr/>
          <p:nvPr/>
        </p:nvSpPr>
        <p:spPr>
          <a:xfrm>
            <a:off x="566928" y="1828800"/>
            <a:ext cx="5376672" cy="566928"/>
          </a:xfrm>
          <a:prstGeom prst="roundRect">
            <a:avLst>
              <a:gd name="adj" fmla="val 16129"/>
            </a:avLst>
          </a:prstGeom>
          <a:solidFill>
            <a:srgbClr val="EEF6F7"/>
          </a:solidFill>
          <a:ln w="9525">
            <a:solidFill>
              <a:srgbClr val="D3E3E6"/>
            </a:solidFill>
            <a:prstDash val="solid"/>
          </a:ln>
          <a:effectLst>
            <a:outerShdw sx="100000" sy="100000" kx="0" ky="0" algn="bl" rotWithShape="0" blurRad="127000" dist="25400" dir="5400000">
              <a:srgbClr val="0A2E36">
                <a:alpha val="10000"/>
              </a:srgbClr>
            </a:outerShdw>
          </a:effectLst>
        </p:spPr>
      </p:sp>
      <p:sp>
        <p:nvSpPr>
          <p:cNvPr id="6" name="Text 4"/>
          <p:cNvSpPr/>
          <p:nvPr/>
        </p:nvSpPr>
        <p:spPr>
          <a:xfrm>
            <a:off x="786384" y="1901952"/>
            <a:ext cx="4937760" cy="219456"/>
          </a:xfrm>
          <a:prstGeom prst="rect">
            <a:avLst/>
          </a:prstGeom>
          <a:noFill/>
          <a:ln/>
        </p:spPr>
        <p:txBody>
          <a:bodyPr wrap="square" lIns="0" tIns="0" rIns="0" bIns="0" rtlCol="0" anchor="ctr"/>
          <a:lstStyle/>
          <a:p>
            <a:pPr indent="0" marL="0">
              <a:buNone/>
            </a:pPr>
            <a:r>
              <a:rPr lang="en-US" sz="1250" b="1" dirty="0">
                <a:solidFill>
                  <a:srgbClr val="028090"/>
                </a:solidFill>
                <a:latin typeface="Calibri" pitchFamily="34" charset="0"/>
                <a:ea typeface="Calibri" pitchFamily="34" charset="-122"/>
                <a:cs typeface="Calibri" pitchFamily="34" charset="-120"/>
              </a:rPr>
              <a:t>users</a:t>
            </a:r>
            <a:endParaRPr lang="en-US" sz="1250" dirty="0"/>
          </a:p>
        </p:txBody>
      </p:sp>
      <p:sp>
        <p:nvSpPr>
          <p:cNvPr id="7" name="Text 5"/>
          <p:cNvSpPr/>
          <p:nvPr/>
        </p:nvSpPr>
        <p:spPr>
          <a:xfrm>
            <a:off x="786384" y="2112264"/>
            <a:ext cx="4937760" cy="237744"/>
          </a:xfrm>
          <a:prstGeom prst="rect">
            <a:avLst/>
          </a:prstGeom>
          <a:noFill/>
          <a:ln/>
        </p:spPr>
        <p:txBody>
          <a:bodyPr wrap="square" lIns="0" tIns="0" rIns="0" bIns="0" rtlCol="0" anchor="t"/>
          <a:lstStyle/>
          <a:p>
            <a:pPr indent="0" marL="0">
              <a:lnSpc>
                <a:spcPts val="1700"/>
              </a:lnSpc>
              <a:buNone/>
            </a:pPr>
            <a:r>
              <a:rPr lang="en-US" sz="1050" dirty="0">
                <a:solidFill>
                  <a:srgbClr val="445C64"/>
                </a:solidFill>
                <a:latin typeface="Calibri" pitchFamily="34" charset="0"/>
                <a:ea typeface="Calibri" pitchFamily="34" charset="-122"/>
                <a:cs typeface="Calibri" pitchFamily="34" charset="-120"/>
              </a:rPr>
              <a:t>All three roles in one table — role is an attribute, not a different entity</a:t>
            </a:r>
            <a:endParaRPr lang="en-US" sz="1050" dirty="0"/>
          </a:p>
        </p:txBody>
      </p:sp>
      <p:sp>
        <p:nvSpPr>
          <p:cNvPr id="8" name="Shape 6"/>
          <p:cNvSpPr/>
          <p:nvPr/>
        </p:nvSpPr>
        <p:spPr>
          <a:xfrm>
            <a:off x="6217920" y="1828800"/>
            <a:ext cx="5376672" cy="566928"/>
          </a:xfrm>
          <a:prstGeom prst="roundRect">
            <a:avLst>
              <a:gd name="adj" fmla="val 16129"/>
            </a:avLst>
          </a:prstGeom>
          <a:solidFill>
            <a:srgbClr val="F7FBFB"/>
          </a:solidFill>
          <a:ln w="9525">
            <a:solidFill>
              <a:srgbClr val="D3E3E6"/>
            </a:solidFill>
            <a:prstDash val="solid"/>
          </a:ln>
          <a:effectLst>
            <a:outerShdw sx="100000" sy="100000" kx="0" ky="0" algn="bl" rotWithShape="0" blurRad="127000" dist="25400" dir="5400000">
              <a:srgbClr val="0A2E36">
                <a:alpha val="10000"/>
              </a:srgbClr>
            </a:outerShdw>
          </a:effectLst>
        </p:spPr>
      </p:sp>
      <p:sp>
        <p:nvSpPr>
          <p:cNvPr id="9" name="Text 7"/>
          <p:cNvSpPr/>
          <p:nvPr/>
        </p:nvSpPr>
        <p:spPr>
          <a:xfrm>
            <a:off x="6437376" y="1901952"/>
            <a:ext cx="4937760" cy="219456"/>
          </a:xfrm>
          <a:prstGeom prst="rect">
            <a:avLst/>
          </a:prstGeom>
          <a:noFill/>
          <a:ln/>
        </p:spPr>
        <p:txBody>
          <a:bodyPr wrap="square" lIns="0" tIns="0" rIns="0" bIns="0" rtlCol="0" anchor="ctr"/>
          <a:lstStyle/>
          <a:p>
            <a:pPr indent="0" marL="0">
              <a:buNone/>
            </a:pPr>
            <a:r>
              <a:rPr lang="en-US" sz="1250" b="1" dirty="0">
                <a:solidFill>
                  <a:srgbClr val="028090"/>
                </a:solidFill>
                <a:latin typeface="Calibri" pitchFamily="34" charset="0"/>
                <a:ea typeface="Calibri" pitchFamily="34" charset="-122"/>
                <a:cs typeface="Calibri" pitchFamily="34" charset="-120"/>
              </a:rPr>
              <a:t>categories</a:t>
            </a:r>
            <a:endParaRPr lang="en-US" sz="1250" dirty="0"/>
          </a:p>
        </p:txBody>
      </p:sp>
      <p:sp>
        <p:nvSpPr>
          <p:cNvPr id="10" name="Text 8"/>
          <p:cNvSpPr/>
          <p:nvPr/>
        </p:nvSpPr>
        <p:spPr>
          <a:xfrm>
            <a:off x="6437376" y="2112264"/>
            <a:ext cx="4937760" cy="237744"/>
          </a:xfrm>
          <a:prstGeom prst="rect">
            <a:avLst/>
          </a:prstGeom>
          <a:noFill/>
          <a:ln/>
        </p:spPr>
        <p:txBody>
          <a:bodyPr wrap="square" lIns="0" tIns="0" rIns="0" bIns="0" rtlCol="0" anchor="t"/>
          <a:lstStyle/>
          <a:p>
            <a:pPr indent="0" marL="0">
              <a:lnSpc>
                <a:spcPts val="1700"/>
              </a:lnSpc>
              <a:buNone/>
            </a:pPr>
            <a:r>
              <a:rPr lang="en-US" sz="1050" dirty="0">
                <a:solidFill>
                  <a:srgbClr val="445C64"/>
                </a:solidFill>
                <a:latin typeface="Calibri" pitchFamily="34" charset="0"/>
                <a:ea typeface="Calibri" pitchFamily="34" charset="-122"/>
                <a:cs typeface="Calibri" pitchFamily="34" charset="-120"/>
              </a:rPr>
              <a:t>Admin-managed; also the closed vocabulary the classifier may propose from</a:t>
            </a:r>
            <a:endParaRPr lang="en-US" sz="1050" dirty="0"/>
          </a:p>
        </p:txBody>
      </p:sp>
      <p:sp>
        <p:nvSpPr>
          <p:cNvPr id="11" name="Shape 9"/>
          <p:cNvSpPr/>
          <p:nvPr/>
        </p:nvSpPr>
        <p:spPr>
          <a:xfrm>
            <a:off x="566928" y="2487168"/>
            <a:ext cx="5376672" cy="566928"/>
          </a:xfrm>
          <a:prstGeom prst="roundRect">
            <a:avLst>
              <a:gd name="adj" fmla="val 16129"/>
            </a:avLst>
          </a:prstGeom>
          <a:solidFill>
            <a:srgbClr val="EEF6F7"/>
          </a:solidFill>
          <a:ln w="9525">
            <a:solidFill>
              <a:srgbClr val="D3E3E6"/>
            </a:solidFill>
            <a:prstDash val="solid"/>
          </a:ln>
          <a:effectLst>
            <a:outerShdw sx="100000" sy="100000" kx="0" ky="0" algn="bl" rotWithShape="0" blurRad="127000" dist="25400" dir="5400000">
              <a:srgbClr val="0A2E36">
                <a:alpha val="10000"/>
              </a:srgbClr>
            </a:outerShdw>
          </a:effectLst>
        </p:spPr>
      </p:sp>
      <p:sp>
        <p:nvSpPr>
          <p:cNvPr id="12" name="Text 10"/>
          <p:cNvSpPr/>
          <p:nvPr/>
        </p:nvSpPr>
        <p:spPr>
          <a:xfrm>
            <a:off x="786384" y="2560320"/>
            <a:ext cx="4937760" cy="219456"/>
          </a:xfrm>
          <a:prstGeom prst="rect">
            <a:avLst/>
          </a:prstGeom>
          <a:noFill/>
          <a:ln/>
        </p:spPr>
        <p:txBody>
          <a:bodyPr wrap="square" lIns="0" tIns="0" rIns="0" bIns="0" rtlCol="0" anchor="ctr"/>
          <a:lstStyle/>
          <a:p>
            <a:pPr indent="0" marL="0">
              <a:buNone/>
            </a:pPr>
            <a:r>
              <a:rPr lang="en-US" sz="1250" b="1" dirty="0">
                <a:solidFill>
                  <a:srgbClr val="028090"/>
                </a:solidFill>
                <a:latin typeface="Calibri" pitchFamily="34" charset="0"/>
                <a:ea typeface="Calibri" pitchFamily="34" charset="-122"/>
                <a:cs typeface="Calibri" pitchFamily="34" charset="-120"/>
              </a:rPr>
              <a:t>tickets</a:t>
            </a:r>
            <a:endParaRPr lang="en-US" sz="1250" dirty="0"/>
          </a:p>
        </p:txBody>
      </p:sp>
      <p:sp>
        <p:nvSpPr>
          <p:cNvPr id="13" name="Text 11"/>
          <p:cNvSpPr/>
          <p:nvPr/>
        </p:nvSpPr>
        <p:spPr>
          <a:xfrm>
            <a:off x="786384" y="2770632"/>
            <a:ext cx="4937760" cy="237744"/>
          </a:xfrm>
          <a:prstGeom prst="rect">
            <a:avLst/>
          </a:prstGeom>
          <a:noFill/>
          <a:ln/>
        </p:spPr>
        <p:txBody>
          <a:bodyPr wrap="square" lIns="0" tIns="0" rIns="0" bIns="0" rtlCol="0" anchor="t"/>
          <a:lstStyle/>
          <a:p>
            <a:pPr indent="0" marL="0">
              <a:lnSpc>
                <a:spcPts val="1700"/>
              </a:lnSpc>
              <a:buNone/>
            </a:pPr>
            <a:r>
              <a:rPr lang="en-US" sz="1050" dirty="0">
                <a:solidFill>
                  <a:srgbClr val="445C64"/>
                </a:solidFill>
                <a:latin typeface="Calibri" pitchFamily="34" charset="0"/>
                <a:ea typeface="Calibri" pitchFamily="34" charset="-122"/>
                <a:cs typeface="Calibri" pitchFamily="34" charset="-120"/>
              </a:rPr>
              <a:t>The core entity. Two foreign keys to users: customer and assigned agent</a:t>
            </a:r>
            <a:endParaRPr lang="en-US" sz="1050" dirty="0"/>
          </a:p>
        </p:txBody>
      </p:sp>
      <p:sp>
        <p:nvSpPr>
          <p:cNvPr id="14" name="Shape 12"/>
          <p:cNvSpPr/>
          <p:nvPr/>
        </p:nvSpPr>
        <p:spPr>
          <a:xfrm>
            <a:off x="6217920" y="2487168"/>
            <a:ext cx="5376672" cy="566928"/>
          </a:xfrm>
          <a:prstGeom prst="roundRect">
            <a:avLst>
              <a:gd name="adj" fmla="val 16129"/>
            </a:avLst>
          </a:prstGeom>
          <a:solidFill>
            <a:srgbClr val="F7FBFB"/>
          </a:solidFill>
          <a:ln w="9525">
            <a:solidFill>
              <a:srgbClr val="D3E3E6"/>
            </a:solidFill>
            <a:prstDash val="solid"/>
          </a:ln>
          <a:effectLst>
            <a:outerShdw sx="100000" sy="100000" kx="0" ky="0" algn="bl" rotWithShape="0" blurRad="127000" dist="25400" dir="5400000">
              <a:srgbClr val="0A2E36">
                <a:alpha val="10000"/>
              </a:srgbClr>
            </a:outerShdw>
          </a:effectLst>
        </p:spPr>
      </p:sp>
      <p:sp>
        <p:nvSpPr>
          <p:cNvPr id="15" name="Text 13"/>
          <p:cNvSpPr/>
          <p:nvPr/>
        </p:nvSpPr>
        <p:spPr>
          <a:xfrm>
            <a:off x="6437376" y="2560320"/>
            <a:ext cx="4937760" cy="219456"/>
          </a:xfrm>
          <a:prstGeom prst="rect">
            <a:avLst/>
          </a:prstGeom>
          <a:noFill/>
          <a:ln/>
        </p:spPr>
        <p:txBody>
          <a:bodyPr wrap="square" lIns="0" tIns="0" rIns="0" bIns="0" rtlCol="0" anchor="ctr"/>
          <a:lstStyle/>
          <a:p>
            <a:pPr indent="0" marL="0">
              <a:buNone/>
            </a:pPr>
            <a:r>
              <a:rPr lang="en-US" sz="1250" b="1" dirty="0">
                <a:solidFill>
                  <a:srgbClr val="028090"/>
                </a:solidFill>
                <a:latin typeface="Calibri" pitchFamily="34" charset="0"/>
                <a:ea typeface="Calibri" pitchFamily="34" charset="-122"/>
                <a:cs typeface="Calibri" pitchFamily="34" charset="-120"/>
              </a:rPr>
              <a:t>ticket_messages</a:t>
            </a:r>
            <a:endParaRPr lang="en-US" sz="1250" dirty="0"/>
          </a:p>
        </p:txBody>
      </p:sp>
      <p:sp>
        <p:nvSpPr>
          <p:cNvPr id="16" name="Text 14"/>
          <p:cNvSpPr/>
          <p:nvPr/>
        </p:nvSpPr>
        <p:spPr>
          <a:xfrm>
            <a:off x="6437376" y="2770632"/>
            <a:ext cx="4937760" cy="237744"/>
          </a:xfrm>
          <a:prstGeom prst="rect">
            <a:avLst/>
          </a:prstGeom>
          <a:noFill/>
          <a:ln/>
        </p:spPr>
        <p:txBody>
          <a:bodyPr wrap="square" lIns="0" tIns="0" rIns="0" bIns="0" rtlCol="0" anchor="t"/>
          <a:lstStyle/>
          <a:p>
            <a:pPr indent="0" marL="0">
              <a:lnSpc>
                <a:spcPts val="1700"/>
              </a:lnSpc>
              <a:buNone/>
            </a:pPr>
            <a:r>
              <a:rPr lang="en-US" sz="1050" dirty="0">
                <a:solidFill>
                  <a:srgbClr val="445C64"/>
                </a:solidFill>
                <a:latin typeface="Calibri" pitchFamily="34" charset="0"/>
                <a:ea typeface="Calibri" pitchFamily="34" charset="-122"/>
                <a:cs typeface="Calibri" pitchFamily="34" charset="-120"/>
              </a:rPr>
              <a:t>The thread. Internal notes filtered in SQL, never in the client</a:t>
            </a:r>
            <a:endParaRPr lang="en-US" sz="1050" dirty="0"/>
          </a:p>
        </p:txBody>
      </p:sp>
      <p:sp>
        <p:nvSpPr>
          <p:cNvPr id="17" name="Shape 15"/>
          <p:cNvSpPr/>
          <p:nvPr/>
        </p:nvSpPr>
        <p:spPr>
          <a:xfrm>
            <a:off x="566928" y="3145536"/>
            <a:ext cx="5376672" cy="566928"/>
          </a:xfrm>
          <a:prstGeom prst="roundRect">
            <a:avLst>
              <a:gd name="adj" fmla="val 16129"/>
            </a:avLst>
          </a:prstGeom>
          <a:solidFill>
            <a:srgbClr val="EEF6F7"/>
          </a:solidFill>
          <a:ln w="9525">
            <a:solidFill>
              <a:srgbClr val="D3E3E6"/>
            </a:solidFill>
            <a:prstDash val="solid"/>
          </a:ln>
          <a:effectLst>
            <a:outerShdw sx="100000" sy="100000" kx="0" ky="0" algn="bl" rotWithShape="0" blurRad="127000" dist="25400" dir="5400000">
              <a:srgbClr val="0A2E36">
                <a:alpha val="10000"/>
              </a:srgbClr>
            </a:outerShdw>
          </a:effectLst>
        </p:spPr>
      </p:sp>
      <p:sp>
        <p:nvSpPr>
          <p:cNvPr id="18" name="Text 16"/>
          <p:cNvSpPr/>
          <p:nvPr/>
        </p:nvSpPr>
        <p:spPr>
          <a:xfrm>
            <a:off x="786384" y="3218688"/>
            <a:ext cx="4937760" cy="219456"/>
          </a:xfrm>
          <a:prstGeom prst="rect">
            <a:avLst/>
          </a:prstGeom>
          <a:noFill/>
          <a:ln/>
        </p:spPr>
        <p:txBody>
          <a:bodyPr wrap="square" lIns="0" tIns="0" rIns="0" bIns="0" rtlCol="0" anchor="ctr"/>
          <a:lstStyle/>
          <a:p>
            <a:pPr indent="0" marL="0">
              <a:buNone/>
            </a:pPr>
            <a:r>
              <a:rPr lang="en-US" sz="1250" b="1" dirty="0">
                <a:solidFill>
                  <a:srgbClr val="028090"/>
                </a:solidFill>
                <a:latin typeface="Calibri" pitchFamily="34" charset="0"/>
                <a:ea typeface="Calibri" pitchFamily="34" charset="-122"/>
                <a:cs typeface="Calibri" pitchFamily="34" charset="-120"/>
              </a:rPr>
              <a:t>ticket_events</a:t>
            </a:r>
            <a:endParaRPr lang="en-US" sz="1250" dirty="0"/>
          </a:p>
        </p:txBody>
      </p:sp>
      <p:sp>
        <p:nvSpPr>
          <p:cNvPr id="19" name="Text 17"/>
          <p:cNvSpPr/>
          <p:nvPr/>
        </p:nvSpPr>
        <p:spPr>
          <a:xfrm>
            <a:off x="786384" y="3429000"/>
            <a:ext cx="4937760" cy="237744"/>
          </a:xfrm>
          <a:prstGeom prst="rect">
            <a:avLst/>
          </a:prstGeom>
          <a:noFill/>
          <a:ln/>
        </p:spPr>
        <p:txBody>
          <a:bodyPr wrap="square" lIns="0" tIns="0" rIns="0" bIns="0" rtlCol="0" anchor="t"/>
          <a:lstStyle/>
          <a:p>
            <a:pPr indent="0" marL="0">
              <a:lnSpc>
                <a:spcPts val="1700"/>
              </a:lnSpc>
              <a:buNone/>
            </a:pPr>
            <a:r>
              <a:rPr lang="en-US" sz="1050" dirty="0">
                <a:solidFill>
                  <a:srgbClr val="445C64"/>
                </a:solidFill>
                <a:latin typeface="Calibri" pitchFamily="34" charset="0"/>
                <a:ea typeface="Calibri" pitchFamily="34" charset="-122"/>
                <a:cs typeface="Calibri" pitchFamily="34" charset="-120"/>
              </a:rPr>
              <a:t>Append-only timeline: who changed what, from which value, when</a:t>
            </a:r>
            <a:endParaRPr lang="en-US" sz="1050" dirty="0"/>
          </a:p>
        </p:txBody>
      </p:sp>
      <p:sp>
        <p:nvSpPr>
          <p:cNvPr id="20" name="Shape 18"/>
          <p:cNvSpPr/>
          <p:nvPr/>
        </p:nvSpPr>
        <p:spPr>
          <a:xfrm>
            <a:off x="6217920" y="3145536"/>
            <a:ext cx="5376672" cy="566928"/>
          </a:xfrm>
          <a:prstGeom prst="roundRect">
            <a:avLst>
              <a:gd name="adj" fmla="val 16129"/>
            </a:avLst>
          </a:prstGeom>
          <a:solidFill>
            <a:srgbClr val="F7FBFB"/>
          </a:solidFill>
          <a:ln w="9525">
            <a:solidFill>
              <a:srgbClr val="D3E3E6"/>
            </a:solidFill>
            <a:prstDash val="solid"/>
          </a:ln>
          <a:effectLst>
            <a:outerShdw sx="100000" sy="100000" kx="0" ky="0" algn="bl" rotWithShape="0" blurRad="127000" dist="25400" dir="5400000">
              <a:srgbClr val="0A2E36">
                <a:alpha val="10000"/>
              </a:srgbClr>
            </a:outerShdw>
          </a:effectLst>
        </p:spPr>
      </p:sp>
      <p:sp>
        <p:nvSpPr>
          <p:cNvPr id="21" name="Text 19"/>
          <p:cNvSpPr/>
          <p:nvPr/>
        </p:nvSpPr>
        <p:spPr>
          <a:xfrm>
            <a:off x="6437376" y="3218688"/>
            <a:ext cx="4937760" cy="219456"/>
          </a:xfrm>
          <a:prstGeom prst="rect">
            <a:avLst/>
          </a:prstGeom>
          <a:noFill/>
          <a:ln/>
        </p:spPr>
        <p:txBody>
          <a:bodyPr wrap="square" lIns="0" tIns="0" rIns="0" bIns="0" rtlCol="0" anchor="ctr"/>
          <a:lstStyle/>
          <a:p>
            <a:pPr indent="0" marL="0">
              <a:buNone/>
            </a:pPr>
            <a:r>
              <a:rPr lang="en-US" sz="1250" b="1" dirty="0">
                <a:solidFill>
                  <a:srgbClr val="028090"/>
                </a:solidFill>
                <a:latin typeface="Calibri" pitchFamily="34" charset="0"/>
                <a:ea typeface="Calibri" pitchFamily="34" charset="-122"/>
                <a:cs typeface="Calibri" pitchFamily="34" charset="-120"/>
              </a:rPr>
              <a:t>ai_suggestions</a:t>
            </a:r>
            <a:endParaRPr lang="en-US" sz="1250" dirty="0"/>
          </a:p>
        </p:txBody>
      </p:sp>
      <p:sp>
        <p:nvSpPr>
          <p:cNvPr id="22" name="Text 20"/>
          <p:cNvSpPr/>
          <p:nvPr/>
        </p:nvSpPr>
        <p:spPr>
          <a:xfrm>
            <a:off x="6437376" y="3429000"/>
            <a:ext cx="4937760" cy="237744"/>
          </a:xfrm>
          <a:prstGeom prst="rect">
            <a:avLst/>
          </a:prstGeom>
          <a:noFill/>
          <a:ln/>
        </p:spPr>
        <p:txBody>
          <a:bodyPr wrap="square" lIns="0" tIns="0" rIns="0" bIns="0" rtlCol="0" anchor="t"/>
          <a:lstStyle/>
          <a:p>
            <a:pPr indent="0" marL="0">
              <a:lnSpc>
                <a:spcPts val="1700"/>
              </a:lnSpc>
              <a:buNone/>
            </a:pPr>
            <a:r>
              <a:rPr lang="en-US" sz="1050" dirty="0">
                <a:solidFill>
                  <a:srgbClr val="445C64"/>
                </a:solidFill>
                <a:latin typeface="Calibri" pitchFamily="34" charset="0"/>
                <a:ea typeface="Calibri" pitchFamily="34" charset="-122"/>
                <a:cs typeface="Calibri" pitchFamily="34" charset="-120"/>
              </a:rPr>
              <a:t>Every AI output, with a flag recording whether the fallback produced it</a:t>
            </a:r>
            <a:endParaRPr lang="en-US" sz="1050" dirty="0"/>
          </a:p>
        </p:txBody>
      </p:sp>
      <p:sp>
        <p:nvSpPr>
          <p:cNvPr id="23" name="Shape 21"/>
          <p:cNvSpPr/>
          <p:nvPr/>
        </p:nvSpPr>
        <p:spPr>
          <a:xfrm>
            <a:off x="566928" y="3803904"/>
            <a:ext cx="5376672" cy="566928"/>
          </a:xfrm>
          <a:prstGeom prst="roundRect">
            <a:avLst>
              <a:gd name="adj" fmla="val 16129"/>
            </a:avLst>
          </a:prstGeom>
          <a:solidFill>
            <a:srgbClr val="EEF6F7"/>
          </a:solidFill>
          <a:ln w="9525">
            <a:solidFill>
              <a:srgbClr val="D3E3E6"/>
            </a:solidFill>
            <a:prstDash val="solid"/>
          </a:ln>
          <a:effectLst>
            <a:outerShdw sx="100000" sy="100000" kx="0" ky="0" algn="bl" rotWithShape="0" blurRad="127000" dist="25400" dir="5400000">
              <a:srgbClr val="0A2E36">
                <a:alpha val="10000"/>
              </a:srgbClr>
            </a:outerShdw>
          </a:effectLst>
        </p:spPr>
      </p:sp>
      <p:sp>
        <p:nvSpPr>
          <p:cNvPr id="24" name="Text 22"/>
          <p:cNvSpPr/>
          <p:nvPr/>
        </p:nvSpPr>
        <p:spPr>
          <a:xfrm>
            <a:off x="786384" y="3877056"/>
            <a:ext cx="4937760" cy="219456"/>
          </a:xfrm>
          <a:prstGeom prst="rect">
            <a:avLst/>
          </a:prstGeom>
          <a:noFill/>
          <a:ln/>
        </p:spPr>
        <p:txBody>
          <a:bodyPr wrap="square" lIns="0" tIns="0" rIns="0" bIns="0" rtlCol="0" anchor="ctr"/>
          <a:lstStyle/>
          <a:p>
            <a:pPr indent="0" marL="0">
              <a:buNone/>
            </a:pPr>
            <a:r>
              <a:rPr lang="en-US" sz="1250" b="1" dirty="0">
                <a:solidFill>
                  <a:srgbClr val="028090"/>
                </a:solidFill>
                <a:latin typeface="Calibri" pitchFamily="34" charset="0"/>
                <a:ea typeface="Calibri" pitchFamily="34" charset="-122"/>
                <a:cs typeface="Calibri" pitchFamily="34" charset="-120"/>
              </a:rPr>
              <a:t>notifications</a:t>
            </a:r>
            <a:endParaRPr lang="en-US" sz="1250" dirty="0"/>
          </a:p>
        </p:txBody>
      </p:sp>
      <p:sp>
        <p:nvSpPr>
          <p:cNvPr id="25" name="Text 23"/>
          <p:cNvSpPr/>
          <p:nvPr/>
        </p:nvSpPr>
        <p:spPr>
          <a:xfrm>
            <a:off x="786384" y="4087368"/>
            <a:ext cx="4937760" cy="237744"/>
          </a:xfrm>
          <a:prstGeom prst="rect">
            <a:avLst/>
          </a:prstGeom>
          <a:noFill/>
          <a:ln/>
        </p:spPr>
        <p:txBody>
          <a:bodyPr wrap="square" lIns="0" tIns="0" rIns="0" bIns="0" rtlCol="0" anchor="t"/>
          <a:lstStyle/>
          <a:p>
            <a:pPr indent="0" marL="0">
              <a:lnSpc>
                <a:spcPts val="1700"/>
              </a:lnSpc>
              <a:buNone/>
            </a:pPr>
            <a:r>
              <a:rPr lang="en-US" sz="1050" dirty="0">
                <a:solidFill>
                  <a:srgbClr val="445C64"/>
                </a:solidFill>
                <a:latin typeface="Calibri" pitchFamily="34" charset="0"/>
                <a:ea typeface="Calibri" pitchFamily="34" charset="-122"/>
                <a:cs typeface="Calibri" pitchFamily="34" charset="-120"/>
              </a:rPr>
              <a:t>Per-user, cascade on delete</a:t>
            </a:r>
            <a:endParaRPr lang="en-US" sz="1050" dirty="0"/>
          </a:p>
        </p:txBody>
      </p:sp>
      <p:sp>
        <p:nvSpPr>
          <p:cNvPr id="26" name="Shape 24"/>
          <p:cNvSpPr/>
          <p:nvPr/>
        </p:nvSpPr>
        <p:spPr>
          <a:xfrm>
            <a:off x="6217920" y="3803904"/>
            <a:ext cx="5376672" cy="566928"/>
          </a:xfrm>
          <a:prstGeom prst="roundRect">
            <a:avLst>
              <a:gd name="adj" fmla="val 16129"/>
            </a:avLst>
          </a:prstGeom>
          <a:solidFill>
            <a:srgbClr val="F7FBFB"/>
          </a:solidFill>
          <a:ln w="9525">
            <a:solidFill>
              <a:srgbClr val="D3E3E6"/>
            </a:solidFill>
            <a:prstDash val="solid"/>
          </a:ln>
          <a:effectLst>
            <a:outerShdw sx="100000" sy="100000" kx="0" ky="0" algn="bl" rotWithShape="0" blurRad="127000" dist="25400" dir="5400000">
              <a:srgbClr val="0A2E36">
                <a:alpha val="10000"/>
              </a:srgbClr>
            </a:outerShdw>
          </a:effectLst>
        </p:spPr>
      </p:sp>
      <p:sp>
        <p:nvSpPr>
          <p:cNvPr id="27" name="Text 25"/>
          <p:cNvSpPr/>
          <p:nvPr/>
        </p:nvSpPr>
        <p:spPr>
          <a:xfrm>
            <a:off x="6437376" y="3877056"/>
            <a:ext cx="4937760" cy="219456"/>
          </a:xfrm>
          <a:prstGeom prst="rect">
            <a:avLst/>
          </a:prstGeom>
          <a:noFill/>
          <a:ln/>
        </p:spPr>
        <p:txBody>
          <a:bodyPr wrap="square" lIns="0" tIns="0" rIns="0" bIns="0" rtlCol="0" anchor="ctr"/>
          <a:lstStyle/>
          <a:p>
            <a:pPr indent="0" marL="0">
              <a:buNone/>
            </a:pPr>
            <a:r>
              <a:rPr lang="en-US" sz="1250" b="1" dirty="0">
                <a:solidFill>
                  <a:srgbClr val="028090"/>
                </a:solidFill>
                <a:latin typeface="Calibri" pitchFamily="34" charset="0"/>
                <a:ea typeface="Calibri" pitchFamily="34" charset="-122"/>
                <a:cs typeface="Calibri" pitchFamily="34" charset="-120"/>
              </a:rPr>
              <a:t>audit_logs</a:t>
            </a:r>
            <a:endParaRPr lang="en-US" sz="1250" dirty="0"/>
          </a:p>
        </p:txBody>
      </p:sp>
      <p:sp>
        <p:nvSpPr>
          <p:cNvPr id="28" name="Text 26"/>
          <p:cNvSpPr/>
          <p:nvPr/>
        </p:nvSpPr>
        <p:spPr>
          <a:xfrm>
            <a:off x="6437376" y="4087368"/>
            <a:ext cx="4937760" cy="237744"/>
          </a:xfrm>
          <a:prstGeom prst="rect">
            <a:avLst/>
          </a:prstGeom>
          <a:noFill/>
          <a:ln/>
        </p:spPr>
        <p:txBody>
          <a:bodyPr wrap="square" lIns="0" tIns="0" rIns="0" bIns="0" rtlCol="0" anchor="t"/>
          <a:lstStyle/>
          <a:p>
            <a:pPr indent="0" marL="0">
              <a:lnSpc>
                <a:spcPts val="1700"/>
              </a:lnSpc>
              <a:buNone/>
            </a:pPr>
            <a:r>
              <a:rPr lang="en-US" sz="1050" dirty="0">
                <a:solidFill>
                  <a:srgbClr val="445C64"/>
                </a:solidFill>
                <a:latin typeface="Calibri" pitchFamily="34" charset="0"/>
                <a:ea typeface="Calibri" pitchFamily="34" charset="-122"/>
                <a:cs typeface="Calibri" pitchFamily="34" charset="-120"/>
              </a:rPr>
              <a:t>Actor set to NULL on delete — the record outlives the account</a:t>
            </a:r>
            <a:endParaRPr lang="en-US" sz="1050" dirty="0"/>
          </a:p>
        </p:txBody>
      </p:sp>
      <p:sp>
        <p:nvSpPr>
          <p:cNvPr id="29" name="Shape 27"/>
          <p:cNvSpPr/>
          <p:nvPr/>
        </p:nvSpPr>
        <p:spPr>
          <a:xfrm>
            <a:off x="566928" y="4590288"/>
            <a:ext cx="3517392" cy="1298448"/>
          </a:xfrm>
          <a:prstGeom prst="roundRect">
            <a:avLst>
              <a:gd name="adj" fmla="val 7042"/>
            </a:avLst>
          </a:prstGeom>
          <a:solidFill>
            <a:srgbClr val="FFFFFF"/>
          </a:solidFill>
          <a:ln w="9525">
            <a:solidFill>
              <a:srgbClr val="D3E3E6"/>
            </a:solidFill>
            <a:prstDash val="solid"/>
          </a:ln>
          <a:effectLst>
            <a:outerShdw sx="100000" sy="100000" kx="0" ky="0" algn="bl" rotWithShape="0" blurRad="127000" dist="25400" dir="5400000">
              <a:srgbClr val="0A2E36">
                <a:alpha val="10000"/>
              </a:srgbClr>
            </a:outerShdw>
          </a:effectLst>
        </p:spPr>
      </p:sp>
      <p:sp>
        <p:nvSpPr>
          <p:cNvPr id="30" name="Text 28"/>
          <p:cNvSpPr/>
          <p:nvPr/>
        </p:nvSpPr>
        <p:spPr>
          <a:xfrm>
            <a:off x="786384" y="4736592"/>
            <a:ext cx="3078480" cy="256032"/>
          </a:xfrm>
          <a:prstGeom prst="rect">
            <a:avLst/>
          </a:prstGeom>
          <a:noFill/>
          <a:ln/>
        </p:spPr>
        <p:txBody>
          <a:bodyPr wrap="square" lIns="0" tIns="0" rIns="0" bIns="0" rtlCol="0" anchor="ctr"/>
          <a:lstStyle/>
          <a:p>
            <a:pPr indent="0" marL="0">
              <a:buNone/>
            </a:pPr>
            <a:r>
              <a:rPr lang="en-US" sz="1250" b="1" dirty="0">
                <a:solidFill>
                  <a:srgbClr val="0A2E36"/>
                </a:solidFill>
                <a:latin typeface="Cambria" pitchFamily="34" charset="0"/>
                <a:ea typeface="Cambria" pitchFamily="34" charset="-122"/>
                <a:cs typeface="Cambria" pitchFamily="34" charset="-120"/>
              </a:rPr>
              <a:t>Enums, not lookup tables</a:t>
            </a:r>
            <a:endParaRPr lang="en-US" sz="1250" dirty="0"/>
          </a:p>
        </p:txBody>
      </p:sp>
      <p:sp>
        <p:nvSpPr>
          <p:cNvPr id="31" name="Text 29"/>
          <p:cNvSpPr/>
          <p:nvPr/>
        </p:nvSpPr>
        <p:spPr>
          <a:xfrm>
            <a:off x="786384" y="5010912"/>
            <a:ext cx="3078480" cy="768096"/>
          </a:xfrm>
          <a:prstGeom prst="rect">
            <a:avLst/>
          </a:prstGeom>
          <a:noFill/>
          <a:ln/>
        </p:spPr>
        <p:txBody>
          <a:bodyPr wrap="square" lIns="0" tIns="0" rIns="0" bIns="0" rtlCol="0" anchor="t"/>
          <a:lstStyle/>
          <a:p>
            <a:pPr indent="0" marL="0">
              <a:lnSpc>
                <a:spcPts val="1300"/>
              </a:lnSpc>
              <a:buNone/>
            </a:pPr>
            <a:r>
              <a:rPr lang="en-US" sz="1100" dirty="0">
                <a:solidFill>
                  <a:srgbClr val="445C64"/>
                </a:solidFill>
                <a:latin typeface="Calibri" pitchFamily="34" charset="0"/>
                <a:ea typeface="Calibri" pitchFamily="34" charset="-122"/>
                <a:cs typeface="Calibri" pitchFamily="34" charset="-120"/>
              </a:rPr>
              <a:t>Values are fixed by the spec. Declaration order also gives free correct sorting: URGENT above LOW.</a:t>
            </a:r>
            <a:endParaRPr lang="en-US" sz="1100" dirty="0"/>
          </a:p>
        </p:txBody>
      </p:sp>
      <p:sp>
        <p:nvSpPr>
          <p:cNvPr id="32" name="Shape 30"/>
          <p:cNvSpPr/>
          <p:nvPr/>
        </p:nvSpPr>
        <p:spPr>
          <a:xfrm>
            <a:off x="4322064" y="4590288"/>
            <a:ext cx="3517392" cy="1298448"/>
          </a:xfrm>
          <a:prstGeom prst="roundRect">
            <a:avLst>
              <a:gd name="adj" fmla="val 7042"/>
            </a:avLst>
          </a:prstGeom>
          <a:solidFill>
            <a:srgbClr val="FFFFFF"/>
          </a:solidFill>
          <a:ln w="9525">
            <a:solidFill>
              <a:srgbClr val="D3E3E6"/>
            </a:solidFill>
            <a:prstDash val="solid"/>
          </a:ln>
          <a:effectLst>
            <a:outerShdw sx="100000" sy="100000" kx="0" ky="0" algn="bl" rotWithShape="0" blurRad="127000" dist="25400" dir="5400000">
              <a:srgbClr val="0A2E36">
                <a:alpha val="10000"/>
              </a:srgbClr>
            </a:outerShdw>
          </a:effectLst>
        </p:spPr>
      </p:sp>
      <p:sp>
        <p:nvSpPr>
          <p:cNvPr id="33" name="Text 31"/>
          <p:cNvSpPr/>
          <p:nvPr/>
        </p:nvSpPr>
        <p:spPr>
          <a:xfrm>
            <a:off x="4541520" y="4736592"/>
            <a:ext cx="3078480" cy="256032"/>
          </a:xfrm>
          <a:prstGeom prst="rect">
            <a:avLst/>
          </a:prstGeom>
          <a:noFill/>
          <a:ln/>
        </p:spPr>
        <p:txBody>
          <a:bodyPr wrap="square" lIns="0" tIns="0" rIns="0" bIns="0" rtlCol="0" anchor="ctr"/>
          <a:lstStyle/>
          <a:p>
            <a:pPr indent="0" marL="0">
              <a:buNone/>
            </a:pPr>
            <a:r>
              <a:rPr lang="en-US" sz="1250" b="1" dirty="0">
                <a:solidFill>
                  <a:srgbClr val="0A2E36"/>
                </a:solidFill>
                <a:latin typeface="Cambria" pitchFamily="34" charset="0"/>
                <a:ea typeface="Cambria" pitchFamily="34" charset="-122"/>
                <a:cs typeface="Cambria" pitchFamily="34" charset="-120"/>
              </a:rPr>
              <a:t>Delete rules carry meaning</a:t>
            </a:r>
            <a:endParaRPr lang="en-US" sz="1250" dirty="0"/>
          </a:p>
        </p:txBody>
      </p:sp>
      <p:sp>
        <p:nvSpPr>
          <p:cNvPr id="34" name="Text 32"/>
          <p:cNvSpPr/>
          <p:nvPr/>
        </p:nvSpPr>
        <p:spPr>
          <a:xfrm>
            <a:off x="4541520" y="5010912"/>
            <a:ext cx="3078480" cy="768096"/>
          </a:xfrm>
          <a:prstGeom prst="rect">
            <a:avLst/>
          </a:prstGeom>
          <a:noFill/>
          <a:ln/>
        </p:spPr>
        <p:txBody>
          <a:bodyPr wrap="square" lIns="0" tIns="0" rIns="0" bIns="0" rtlCol="0" anchor="t"/>
          <a:lstStyle/>
          <a:p>
            <a:pPr indent="0" marL="0">
              <a:lnSpc>
                <a:spcPts val="1300"/>
              </a:lnSpc>
              <a:buNone/>
            </a:pPr>
            <a:r>
              <a:rPr lang="en-US" sz="1100" dirty="0">
                <a:solidFill>
                  <a:srgbClr val="445C64"/>
                </a:solidFill>
                <a:latin typeface="Calibri" pitchFamily="34" charset="0"/>
                <a:ea typeface="Calibri" pitchFamily="34" charset="-122"/>
                <a:cs typeface="Calibri" pitchFamily="34" charset="-120"/>
              </a:rPr>
              <a:t>Customer is RESTRICT — deleting would destroy history. Agent is SET NULL — tickets return to the queue.</a:t>
            </a:r>
            <a:endParaRPr lang="en-US" sz="1100" dirty="0"/>
          </a:p>
        </p:txBody>
      </p:sp>
      <p:sp>
        <p:nvSpPr>
          <p:cNvPr id="35" name="Shape 33"/>
          <p:cNvSpPr/>
          <p:nvPr/>
        </p:nvSpPr>
        <p:spPr>
          <a:xfrm>
            <a:off x="8077200" y="4590288"/>
            <a:ext cx="3517392" cy="1298448"/>
          </a:xfrm>
          <a:prstGeom prst="roundRect">
            <a:avLst>
              <a:gd name="adj" fmla="val 7042"/>
            </a:avLst>
          </a:prstGeom>
          <a:solidFill>
            <a:srgbClr val="FFFFFF"/>
          </a:solidFill>
          <a:ln w="9525">
            <a:solidFill>
              <a:srgbClr val="D3E3E6"/>
            </a:solidFill>
            <a:prstDash val="solid"/>
          </a:ln>
          <a:effectLst>
            <a:outerShdw sx="100000" sy="100000" kx="0" ky="0" algn="bl" rotWithShape="0" blurRad="127000" dist="25400" dir="5400000">
              <a:srgbClr val="0A2E36">
                <a:alpha val="10000"/>
              </a:srgbClr>
            </a:outerShdw>
          </a:effectLst>
        </p:spPr>
      </p:sp>
      <p:sp>
        <p:nvSpPr>
          <p:cNvPr id="36" name="Text 34"/>
          <p:cNvSpPr/>
          <p:nvPr/>
        </p:nvSpPr>
        <p:spPr>
          <a:xfrm>
            <a:off x="8296656" y="4736592"/>
            <a:ext cx="3078480" cy="256032"/>
          </a:xfrm>
          <a:prstGeom prst="rect">
            <a:avLst/>
          </a:prstGeom>
          <a:noFill/>
          <a:ln/>
        </p:spPr>
        <p:txBody>
          <a:bodyPr wrap="square" lIns="0" tIns="0" rIns="0" bIns="0" rtlCol="0" anchor="ctr"/>
          <a:lstStyle/>
          <a:p>
            <a:pPr indent="0" marL="0">
              <a:buNone/>
            </a:pPr>
            <a:r>
              <a:rPr lang="en-US" sz="1250" b="1" dirty="0">
                <a:solidFill>
                  <a:srgbClr val="0A2E36"/>
                </a:solidFill>
                <a:latin typeface="Cambria" pitchFamily="34" charset="0"/>
                <a:ea typeface="Cambria" pitchFamily="34" charset="-122"/>
                <a:cs typeface="Cambria" pitchFamily="34" charset="-120"/>
              </a:rPr>
              <a:t>Constraints, not just code</a:t>
            </a:r>
            <a:endParaRPr lang="en-US" sz="1250" dirty="0"/>
          </a:p>
        </p:txBody>
      </p:sp>
      <p:sp>
        <p:nvSpPr>
          <p:cNvPr id="37" name="Text 35"/>
          <p:cNvSpPr/>
          <p:nvPr/>
        </p:nvSpPr>
        <p:spPr>
          <a:xfrm>
            <a:off x="8296656" y="5010912"/>
            <a:ext cx="3078480" cy="768096"/>
          </a:xfrm>
          <a:prstGeom prst="rect">
            <a:avLst/>
          </a:prstGeom>
          <a:noFill/>
          <a:ln/>
        </p:spPr>
        <p:txBody>
          <a:bodyPr wrap="square" lIns="0" tIns="0" rIns="0" bIns="0" rtlCol="0" anchor="t"/>
          <a:lstStyle/>
          <a:p>
            <a:pPr indent="0" marL="0">
              <a:lnSpc>
                <a:spcPts val="1300"/>
              </a:lnSpc>
              <a:buNone/>
            </a:pPr>
            <a:r>
              <a:rPr lang="en-US" sz="1100" dirty="0">
                <a:solidFill>
                  <a:srgbClr val="445C64"/>
                </a:solidFill>
                <a:latin typeface="Calibri" pitchFamily="34" charset="0"/>
                <a:ea typeface="Calibri" pitchFamily="34" charset="-122"/>
                <a:cs typeface="Calibri" pitchFamily="34" charset="-120"/>
              </a:rPr>
              <a:t>resolved_at may only be set when RESOLVED or CLOSED. The invariant holds even if our code is wrong.</a:t>
            </a:r>
            <a:endParaRPr lang="en-US" sz="1100" dirty="0"/>
          </a:p>
        </p:txBody>
      </p:sp>
      <p:sp>
        <p:nvSpPr>
          <p:cNvPr id="38" name="Text 36"/>
          <p:cNvSpPr/>
          <p:nvPr/>
        </p:nvSpPr>
        <p:spPr>
          <a:xfrm>
            <a:off x="566928" y="5980176"/>
            <a:ext cx="11027664" cy="274320"/>
          </a:xfrm>
          <a:prstGeom prst="rect">
            <a:avLst/>
          </a:prstGeom>
          <a:noFill/>
          <a:ln/>
        </p:spPr>
        <p:txBody>
          <a:bodyPr wrap="square" lIns="0" tIns="0" rIns="0" bIns="0" rtlCol="0" anchor="ctr"/>
          <a:lstStyle/>
          <a:p>
            <a:pPr indent="0" marL="0">
              <a:buNone/>
            </a:pPr>
            <a:r>
              <a:rPr lang="en-US" sz="1150" i="1" dirty="0">
                <a:solidFill>
                  <a:srgbClr val="028090"/>
                </a:solidFill>
                <a:latin typeface="Calibri" pitchFamily="34" charset="0"/>
                <a:ea typeface="Calibri" pitchFamily="34" charset="-122"/>
                <a:cs typeface="Calibri" pitchFamily="34" charset="-120"/>
              </a:rPr>
              <a:t>Indexes on every filter column, plus a GIN full-text index backing keyword search across subject and description.</a:t>
            </a:r>
            <a:endParaRPr lang="en-US" sz="1150" dirty="0"/>
          </a:p>
        </p:txBody>
      </p:sp>
      <p:sp>
        <p:nvSpPr>
          <p:cNvPr id="39" name="Text 37"/>
          <p:cNvSpPr/>
          <p:nvPr/>
        </p:nvSpPr>
        <p:spPr>
          <a:xfrm>
            <a:off x="566928" y="6345936"/>
            <a:ext cx="7315200" cy="219456"/>
          </a:xfrm>
          <a:prstGeom prst="rect">
            <a:avLst/>
          </a:prstGeom>
          <a:noFill/>
          <a:ln/>
        </p:spPr>
        <p:txBody>
          <a:bodyPr wrap="square" lIns="0" tIns="0" rIns="0" bIns="0" rtlCol="0" anchor="ctr"/>
          <a:lstStyle/>
          <a:p>
            <a:pPr indent="0" marL="0">
              <a:buNone/>
            </a:pPr>
            <a:r>
              <a:rPr lang="en-US" sz="900" dirty="0">
                <a:solidFill>
                  <a:srgbClr val="7C939B"/>
                </a:solidFill>
                <a:latin typeface="Calibri" pitchFamily="34" charset="0"/>
                <a:ea typeface="Calibri" pitchFamily="34" charset="-122"/>
                <a:cs typeface="Calibri" pitchFamily="34" charset="-120"/>
              </a:rPr>
              <a:t>ServiceDesk AI  ·  BCSE408L Cloud Computing  ·  Final Demonstration</a:t>
            </a:r>
            <a:endParaRPr lang="en-US" sz="900" dirty="0"/>
          </a:p>
        </p:txBody>
      </p:sp>
      <p:sp>
        <p:nvSpPr>
          <p:cNvPr id="40" name="Text 38"/>
          <p:cNvSpPr/>
          <p:nvPr/>
        </p:nvSpPr>
        <p:spPr>
          <a:xfrm>
            <a:off x="10680192" y="6345936"/>
            <a:ext cx="914400" cy="219456"/>
          </a:xfrm>
          <a:prstGeom prst="rect">
            <a:avLst/>
          </a:prstGeom>
          <a:noFill/>
          <a:ln/>
        </p:spPr>
        <p:txBody>
          <a:bodyPr wrap="square" lIns="0" tIns="0" rIns="0" bIns="0" rtlCol="0" anchor="ctr"/>
          <a:lstStyle/>
          <a:p>
            <a:pPr algn="r" indent="0" marL="0">
              <a:buNone/>
            </a:pPr>
            <a:r>
              <a:rPr lang="en-US" sz="900" dirty="0">
                <a:solidFill>
                  <a:srgbClr val="7C939B"/>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65760"/>
            <a:ext cx="11027664" cy="237744"/>
          </a:xfrm>
          <a:prstGeom prst="rect">
            <a:avLst/>
          </a:prstGeom>
          <a:noFill/>
          <a:ln/>
        </p:spPr>
        <p:txBody>
          <a:bodyPr wrap="square" lIns="0" tIns="0" rIns="0" bIns="0" rtlCol="0" anchor="ctr"/>
          <a:lstStyle/>
          <a:p>
            <a:pPr indent="0" marL="0">
              <a:buNone/>
            </a:pPr>
            <a:r>
              <a:rPr lang="en-US" sz="1100" b="1" spc="220" kern="0" dirty="0">
                <a:solidFill>
                  <a:srgbClr val="028090"/>
                </a:solidFill>
                <a:latin typeface="Calibri" pitchFamily="34" charset="0"/>
                <a:ea typeface="Calibri" pitchFamily="34" charset="-122"/>
                <a:cs typeface="Calibri" pitchFamily="34" charset="-120"/>
              </a:rPr>
              <a:t>AS BUILT</a:t>
            </a:r>
            <a:endParaRPr lang="en-US" sz="1100" dirty="0"/>
          </a:p>
        </p:txBody>
      </p:sp>
      <p:sp>
        <p:nvSpPr>
          <p:cNvPr id="3" name="Text 1"/>
          <p:cNvSpPr/>
          <p:nvPr/>
        </p:nvSpPr>
        <p:spPr>
          <a:xfrm>
            <a:off x="566928" y="621792"/>
            <a:ext cx="11027664" cy="621792"/>
          </a:xfrm>
          <a:prstGeom prst="rect">
            <a:avLst/>
          </a:prstGeom>
          <a:noFill/>
          <a:ln/>
        </p:spPr>
        <p:txBody>
          <a:bodyPr wrap="square" lIns="0" tIns="0" rIns="0" bIns="0" rtlCol="0" anchor="t"/>
          <a:lstStyle/>
          <a:p>
            <a:pPr indent="0" marL="0">
              <a:buNone/>
            </a:pPr>
            <a:r>
              <a:rPr lang="en-US" sz="3000" b="1" dirty="0">
                <a:solidFill>
                  <a:srgbClr val="0A2E36"/>
                </a:solidFill>
                <a:latin typeface="Cambria" pitchFamily="34" charset="0"/>
                <a:ea typeface="Cambria" pitchFamily="34" charset="-122"/>
                <a:cs typeface="Cambria" pitchFamily="34" charset="-120"/>
              </a:rPr>
              <a:t>Security and Access Control</a:t>
            </a:r>
            <a:endParaRPr lang="en-US" sz="3000" dirty="0"/>
          </a:p>
        </p:txBody>
      </p:sp>
      <p:sp>
        <p:nvSpPr>
          <p:cNvPr id="4" name="Shape 2"/>
          <p:cNvSpPr/>
          <p:nvPr/>
        </p:nvSpPr>
        <p:spPr>
          <a:xfrm>
            <a:off x="566928" y="1335024"/>
            <a:ext cx="11027664" cy="676656"/>
          </a:xfrm>
          <a:prstGeom prst="roundRect">
            <a:avLst>
              <a:gd name="adj" fmla="val 13514"/>
            </a:avLst>
          </a:prstGeom>
          <a:solidFill>
            <a:srgbClr val="0A2E36"/>
          </a:solidFill>
          <a:ln/>
          <a:effectLst>
            <a:outerShdw sx="100000" sy="100000" kx="0" ky="0" algn="bl" rotWithShape="0" blurRad="127000" dist="25400" dir="5400000">
              <a:srgbClr val="0A2E36">
                <a:alpha val="10000"/>
              </a:srgbClr>
            </a:outerShdw>
          </a:effectLst>
        </p:spPr>
      </p:sp>
      <p:sp>
        <p:nvSpPr>
          <p:cNvPr id="5" name="Text 3"/>
          <p:cNvSpPr/>
          <p:nvPr/>
        </p:nvSpPr>
        <p:spPr>
          <a:xfrm>
            <a:off x="877824" y="1335024"/>
            <a:ext cx="10405872" cy="676656"/>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Hiding a button is not security. Every claim on this slide is proved by a test that calls the API directly with a valid token for the wrong role.</a:t>
            </a:r>
            <a:endParaRPr lang="en-US" sz="1300" dirty="0"/>
          </a:p>
        </p:txBody>
      </p:sp>
      <p:sp>
        <p:nvSpPr>
          <p:cNvPr id="6" name="Text 4"/>
          <p:cNvSpPr/>
          <p:nvPr/>
        </p:nvSpPr>
        <p:spPr>
          <a:xfrm>
            <a:off x="566928" y="2212848"/>
            <a:ext cx="11027664" cy="292608"/>
          </a:xfrm>
          <a:prstGeom prst="rect">
            <a:avLst/>
          </a:prstGeom>
          <a:noFill/>
          <a:ln/>
        </p:spPr>
        <p:txBody>
          <a:bodyPr wrap="square" lIns="0" tIns="0" rIns="0" bIns="0" rtlCol="0" anchor="ctr"/>
          <a:lstStyle/>
          <a:p>
            <a:pPr indent="0" marL="0">
              <a:buNone/>
            </a:pPr>
            <a:r>
              <a:rPr lang="en-US" sz="1500" b="1" dirty="0">
                <a:solidFill>
                  <a:srgbClr val="0A2E36"/>
                </a:solidFill>
                <a:latin typeface="Cambria" pitchFamily="34" charset="0"/>
                <a:ea typeface="Cambria" pitchFamily="34" charset="-122"/>
                <a:cs typeface="Cambria" pitchFamily="34" charset="-120"/>
              </a:rPr>
              <a:t>Two independent authorisation layers</a:t>
            </a:r>
            <a:endParaRPr lang="en-US" sz="1500" dirty="0"/>
          </a:p>
        </p:txBody>
      </p:sp>
      <p:sp>
        <p:nvSpPr>
          <p:cNvPr id="7" name="Shape 5"/>
          <p:cNvSpPr/>
          <p:nvPr/>
        </p:nvSpPr>
        <p:spPr>
          <a:xfrm>
            <a:off x="566928" y="2578608"/>
            <a:ext cx="5376672" cy="969264"/>
          </a:xfrm>
          <a:prstGeom prst="roundRect">
            <a:avLst>
              <a:gd name="adj" fmla="val 9434"/>
            </a:avLst>
          </a:prstGeom>
          <a:solidFill>
            <a:srgbClr val="EEF6F7"/>
          </a:solidFill>
          <a:ln w="9525">
            <a:solidFill>
              <a:srgbClr val="D3E3E6"/>
            </a:solidFill>
            <a:prstDash val="solid"/>
          </a:ln>
          <a:effectLst>
            <a:outerShdw sx="100000" sy="100000" kx="0" ky="0" algn="bl" rotWithShape="0" blurRad="127000" dist="25400" dir="5400000">
              <a:srgbClr val="0A2E36">
                <a:alpha val="10000"/>
              </a:srgbClr>
            </a:outerShdw>
          </a:effectLst>
        </p:spPr>
      </p:sp>
      <p:sp>
        <p:nvSpPr>
          <p:cNvPr id="8" name="Shape 6"/>
          <p:cNvSpPr/>
          <p:nvPr/>
        </p:nvSpPr>
        <p:spPr>
          <a:xfrm>
            <a:off x="804672" y="2761488"/>
            <a:ext cx="420624" cy="420624"/>
          </a:xfrm>
          <a:prstGeom prst="ellipse">
            <a:avLst/>
          </a:prstGeom>
          <a:solidFill>
            <a:srgbClr val="028090"/>
          </a:solidFill>
          <a:ln/>
        </p:spPr>
      </p:sp>
      <p:sp>
        <p:nvSpPr>
          <p:cNvPr id="9" name="Text 7"/>
          <p:cNvSpPr/>
          <p:nvPr/>
        </p:nvSpPr>
        <p:spPr>
          <a:xfrm>
            <a:off x="804672" y="2761488"/>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10" name="Text 8"/>
          <p:cNvSpPr/>
          <p:nvPr/>
        </p:nvSpPr>
        <p:spPr>
          <a:xfrm>
            <a:off x="1353312" y="2743200"/>
            <a:ext cx="4370832" cy="256032"/>
          </a:xfrm>
          <a:prstGeom prst="rect">
            <a:avLst/>
          </a:prstGeom>
          <a:noFill/>
          <a:ln/>
        </p:spPr>
        <p:txBody>
          <a:bodyPr wrap="square" lIns="0" tIns="0" rIns="0" bIns="0" rtlCol="0" anchor="ctr"/>
          <a:lstStyle/>
          <a:p>
            <a:pPr indent="0" marL="0">
              <a:buNone/>
            </a:pPr>
            <a:r>
              <a:rPr lang="en-US" sz="1400" b="1" dirty="0">
                <a:solidFill>
                  <a:srgbClr val="0A2E36"/>
                </a:solidFill>
                <a:latin typeface="Calibri" pitchFamily="34" charset="0"/>
                <a:ea typeface="Calibri" pitchFamily="34" charset="-122"/>
                <a:cs typeface="Calibri" pitchFamily="34" charset="-120"/>
              </a:rPr>
              <a:t>Route level</a:t>
            </a:r>
            <a:endParaRPr lang="en-US" sz="1400" dirty="0"/>
          </a:p>
        </p:txBody>
      </p:sp>
      <p:sp>
        <p:nvSpPr>
          <p:cNvPr id="11" name="Text 9"/>
          <p:cNvSpPr/>
          <p:nvPr/>
        </p:nvSpPr>
        <p:spPr>
          <a:xfrm>
            <a:off x="1353312" y="3017520"/>
            <a:ext cx="4370832" cy="402336"/>
          </a:xfrm>
          <a:prstGeom prst="rect">
            <a:avLst/>
          </a:prstGeom>
          <a:noFill/>
          <a:ln/>
        </p:spPr>
        <p:txBody>
          <a:bodyPr wrap="square" lIns="0" tIns="0" rIns="0" bIns="0" rtlCol="0" anchor="t"/>
          <a:lstStyle/>
          <a:p>
            <a:pPr indent="0" marL="0">
              <a:lnSpc>
                <a:spcPts val="1300"/>
              </a:lnSpc>
              <a:buNone/>
            </a:pPr>
            <a:r>
              <a:rPr lang="en-US" sz="1150" dirty="0">
                <a:solidFill>
                  <a:srgbClr val="445C64"/>
                </a:solidFill>
                <a:latin typeface="Calibri" pitchFamily="34" charset="0"/>
                <a:ea typeface="Calibri" pitchFamily="34" charset="-122"/>
                <a:cs typeface="Calibri" pitchFamily="34" charset="-120"/>
              </a:rPr>
              <a:t>requireRole() middleware asks: may this role call this endpoint at all?</a:t>
            </a:r>
            <a:endParaRPr lang="en-US" sz="1150" dirty="0"/>
          </a:p>
        </p:txBody>
      </p:sp>
      <p:sp>
        <p:nvSpPr>
          <p:cNvPr id="12" name="Shape 10"/>
          <p:cNvSpPr/>
          <p:nvPr/>
        </p:nvSpPr>
        <p:spPr>
          <a:xfrm>
            <a:off x="6217920" y="2578608"/>
            <a:ext cx="5376672" cy="969264"/>
          </a:xfrm>
          <a:prstGeom prst="roundRect">
            <a:avLst>
              <a:gd name="adj" fmla="val 9434"/>
            </a:avLst>
          </a:prstGeom>
          <a:solidFill>
            <a:srgbClr val="EEF6F7"/>
          </a:solidFill>
          <a:ln w="9525">
            <a:solidFill>
              <a:srgbClr val="D3E3E6"/>
            </a:solidFill>
            <a:prstDash val="solid"/>
          </a:ln>
          <a:effectLst>
            <a:outerShdw sx="100000" sy="100000" kx="0" ky="0" algn="bl" rotWithShape="0" blurRad="127000" dist="25400" dir="5400000">
              <a:srgbClr val="0A2E36">
                <a:alpha val="10000"/>
              </a:srgbClr>
            </a:outerShdw>
          </a:effectLst>
        </p:spPr>
      </p:sp>
      <p:sp>
        <p:nvSpPr>
          <p:cNvPr id="13" name="Shape 11"/>
          <p:cNvSpPr/>
          <p:nvPr/>
        </p:nvSpPr>
        <p:spPr>
          <a:xfrm>
            <a:off x="6455664" y="2761488"/>
            <a:ext cx="420624" cy="420624"/>
          </a:xfrm>
          <a:prstGeom prst="ellipse">
            <a:avLst/>
          </a:prstGeom>
          <a:solidFill>
            <a:srgbClr val="028090"/>
          </a:solidFill>
          <a:ln/>
        </p:spPr>
      </p:sp>
      <p:sp>
        <p:nvSpPr>
          <p:cNvPr id="14" name="Text 12"/>
          <p:cNvSpPr/>
          <p:nvPr/>
        </p:nvSpPr>
        <p:spPr>
          <a:xfrm>
            <a:off x="6455664" y="2761488"/>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5" name="Text 13"/>
          <p:cNvSpPr/>
          <p:nvPr/>
        </p:nvSpPr>
        <p:spPr>
          <a:xfrm>
            <a:off x="7004304" y="2743200"/>
            <a:ext cx="4370832" cy="256032"/>
          </a:xfrm>
          <a:prstGeom prst="rect">
            <a:avLst/>
          </a:prstGeom>
          <a:noFill/>
          <a:ln/>
        </p:spPr>
        <p:txBody>
          <a:bodyPr wrap="square" lIns="0" tIns="0" rIns="0" bIns="0" rtlCol="0" anchor="ctr"/>
          <a:lstStyle/>
          <a:p>
            <a:pPr indent="0" marL="0">
              <a:buNone/>
            </a:pPr>
            <a:r>
              <a:rPr lang="en-US" sz="1400" b="1" dirty="0">
                <a:solidFill>
                  <a:srgbClr val="0A2E36"/>
                </a:solidFill>
                <a:latin typeface="Calibri" pitchFamily="34" charset="0"/>
                <a:ea typeface="Calibri" pitchFamily="34" charset="-122"/>
                <a:cs typeface="Calibri" pitchFamily="34" charset="-120"/>
              </a:rPr>
              <a:t>Record level</a:t>
            </a:r>
            <a:endParaRPr lang="en-US" sz="1400" dirty="0"/>
          </a:p>
        </p:txBody>
      </p:sp>
      <p:sp>
        <p:nvSpPr>
          <p:cNvPr id="16" name="Text 14"/>
          <p:cNvSpPr/>
          <p:nvPr/>
        </p:nvSpPr>
        <p:spPr>
          <a:xfrm>
            <a:off x="7004304" y="3017520"/>
            <a:ext cx="4370832" cy="402336"/>
          </a:xfrm>
          <a:prstGeom prst="rect">
            <a:avLst/>
          </a:prstGeom>
          <a:noFill/>
          <a:ln/>
        </p:spPr>
        <p:txBody>
          <a:bodyPr wrap="square" lIns="0" tIns="0" rIns="0" bIns="0" rtlCol="0" anchor="t"/>
          <a:lstStyle/>
          <a:p>
            <a:pPr indent="0" marL="0">
              <a:lnSpc>
                <a:spcPts val="1300"/>
              </a:lnSpc>
              <a:buNone/>
            </a:pPr>
            <a:r>
              <a:rPr lang="en-US" sz="1150" dirty="0">
                <a:solidFill>
                  <a:srgbClr val="445C64"/>
                </a:solidFill>
                <a:latin typeface="Calibri" pitchFamily="34" charset="0"/>
                <a:ea typeface="Calibri" pitchFamily="34" charset="-122"/>
                <a:cs typeface="Calibri" pitchFamily="34" charset="-120"/>
              </a:rPr>
              <a:t>The handler asks: does this specific record belong to this caller?</a:t>
            </a:r>
            <a:endParaRPr lang="en-US" sz="1150" dirty="0"/>
          </a:p>
        </p:txBody>
      </p:sp>
      <p:sp>
        <p:nvSpPr>
          <p:cNvPr id="17" name="Text 15"/>
          <p:cNvSpPr/>
          <p:nvPr/>
        </p:nvSpPr>
        <p:spPr>
          <a:xfrm>
            <a:off x="566928" y="3657600"/>
            <a:ext cx="11027664" cy="256032"/>
          </a:xfrm>
          <a:prstGeom prst="rect">
            <a:avLst/>
          </a:prstGeom>
          <a:noFill/>
          <a:ln/>
        </p:spPr>
        <p:txBody>
          <a:bodyPr wrap="square" lIns="0" tIns="0" rIns="0" bIns="0" rtlCol="0" anchor="t"/>
          <a:lstStyle/>
          <a:p>
            <a:pPr indent="0" marL="0">
              <a:lnSpc>
                <a:spcPts val="1700"/>
              </a:lnSpc>
              <a:buNone/>
            </a:pPr>
            <a:r>
              <a:rPr lang="en-US" sz="1150" i="1" dirty="0">
                <a:solidFill>
                  <a:srgbClr val="7C939B"/>
                </a:solidFill>
                <a:latin typeface="Calibri" pitchFamily="34" charset="0"/>
                <a:ea typeface="Calibri" pitchFamily="34" charset="-122"/>
                <a:cs typeface="Calibri" pitchFamily="34" charset="-120"/>
              </a:rPr>
              <a:t>Neither is sufficient alone: middleware cannot know whether ticket X belongs to customer Y.</a:t>
            </a:r>
            <a:endParaRPr lang="en-US" sz="1150" dirty="0"/>
          </a:p>
        </p:txBody>
      </p:sp>
      <p:sp>
        <p:nvSpPr>
          <p:cNvPr id="18" name="Shape 16"/>
          <p:cNvSpPr/>
          <p:nvPr/>
        </p:nvSpPr>
        <p:spPr>
          <a:xfrm>
            <a:off x="566928" y="4005072"/>
            <a:ext cx="3529584" cy="914400"/>
          </a:xfrm>
          <a:prstGeom prst="roundRect">
            <a:avLst>
              <a:gd name="adj" fmla="val 10000"/>
            </a:avLst>
          </a:prstGeom>
          <a:solidFill>
            <a:srgbClr val="F7FBFB"/>
          </a:solidFill>
          <a:ln w="9525">
            <a:solidFill>
              <a:srgbClr val="D3E3E6"/>
            </a:solidFill>
            <a:prstDash val="solid"/>
          </a:ln>
          <a:effectLst>
            <a:outerShdw sx="100000" sy="100000" kx="0" ky="0" algn="bl" rotWithShape="0" blurRad="127000" dist="25400" dir="5400000">
              <a:srgbClr val="0A2E36">
                <a:alpha val="10000"/>
              </a:srgbClr>
            </a:outerShdw>
          </a:effectLst>
        </p:spPr>
      </p:sp>
      <p:sp>
        <p:nvSpPr>
          <p:cNvPr id="19" name="Text 17"/>
          <p:cNvSpPr/>
          <p:nvPr/>
        </p:nvSpPr>
        <p:spPr>
          <a:xfrm>
            <a:off x="786384" y="4133088"/>
            <a:ext cx="3090672" cy="237744"/>
          </a:xfrm>
          <a:prstGeom prst="rect">
            <a:avLst/>
          </a:prstGeom>
          <a:noFill/>
          <a:ln/>
        </p:spPr>
        <p:txBody>
          <a:bodyPr wrap="square" lIns="0" tIns="0" rIns="0" bIns="0" rtlCol="0" anchor="ctr"/>
          <a:lstStyle/>
          <a:p>
            <a:pPr indent="0" marL="0">
              <a:buNone/>
            </a:pPr>
            <a:r>
              <a:rPr lang="en-US" sz="1250" b="1" dirty="0">
                <a:solidFill>
                  <a:srgbClr val="028090"/>
                </a:solidFill>
                <a:latin typeface="Calibri" pitchFamily="34" charset="0"/>
                <a:ea typeface="Calibri" pitchFamily="34" charset="-122"/>
                <a:cs typeface="Calibri" pitchFamily="34" charset="-120"/>
              </a:rPr>
              <a:t>Passwords</a:t>
            </a:r>
            <a:endParaRPr lang="en-US" sz="1250" dirty="0"/>
          </a:p>
        </p:txBody>
      </p:sp>
      <p:sp>
        <p:nvSpPr>
          <p:cNvPr id="20" name="Text 18"/>
          <p:cNvSpPr/>
          <p:nvPr/>
        </p:nvSpPr>
        <p:spPr>
          <a:xfrm>
            <a:off x="786384" y="4389120"/>
            <a:ext cx="3090672" cy="457200"/>
          </a:xfrm>
          <a:prstGeom prst="rect">
            <a:avLst/>
          </a:prstGeom>
          <a:noFill/>
          <a:ln/>
        </p:spPr>
        <p:txBody>
          <a:bodyPr wrap="square" lIns="0" tIns="0" rIns="0" bIns="0" rtlCol="0" anchor="t"/>
          <a:lstStyle/>
          <a:p>
            <a:pPr indent="0" marL="0">
              <a:lnSpc>
                <a:spcPts val="1300"/>
              </a:lnSpc>
              <a:buNone/>
            </a:pPr>
            <a:r>
              <a:rPr lang="en-US" sz="1100" dirty="0">
                <a:solidFill>
                  <a:srgbClr val="445C64"/>
                </a:solidFill>
                <a:latin typeface="Calibri" pitchFamily="34" charset="0"/>
                <a:ea typeface="Calibri" pitchFamily="34" charset="-122"/>
                <a:cs typeface="Calibri" pitchFamily="34" charset="-120"/>
              </a:rPr>
              <a:t>bcrypt at cost 12 — ~250 ms per hash. Salted automatically. Never logged.</a:t>
            </a:r>
            <a:endParaRPr lang="en-US" sz="1100" dirty="0"/>
          </a:p>
        </p:txBody>
      </p:sp>
      <p:sp>
        <p:nvSpPr>
          <p:cNvPr id="21" name="Shape 19"/>
          <p:cNvSpPr/>
          <p:nvPr/>
        </p:nvSpPr>
        <p:spPr>
          <a:xfrm>
            <a:off x="4315968" y="4005072"/>
            <a:ext cx="3529584" cy="914400"/>
          </a:xfrm>
          <a:prstGeom prst="roundRect">
            <a:avLst>
              <a:gd name="adj" fmla="val 10000"/>
            </a:avLst>
          </a:prstGeom>
          <a:solidFill>
            <a:srgbClr val="F7FBFB"/>
          </a:solidFill>
          <a:ln w="9525">
            <a:solidFill>
              <a:srgbClr val="D3E3E6"/>
            </a:solidFill>
            <a:prstDash val="solid"/>
          </a:ln>
          <a:effectLst>
            <a:outerShdw sx="100000" sy="100000" kx="0" ky="0" algn="bl" rotWithShape="0" blurRad="127000" dist="25400" dir="5400000">
              <a:srgbClr val="0A2E36">
                <a:alpha val="10000"/>
              </a:srgbClr>
            </a:outerShdw>
          </a:effectLst>
        </p:spPr>
      </p:sp>
      <p:sp>
        <p:nvSpPr>
          <p:cNvPr id="22" name="Text 20"/>
          <p:cNvSpPr/>
          <p:nvPr/>
        </p:nvSpPr>
        <p:spPr>
          <a:xfrm>
            <a:off x="4535424" y="4133088"/>
            <a:ext cx="3090672" cy="237744"/>
          </a:xfrm>
          <a:prstGeom prst="rect">
            <a:avLst/>
          </a:prstGeom>
          <a:noFill/>
          <a:ln/>
        </p:spPr>
        <p:txBody>
          <a:bodyPr wrap="square" lIns="0" tIns="0" rIns="0" bIns="0" rtlCol="0" anchor="ctr"/>
          <a:lstStyle/>
          <a:p>
            <a:pPr indent="0" marL="0">
              <a:buNone/>
            </a:pPr>
            <a:r>
              <a:rPr lang="en-US" sz="1250" b="1" dirty="0">
                <a:solidFill>
                  <a:srgbClr val="028090"/>
                </a:solidFill>
                <a:latin typeface="Calibri" pitchFamily="34" charset="0"/>
                <a:ea typeface="Calibri" pitchFamily="34" charset="-122"/>
                <a:cs typeface="Calibri" pitchFamily="34" charset="-120"/>
              </a:rPr>
              <a:t>Sessions</a:t>
            </a:r>
            <a:endParaRPr lang="en-US" sz="1250" dirty="0"/>
          </a:p>
        </p:txBody>
      </p:sp>
      <p:sp>
        <p:nvSpPr>
          <p:cNvPr id="23" name="Text 21"/>
          <p:cNvSpPr/>
          <p:nvPr/>
        </p:nvSpPr>
        <p:spPr>
          <a:xfrm>
            <a:off x="4535424" y="4389120"/>
            <a:ext cx="3090672" cy="457200"/>
          </a:xfrm>
          <a:prstGeom prst="rect">
            <a:avLst/>
          </a:prstGeom>
          <a:noFill/>
          <a:ln/>
        </p:spPr>
        <p:txBody>
          <a:bodyPr wrap="square" lIns="0" tIns="0" rIns="0" bIns="0" rtlCol="0" anchor="t"/>
          <a:lstStyle/>
          <a:p>
            <a:pPr indent="0" marL="0">
              <a:lnSpc>
                <a:spcPts val="1300"/>
              </a:lnSpc>
              <a:buNone/>
            </a:pPr>
            <a:r>
              <a:rPr lang="en-US" sz="1100" dirty="0">
                <a:solidFill>
                  <a:srgbClr val="445C64"/>
                </a:solidFill>
                <a:latin typeface="Calibri" pitchFamily="34" charset="0"/>
                <a:ea typeface="Calibri" pitchFamily="34" charset="-122"/>
                <a:cs typeface="Calibri" pitchFamily="34" charset="-120"/>
              </a:rPr>
              <a:t>15-minute access token in memory only; refresh token in an httpOnly cookie.</a:t>
            </a:r>
            <a:endParaRPr lang="en-US" sz="1100" dirty="0"/>
          </a:p>
        </p:txBody>
      </p:sp>
      <p:sp>
        <p:nvSpPr>
          <p:cNvPr id="24" name="Shape 22"/>
          <p:cNvSpPr/>
          <p:nvPr/>
        </p:nvSpPr>
        <p:spPr>
          <a:xfrm>
            <a:off x="8065008" y="4005072"/>
            <a:ext cx="3529584" cy="914400"/>
          </a:xfrm>
          <a:prstGeom prst="roundRect">
            <a:avLst>
              <a:gd name="adj" fmla="val 10000"/>
            </a:avLst>
          </a:prstGeom>
          <a:solidFill>
            <a:srgbClr val="F7FBFB"/>
          </a:solidFill>
          <a:ln w="9525">
            <a:solidFill>
              <a:srgbClr val="D3E3E6"/>
            </a:solidFill>
            <a:prstDash val="solid"/>
          </a:ln>
          <a:effectLst>
            <a:outerShdw sx="100000" sy="100000" kx="0" ky="0" algn="bl" rotWithShape="0" blurRad="127000" dist="25400" dir="5400000">
              <a:srgbClr val="0A2E36">
                <a:alpha val="10000"/>
              </a:srgbClr>
            </a:outerShdw>
          </a:effectLst>
        </p:spPr>
      </p:sp>
      <p:sp>
        <p:nvSpPr>
          <p:cNvPr id="25" name="Text 23"/>
          <p:cNvSpPr/>
          <p:nvPr/>
        </p:nvSpPr>
        <p:spPr>
          <a:xfrm>
            <a:off x="8284464" y="4133088"/>
            <a:ext cx="3090672" cy="237744"/>
          </a:xfrm>
          <a:prstGeom prst="rect">
            <a:avLst/>
          </a:prstGeom>
          <a:noFill/>
          <a:ln/>
        </p:spPr>
        <p:txBody>
          <a:bodyPr wrap="square" lIns="0" tIns="0" rIns="0" bIns="0" rtlCol="0" anchor="ctr"/>
          <a:lstStyle/>
          <a:p>
            <a:pPr indent="0" marL="0">
              <a:buNone/>
            </a:pPr>
            <a:r>
              <a:rPr lang="en-US" sz="1250" b="1" dirty="0">
                <a:solidFill>
                  <a:srgbClr val="028090"/>
                </a:solidFill>
                <a:latin typeface="Calibri" pitchFamily="34" charset="0"/>
                <a:ea typeface="Calibri" pitchFamily="34" charset="-122"/>
                <a:cs typeface="Calibri" pitchFamily="34" charset="-120"/>
              </a:rPr>
              <a:t>404, not 403</a:t>
            </a:r>
            <a:endParaRPr lang="en-US" sz="1250" dirty="0"/>
          </a:p>
        </p:txBody>
      </p:sp>
      <p:sp>
        <p:nvSpPr>
          <p:cNvPr id="26" name="Text 24"/>
          <p:cNvSpPr/>
          <p:nvPr/>
        </p:nvSpPr>
        <p:spPr>
          <a:xfrm>
            <a:off x="8284464" y="4389120"/>
            <a:ext cx="3090672" cy="457200"/>
          </a:xfrm>
          <a:prstGeom prst="rect">
            <a:avLst/>
          </a:prstGeom>
          <a:noFill/>
          <a:ln/>
        </p:spPr>
        <p:txBody>
          <a:bodyPr wrap="square" lIns="0" tIns="0" rIns="0" bIns="0" rtlCol="0" anchor="t"/>
          <a:lstStyle/>
          <a:p>
            <a:pPr indent="0" marL="0">
              <a:lnSpc>
                <a:spcPts val="1300"/>
              </a:lnSpc>
              <a:buNone/>
            </a:pPr>
            <a:r>
              <a:rPr lang="en-US" sz="1100" dirty="0">
                <a:solidFill>
                  <a:srgbClr val="445C64"/>
                </a:solidFill>
                <a:latin typeface="Calibri" pitchFamily="34" charset="0"/>
                <a:ea typeface="Calibri" pitchFamily="34" charset="-122"/>
                <a:cs typeface="Calibri" pitchFamily="34" charset="-120"/>
              </a:rPr>
              <a:t>Another customer's ticket returns not-found, so IDs cannot be probed.</a:t>
            </a:r>
            <a:endParaRPr lang="en-US" sz="1100" dirty="0"/>
          </a:p>
        </p:txBody>
      </p:sp>
      <p:sp>
        <p:nvSpPr>
          <p:cNvPr id="27" name="Shape 25"/>
          <p:cNvSpPr/>
          <p:nvPr/>
        </p:nvSpPr>
        <p:spPr>
          <a:xfrm>
            <a:off x="566928" y="5047488"/>
            <a:ext cx="3529584" cy="914400"/>
          </a:xfrm>
          <a:prstGeom prst="roundRect">
            <a:avLst>
              <a:gd name="adj" fmla="val 10000"/>
            </a:avLst>
          </a:prstGeom>
          <a:solidFill>
            <a:srgbClr val="F7FBFB"/>
          </a:solidFill>
          <a:ln w="9525">
            <a:solidFill>
              <a:srgbClr val="D3E3E6"/>
            </a:solidFill>
            <a:prstDash val="solid"/>
          </a:ln>
          <a:effectLst>
            <a:outerShdw sx="100000" sy="100000" kx="0" ky="0" algn="bl" rotWithShape="0" blurRad="127000" dist="25400" dir="5400000">
              <a:srgbClr val="0A2E36">
                <a:alpha val="10000"/>
              </a:srgbClr>
            </a:outerShdw>
          </a:effectLst>
        </p:spPr>
      </p:sp>
      <p:sp>
        <p:nvSpPr>
          <p:cNvPr id="28" name="Text 26"/>
          <p:cNvSpPr/>
          <p:nvPr/>
        </p:nvSpPr>
        <p:spPr>
          <a:xfrm>
            <a:off x="786384" y="5175504"/>
            <a:ext cx="3090672" cy="237744"/>
          </a:xfrm>
          <a:prstGeom prst="rect">
            <a:avLst/>
          </a:prstGeom>
          <a:noFill/>
          <a:ln/>
        </p:spPr>
        <p:txBody>
          <a:bodyPr wrap="square" lIns="0" tIns="0" rIns="0" bIns="0" rtlCol="0" anchor="ctr"/>
          <a:lstStyle/>
          <a:p>
            <a:pPr indent="0" marL="0">
              <a:buNone/>
            </a:pPr>
            <a:r>
              <a:rPr lang="en-US" sz="1250" b="1" dirty="0">
                <a:solidFill>
                  <a:srgbClr val="028090"/>
                </a:solidFill>
                <a:latin typeface="Calibri" pitchFamily="34" charset="0"/>
                <a:ea typeface="Calibri" pitchFamily="34" charset="-122"/>
                <a:cs typeface="Calibri" pitchFamily="34" charset="-120"/>
              </a:rPr>
              <a:t>Same login error</a:t>
            </a:r>
            <a:endParaRPr lang="en-US" sz="1250" dirty="0"/>
          </a:p>
        </p:txBody>
      </p:sp>
      <p:sp>
        <p:nvSpPr>
          <p:cNvPr id="29" name="Text 27"/>
          <p:cNvSpPr/>
          <p:nvPr/>
        </p:nvSpPr>
        <p:spPr>
          <a:xfrm>
            <a:off x="786384" y="5431536"/>
            <a:ext cx="3090672" cy="457200"/>
          </a:xfrm>
          <a:prstGeom prst="rect">
            <a:avLst/>
          </a:prstGeom>
          <a:noFill/>
          <a:ln/>
        </p:spPr>
        <p:txBody>
          <a:bodyPr wrap="square" lIns="0" tIns="0" rIns="0" bIns="0" rtlCol="0" anchor="t"/>
          <a:lstStyle/>
          <a:p>
            <a:pPr indent="0" marL="0">
              <a:lnSpc>
                <a:spcPts val="1300"/>
              </a:lnSpc>
              <a:buNone/>
            </a:pPr>
            <a:r>
              <a:rPr lang="en-US" sz="1100" dirty="0">
                <a:solidFill>
                  <a:srgbClr val="445C64"/>
                </a:solidFill>
                <a:latin typeface="Calibri" pitchFamily="34" charset="0"/>
                <a:ea typeface="Calibri" pitchFamily="34" charset="-122"/>
                <a:cs typeface="Calibri" pitchFamily="34" charset="-120"/>
              </a:rPr>
              <a:t>Unknown email and wrong password give identical responses and timing.</a:t>
            </a:r>
            <a:endParaRPr lang="en-US" sz="1100" dirty="0"/>
          </a:p>
        </p:txBody>
      </p:sp>
      <p:sp>
        <p:nvSpPr>
          <p:cNvPr id="30" name="Shape 28"/>
          <p:cNvSpPr/>
          <p:nvPr/>
        </p:nvSpPr>
        <p:spPr>
          <a:xfrm>
            <a:off x="4315968" y="5047488"/>
            <a:ext cx="3529584" cy="914400"/>
          </a:xfrm>
          <a:prstGeom prst="roundRect">
            <a:avLst>
              <a:gd name="adj" fmla="val 10000"/>
            </a:avLst>
          </a:prstGeom>
          <a:solidFill>
            <a:srgbClr val="F7FBFB"/>
          </a:solidFill>
          <a:ln w="9525">
            <a:solidFill>
              <a:srgbClr val="D3E3E6"/>
            </a:solidFill>
            <a:prstDash val="solid"/>
          </a:ln>
          <a:effectLst>
            <a:outerShdw sx="100000" sy="100000" kx="0" ky="0" algn="bl" rotWithShape="0" blurRad="127000" dist="25400" dir="5400000">
              <a:srgbClr val="0A2E36">
                <a:alpha val="10000"/>
              </a:srgbClr>
            </a:outerShdw>
          </a:effectLst>
        </p:spPr>
      </p:sp>
      <p:sp>
        <p:nvSpPr>
          <p:cNvPr id="31" name="Text 29"/>
          <p:cNvSpPr/>
          <p:nvPr/>
        </p:nvSpPr>
        <p:spPr>
          <a:xfrm>
            <a:off x="4535424" y="5175504"/>
            <a:ext cx="3090672" cy="237744"/>
          </a:xfrm>
          <a:prstGeom prst="rect">
            <a:avLst/>
          </a:prstGeom>
          <a:noFill/>
          <a:ln/>
        </p:spPr>
        <p:txBody>
          <a:bodyPr wrap="square" lIns="0" tIns="0" rIns="0" bIns="0" rtlCol="0" anchor="ctr"/>
          <a:lstStyle/>
          <a:p>
            <a:pPr indent="0" marL="0">
              <a:buNone/>
            </a:pPr>
            <a:r>
              <a:rPr lang="en-US" sz="1250" b="1" dirty="0">
                <a:solidFill>
                  <a:srgbClr val="028090"/>
                </a:solidFill>
                <a:latin typeface="Calibri" pitchFamily="34" charset="0"/>
                <a:ea typeface="Calibri" pitchFamily="34" charset="-122"/>
                <a:cs typeface="Calibri" pitchFamily="34" charset="-120"/>
              </a:rPr>
              <a:t>SQL injection</a:t>
            </a:r>
            <a:endParaRPr lang="en-US" sz="1250" dirty="0"/>
          </a:p>
        </p:txBody>
      </p:sp>
      <p:sp>
        <p:nvSpPr>
          <p:cNvPr id="32" name="Text 30"/>
          <p:cNvSpPr/>
          <p:nvPr/>
        </p:nvSpPr>
        <p:spPr>
          <a:xfrm>
            <a:off x="4535424" y="5431536"/>
            <a:ext cx="3090672" cy="457200"/>
          </a:xfrm>
          <a:prstGeom prst="rect">
            <a:avLst/>
          </a:prstGeom>
          <a:noFill/>
          <a:ln/>
        </p:spPr>
        <p:txBody>
          <a:bodyPr wrap="square" lIns="0" tIns="0" rIns="0" bIns="0" rtlCol="0" anchor="t"/>
          <a:lstStyle/>
          <a:p>
            <a:pPr indent="0" marL="0">
              <a:lnSpc>
                <a:spcPts val="1300"/>
              </a:lnSpc>
              <a:buNone/>
            </a:pPr>
            <a:r>
              <a:rPr lang="en-US" sz="1100" dirty="0">
                <a:solidFill>
                  <a:srgbClr val="445C64"/>
                </a:solidFill>
                <a:latin typeface="Calibri" pitchFamily="34" charset="0"/>
                <a:ea typeface="Calibri" pitchFamily="34" charset="-122"/>
                <a:cs typeface="Calibri" pitchFamily="34" charset="-120"/>
              </a:rPr>
              <a:t>Every query parameterised. The one dynamic value, sort column, is allow-listed.</a:t>
            </a:r>
            <a:endParaRPr lang="en-US" sz="1100" dirty="0"/>
          </a:p>
        </p:txBody>
      </p:sp>
      <p:sp>
        <p:nvSpPr>
          <p:cNvPr id="33" name="Shape 31"/>
          <p:cNvSpPr/>
          <p:nvPr/>
        </p:nvSpPr>
        <p:spPr>
          <a:xfrm>
            <a:off x="8065008" y="5047488"/>
            <a:ext cx="3529584" cy="914400"/>
          </a:xfrm>
          <a:prstGeom prst="roundRect">
            <a:avLst>
              <a:gd name="adj" fmla="val 10000"/>
            </a:avLst>
          </a:prstGeom>
          <a:solidFill>
            <a:srgbClr val="F7FBFB"/>
          </a:solidFill>
          <a:ln w="9525">
            <a:solidFill>
              <a:srgbClr val="D3E3E6"/>
            </a:solidFill>
            <a:prstDash val="solid"/>
          </a:ln>
          <a:effectLst>
            <a:outerShdw sx="100000" sy="100000" kx="0" ky="0" algn="bl" rotWithShape="0" blurRad="127000" dist="25400" dir="5400000">
              <a:srgbClr val="0A2E36">
                <a:alpha val="10000"/>
              </a:srgbClr>
            </a:outerShdw>
          </a:effectLst>
        </p:spPr>
      </p:sp>
      <p:sp>
        <p:nvSpPr>
          <p:cNvPr id="34" name="Text 32"/>
          <p:cNvSpPr/>
          <p:nvPr/>
        </p:nvSpPr>
        <p:spPr>
          <a:xfrm>
            <a:off x="8284464" y="5175504"/>
            <a:ext cx="3090672" cy="237744"/>
          </a:xfrm>
          <a:prstGeom prst="rect">
            <a:avLst/>
          </a:prstGeom>
          <a:noFill/>
          <a:ln/>
        </p:spPr>
        <p:txBody>
          <a:bodyPr wrap="square" lIns="0" tIns="0" rIns="0" bIns="0" rtlCol="0" anchor="ctr"/>
          <a:lstStyle/>
          <a:p>
            <a:pPr indent="0" marL="0">
              <a:buNone/>
            </a:pPr>
            <a:r>
              <a:rPr lang="en-US" sz="1250" b="1" dirty="0">
                <a:solidFill>
                  <a:srgbClr val="028090"/>
                </a:solidFill>
                <a:latin typeface="Calibri" pitchFamily="34" charset="0"/>
                <a:ea typeface="Calibri" pitchFamily="34" charset="-122"/>
                <a:cs typeface="Calibri" pitchFamily="34" charset="-120"/>
              </a:rPr>
              <a:t>Secrets</a:t>
            </a:r>
            <a:endParaRPr lang="en-US" sz="1250" dirty="0"/>
          </a:p>
        </p:txBody>
      </p:sp>
      <p:sp>
        <p:nvSpPr>
          <p:cNvPr id="35" name="Text 33"/>
          <p:cNvSpPr/>
          <p:nvPr/>
        </p:nvSpPr>
        <p:spPr>
          <a:xfrm>
            <a:off x="8284464" y="5431536"/>
            <a:ext cx="3090672" cy="457200"/>
          </a:xfrm>
          <a:prstGeom prst="rect">
            <a:avLst/>
          </a:prstGeom>
          <a:noFill/>
          <a:ln/>
        </p:spPr>
        <p:txBody>
          <a:bodyPr wrap="square" lIns="0" tIns="0" rIns="0" bIns="0" rtlCol="0" anchor="t"/>
          <a:lstStyle/>
          <a:p>
            <a:pPr indent="0" marL="0">
              <a:lnSpc>
                <a:spcPts val="1300"/>
              </a:lnSpc>
              <a:buNone/>
            </a:pPr>
            <a:r>
              <a:rPr lang="en-US" sz="1100" dirty="0">
                <a:solidFill>
                  <a:srgbClr val="445C64"/>
                </a:solidFill>
                <a:latin typeface="Calibri" pitchFamily="34" charset="0"/>
                <a:ea typeface="Calibri" pitchFamily="34" charset="-122"/>
                <a:cs typeface="Calibri" pitchFamily="34" charset="-120"/>
              </a:rPr>
              <a:t>Environment variables only. Nothing secret has ever been committed.</a:t>
            </a:r>
            <a:endParaRPr lang="en-US" sz="1100" dirty="0"/>
          </a:p>
        </p:txBody>
      </p:sp>
      <p:sp>
        <p:nvSpPr>
          <p:cNvPr id="36" name="Text 34"/>
          <p:cNvSpPr/>
          <p:nvPr/>
        </p:nvSpPr>
        <p:spPr>
          <a:xfrm>
            <a:off x="566928" y="6345936"/>
            <a:ext cx="7315200" cy="219456"/>
          </a:xfrm>
          <a:prstGeom prst="rect">
            <a:avLst/>
          </a:prstGeom>
          <a:noFill/>
          <a:ln/>
        </p:spPr>
        <p:txBody>
          <a:bodyPr wrap="square" lIns="0" tIns="0" rIns="0" bIns="0" rtlCol="0" anchor="ctr"/>
          <a:lstStyle/>
          <a:p>
            <a:pPr indent="0" marL="0">
              <a:buNone/>
            </a:pPr>
            <a:r>
              <a:rPr lang="en-US" sz="900" dirty="0">
                <a:solidFill>
                  <a:srgbClr val="7C939B"/>
                </a:solidFill>
                <a:latin typeface="Calibri" pitchFamily="34" charset="0"/>
                <a:ea typeface="Calibri" pitchFamily="34" charset="-122"/>
                <a:cs typeface="Calibri" pitchFamily="34" charset="-120"/>
              </a:rPr>
              <a:t>ServiceDesk AI  ·  BCSE408L Cloud Computing  ·  Final Demonstration</a:t>
            </a:r>
            <a:endParaRPr lang="en-US" sz="900" dirty="0"/>
          </a:p>
        </p:txBody>
      </p:sp>
      <p:sp>
        <p:nvSpPr>
          <p:cNvPr id="37" name="Text 35"/>
          <p:cNvSpPr/>
          <p:nvPr/>
        </p:nvSpPr>
        <p:spPr>
          <a:xfrm>
            <a:off x="10680192" y="6345936"/>
            <a:ext cx="914400" cy="219456"/>
          </a:xfrm>
          <a:prstGeom prst="rect">
            <a:avLst/>
          </a:prstGeom>
          <a:noFill/>
          <a:ln/>
        </p:spPr>
        <p:txBody>
          <a:bodyPr wrap="square" lIns="0" tIns="0" rIns="0" bIns="0" rtlCol="0" anchor="ctr"/>
          <a:lstStyle/>
          <a:p>
            <a:pPr algn="r" indent="0" marL="0">
              <a:buNone/>
            </a:pPr>
            <a:r>
              <a:rPr lang="en-US" sz="900" dirty="0">
                <a:solidFill>
                  <a:srgbClr val="7C939B"/>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65760"/>
            <a:ext cx="11027664" cy="237744"/>
          </a:xfrm>
          <a:prstGeom prst="rect">
            <a:avLst/>
          </a:prstGeom>
          <a:noFill/>
          <a:ln/>
        </p:spPr>
        <p:txBody>
          <a:bodyPr wrap="square" lIns="0" tIns="0" rIns="0" bIns="0" rtlCol="0" anchor="ctr"/>
          <a:lstStyle/>
          <a:p>
            <a:pPr indent="0" marL="0">
              <a:buNone/>
            </a:pPr>
            <a:r>
              <a:rPr lang="en-US" sz="1100" b="1" spc="220" kern="0" dirty="0">
                <a:solidFill>
                  <a:srgbClr val="028090"/>
                </a:solidFill>
                <a:latin typeface="Calibri" pitchFamily="34" charset="0"/>
                <a:ea typeface="Calibri" pitchFamily="34" charset="-122"/>
                <a:cs typeface="Calibri" pitchFamily="34" charset="-120"/>
              </a:rPr>
              <a:t>DESIGN DECISION</a:t>
            </a:r>
            <a:endParaRPr lang="en-US" sz="1100" dirty="0"/>
          </a:p>
        </p:txBody>
      </p:sp>
      <p:sp>
        <p:nvSpPr>
          <p:cNvPr id="3" name="Text 1"/>
          <p:cNvSpPr/>
          <p:nvPr/>
        </p:nvSpPr>
        <p:spPr>
          <a:xfrm>
            <a:off x="566928" y="621792"/>
            <a:ext cx="11027664" cy="621792"/>
          </a:xfrm>
          <a:prstGeom prst="rect">
            <a:avLst/>
          </a:prstGeom>
          <a:noFill/>
          <a:ln/>
        </p:spPr>
        <p:txBody>
          <a:bodyPr wrap="square" lIns="0" tIns="0" rIns="0" bIns="0" rtlCol="0" anchor="t"/>
          <a:lstStyle/>
          <a:p>
            <a:pPr indent="0" marL="0">
              <a:buNone/>
            </a:pPr>
            <a:r>
              <a:rPr lang="en-US" sz="3000" b="1" dirty="0">
                <a:solidFill>
                  <a:srgbClr val="0A2E36"/>
                </a:solidFill>
                <a:latin typeface="Cambria" pitchFamily="34" charset="0"/>
                <a:ea typeface="Cambria" pitchFamily="34" charset="-122"/>
                <a:cs typeface="Cambria" pitchFamily="34" charset="-120"/>
              </a:rPr>
              <a:t>AI Assistance — and Why It Cannot Break Anything</a:t>
            </a:r>
            <a:endParaRPr lang="en-US" sz="3000" dirty="0"/>
          </a:p>
        </p:txBody>
      </p:sp>
      <p:sp>
        <p:nvSpPr>
          <p:cNvPr id="4" name="Shape 2"/>
          <p:cNvSpPr/>
          <p:nvPr/>
        </p:nvSpPr>
        <p:spPr>
          <a:xfrm>
            <a:off x="566928" y="1316736"/>
            <a:ext cx="11027664" cy="658368"/>
          </a:xfrm>
          <a:prstGeom prst="roundRect">
            <a:avLst>
              <a:gd name="adj" fmla="val 13889"/>
            </a:avLst>
          </a:prstGeom>
          <a:solidFill>
            <a:srgbClr val="FBF7EF"/>
          </a:solidFill>
          <a:ln w="9525">
            <a:solidFill>
              <a:srgbClr val="EBDFC8"/>
            </a:solidFill>
            <a:prstDash val="solid"/>
          </a:ln>
          <a:effectLst>
            <a:outerShdw sx="100000" sy="100000" kx="0" ky="0" algn="bl" rotWithShape="0" blurRad="127000" dist="25400" dir="5400000">
              <a:srgbClr val="0A2E36">
                <a:alpha val="10000"/>
              </a:srgbClr>
            </a:outerShdw>
          </a:effectLst>
        </p:spPr>
      </p:sp>
      <p:sp>
        <p:nvSpPr>
          <p:cNvPr id="5" name="Text 3"/>
          <p:cNvSpPr/>
          <p:nvPr/>
        </p:nvSpPr>
        <p:spPr>
          <a:xfrm>
            <a:off x="877824" y="1316736"/>
            <a:ext cx="10405872" cy="658368"/>
          </a:xfrm>
          <a:prstGeom prst="rect">
            <a:avLst/>
          </a:prstGeom>
          <a:noFill/>
          <a:ln/>
        </p:spPr>
        <p:txBody>
          <a:bodyPr wrap="square" lIns="0" tIns="0" rIns="0" bIns="0" rtlCol="0" anchor="ctr"/>
          <a:lstStyle/>
          <a:p>
            <a:pPr indent="0" marL="0">
              <a:lnSpc>
                <a:spcPts val="1500"/>
              </a:lnSpc>
              <a:buNone/>
            </a:pPr>
            <a:r>
              <a:rPr lang="en-US" sz="1200" dirty="0">
                <a:solidFill>
                  <a:srgbClr val="6B4E10"/>
                </a:solidFill>
                <a:latin typeface="Calibri" pitchFamily="34" charset="0"/>
                <a:ea typeface="Calibri" pitchFamily="34" charset="-122"/>
                <a:cs typeface="Calibri" pitchFamily="34" charset="-120"/>
              </a:rPr>
              <a:t>The Project 19 specification does not require AI — only the title contains it. Every capability here is our own addition, so we designed it so that no mandatory requirement depends on it.</a:t>
            </a:r>
            <a:endParaRPr lang="en-US" sz="1200" dirty="0"/>
          </a:p>
        </p:txBody>
      </p:sp>
      <p:sp>
        <p:nvSpPr>
          <p:cNvPr id="6" name="Shape 4"/>
          <p:cNvSpPr/>
          <p:nvPr/>
        </p:nvSpPr>
        <p:spPr>
          <a:xfrm>
            <a:off x="566928" y="2139696"/>
            <a:ext cx="2578608" cy="1645920"/>
          </a:xfrm>
          <a:prstGeom prst="roundRect">
            <a:avLst>
              <a:gd name="adj" fmla="val 5556"/>
            </a:avLst>
          </a:prstGeom>
          <a:solidFill>
            <a:srgbClr val="EEF6F7"/>
          </a:solidFill>
          <a:ln w="9525">
            <a:solidFill>
              <a:srgbClr val="D3E3E6"/>
            </a:solidFill>
            <a:prstDash val="solid"/>
          </a:ln>
          <a:effectLst>
            <a:outerShdw sx="100000" sy="100000" kx="0" ky="0" algn="bl" rotWithShape="0" blurRad="127000" dist="25400" dir="5400000">
              <a:srgbClr val="0A2E36">
                <a:alpha val="10000"/>
              </a:srgbClr>
            </a:outerShdw>
          </a:effectLst>
        </p:spPr>
      </p:sp>
      <p:sp>
        <p:nvSpPr>
          <p:cNvPr id="7" name="Text 5"/>
          <p:cNvSpPr/>
          <p:nvPr/>
        </p:nvSpPr>
        <p:spPr>
          <a:xfrm>
            <a:off x="786384" y="2286000"/>
            <a:ext cx="2139696" cy="256032"/>
          </a:xfrm>
          <a:prstGeom prst="rect">
            <a:avLst/>
          </a:prstGeom>
          <a:noFill/>
          <a:ln/>
        </p:spPr>
        <p:txBody>
          <a:bodyPr wrap="square" lIns="0" tIns="0" rIns="0" bIns="0" rtlCol="0" anchor="ctr"/>
          <a:lstStyle/>
          <a:p>
            <a:pPr indent="0" marL="0">
              <a:buNone/>
            </a:pPr>
            <a:r>
              <a:rPr lang="en-US" sz="1350" b="1" dirty="0">
                <a:solidFill>
                  <a:srgbClr val="0A2E36"/>
                </a:solidFill>
                <a:latin typeface="Cambria" pitchFamily="34" charset="0"/>
                <a:ea typeface="Cambria" pitchFamily="34" charset="-122"/>
                <a:cs typeface="Cambria" pitchFamily="34" charset="-120"/>
              </a:rPr>
              <a:t>Classification</a:t>
            </a:r>
            <a:endParaRPr lang="en-US" sz="1350" dirty="0"/>
          </a:p>
        </p:txBody>
      </p:sp>
      <p:sp>
        <p:nvSpPr>
          <p:cNvPr id="8" name="Text 6"/>
          <p:cNvSpPr/>
          <p:nvPr/>
        </p:nvSpPr>
        <p:spPr>
          <a:xfrm>
            <a:off x="786384" y="2560320"/>
            <a:ext cx="2139696" cy="603504"/>
          </a:xfrm>
          <a:prstGeom prst="rect">
            <a:avLst/>
          </a:prstGeom>
          <a:noFill/>
          <a:ln/>
        </p:spPr>
        <p:txBody>
          <a:bodyPr wrap="square" lIns="0" tIns="0" rIns="0" bIns="0" rtlCol="0" anchor="t"/>
          <a:lstStyle/>
          <a:p>
            <a:pPr indent="0" marL="0">
              <a:lnSpc>
                <a:spcPts val="1300"/>
              </a:lnSpc>
              <a:buNone/>
            </a:pPr>
            <a:r>
              <a:rPr lang="en-US" sz="1100" dirty="0">
                <a:solidFill>
                  <a:srgbClr val="445C64"/>
                </a:solidFill>
                <a:latin typeface="Calibri" pitchFamily="34" charset="0"/>
                <a:ea typeface="Calibri" pitchFamily="34" charset="-122"/>
                <a:cs typeface="Calibri" pitchFamily="34" charset="-120"/>
              </a:rPr>
              <a:t>Category, priority, sentiment and a one-line summary on submission</a:t>
            </a:r>
            <a:endParaRPr lang="en-US" sz="1100" dirty="0"/>
          </a:p>
        </p:txBody>
      </p:sp>
      <p:sp>
        <p:nvSpPr>
          <p:cNvPr id="9" name="Text 7"/>
          <p:cNvSpPr/>
          <p:nvPr/>
        </p:nvSpPr>
        <p:spPr>
          <a:xfrm>
            <a:off x="786384" y="3182112"/>
            <a:ext cx="2139696" cy="457200"/>
          </a:xfrm>
          <a:prstGeom prst="rect">
            <a:avLst/>
          </a:prstGeom>
          <a:noFill/>
          <a:ln/>
        </p:spPr>
        <p:txBody>
          <a:bodyPr wrap="square" lIns="0" tIns="0" rIns="0" bIns="0" rtlCol="0" anchor="t"/>
          <a:lstStyle/>
          <a:p>
            <a:pPr indent="0" marL="0">
              <a:lnSpc>
                <a:spcPts val="1300"/>
              </a:lnSpc>
              <a:buNone/>
            </a:pPr>
            <a:r>
              <a:rPr lang="en-US" sz="1050" b="1" dirty="0">
                <a:solidFill>
                  <a:srgbClr val="028090"/>
                </a:solidFill>
                <a:latin typeface="Calibri" pitchFamily="34" charset="0"/>
                <a:ea typeface="Calibri" pitchFamily="34" charset="-122"/>
                <a:cs typeface="Calibri" pitchFamily="34" charset="-120"/>
              </a:rPr>
              <a:t>Human control: Agent overrides any field</a:t>
            </a:r>
            <a:endParaRPr lang="en-US" sz="1050" dirty="0"/>
          </a:p>
        </p:txBody>
      </p:sp>
      <p:sp>
        <p:nvSpPr>
          <p:cNvPr id="10" name="Shape 8"/>
          <p:cNvSpPr/>
          <p:nvPr/>
        </p:nvSpPr>
        <p:spPr>
          <a:xfrm>
            <a:off x="3383280" y="2139696"/>
            <a:ext cx="2578608" cy="1645920"/>
          </a:xfrm>
          <a:prstGeom prst="roundRect">
            <a:avLst>
              <a:gd name="adj" fmla="val 5556"/>
            </a:avLst>
          </a:prstGeom>
          <a:solidFill>
            <a:srgbClr val="EEF6F7"/>
          </a:solidFill>
          <a:ln w="9525">
            <a:solidFill>
              <a:srgbClr val="D3E3E6"/>
            </a:solidFill>
            <a:prstDash val="solid"/>
          </a:ln>
          <a:effectLst>
            <a:outerShdw sx="100000" sy="100000" kx="0" ky="0" algn="bl" rotWithShape="0" blurRad="127000" dist="25400" dir="5400000">
              <a:srgbClr val="0A2E36">
                <a:alpha val="10000"/>
              </a:srgbClr>
            </a:outerShdw>
          </a:effectLst>
        </p:spPr>
      </p:sp>
      <p:sp>
        <p:nvSpPr>
          <p:cNvPr id="11" name="Text 9"/>
          <p:cNvSpPr/>
          <p:nvPr/>
        </p:nvSpPr>
        <p:spPr>
          <a:xfrm>
            <a:off x="3602736" y="2286000"/>
            <a:ext cx="2139696" cy="256032"/>
          </a:xfrm>
          <a:prstGeom prst="rect">
            <a:avLst/>
          </a:prstGeom>
          <a:noFill/>
          <a:ln/>
        </p:spPr>
        <p:txBody>
          <a:bodyPr wrap="square" lIns="0" tIns="0" rIns="0" bIns="0" rtlCol="0" anchor="ctr"/>
          <a:lstStyle/>
          <a:p>
            <a:pPr indent="0" marL="0">
              <a:buNone/>
            </a:pPr>
            <a:r>
              <a:rPr lang="en-US" sz="1350" b="1" dirty="0">
                <a:solidFill>
                  <a:srgbClr val="0A2E36"/>
                </a:solidFill>
                <a:latin typeface="Cambria" pitchFamily="34" charset="0"/>
                <a:ea typeface="Cambria" pitchFamily="34" charset="-122"/>
                <a:cs typeface="Cambria" pitchFamily="34" charset="-120"/>
              </a:rPr>
              <a:t>Draft reply</a:t>
            </a:r>
            <a:endParaRPr lang="en-US" sz="1350" dirty="0"/>
          </a:p>
        </p:txBody>
      </p:sp>
      <p:sp>
        <p:nvSpPr>
          <p:cNvPr id="12" name="Text 10"/>
          <p:cNvSpPr/>
          <p:nvPr/>
        </p:nvSpPr>
        <p:spPr>
          <a:xfrm>
            <a:off x="3602736" y="2560320"/>
            <a:ext cx="2139696" cy="603504"/>
          </a:xfrm>
          <a:prstGeom prst="rect">
            <a:avLst/>
          </a:prstGeom>
          <a:noFill/>
          <a:ln/>
        </p:spPr>
        <p:txBody>
          <a:bodyPr wrap="square" lIns="0" tIns="0" rIns="0" bIns="0" rtlCol="0" anchor="t"/>
          <a:lstStyle/>
          <a:p>
            <a:pPr indent="0" marL="0">
              <a:lnSpc>
                <a:spcPts val="1300"/>
              </a:lnSpc>
              <a:buNone/>
            </a:pPr>
            <a:r>
              <a:rPr lang="en-US" sz="1100" dirty="0">
                <a:solidFill>
                  <a:srgbClr val="445C64"/>
                </a:solidFill>
                <a:latin typeface="Calibri" pitchFamily="34" charset="0"/>
                <a:ea typeface="Calibri" pitchFamily="34" charset="-122"/>
                <a:cs typeface="Calibri" pitchFamily="34" charset="-120"/>
              </a:rPr>
              <a:t>Generated for the agent to work from</a:t>
            </a:r>
            <a:endParaRPr lang="en-US" sz="1100" dirty="0"/>
          </a:p>
        </p:txBody>
      </p:sp>
      <p:sp>
        <p:nvSpPr>
          <p:cNvPr id="13" name="Text 11"/>
          <p:cNvSpPr/>
          <p:nvPr/>
        </p:nvSpPr>
        <p:spPr>
          <a:xfrm>
            <a:off x="3602736" y="3182112"/>
            <a:ext cx="2139696" cy="457200"/>
          </a:xfrm>
          <a:prstGeom prst="rect">
            <a:avLst/>
          </a:prstGeom>
          <a:noFill/>
          <a:ln/>
        </p:spPr>
        <p:txBody>
          <a:bodyPr wrap="square" lIns="0" tIns="0" rIns="0" bIns="0" rtlCol="0" anchor="t"/>
          <a:lstStyle/>
          <a:p>
            <a:pPr indent="0" marL="0">
              <a:lnSpc>
                <a:spcPts val="1300"/>
              </a:lnSpc>
              <a:buNone/>
            </a:pPr>
            <a:r>
              <a:rPr lang="en-US" sz="1050" b="1" dirty="0">
                <a:solidFill>
                  <a:srgbClr val="028090"/>
                </a:solidFill>
                <a:latin typeface="Calibri" pitchFamily="34" charset="0"/>
                <a:ea typeface="Calibri" pitchFamily="34" charset="-122"/>
                <a:cs typeface="Calibri" pitchFamily="34" charset="-120"/>
              </a:rPr>
              <a:t>Human control: Agent must insert, edit and send</a:t>
            </a:r>
            <a:endParaRPr lang="en-US" sz="1050" dirty="0"/>
          </a:p>
        </p:txBody>
      </p:sp>
      <p:sp>
        <p:nvSpPr>
          <p:cNvPr id="14" name="Shape 12"/>
          <p:cNvSpPr/>
          <p:nvPr/>
        </p:nvSpPr>
        <p:spPr>
          <a:xfrm>
            <a:off x="6199632" y="2139696"/>
            <a:ext cx="2578608" cy="1645920"/>
          </a:xfrm>
          <a:prstGeom prst="roundRect">
            <a:avLst>
              <a:gd name="adj" fmla="val 5556"/>
            </a:avLst>
          </a:prstGeom>
          <a:solidFill>
            <a:srgbClr val="EEF6F7"/>
          </a:solidFill>
          <a:ln w="9525">
            <a:solidFill>
              <a:srgbClr val="D3E3E6"/>
            </a:solidFill>
            <a:prstDash val="solid"/>
          </a:ln>
          <a:effectLst>
            <a:outerShdw sx="100000" sy="100000" kx="0" ky="0" algn="bl" rotWithShape="0" blurRad="127000" dist="25400" dir="5400000">
              <a:srgbClr val="0A2E36">
                <a:alpha val="10000"/>
              </a:srgbClr>
            </a:outerShdw>
          </a:effectLst>
        </p:spPr>
      </p:sp>
      <p:sp>
        <p:nvSpPr>
          <p:cNvPr id="15" name="Text 13"/>
          <p:cNvSpPr/>
          <p:nvPr/>
        </p:nvSpPr>
        <p:spPr>
          <a:xfrm>
            <a:off x="6419088" y="2286000"/>
            <a:ext cx="2139696" cy="256032"/>
          </a:xfrm>
          <a:prstGeom prst="rect">
            <a:avLst/>
          </a:prstGeom>
          <a:noFill/>
          <a:ln/>
        </p:spPr>
        <p:txBody>
          <a:bodyPr wrap="square" lIns="0" tIns="0" rIns="0" bIns="0" rtlCol="0" anchor="ctr"/>
          <a:lstStyle/>
          <a:p>
            <a:pPr indent="0" marL="0">
              <a:buNone/>
            </a:pPr>
            <a:r>
              <a:rPr lang="en-US" sz="1350" b="1" dirty="0">
                <a:solidFill>
                  <a:srgbClr val="0A2E36"/>
                </a:solidFill>
                <a:latin typeface="Cambria" pitchFamily="34" charset="0"/>
                <a:ea typeface="Cambria" pitchFamily="34" charset="-122"/>
                <a:cs typeface="Cambria" pitchFamily="34" charset="-120"/>
              </a:rPr>
              <a:t>Summarisation</a:t>
            </a:r>
            <a:endParaRPr lang="en-US" sz="1350" dirty="0"/>
          </a:p>
        </p:txBody>
      </p:sp>
      <p:sp>
        <p:nvSpPr>
          <p:cNvPr id="16" name="Text 14"/>
          <p:cNvSpPr/>
          <p:nvPr/>
        </p:nvSpPr>
        <p:spPr>
          <a:xfrm>
            <a:off x="6419088" y="2560320"/>
            <a:ext cx="2139696" cy="603504"/>
          </a:xfrm>
          <a:prstGeom prst="rect">
            <a:avLst/>
          </a:prstGeom>
          <a:noFill/>
          <a:ln/>
        </p:spPr>
        <p:txBody>
          <a:bodyPr wrap="square" lIns="0" tIns="0" rIns="0" bIns="0" rtlCol="0" anchor="t"/>
          <a:lstStyle/>
          <a:p>
            <a:pPr indent="0" marL="0">
              <a:lnSpc>
                <a:spcPts val="1300"/>
              </a:lnSpc>
              <a:buNone/>
            </a:pPr>
            <a:r>
              <a:rPr lang="en-US" sz="1100" dirty="0">
                <a:solidFill>
                  <a:srgbClr val="445C64"/>
                </a:solidFill>
                <a:latin typeface="Calibri" pitchFamily="34" charset="0"/>
                <a:ea typeface="Calibri" pitchFamily="34" charset="-122"/>
                <a:cs typeface="Calibri" pitchFamily="34" charset="-120"/>
              </a:rPr>
              <a:t>Condenses a long thread for an agent picking it up cold</a:t>
            </a:r>
            <a:endParaRPr lang="en-US" sz="1100" dirty="0"/>
          </a:p>
        </p:txBody>
      </p:sp>
      <p:sp>
        <p:nvSpPr>
          <p:cNvPr id="17" name="Text 15"/>
          <p:cNvSpPr/>
          <p:nvPr/>
        </p:nvSpPr>
        <p:spPr>
          <a:xfrm>
            <a:off x="6419088" y="3182112"/>
            <a:ext cx="2139696" cy="457200"/>
          </a:xfrm>
          <a:prstGeom prst="rect">
            <a:avLst/>
          </a:prstGeom>
          <a:noFill/>
          <a:ln/>
        </p:spPr>
        <p:txBody>
          <a:bodyPr wrap="square" lIns="0" tIns="0" rIns="0" bIns="0" rtlCol="0" anchor="t"/>
          <a:lstStyle/>
          <a:p>
            <a:pPr indent="0" marL="0">
              <a:lnSpc>
                <a:spcPts val="1300"/>
              </a:lnSpc>
              <a:buNone/>
            </a:pPr>
            <a:r>
              <a:rPr lang="en-US" sz="1050" b="1" dirty="0">
                <a:solidFill>
                  <a:srgbClr val="028090"/>
                </a:solidFill>
                <a:latin typeface="Calibri" pitchFamily="34" charset="0"/>
                <a:ea typeface="Calibri" pitchFamily="34" charset="-122"/>
                <a:cs typeface="Calibri" pitchFamily="34" charset="-120"/>
              </a:rPr>
              <a:t>Human control: Advisory only</a:t>
            </a:r>
            <a:endParaRPr lang="en-US" sz="1050" dirty="0"/>
          </a:p>
        </p:txBody>
      </p:sp>
      <p:sp>
        <p:nvSpPr>
          <p:cNvPr id="18" name="Shape 16"/>
          <p:cNvSpPr/>
          <p:nvPr/>
        </p:nvSpPr>
        <p:spPr>
          <a:xfrm>
            <a:off x="9015984" y="2139696"/>
            <a:ext cx="2578608" cy="1645920"/>
          </a:xfrm>
          <a:prstGeom prst="roundRect">
            <a:avLst>
              <a:gd name="adj" fmla="val 5556"/>
            </a:avLst>
          </a:prstGeom>
          <a:solidFill>
            <a:srgbClr val="EEF6F7"/>
          </a:solidFill>
          <a:ln w="9525">
            <a:solidFill>
              <a:srgbClr val="D3E3E6"/>
            </a:solidFill>
            <a:prstDash val="solid"/>
          </a:ln>
          <a:effectLst>
            <a:outerShdw sx="100000" sy="100000" kx="0" ky="0" algn="bl" rotWithShape="0" blurRad="127000" dist="25400" dir="5400000">
              <a:srgbClr val="0A2E36">
                <a:alpha val="10000"/>
              </a:srgbClr>
            </a:outerShdw>
          </a:effectLst>
        </p:spPr>
      </p:sp>
      <p:sp>
        <p:nvSpPr>
          <p:cNvPr id="19" name="Text 17"/>
          <p:cNvSpPr/>
          <p:nvPr/>
        </p:nvSpPr>
        <p:spPr>
          <a:xfrm>
            <a:off x="9235440" y="2286000"/>
            <a:ext cx="2139696" cy="256032"/>
          </a:xfrm>
          <a:prstGeom prst="rect">
            <a:avLst/>
          </a:prstGeom>
          <a:noFill/>
          <a:ln/>
        </p:spPr>
        <p:txBody>
          <a:bodyPr wrap="square" lIns="0" tIns="0" rIns="0" bIns="0" rtlCol="0" anchor="ctr"/>
          <a:lstStyle/>
          <a:p>
            <a:pPr indent="0" marL="0">
              <a:buNone/>
            </a:pPr>
            <a:r>
              <a:rPr lang="en-US" sz="1350" b="1" dirty="0">
                <a:solidFill>
                  <a:srgbClr val="0A2E36"/>
                </a:solidFill>
                <a:latin typeface="Cambria" pitchFamily="34" charset="0"/>
                <a:ea typeface="Cambria" pitchFamily="34" charset="-122"/>
                <a:cs typeface="Cambria" pitchFamily="34" charset="-120"/>
              </a:rPr>
              <a:t>Resolution steps</a:t>
            </a:r>
            <a:endParaRPr lang="en-US" sz="1350" dirty="0"/>
          </a:p>
        </p:txBody>
      </p:sp>
      <p:sp>
        <p:nvSpPr>
          <p:cNvPr id="20" name="Text 18"/>
          <p:cNvSpPr/>
          <p:nvPr/>
        </p:nvSpPr>
        <p:spPr>
          <a:xfrm>
            <a:off x="9235440" y="2560320"/>
            <a:ext cx="2139696" cy="603504"/>
          </a:xfrm>
          <a:prstGeom prst="rect">
            <a:avLst/>
          </a:prstGeom>
          <a:noFill/>
          <a:ln/>
        </p:spPr>
        <p:txBody>
          <a:bodyPr wrap="square" lIns="0" tIns="0" rIns="0" bIns="0" rtlCol="0" anchor="t"/>
          <a:lstStyle/>
          <a:p>
            <a:pPr indent="0" marL="0">
              <a:lnSpc>
                <a:spcPts val="1300"/>
              </a:lnSpc>
              <a:buNone/>
            </a:pPr>
            <a:r>
              <a:rPr lang="en-US" sz="1100" dirty="0">
                <a:solidFill>
                  <a:srgbClr val="445C64"/>
                </a:solidFill>
                <a:latin typeface="Calibri" pitchFamily="34" charset="0"/>
                <a:ea typeface="Calibri" pitchFamily="34" charset="-122"/>
                <a:cs typeface="Calibri" pitchFamily="34" charset="-120"/>
              </a:rPr>
              <a:t>Suggests troubleshooting steps by category</a:t>
            </a:r>
            <a:endParaRPr lang="en-US" sz="1100" dirty="0"/>
          </a:p>
        </p:txBody>
      </p:sp>
      <p:sp>
        <p:nvSpPr>
          <p:cNvPr id="21" name="Text 19"/>
          <p:cNvSpPr/>
          <p:nvPr/>
        </p:nvSpPr>
        <p:spPr>
          <a:xfrm>
            <a:off x="9235440" y="3182112"/>
            <a:ext cx="2139696" cy="457200"/>
          </a:xfrm>
          <a:prstGeom prst="rect">
            <a:avLst/>
          </a:prstGeom>
          <a:noFill/>
          <a:ln/>
        </p:spPr>
        <p:txBody>
          <a:bodyPr wrap="square" lIns="0" tIns="0" rIns="0" bIns="0" rtlCol="0" anchor="t"/>
          <a:lstStyle/>
          <a:p>
            <a:pPr indent="0" marL="0">
              <a:lnSpc>
                <a:spcPts val="1300"/>
              </a:lnSpc>
              <a:buNone/>
            </a:pPr>
            <a:r>
              <a:rPr lang="en-US" sz="1050" b="1" dirty="0">
                <a:solidFill>
                  <a:srgbClr val="028090"/>
                </a:solidFill>
                <a:latin typeface="Calibri" pitchFamily="34" charset="0"/>
                <a:ea typeface="Calibri" pitchFamily="34" charset="-122"/>
                <a:cs typeface="Calibri" pitchFamily="34" charset="-120"/>
              </a:rPr>
              <a:t>Human control: Advisory only</a:t>
            </a:r>
            <a:endParaRPr lang="en-US" sz="1050" dirty="0"/>
          </a:p>
        </p:txBody>
      </p:sp>
      <p:sp>
        <p:nvSpPr>
          <p:cNvPr id="22" name="Text 20"/>
          <p:cNvSpPr/>
          <p:nvPr/>
        </p:nvSpPr>
        <p:spPr>
          <a:xfrm>
            <a:off x="566928" y="3950208"/>
            <a:ext cx="11027664" cy="292608"/>
          </a:xfrm>
          <a:prstGeom prst="rect">
            <a:avLst/>
          </a:prstGeom>
          <a:noFill/>
          <a:ln/>
        </p:spPr>
        <p:txBody>
          <a:bodyPr wrap="square" lIns="0" tIns="0" rIns="0" bIns="0" rtlCol="0" anchor="ctr"/>
          <a:lstStyle/>
          <a:p>
            <a:pPr indent="0" marL="0">
              <a:buNone/>
            </a:pPr>
            <a:r>
              <a:rPr lang="en-US" sz="1500" b="1" dirty="0">
                <a:solidFill>
                  <a:srgbClr val="0A2E36"/>
                </a:solidFill>
                <a:latin typeface="Cambria" pitchFamily="34" charset="0"/>
                <a:ea typeface="Cambria" pitchFamily="34" charset="-122"/>
                <a:cs typeface="Cambria" pitchFamily="34" charset="-120"/>
              </a:rPr>
              <a:t>Three properties that make it safe</a:t>
            </a:r>
            <a:endParaRPr lang="en-US" sz="1500" dirty="0"/>
          </a:p>
        </p:txBody>
      </p:sp>
      <p:sp>
        <p:nvSpPr>
          <p:cNvPr id="23" name="Shape 21"/>
          <p:cNvSpPr/>
          <p:nvPr/>
        </p:nvSpPr>
        <p:spPr>
          <a:xfrm>
            <a:off x="566928" y="4315968"/>
            <a:ext cx="3517392" cy="1572768"/>
          </a:xfrm>
          <a:prstGeom prst="roundRect">
            <a:avLst>
              <a:gd name="adj" fmla="val 5814"/>
            </a:avLst>
          </a:prstGeom>
          <a:solidFill>
            <a:srgbClr val="EEF6F7"/>
          </a:solidFill>
          <a:ln w="9525">
            <a:solidFill>
              <a:srgbClr val="D3E3E6"/>
            </a:solidFill>
            <a:prstDash val="solid"/>
          </a:ln>
          <a:effectLst>
            <a:outerShdw sx="100000" sy="100000" kx="0" ky="0" algn="bl" rotWithShape="0" blurRad="127000" dist="25400" dir="5400000">
              <a:srgbClr val="0A2E36">
                <a:alpha val="10000"/>
              </a:srgbClr>
            </a:outerShdw>
          </a:effectLst>
        </p:spPr>
      </p:sp>
      <p:sp>
        <p:nvSpPr>
          <p:cNvPr id="24" name="Text 22"/>
          <p:cNvSpPr/>
          <p:nvPr/>
        </p:nvSpPr>
        <p:spPr>
          <a:xfrm>
            <a:off x="804672" y="4462272"/>
            <a:ext cx="3041904" cy="256032"/>
          </a:xfrm>
          <a:prstGeom prst="rect">
            <a:avLst/>
          </a:prstGeom>
          <a:noFill/>
          <a:ln/>
        </p:spPr>
        <p:txBody>
          <a:bodyPr wrap="square" lIns="0" tIns="0" rIns="0" bIns="0" rtlCol="0" anchor="ctr"/>
          <a:lstStyle/>
          <a:p>
            <a:pPr indent="0" marL="0">
              <a:buNone/>
            </a:pPr>
            <a:r>
              <a:rPr lang="en-US" sz="1300" b="1" dirty="0">
                <a:solidFill>
                  <a:srgbClr val="0A2E36"/>
                </a:solidFill>
                <a:latin typeface="Cambria" pitchFamily="34" charset="0"/>
                <a:ea typeface="Cambria" pitchFamily="34" charset="-122"/>
                <a:cs typeface="Cambria" pitchFamily="34" charset="-120"/>
              </a:rPr>
              <a:t>Off the critical path</a:t>
            </a:r>
            <a:endParaRPr lang="en-US" sz="1300" dirty="0"/>
          </a:p>
        </p:txBody>
      </p:sp>
      <p:sp>
        <p:nvSpPr>
          <p:cNvPr id="25" name="Text 23"/>
          <p:cNvSpPr/>
          <p:nvPr/>
        </p:nvSpPr>
        <p:spPr>
          <a:xfrm>
            <a:off x="804672" y="4736592"/>
            <a:ext cx="3041904" cy="786384"/>
          </a:xfrm>
          <a:prstGeom prst="rect">
            <a:avLst/>
          </a:prstGeom>
          <a:noFill/>
          <a:ln/>
        </p:spPr>
        <p:txBody>
          <a:bodyPr wrap="square" lIns="0" tIns="0" rIns="0" bIns="0" rtlCol="0" anchor="t"/>
          <a:lstStyle/>
          <a:p>
            <a:pPr indent="0" marL="0">
              <a:lnSpc>
                <a:spcPts val="1300"/>
              </a:lnSpc>
              <a:buNone/>
            </a:pPr>
            <a:r>
              <a:rPr lang="en-US" sz="1100" dirty="0">
                <a:solidFill>
                  <a:srgbClr val="445C64"/>
                </a:solidFill>
                <a:latin typeface="Calibri" pitchFamily="34" charset="0"/>
                <a:ea typeface="Calibri" pitchFamily="34" charset="-122"/>
                <a:cs typeface="Calibri" pitchFamily="34" charset="-120"/>
              </a:rPr>
              <a:t>Classification runs after the ticket row is committed and is never awaited. Ticket creation cannot fail because the AI is down.</a:t>
            </a:r>
            <a:endParaRPr lang="en-US" sz="1100" dirty="0"/>
          </a:p>
        </p:txBody>
      </p:sp>
      <p:sp>
        <p:nvSpPr>
          <p:cNvPr id="26" name="Shape 24"/>
          <p:cNvSpPr/>
          <p:nvPr/>
        </p:nvSpPr>
        <p:spPr>
          <a:xfrm>
            <a:off x="804672" y="5504688"/>
            <a:ext cx="1371600" cy="237744"/>
          </a:xfrm>
          <a:prstGeom prst="roundRect">
            <a:avLst>
              <a:gd name="adj" fmla="val 19231"/>
            </a:avLst>
          </a:prstGeom>
          <a:solidFill>
            <a:srgbClr val="028090"/>
          </a:solidFill>
          <a:ln/>
        </p:spPr>
      </p:sp>
      <p:sp>
        <p:nvSpPr>
          <p:cNvPr id="27" name="Text 25"/>
          <p:cNvSpPr/>
          <p:nvPr/>
        </p:nvSpPr>
        <p:spPr>
          <a:xfrm>
            <a:off x="804672" y="5504688"/>
            <a:ext cx="1371600" cy="237744"/>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Test AI-11</a:t>
            </a:r>
            <a:endParaRPr lang="en-US" sz="950" dirty="0"/>
          </a:p>
        </p:txBody>
      </p:sp>
      <p:sp>
        <p:nvSpPr>
          <p:cNvPr id="28" name="Shape 26"/>
          <p:cNvSpPr/>
          <p:nvPr/>
        </p:nvSpPr>
        <p:spPr>
          <a:xfrm>
            <a:off x="4322064" y="4315968"/>
            <a:ext cx="3517392" cy="1572768"/>
          </a:xfrm>
          <a:prstGeom prst="roundRect">
            <a:avLst>
              <a:gd name="adj" fmla="val 5814"/>
            </a:avLst>
          </a:prstGeom>
          <a:solidFill>
            <a:srgbClr val="EEF6F7"/>
          </a:solidFill>
          <a:ln w="9525">
            <a:solidFill>
              <a:srgbClr val="D3E3E6"/>
            </a:solidFill>
            <a:prstDash val="solid"/>
          </a:ln>
          <a:effectLst>
            <a:outerShdw sx="100000" sy="100000" kx="0" ky="0" algn="bl" rotWithShape="0" blurRad="127000" dist="25400" dir="5400000">
              <a:srgbClr val="0A2E36">
                <a:alpha val="10000"/>
              </a:srgbClr>
            </a:outerShdw>
          </a:effectLst>
        </p:spPr>
      </p:sp>
      <p:sp>
        <p:nvSpPr>
          <p:cNvPr id="29" name="Text 27"/>
          <p:cNvSpPr/>
          <p:nvPr/>
        </p:nvSpPr>
        <p:spPr>
          <a:xfrm>
            <a:off x="4559808" y="4462272"/>
            <a:ext cx="3041904" cy="256032"/>
          </a:xfrm>
          <a:prstGeom prst="rect">
            <a:avLst/>
          </a:prstGeom>
          <a:noFill/>
          <a:ln/>
        </p:spPr>
        <p:txBody>
          <a:bodyPr wrap="square" lIns="0" tIns="0" rIns="0" bIns="0" rtlCol="0" anchor="ctr"/>
          <a:lstStyle/>
          <a:p>
            <a:pPr indent="0" marL="0">
              <a:buNone/>
            </a:pPr>
            <a:r>
              <a:rPr lang="en-US" sz="1300" b="1" dirty="0">
                <a:solidFill>
                  <a:srgbClr val="0A2E36"/>
                </a:solidFill>
                <a:latin typeface="Cambria" pitchFamily="34" charset="0"/>
                <a:ea typeface="Cambria" pitchFamily="34" charset="-122"/>
                <a:cs typeface="Cambria" pitchFamily="34" charset="-120"/>
              </a:rPr>
              <a:t>A real fallback, not a stub</a:t>
            </a:r>
            <a:endParaRPr lang="en-US" sz="1300" dirty="0"/>
          </a:p>
        </p:txBody>
      </p:sp>
      <p:sp>
        <p:nvSpPr>
          <p:cNvPr id="30" name="Text 28"/>
          <p:cNvSpPr/>
          <p:nvPr/>
        </p:nvSpPr>
        <p:spPr>
          <a:xfrm>
            <a:off x="4559808" y="4736592"/>
            <a:ext cx="3041904" cy="786384"/>
          </a:xfrm>
          <a:prstGeom prst="rect">
            <a:avLst/>
          </a:prstGeom>
          <a:noFill/>
          <a:ln/>
        </p:spPr>
        <p:txBody>
          <a:bodyPr wrap="square" lIns="0" tIns="0" rIns="0" bIns="0" rtlCol="0" anchor="t"/>
          <a:lstStyle/>
          <a:p>
            <a:pPr indent="0" marL="0">
              <a:lnSpc>
                <a:spcPts val="1300"/>
              </a:lnSpc>
              <a:buNone/>
            </a:pPr>
            <a:r>
              <a:rPr lang="en-US" sz="1100" dirty="0">
                <a:solidFill>
                  <a:srgbClr val="445C64"/>
                </a:solidFill>
                <a:latin typeface="Calibri" pitchFamily="34" charset="0"/>
                <a:ea typeface="Calibri" pitchFamily="34" charset="-122"/>
                <a:cs typeface="Calibri" pitchFamily="34" charset="-120"/>
              </a:rPr>
              <a:t>A deterministic keyword classifier with category playbooks. The whole system is demonstrable with no API key at all.</a:t>
            </a:r>
            <a:endParaRPr lang="en-US" sz="1100" dirty="0"/>
          </a:p>
        </p:txBody>
      </p:sp>
      <p:sp>
        <p:nvSpPr>
          <p:cNvPr id="31" name="Shape 29"/>
          <p:cNvSpPr/>
          <p:nvPr/>
        </p:nvSpPr>
        <p:spPr>
          <a:xfrm>
            <a:off x="4559808" y="5504688"/>
            <a:ext cx="1371600" cy="237744"/>
          </a:xfrm>
          <a:prstGeom prst="roundRect">
            <a:avLst>
              <a:gd name="adj" fmla="val 19231"/>
            </a:avLst>
          </a:prstGeom>
          <a:solidFill>
            <a:srgbClr val="028090"/>
          </a:solidFill>
          <a:ln/>
        </p:spPr>
      </p:sp>
      <p:sp>
        <p:nvSpPr>
          <p:cNvPr id="32" name="Text 30"/>
          <p:cNvSpPr/>
          <p:nvPr/>
        </p:nvSpPr>
        <p:spPr>
          <a:xfrm>
            <a:off x="4559808" y="5504688"/>
            <a:ext cx="1371600" cy="237744"/>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Tests AI-01 to AI-07</a:t>
            </a:r>
            <a:endParaRPr lang="en-US" sz="950" dirty="0"/>
          </a:p>
        </p:txBody>
      </p:sp>
      <p:sp>
        <p:nvSpPr>
          <p:cNvPr id="33" name="Shape 31"/>
          <p:cNvSpPr/>
          <p:nvPr/>
        </p:nvSpPr>
        <p:spPr>
          <a:xfrm>
            <a:off x="8077200" y="4315968"/>
            <a:ext cx="3517392" cy="1572768"/>
          </a:xfrm>
          <a:prstGeom prst="roundRect">
            <a:avLst>
              <a:gd name="adj" fmla="val 5814"/>
            </a:avLst>
          </a:prstGeom>
          <a:solidFill>
            <a:srgbClr val="EEF6F7"/>
          </a:solidFill>
          <a:ln w="9525">
            <a:solidFill>
              <a:srgbClr val="D3E3E6"/>
            </a:solidFill>
            <a:prstDash val="solid"/>
          </a:ln>
          <a:effectLst>
            <a:outerShdw sx="100000" sy="100000" kx="0" ky="0" algn="bl" rotWithShape="0" blurRad="127000" dist="25400" dir="5400000">
              <a:srgbClr val="0A2E36">
                <a:alpha val="10000"/>
              </a:srgbClr>
            </a:outerShdw>
          </a:effectLst>
        </p:spPr>
      </p:sp>
      <p:sp>
        <p:nvSpPr>
          <p:cNvPr id="34" name="Text 32"/>
          <p:cNvSpPr/>
          <p:nvPr/>
        </p:nvSpPr>
        <p:spPr>
          <a:xfrm>
            <a:off x="8314944" y="4462272"/>
            <a:ext cx="3041904" cy="256032"/>
          </a:xfrm>
          <a:prstGeom prst="rect">
            <a:avLst/>
          </a:prstGeom>
          <a:noFill/>
          <a:ln/>
        </p:spPr>
        <p:txBody>
          <a:bodyPr wrap="square" lIns="0" tIns="0" rIns="0" bIns="0" rtlCol="0" anchor="ctr"/>
          <a:lstStyle/>
          <a:p>
            <a:pPr indent="0" marL="0">
              <a:buNone/>
            </a:pPr>
            <a:r>
              <a:rPr lang="en-US" sz="1300" b="1" dirty="0">
                <a:solidFill>
                  <a:srgbClr val="0A2E36"/>
                </a:solidFill>
                <a:latin typeface="Cambria" pitchFamily="34" charset="0"/>
                <a:ea typeface="Cambria" pitchFamily="34" charset="-122"/>
                <a:cs typeface="Cambria" pitchFamily="34" charset="-120"/>
              </a:rPr>
              <a:t>No path to the customer</a:t>
            </a:r>
            <a:endParaRPr lang="en-US" sz="1300" dirty="0"/>
          </a:p>
        </p:txBody>
      </p:sp>
      <p:sp>
        <p:nvSpPr>
          <p:cNvPr id="35" name="Text 33"/>
          <p:cNvSpPr/>
          <p:nvPr/>
        </p:nvSpPr>
        <p:spPr>
          <a:xfrm>
            <a:off x="8314944" y="4736592"/>
            <a:ext cx="3041904" cy="786384"/>
          </a:xfrm>
          <a:prstGeom prst="rect">
            <a:avLst/>
          </a:prstGeom>
          <a:noFill/>
          <a:ln/>
        </p:spPr>
        <p:txBody>
          <a:bodyPr wrap="square" lIns="0" tIns="0" rIns="0" bIns="0" rtlCol="0" anchor="t"/>
          <a:lstStyle/>
          <a:p>
            <a:pPr indent="0" marL="0">
              <a:lnSpc>
                <a:spcPts val="1300"/>
              </a:lnSpc>
              <a:buNone/>
            </a:pPr>
            <a:r>
              <a:rPr lang="en-US" sz="1100" dirty="0">
                <a:solidFill>
                  <a:srgbClr val="445C64"/>
                </a:solidFill>
                <a:latin typeface="Calibri" pitchFamily="34" charset="0"/>
                <a:ea typeface="Calibri" pitchFamily="34" charset="-122"/>
                <a:cs typeface="Calibri" pitchFamily="34" charset="-120"/>
              </a:rPr>
              <a:t>Generating a draft creates zero customer-visible messages. Only an agent pressing send does that.</a:t>
            </a:r>
            <a:endParaRPr lang="en-US" sz="1100" dirty="0"/>
          </a:p>
        </p:txBody>
      </p:sp>
      <p:sp>
        <p:nvSpPr>
          <p:cNvPr id="36" name="Shape 34"/>
          <p:cNvSpPr/>
          <p:nvPr/>
        </p:nvSpPr>
        <p:spPr>
          <a:xfrm>
            <a:off x="8314944" y="5504688"/>
            <a:ext cx="1371600" cy="237744"/>
          </a:xfrm>
          <a:prstGeom prst="roundRect">
            <a:avLst>
              <a:gd name="adj" fmla="val 19231"/>
            </a:avLst>
          </a:prstGeom>
          <a:solidFill>
            <a:srgbClr val="028090"/>
          </a:solidFill>
          <a:ln/>
        </p:spPr>
      </p:sp>
      <p:sp>
        <p:nvSpPr>
          <p:cNvPr id="37" name="Text 35"/>
          <p:cNvSpPr/>
          <p:nvPr/>
        </p:nvSpPr>
        <p:spPr>
          <a:xfrm>
            <a:off x="8314944" y="5504688"/>
            <a:ext cx="1371600" cy="237744"/>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Test AI-12</a:t>
            </a:r>
            <a:endParaRPr lang="en-US" sz="950" dirty="0"/>
          </a:p>
        </p:txBody>
      </p:sp>
      <p:sp>
        <p:nvSpPr>
          <p:cNvPr id="38" name="Text 36"/>
          <p:cNvSpPr/>
          <p:nvPr/>
        </p:nvSpPr>
        <p:spPr>
          <a:xfrm>
            <a:off x="566928" y="5980176"/>
            <a:ext cx="11027664" cy="274320"/>
          </a:xfrm>
          <a:prstGeom prst="rect">
            <a:avLst/>
          </a:prstGeom>
          <a:noFill/>
          <a:ln/>
        </p:spPr>
        <p:txBody>
          <a:bodyPr wrap="square" lIns="0" tIns="0" rIns="0" bIns="0" rtlCol="0" anchor="ctr"/>
          <a:lstStyle/>
          <a:p>
            <a:pPr indent="0" marL="0">
              <a:buNone/>
            </a:pPr>
            <a:r>
              <a:rPr lang="en-US" sz="1150" i="1" dirty="0">
                <a:solidFill>
                  <a:srgbClr val="028090"/>
                </a:solidFill>
                <a:latin typeface="Calibri" pitchFamily="34" charset="0"/>
                <a:ea typeface="Calibri" pitchFamily="34" charset="-122"/>
                <a:cs typeface="Calibri" pitchFamily="34" charset="-120"/>
              </a:rPr>
              <a:t>Why review is mandatory: a model can be confidently wrong about this customer's order, and a human should own what the business says.</a:t>
            </a:r>
            <a:endParaRPr lang="en-US" sz="1150" dirty="0"/>
          </a:p>
        </p:txBody>
      </p:sp>
      <p:sp>
        <p:nvSpPr>
          <p:cNvPr id="39" name="Text 37"/>
          <p:cNvSpPr/>
          <p:nvPr/>
        </p:nvSpPr>
        <p:spPr>
          <a:xfrm>
            <a:off x="566928" y="6345936"/>
            <a:ext cx="7315200" cy="219456"/>
          </a:xfrm>
          <a:prstGeom prst="rect">
            <a:avLst/>
          </a:prstGeom>
          <a:noFill/>
          <a:ln/>
        </p:spPr>
        <p:txBody>
          <a:bodyPr wrap="square" lIns="0" tIns="0" rIns="0" bIns="0" rtlCol="0" anchor="ctr"/>
          <a:lstStyle/>
          <a:p>
            <a:pPr indent="0" marL="0">
              <a:buNone/>
            </a:pPr>
            <a:r>
              <a:rPr lang="en-US" sz="900" dirty="0">
                <a:solidFill>
                  <a:srgbClr val="7C939B"/>
                </a:solidFill>
                <a:latin typeface="Calibri" pitchFamily="34" charset="0"/>
                <a:ea typeface="Calibri" pitchFamily="34" charset="-122"/>
                <a:cs typeface="Calibri" pitchFamily="34" charset="-120"/>
              </a:rPr>
              <a:t>ServiceDesk AI  ·  BCSE408L Cloud Computing  ·  Final Demonstration</a:t>
            </a:r>
            <a:endParaRPr lang="en-US" sz="900" dirty="0"/>
          </a:p>
        </p:txBody>
      </p:sp>
      <p:sp>
        <p:nvSpPr>
          <p:cNvPr id="40" name="Text 38"/>
          <p:cNvSpPr/>
          <p:nvPr/>
        </p:nvSpPr>
        <p:spPr>
          <a:xfrm>
            <a:off x="10680192" y="6345936"/>
            <a:ext cx="914400" cy="219456"/>
          </a:xfrm>
          <a:prstGeom prst="rect">
            <a:avLst/>
          </a:prstGeom>
          <a:noFill/>
          <a:ln/>
        </p:spPr>
        <p:txBody>
          <a:bodyPr wrap="square" lIns="0" tIns="0" rIns="0" bIns="0" rtlCol="0" anchor="ctr"/>
          <a:lstStyle/>
          <a:p>
            <a:pPr algn="r" indent="0" marL="0">
              <a:buNone/>
            </a:pPr>
            <a:r>
              <a:rPr lang="en-US" sz="900" dirty="0">
                <a:solidFill>
                  <a:srgbClr val="7C939B"/>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65760"/>
            <a:ext cx="11027664" cy="237744"/>
          </a:xfrm>
          <a:prstGeom prst="rect">
            <a:avLst/>
          </a:prstGeom>
          <a:noFill/>
          <a:ln/>
        </p:spPr>
        <p:txBody>
          <a:bodyPr wrap="square" lIns="0" tIns="0" rIns="0" bIns="0" rtlCol="0" anchor="ctr"/>
          <a:lstStyle/>
          <a:p>
            <a:pPr indent="0" marL="0">
              <a:buNone/>
            </a:pPr>
            <a:r>
              <a:rPr lang="en-US" sz="1100" b="1" spc="220" kern="0" dirty="0">
                <a:solidFill>
                  <a:srgbClr val="028090"/>
                </a:solidFill>
                <a:latin typeface="Calibri" pitchFamily="34" charset="0"/>
                <a:ea typeface="Calibri" pitchFamily="34" charset="-122"/>
                <a:cs typeface="Calibri" pitchFamily="34" charset="-120"/>
              </a:rPr>
              <a:t>EVIDENCE</a:t>
            </a:r>
            <a:endParaRPr lang="en-US" sz="1100" dirty="0"/>
          </a:p>
        </p:txBody>
      </p:sp>
      <p:sp>
        <p:nvSpPr>
          <p:cNvPr id="3" name="Text 1"/>
          <p:cNvSpPr/>
          <p:nvPr/>
        </p:nvSpPr>
        <p:spPr>
          <a:xfrm>
            <a:off x="566928" y="621792"/>
            <a:ext cx="11027664" cy="621792"/>
          </a:xfrm>
          <a:prstGeom prst="rect">
            <a:avLst/>
          </a:prstGeom>
          <a:noFill/>
          <a:ln/>
        </p:spPr>
        <p:txBody>
          <a:bodyPr wrap="square" lIns="0" tIns="0" rIns="0" bIns="0" rtlCol="0" anchor="t"/>
          <a:lstStyle/>
          <a:p>
            <a:pPr indent="0" marL="0">
              <a:buNone/>
            </a:pPr>
            <a:r>
              <a:rPr lang="en-US" sz="3000" b="1" dirty="0">
                <a:solidFill>
                  <a:srgbClr val="0A2E36"/>
                </a:solidFill>
                <a:latin typeface="Cambria" pitchFamily="34" charset="0"/>
                <a:ea typeface="Cambria" pitchFamily="34" charset="-122"/>
                <a:cs typeface="Cambria" pitchFamily="34" charset="-120"/>
              </a:rPr>
              <a:t>Testing</a:t>
            </a:r>
            <a:endParaRPr lang="en-US" sz="3000" dirty="0"/>
          </a:p>
        </p:txBody>
      </p:sp>
      <p:sp>
        <p:nvSpPr>
          <p:cNvPr id="4" name="Text 2"/>
          <p:cNvSpPr/>
          <p:nvPr/>
        </p:nvSpPr>
        <p:spPr>
          <a:xfrm>
            <a:off x="566928" y="1316736"/>
            <a:ext cx="10424160" cy="420624"/>
          </a:xfrm>
          <a:prstGeom prst="rect">
            <a:avLst/>
          </a:prstGeom>
          <a:noFill/>
          <a:ln/>
        </p:spPr>
        <p:txBody>
          <a:bodyPr wrap="square" lIns="0" tIns="0" rIns="0" bIns="0" rtlCol="0" anchor="t"/>
          <a:lstStyle/>
          <a:p>
            <a:pPr indent="0" marL="0">
              <a:lnSpc>
                <a:spcPts val="1700"/>
              </a:lnSpc>
              <a:buNone/>
            </a:pPr>
            <a:r>
              <a:rPr lang="en-US" sz="1250" dirty="0">
                <a:solidFill>
                  <a:srgbClr val="445C64"/>
                </a:solidFill>
                <a:latin typeface="Calibri" pitchFamily="34" charset="0"/>
                <a:ea typeface="Calibri" pitchFamily="34" charset="-122"/>
                <a:cs typeface="Calibri" pitchFamily="34" charset="-120"/>
              </a:rPr>
              <a:t>92 automated tests against a real PostgreSQL database, using the same migration files as production — not mocks. A mock would accept data that a check constraint rejects.</a:t>
            </a:r>
            <a:endParaRPr lang="en-US" sz="1250" dirty="0"/>
          </a:p>
        </p:txBody>
      </p:sp>
      <p:sp>
        <p:nvSpPr>
          <p:cNvPr id="5" name="Shape 3"/>
          <p:cNvSpPr/>
          <p:nvPr/>
        </p:nvSpPr>
        <p:spPr>
          <a:xfrm>
            <a:off x="566928" y="1883664"/>
            <a:ext cx="2578608" cy="1481328"/>
          </a:xfrm>
          <a:prstGeom prst="roundRect">
            <a:avLst>
              <a:gd name="adj" fmla="val 6173"/>
            </a:avLst>
          </a:prstGeom>
          <a:solidFill>
            <a:srgbClr val="EEF6F7"/>
          </a:solidFill>
          <a:ln w="9525">
            <a:solidFill>
              <a:srgbClr val="D3E3E6"/>
            </a:solidFill>
            <a:prstDash val="solid"/>
          </a:ln>
          <a:effectLst>
            <a:outerShdw sx="100000" sy="100000" kx="0" ky="0" algn="bl" rotWithShape="0" blurRad="127000" dist="25400" dir="5400000">
              <a:srgbClr val="0A2E36">
                <a:alpha val="10000"/>
              </a:srgbClr>
            </a:outerShdw>
          </a:effectLst>
        </p:spPr>
      </p:sp>
      <p:sp>
        <p:nvSpPr>
          <p:cNvPr id="6" name="Text 4"/>
          <p:cNvSpPr/>
          <p:nvPr/>
        </p:nvSpPr>
        <p:spPr>
          <a:xfrm>
            <a:off x="804672" y="2011680"/>
            <a:ext cx="2103120" cy="493776"/>
          </a:xfrm>
          <a:prstGeom prst="rect">
            <a:avLst/>
          </a:prstGeom>
          <a:noFill/>
          <a:ln/>
        </p:spPr>
        <p:txBody>
          <a:bodyPr wrap="square" lIns="0" tIns="0" rIns="0" bIns="0" rtlCol="0" anchor="ctr"/>
          <a:lstStyle/>
          <a:p>
            <a:pPr indent="0" marL="0">
              <a:buNone/>
            </a:pPr>
            <a:r>
              <a:rPr lang="en-US" sz="3000" b="1" dirty="0">
                <a:solidFill>
                  <a:srgbClr val="028090"/>
                </a:solidFill>
                <a:latin typeface="Cambria" pitchFamily="34" charset="0"/>
                <a:ea typeface="Cambria" pitchFamily="34" charset="-122"/>
                <a:cs typeface="Cambria" pitchFamily="34" charset="-120"/>
              </a:rPr>
              <a:t>13</a:t>
            </a:r>
            <a:endParaRPr lang="en-US" sz="3000" dirty="0"/>
          </a:p>
        </p:txBody>
      </p:sp>
      <p:sp>
        <p:nvSpPr>
          <p:cNvPr id="7" name="Text 5"/>
          <p:cNvSpPr/>
          <p:nvPr/>
        </p:nvSpPr>
        <p:spPr>
          <a:xfrm>
            <a:off x="804672" y="2542032"/>
            <a:ext cx="2103120" cy="256032"/>
          </a:xfrm>
          <a:prstGeom prst="rect">
            <a:avLst/>
          </a:prstGeom>
          <a:noFill/>
          <a:ln/>
        </p:spPr>
        <p:txBody>
          <a:bodyPr wrap="square" lIns="0" tIns="0" rIns="0" bIns="0" rtlCol="0" anchor="ctr"/>
          <a:lstStyle/>
          <a:p>
            <a:pPr indent="0" marL="0">
              <a:buNone/>
            </a:pPr>
            <a:r>
              <a:rPr lang="en-US" sz="1300" b="1" dirty="0">
                <a:solidFill>
                  <a:srgbClr val="0A2E36"/>
                </a:solidFill>
                <a:latin typeface="Calibri" pitchFamily="34" charset="0"/>
                <a:ea typeface="Calibri" pitchFamily="34" charset="-122"/>
                <a:cs typeface="Calibri" pitchFamily="34" charset="-120"/>
              </a:rPr>
              <a:t>Authentication</a:t>
            </a:r>
            <a:endParaRPr lang="en-US" sz="1300" dirty="0"/>
          </a:p>
        </p:txBody>
      </p:sp>
      <p:sp>
        <p:nvSpPr>
          <p:cNvPr id="8" name="Text 6"/>
          <p:cNvSpPr/>
          <p:nvPr/>
        </p:nvSpPr>
        <p:spPr>
          <a:xfrm>
            <a:off x="804672" y="2798064"/>
            <a:ext cx="2103120" cy="493776"/>
          </a:xfrm>
          <a:prstGeom prst="rect">
            <a:avLst/>
          </a:prstGeom>
          <a:noFill/>
          <a:ln/>
        </p:spPr>
        <p:txBody>
          <a:bodyPr wrap="square" lIns="0" tIns="0" rIns="0" bIns="0" rtlCol="0" anchor="t"/>
          <a:lstStyle/>
          <a:p>
            <a:pPr indent="0" marL="0">
              <a:lnSpc>
                <a:spcPts val="1300"/>
              </a:lnSpc>
              <a:buNone/>
            </a:pPr>
            <a:r>
              <a:rPr lang="en-US" sz="1050" dirty="0">
                <a:solidFill>
                  <a:srgbClr val="445C64"/>
                </a:solidFill>
                <a:latin typeface="Calibri" pitchFamily="34" charset="0"/>
                <a:ea typeface="Calibri" pitchFamily="34" charset="-122"/>
                <a:cs typeface="Calibri" pitchFamily="34" charset="-120"/>
              </a:rPr>
              <a:t>Registration, sign-in, password storage, tokens, deactivation</a:t>
            </a:r>
            <a:endParaRPr lang="en-US" sz="1050" dirty="0"/>
          </a:p>
        </p:txBody>
      </p:sp>
      <p:sp>
        <p:nvSpPr>
          <p:cNvPr id="9" name="Shape 7"/>
          <p:cNvSpPr/>
          <p:nvPr/>
        </p:nvSpPr>
        <p:spPr>
          <a:xfrm>
            <a:off x="3383280" y="1883664"/>
            <a:ext cx="2578608" cy="1481328"/>
          </a:xfrm>
          <a:prstGeom prst="roundRect">
            <a:avLst>
              <a:gd name="adj" fmla="val 6173"/>
            </a:avLst>
          </a:prstGeom>
          <a:solidFill>
            <a:srgbClr val="EEF6F7"/>
          </a:solidFill>
          <a:ln w="9525">
            <a:solidFill>
              <a:srgbClr val="D3E3E6"/>
            </a:solidFill>
            <a:prstDash val="solid"/>
          </a:ln>
          <a:effectLst>
            <a:outerShdw sx="100000" sy="100000" kx="0" ky="0" algn="bl" rotWithShape="0" blurRad="127000" dist="25400" dir="5400000">
              <a:srgbClr val="0A2E36">
                <a:alpha val="10000"/>
              </a:srgbClr>
            </a:outerShdw>
          </a:effectLst>
        </p:spPr>
      </p:sp>
      <p:sp>
        <p:nvSpPr>
          <p:cNvPr id="10" name="Text 8"/>
          <p:cNvSpPr/>
          <p:nvPr/>
        </p:nvSpPr>
        <p:spPr>
          <a:xfrm>
            <a:off x="3621024" y="2011680"/>
            <a:ext cx="2103120" cy="493776"/>
          </a:xfrm>
          <a:prstGeom prst="rect">
            <a:avLst/>
          </a:prstGeom>
          <a:noFill/>
          <a:ln/>
        </p:spPr>
        <p:txBody>
          <a:bodyPr wrap="square" lIns="0" tIns="0" rIns="0" bIns="0" rtlCol="0" anchor="ctr"/>
          <a:lstStyle/>
          <a:p>
            <a:pPr indent="0" marL="0">
              <a:buNone/>
            </a:pPr>
            <a:r>
              <a:rPr lang="en-US" sz="3000" b="1" dirty="0">
                <a:solidFill>
                  <a:srgbClr val="028090"/>
                </a:solidFill>
                <a:latin typeface="Cambria" pitchFamily="34" charset="0"/>
                <a:ea typeface="Cambria" pitchFamily="34" charset="-122"/>
                <a:cs typeface="Cambria" pitchFamily="34" charset="-120"/>
              </a:rPr>
              <a:t>26</a:t>
            </a:r>
            <a:endParaRPr lang="en-US" sz="3000" dirty="0"/>
          </a:p>
        </p:txBody>
      </p:sp>
      <p:sp>
        <p:nvSpPr>
          <p:cNvPr id="11" name="Text 9"/>
          <p:cNvSpPr/>
          <p:nvPr/>
        </p:nvSpPr>
        <p:spPr>
          <a:xfrm>
            <a:off x="3621024" y="2542032"/>
            <a:ext cx="2103120" cy="256032"/>
          </a:xfrm>
          <a:prstGeom prst="rect">
            <a:avLst/>
          </a:prstGeom>
          <a:noFill/>
          <a:ln/>
        </p:spPr>
        <p:txBody>
          <a:bodyPr wrap="square" lIns="0" tIns="0" rIns="0" bIns="0" rtlCol="0" anchor="ctr"/>
          <a:lstStyle/>
          <a:p>
            <a:pPr indent="0" marL="0">
              <a:buNone/>
            </a:pPr>
            <a:r>
              <a:rPr lang="en-US" sz="1300" b="1" dirty="0">
                <a:solidFill>
                  <a:srgbClr val="0A2E36"/>
                </a:solidFill>
                <a:latin typeface="Calibri" pitchFamily="34" charset="0"/>
                <a:ea typeface="Calibri" pitchFamily="34" charset="-122"/>
                <a:cs typeface="Calibri" pitchFamily="34" charset="-120"/>
              </a:rPr>
              <a:t>Authorisation</a:t>
            </a:r>
            <a:endParaRPr lang="en-US" sz="1300" dirty="0"/>
          </a:p>
        </p:txBody>
      </p:sp>
      <p:sp>
        <p:nvSpPr>
          <p:cNvPr id="12" name="Text 10"/>
          <p:cNvSpPr/>
          <p:nvPr/>
        </p:nvSpPr>
        <p:spPr>
          <a:xfrm>
            <a:off x="3621024" y="2798064"/>
            <a:ext cx="2103120" cy="493776"/>
          </a:xfrm>
          <a:prstGeom prst="rect">
            <a:avLst/>
          </a:prstGeom>
          <a:noFill/>
          <a:ln/>
        </p:spPr>
        <p:txBody>
          <a:bodyPr wrap="square" lIns="0" tIns="0" rIns="0" bIns="0" rtlCol="0" anchor="t"/>
          <a:lstStyle/>
          <a:p>
            <a:pPr indent="0" marL="0">
              <a:lnSpc>
                <a:spcPts val="1300"/>
              </a:lnSpc>
              <a:buNone/>
            </a:pPr>
            <a:r>
              <a:rPr lang="en-US" sz="1050" dirty="0">
                <a:solidFill>
                  <a:srgbClr val="445C64"/>
                </a:solidFill>
                <a:latin typeface="Calibri" pitchFamily="34" charset="0"/>
                <a:ea typeface="Calibri" pitchFamily="34" charset="-122"/>
                <a:cs typeface="Calibri" pitchFamily="34" charset="-120"/>
              </a:rPr>
              <a:t>Every role boundary, called directly against the API</a:t>
            </a:r>
            <a:endParaRPr lang="en-US" sz="1050" dirty="0"/>
          </a:p>
        </p:txBody>
      </p:sp>
      <p:sp>
        <p:nvSpPr>
          <p:cNvPr id="13" name="Shape 11"/>
          <p:cNvSpPr/>
          <p:nvPr/>
        </p:nvSpPr>
        <p:spPr>
          <a:xfrm>
            <a:off x="6199632" y="1883664"/>
            <a:ext cx="2578608" cy="1481328"/>
          </a:xfrm>
          <a:prstGeom prst="roundRect">
            <a:avLst>
              <a:gd name="adj" fmla="val 6173"/>
            </a:avLst>
          </a:prstGeom>
          <a:solidFill>
            <a:srgbClr val="EEF6F7"/>
          </a:solidFill>
          <a:ln w="9525">
            <a:solidFill>
              <a:srgbClr val="D3E3E6"/>
            </a:solidFill>
            <a:prstDash val="solid"/>
          </a:ln>
          <a:effectLst>
            <a:outerShdw sx="100000" sy="100000" kx="0" ky="0" algn="bl" rotWithShape="0" blurRad="127000" dist="25400" dir="5400000">
              <a:srgbClr val="0A2E36">
                <a:alpha val="10000"/>
              </a:srgbClr>
            </a:outerShdw>
          </a:effectLst>
        </p:spPr>
      </p:sp>
      <p:sp>
        <p:nvSpPr>
          <p:cNvPr id="14" name="Text 12"/>
          <p:cNvSpPr/>
          <p:nvPr/>
        </p:nvSpPr>
        <p:spPr>
          <a:xfrm>
            <a:off x="6437376" y="2011680"/>
            <a:ext cx="2103120" cy="493776"/>
          </a:xfrm>
          <a:prstGeom prst="rect">
            <a:avLst/>
          </a:prstGeom>
          <a:noFill/>
          <a:ln/>
        </p:spPr>
        <p:txBody>
          <a:bodyPr wrap="square" lIns="0" tIns="0" rIns="0" bIns="0" rtlCol="0" anchor="ctr"/>
          <a:lstStyle/>
          <a:p>
            <a:pPr indent="0" marL="0">
              <a:buNone/>
            </a:pPr>
            <a:r>
              <a:rPr lang="en-US" sz="3000" b="1" dirty="0">
                <a:solidFill>
                  <a:srgbClr val="028090"/>
                </a:solidFill>
                <a:latin typeface="Cambria" pitchFamily="34" charset="0"/>
                <a:ea typeface="Cambria" pitchFamily="34" charset="-122"/>
                <a:cs typeface="Cambria" pitchFamily="34" charset="-120"/>
              </a:rPr>
              <a:t>33</a:t>
            </a:r>
            <a:endParaRPr lang="en-US" sz="3000" dirty="0"/>
          </a:p>
        </p:txBody>
      </p:sp>
      <p:sp>
        <p:nvSpPr>
          <p:cNvPr id="15" name="Text 13"/>
          <p:cNvSpPr/>
          <p:nvPr/>
        </p:nvSpPr>
        <p:spPr>
          <a:xfrm>
            <a:off x="6437376" y="2542032"/>
            <a:ext cx="2103120" cy="256032"/>
          </a:xfrm>
          <a:prstGeom prst="rect">
            <a:avLst/>
          </a:prstGeom>
          <a:noFill/>
          <a:ln/>
        </p:spPr>
        <p:txBody>
          <a:bodyPr wrap="square" lIns="0" tIns="0" rIns="0" bIns="0" rtlCol="0" anchor="ctr"/>
          <a:lstStyle/>
          <a:p>
            <a:pPr indent="0" marL="0">
              <a:buNone/>
            </a:pPr>
            <a:r>
              <a:rPr lang="en-US" sz="1300" b="1" dirty="0">
                <a:solidFill>
                  <a:srgbClr val="0A2E36"/>
                </a:solidFill>
                <a:latin typeface="Calibri" pitchFamily="34" charset="0"/>
                <a:ea typeface="Calibri" pitchFamily="34" charset="-122"/>
                <a:cs typeface="Calibri" pitchFamily="34" charset="-120"/>
              </a:rPr>
              <a:t>Tickets</a:t>
            </a:r>
            <a:endParaRPr lang="en-US" sz="1300" dirty="0"/>
          </a:p>
        </p:txBody>
      </p:sp>
      <p:sp>
        <p:nvSpPr>
          <p:cNvPr id="16" name="Text 14"/>
          <p:cNvSpPr/>
          <p:nvPr/>
        </p:nvSpPr>
        <p:spPr>
          <a:xfrm>
            <a:off x="6437376" y="2798064"/>
            <a:ext cx="2103120" cy="493776"/>
          </a:xfrm>
          <a:prstGeom prst="rect">
            <a:avLst/>
          </a:prstGeom>
          <a:noFill/>
          <a:ln/>
        </p:spPr>
        <p:txBody>
          <a:bodyPr wrap="square" lIns="0" tIns="0" rIns="0" bIns="0" rtlCol="0" anchor="t"/>
          <a:lstStyle/>
          <a:p>
            <a:pPr indent="0" marL="0">
              <a:lnSpc>
                <a:spcPts val="1300"/>
              </a:lnSpc>
              <a:buNone/>
            </a:pPr>
            <a:r>
              <a:rPr lang="en-US" sz="1050" dirty="0">
                <a:solidFill>
                  <a:srgbClr val="445C64"/>
                </a:solidFill>
                <a:latin typeface="Calibri" pitchFamily="34" charset="0"/>
                <a:ea typeface="Calibri" pitchFamily="34" charset="-122"/>
                <a:cs typeface="Calibri" pitchFamily="34" charset="-120"/>
              </a:rPr>
              <a:t>CRUD, assignment, lifecycle, messages, search, pagination</a:t>
            </a:r>
            <a:endParaRPr lang="en-US" sz="1050" dirty="0"/>
          </a:p>
        </p:txBody>
      </p:sp>
      <p:sp>
        <p:nvSpPr>
          <p:cNvPr id="17" name="Shape 15"/>
          <p:cNvSpPr/>
          <p:nvPr/>
        </p:nvSpPr>
        <p:spPr>
          <a:xfrm>
            <a:off x="9015984" y="1883664"/>
            <a:ext cx="2578608" cy="1481328"/>
          </a:xfrm>
          <a:prstGeom prst="roundRect">
            <a:avLst>
              <a:gd name="adj" fmla="val 6173"/>
            </a:avLst>
          </a:prstGeom>
          <a:solidFill>
            <a:srgbClr val="EEF6F7"/>
          </a:solidFill>
          <a:ln w="9525">
            <a:solidFill>
              <a:srgbClr val="D3E3E6"/>
            </a:solidFill>
            <a:prstDash val="solid"/>
          </a:ln>
          <a:effectLst>
            <a:outerShdw sx="100000" sy="100000" kx="0" ky="0" algn="bl" rotWithShape="0" blurRad="127000" dist="25400" dir="5400000">
              <a:srgbClr val="0A2E36">
                <a:alpha val="10000"/>
              </a:srgbClr>
            </a:outerShdw>
          </a:effectLst>
        </p:spPr>
      </p:sp>
      <p:sp>
        <p:nvSpPr>
          <p:cNvPr id="18" name="Text 16"/>
          <p:cNvSpPr/>
          <p:nvPr/>
        </p:nvSpPr>
        <p:spPr>
          <a:xfrm>
            <a:off x="9253728" y="2011680"/>
            <a:ext cx="2103120" cy="493776"/>
          </a:xfrm>
          <a:prstGeom prst="rect">
            <a:avLst/>
          </a:prstGeom>
          <a:noFill/>
          <a:ln/>
        </p:spPr>
        <p:txBody>
          <a:bodyPr wrap="square" lIns="0" tIns="0" rIns="0" bIns="0" rtlCol="0" anchor="ctr"/>
          <a:lstStyle/>
          <a:p>
            <a:pPr indent="0" marL="0">
              <a:buNone/>
            </a:pPr>
            <a:r>
              <a:rPr lang="en-US" sz="3000" b="1" dirty="0">
                <a:solidFill>
                  <a:srgbClr val="028090"/>
                </a:solidFill>
                <a:latin typeface="Cambria" pitchFamily="34" charset="0"/>
                <a:ea typeface="Cambria" pitchFamily="34" charset="-122"/>
                <a:cs typeface="Cambria" pitchFamily="34" charset="-120"/>
              </a:rPr>
              <a:t>20</a:t>
            </a:r>
            <a:endParaRPr lang="en-US" sz="3000" dirty="0"/>
          </a:p>
        </p:txBody>
      </p:sp>
      <p:sp>
        <p:nvSpPr>
          <p:cNvPr id="19" name="Text 17"/>
          <p:cNvSpPr/>
          <p:nvPr/>
        </p:nvSpPr>
        <p:spPr>
          <a:xfrm>
            <a:off x="9253728" y="2542032"/>
            <a:ext cx="2103120" cy="256032"/>
          </a:xfrm>
          <a:prstGeom prst="rect">
            <a:avLst/>
          </a:prstGeom>
          <a:noFill/>
          <a:ln/>
        </p:spPr>
        <p:txBody>
          <a:bodyPr wrap="square" lIns="0" tIns="0" rIns="0" bIns="0" rtlCol="0" anchor="ctr"/>
          <a:lstStyle/>
          <a:p>
            <a:pPr indent="0" marL="0">
              <a:buNone/>
            </a:pPr>
            <a:r>
              <a:rPr lang="en-US" sz="1300" b="1" dirty="0">
                <a:solidFill>
                  <a:srgbClr val="0A2E36"/>
                </a:solidFill>
                <a:latin typeface="Calibri" pitchFamily="34" charset="0"/>
                <a:ea typeface="Calibri" pitchFamily="34" charset="-122"/>
                <a:cs typeface="Calibri" pitchFamily="34" charset="-120"/>
              </a:rPr>
              <a:t>Lifecycle &amp; AI</a:t>
            </a:r>
            <a:endParaRPr lang="en-US" sz="1300" dirty="0"/>
          </a:p>
        </p:txBody>
      </p:sp>
      <p:sp>
        <p:nvSpPr>
          <p:cNvPr id="20" name="Text 18"/>
          <p:cNvSpPr/>
          <p:nvPr/>
        </p:nvSpPr>
        <p:spPr>
          <a:xfrm>
            <a:off x="9253728" y="2798064"/>
            <a:ext cx="2103120" cy="493776"/>
          </a:xfrm>
          <a:prstGeom prst="rect">
            <a:avLst/>
          </a:prstGeom>
          <a:noFill/>
          <a:ln/>
        </p:spPr>
        <p:txBody>
          <a:bodyPr wrap="square" lIns="0" tIns="0" rIns="0" bIns="0" rtlCol="0" anchor="t"/>
          <a:lstStyle/>
          <a:p>
            <a:pPr indent="0" marL="0">
              <a:lnSpc>
                <a:spcPts val="1300"/>
              </a:lnSpc>
              <a:buNone/>
            </a:pPr>
            <a:r>
              <a:rPr lang="en-US" sz="1050" dirty="0">
                <a:solidFill>
                  <a:srgbClr val="445C64"/>
                </a:solidFill>
                <a:latin typeface="Calibri" pitchFamily="34" charset="0"/>
                <a:ea typeface="Calibri" pitchFamily="34" charset="-122"/>
                <a:cs typeface="Calibri" pitchFamily="34" charset="-120"/>
              </a:rPr>
              <a:t>Transition rules, fallback classifier, failure handling</a:t>
            </a:r>
            <a:endParaRPr lang="en-US" sz="1050" dirty="0"/>
          </a:p>
        </p:txBody>
      </p:sp>
      <p:sp>
        <p:nvSpPr>
          <p:cNvPr id="21" name="Shape 19"/>
          <p:cNvSpPr/>
          <p:nvPr/>
        </p:nvSpPr>
        <p:spPr>
          <a:xfrm>
            <a:off x="566928" y="3584448"/>
            <a:ext cx="5120640" cy="658368"/>
          </a:xfrm>
          <a:prstGeom prst="roundRect">
            <a:avLst>
              <a:gd name="adj" fmla="val 13889"/>
            </a:avLst>
          </a:prstGeom>
          <a:solidFill>
            <a:srgbClr val="0A2E36"/>
          </a:solidFill>
          <a:ln/>
          <a:effectLst>
            <a:outerShdw sx="100000" sy="100000" kx="0" ky="0" algn="bl" rotWithShape="0" blurRad="127000" dist="25400" dir="5400000">
              <a:srgbClr val="0A2E36">
                <a:alpha val="10000"/>
              </a:srgbClr>
            </a:outerShdw>
          </a:effectLst>
        </p:spPr>
      </p:sp>
      <p:sp>
        <p:nvSpPr>
          <p:cNvPr id="22" name="Text 20"/>
          <p:cNvSpPr/>
          <p:nvPr/>
        </p:nvSpPr>
        <p:spPr>
          <a:xfrm>
            <a:off x="877824" y="3584448"/>
            <a:ext cx="4809744" cy="658368"/>
          </a:xfrm>
          <a:prstGeom prst="rect">
            <a:avLst/>
          </a:prstGeom>
          <a:noFill/>
          <a:ln/>
        </p:spPr>
        <p:txBody>
          <a:bodyPr wrap="square" lIns="0" tIns="0" rIns="0" bIns="0" rtlCol="0" anchor="ctr"/>
          <a:lstStyle/>
          <a:p>
            <a:pPr indent="0" marL="0">
              <a:buNone/>
            </a:pPr>
            <a:r>
              <a:rPr lang="en-US" sz="1600" b="1" dirty="0">
                <a:solidFill>
                  <a:srgbClr val="02C39A"/>
                </a:solidFill>
                <a:latin typeface="Calibri" pitchFamily="34" charset="0"/>
                <a:ea typeface="Calibri" pitchFamily="34" charset="-122"/>
                <a:cs typeface="Calibri" pitchFamily="34" charset="-120"/>
              </a:rPr>
              <a:t>92 passed  ·  0 failed  ·  4 files  ·  ~108 s</a:t>
            </a:r>
            <a:endParaRPr lang="en-US" sz="1600" dirty="0"/>
          </a:p>
        </p:txBody>
      </p:sp>
      <p:sp>
        <p:nvSpPr>
          <p:cNvPr id="23" name="Shape 21"/>
          <p:cNvSpPr/>
          <p:nvPr/>
        </p:nvSpPr>
        <p:spPr>
          <a:xfrm>
            <a:off x="5961888" y="3584448"/>
            <a:ext cx="5632704" cy="658368"/>
          </a:xfrm>
          <a:prstGeom prst="roundRect">
            <a:avLst>
              <a:gd name="adj" fmla="val 13889"/>
            </a:avLst>
          </a:prstGeom>
          <a:solidFill>
            <a:srgbClr val="EEF6F7"/>
          </a:solidFill>
          <a:ln w="9525">
            <a:solidFill>
              <a:srgbClr val="D3E3E6"/>
            </a:solidFill>
            <a:prstDash val="solid"/>
          </a:ln>
          <a:effectLst>
            <a:outerShdw sx="100000" sy="100000" kx="0" ky="0" algn="bl" rotWithShape="0" blurRad="127000" dist="25400" dir="5400000">
              <a:srgbClr val="0A2E36">
                <a:alpha val="10000"/>
              </a:srgbClr>
            </a:outerShdw>
          </a:effectLst>
        </p:spPr>
      </p:sp>
      <p:sp>
        <p:nvSpPr>
          <p:cNvPr id="24" name="Text 22"/>
          <p:cNvSpPr/>
          <p:nvPr/>
        </p:nvSpPr>
        <p:spPr>
          <a:xfrm>
            <a:off x="6236208" y="3584448"/>
            <a:ext cx="5084064" cy="658368"/>
          </a:xfrm>
          <a:prstGeom prst="rect">
            <a:avLst/>
          </a:prstGeom>
          <a:noFill/>
          <a:ln/>
        </p:spPr>
        <p:txBody>
          <a:bodyPr wrap="square" lIns="0" tIns="0" rIns="0" bIns="0" rtlCol="0" anchor="ctr"/>
          <a:lstStyle/>
          <a:p>
            <a:pPr indent="0" marL="0">
              <a:lnSpc>
                <a:spcPts val="1400"/>
              </a:lnSpc>
              <a:buNone/>
            </a:pPr>
            <a:r>
              <a:rPr lang="en-US" sz="1150" dirty="0">
                <a:solidFill>
                  <a:srgbClr val="445C64"/>
                </a:solidFill>
                <a:latin typeface="Calibri" pitchFamily="34" charset="0"/>
                <a:ea typeface="Calibri" pitchFamily="34" charset="-122"/>
                <a:cs typeface="Calibri" pitchFamily="34" charset="-120"/>
              </a:rPr>
              <a:t>Two results matter most: a total AI failure still creates the ticket, and generating a draft sends nothing.</a:t>
            </a:r>
            <a:endParaRPr lang="en-US" sz="1150" dirty="0"/>
          </a:p>
        </p:txBody>
      </p:sp>
      <p:sp>
        <p:nvSpPr>
          <p:cNvPr id="25" name="Text 23"/>
          <p:cNvSpPr/>
          <p:nvPr/>
        </p:nvSpPr>
        <p:spPr>
          <a:xfrm>
            <a:off x="566928" y="4443984"/>
            <a:ext cx="11027664" cy="292608"/>
          </a:xfrm>
          <a:prstGeom prst="rect">
            <a:avLst/>
          </a:prstGeom>
          <a:noFill/>
          <a:ln/>
        </p:spPr>
        <p:txBody>
          <a:bodyPr wrap="square" lIns="0" tIns="0" rIns="0" bIns="0" rtlCol="0" anchor="ctr"/>
          <a:lstStyle/>
          <a:p>
            <a:pPr indent="0" marL="0">
              <a:buNone/>
            </a:pPr>
            <a:r>
              <a:rPr lang="en-US" sz="1500" b="1" dirty="0">
                <a:solidFill>
                  <a:srgbClr val="0A2E36"/>
                </a:solidFill>
                <a:latin typeface="Cambria" pitchFamily="34" charset="0"/>
                <a:ea typeface="Cambria" pitchFamily="34" charset="-122"/>
                <a:cs typeface="Cambria" pitchFamily="34" charset="-120"/>
              </a:rPr>
              <a:t>Three defects found and fixed — before submission, not during it</a:t>
            </a:r>
            <a:endParaRPr lang="en-US" sz="1500" dirty="0"/>
          </a:p>
        </p:txBody>
      </p:sp>
      <p:sp>
        <p:nvSpPr>
          <p:cNvPr id="26" name="Shape 24"/>
          <p:cNvSpPr/>
          <p:nvPr/>
        </p:nvSpPr>
        <p:spPr>
          <a:xfrm>
            <a:off x="566928" y="4809744"/>
            <a:ext cx="3517392" cy="1188720"/>
          </a:xfrm>
          <a:prstGeom prst="roundRect">
            <a:avLst>
              <a:gd name="adj" fmla="val 7692"/>
            </a:avLst>
          </a:prstGeom>
          <a:solidFill>
            <a:srgbClr val="F7FBFB"/>
          </a:solidFill>
          <a:ln w="9525">
            <a:solidFill>
              <a:srgbClr val="D3E3E6"/>
            </a:solidFill>
            <a:prstDash val="solid"/>
          </a:ln>
          <a:effectLst>
            <a:outerShdw sx="100000" sy="100000" kx="0" ky="0" algn="bl" rotWithShape="0" blurRad="127000" dist="25400" dir="5400000">
              <a:srgbClr val="0A2E36">
                <a:alpha val="10000"/>
              </a:srgbClr>
            </a:outerShdw>
          </a:effectLst>
        </p:spPr>
      </p:sp>
      <p:sp>
        <p:nvSpPr>
          <p:cNvPr id="27" name="Text 25"/>
          <p:cNvSpPr/>
          <p:nvPr/>
        </p:nvSpPr>
        <p:spPr>
          <a:xfrm>
            <a:off x="786384" y="4937760"/>
            <a:ext cx="3078480" cy="237744"/>
          </a:xfrm>
          <a:prstGeom prst="rect">
            <a:avLst/>
          </a:prstGeom>
          <a:noFill/>
          <a:ln/>
        </p:spPr>
        <p:txBody>
          <a:bodyPr wrap="square" lIns="0" tIns="0" rIns="0" bIns="0" rtlCol="0" anchor="ctr"/>
          <a:lstStyle/>
          <a:p>
            <a:pPr indent="0" marL="0">
              <a:buNone/>
            </a:pPr>
            <a:r>
              <a:rPr lang="en-US" sz="1250" b="1" dirty="0">
                <a:solidFill>
                  <a:srgbClr val="0A2E36"/>
                </a:solidFill>
                <a:latin typeface="Calibri" pitchFamily="34" charset="0"/>
                <a:ea typeface="Calibri" pitchFamily="34" charset="-122"/>
                <a:cs typeface="Calibri" pitchFamily="34" charset="-120"/>
              </a:rPr>
              <a:t>Rate limiter throttled the suite</a:t>
            </a:r>
            <a:endParaRPr lang="en-US" sz="1250" dirty="0"/>
          </a:p>
        </p:txBody>
      </p:sp>
      <p:sp>
        <p:nvSpPr>
          <p:cNvPr id="28" name="Text 26"/>
          <p:cNvSpPr/>
          <p:nvPr/>
        </p:nvSpPr>
        <p:spPr>
          <a:xfrm>
            <a:off x="786384" y="5175504"/>
            <a:ext cx="3078480" cy="201168"/>
          </a:xfrm>
          <a:prstGeom prst="rect">
            <a:avLst/>
          </a:prstGeom>
          <a:noFill/>
          <a:ln/>
        </p:spPr>
        <p:txBody>
          <a:bodyPr wrap="square" lIns="0" tIns="0" rIns="0" bIns="0" rtlCol="0" anchor="ctr"/>
          <a:lstStyle/>
          <a:p>
            <a:pPr indent="0" marL="0">
              <a:buNone/>
            </a:pPr>
            <a:r>
              <a:rPr lang="en-US" sz="1000" b="1" dirty="0">
                <a:solidFill>
                  <a:srgbClr val="028090"/>
                </a:solidFill>
                <a:latin typeface="Calibri" pitchFamily="34" charset="0"/>
                <a:ea typeface="Calibri" pitchFamily="34" charset="-122"/>
                <a:cs typeface="Calibri" pitchFamily="34" charset="-120"/>
              </a:rPr>
              <a:t>Found by running the tests</a:t>
            </a:r>
            <a:endParaRPr lang="en-US" sz="1000" dirty="0"/>
          </a:p>
        </p:txBody>
      </p:sp>
      <p:sp>
        <p:nvSpPr>
          <p:cNvPr id="29" name="Text 27"/>
          <p:cNvSpPr/>
          <p:nvPr/>
        </p:nvSpPr>
        <p:spPr>
          <a:xfrm>
            <a:off x="786384" y="5394960"/>
            <a:ext cx="3078480" cy="512064"/>
          </a:xfrm>
          <a:prstGeom prst="rect">
            <a:avLst/>
          </a:prstGeom>
          <a:noFill/>
          <a:ln/>
        </p:spPr>
        <p:txBody>
          <a:bodyPr wrap="square" lIns="0" tIns="0" rIns="0" bIns="0" rtlCol="0" anchor="t"/>
          <a:lstStyle/>
          <a:p>
            <a:pPr indent="0" marL="0">
              <a:lnSpc>
                <a:spcPts val="1300"/>
              </a:lnSpc>
              <a:buNone/>
            </a:pPr>
            <a:r>
              <a:rPr lang="en-US" sz="1050" dirty="0">
                <a:solidFill>
                  <a:srgbClr val="445C64"/>
                </a:solidFill>
                <a:latin typeface="Calibri" pitchFamily="34" charset="0"/>
                <a:ea typeface="Calibri" pitchFamily="34" charset="-122"/>
                <a:cs typeface="Calibri" pitchFamily="34" charset="-120"/>
              </a:rPr>
              <a:t>51 failures. The limiter is correct for production; it now skips in test.</a:t>
            </a:r>
            <a:endParaRPr lang="en-US" sz="1050" dirty="0"/>
          </a:p>
        </p:txBody>
      </p:sp>
      <p:sp>
        <p:nvSpPr>
          <p:cNvPr id="30" name="Shape 28"/>
          <p:cNvSpPr/>
          <p:nvPr/>
        </p:nvSpPr>
        <p:spPr>
          <a:xfrm>
            <a:off x="4322064" y="4809744"/>
            <a:ext cx="3517392" cy="1188720"/>
          </a:xfrm>
          <a:prstGeom prst="roundRect">
            <a:avLst>
              <a:gd name="adj" fmla="val 7692"/>
            </a:avLst>
          </a:prstGeom>
          <a:solidFill>
            <a:srgbClr val="F7FBFB"/>
          </a:solidFill>
          <a:ln w="9525">
            <a:solidFill>
              <a:srgbClr val="D3E3E6"/>
            </a:solidFill>
            <a:prstDash val="solid"/>
          </a:ln>
          <a:effectLst>
            <a:outerShdw sx="100000" sy="100000" kx="0" ky="0" algn="bl" rotWithShape="0" blurRad="127000" dist="25400" dir="5400000">
              <a:srgbClr val="0A2E36">
                <a:alpha val="10000"/>
              </a:srgbClr>
            </a:outerShdw>
          </a:effectLst>
        </p:spPr>
      </p:sp>
      <p:sp>
        <p:nvSpPr>
          <p:cNvPr id="31" name="Text 29"/>
          <p:cNvSpPr/>
          <p:nvPr/>
        </p:nvSpPr>
        <p:spPr>
          <a:xfrm>
            <a:off x="4541520" y="4937760"/>
            <a:ext cx="3078480" cy="237744"/>
          </a:xfrm>
          <a:prstGeom prst="rect">
            <a:avLst/>
          </a:prstGeom>
          <a:noFill/>
          <a:ln/>
        </p:spPr>
        <p:txBody>
          <a:bodyPr wrap="square" lIns="0" tIns="0" rIns="0" bIns="0" rtlCol="0" anchor="ctr"/>
          <a:lstStyle/>
          <a:p>
            <a:pPr indent="0" marL="0">
              <a:buNone/>
            </a:pPr>
            <a:r>
              <a:rPr lang="en-US" sz="1250" b="1" dirty="0">
                <a:solidFill>
                  <a:srgbClr val="0A2E36"/>
                </a:solidFill>
                <a:latin typeface="Calibri" pitchFamily="34" charset="0"/>
                <a:ea typeface="Calibri" pitchFamily="34" charset="-122"/>
                <a:cs typeface="Calibri" pitchFamily="34" charset="-120"/>
              </a:rPr>
              <a:t>A test depended on timing</a:t>
            </a:r>
            <a:endParaRPr lang="en-US" sz="1250" dirty="0"/>
          </a:p>
        </p:txBody>
      </p:sp>
      <p:sp>
        <p:nvSpPr>
          <p:cNvPr id="32" name="Text 30"/>
          <p:cNvSpPr/>
          <p:nvPr/>
        </p:nvSpPr>
        <p:spPr>
          <a:xfrm>
            <a:off x="4541520" y="5175504"/>
            <a:ext cx="3078480" cy="201168"/>
          </a:xfrm>
          <a:prstGeom prst="rect">
            <a:avLst/>
          </a:prstGeom>
          <a:noFill/>
          <a:ln/>
        </p:spPr>
        <p:txBody>
          <a:bodyPr wrap="square" lIns="0" tIns="0" rIns="0" bIns="0" rtlCol="0" anchor="ctr"/>
          <a:lstStyle/>
          <a:p>
            <a:pPr indent="0" marL="0">
              <a:buNone/>
            </a:pPr>
            <a:r>
              <a:rPr lang="en-US" sz="1000" b="1" dirty="0">
                <a:solidFill>
                  <a:srgbClr val="028090"/>
                </a:solidFill>
                <a:latin typeface="Calibri" pitchFamily="34" charset="0"/>
                <a:ea typeface="Calibri" pitchFamily="34" charset="-122"/>
                <a:cs typeface="Calibri" pitchFamily="34" charset="-120"/>
              </a:rPr>
              <a:t>Found by running the tests</a:t>
            </a:r>
            <a:endParaRPr lang="en-US" sz="1000" dirty="0"/>
          </a:p>
        </p:txBody>
      </p:sp>
      <p:sp>
        <p:nvSpPr>
          <p:cNvPr id="33" name="Text 31"/>
          <p:cNvSpPr/>
          <p:nvPr/>
        </p:nvSpPr>
        <p:spPr>
          <a:xfrm>
            <a:off x="4541520" y="5394960"/>
            <a:ext cx="3078480" cy="512064"/>
          </a:xfrm>
          <a:prstGeom prst="rect">
            <a:avLst/>
          </a:prstGeom>
          <a:noFill/>
          <a:ln/>
        </p:spPr>
        <p:txBody>
          <a:bodyPr wrap="square" lIns="0" tIns="0" rIns="0" bIns="0" rtlCol="0" anchor="t"/>
          <a:lstStyle/>
          <a:p>
            <a:pPr indent="0" marL="0">
              <a:lnSpc>
                <a:spcPts val="1300"/>
              </a:lnSpc>
              <a:buNone/>
            </a:pPr>
            <a:r>
              <a:rPr lang="en-US" sz="1050" dirty="0">
                <a:solidFill>
                  <a:srgbClr val="445C64"/>
                </a:solidFill>
                <a:latin typeface="Calibri" pitchFamily="34" charset="0"/>
                <a:ea typeface="Calibri" pitchFamily="34" charset="-122"/>
                <a:cs typeface="Calibri" pitchFamily="34" charset="-120"/>
              </a:rPr>
              <a:t>Asserted an exact suggestion count while classification runs in background.</a:t>
            </a:r>
            <a:endParaRPr lang="en-US" sz="1050" dirty="0"/>
          </a:p>
        </p:txBody>
      </p:sp>
      <p:sp>
        <p:nvSpPr>
          <p:cNvPr id="34" name="Shape 32"/>
          <p:cNvSpPr/>
          <p:nvPr/>
        </p:nvSpPr>
        <p:spPr>
          <a:xfrm>
            <a:off x="8077200" y="4809744"/>
            <a:ext cx="3517392" cy="1188720"/>
          </a:xfrm>
          <a:prstGeom prst="roundRect">
            <a:avLst>
              <a:gd name="adj" fmla="val 7692"/>
            </a:avLst>
          </a:prstGeom>
          <a:solidFill>
            <a:srgbClr val="FBF7EF"/>
          </a:solidFill>
          <a:ln w="9525">
            <a:solidFill>
              <a:srgbClr val="EBDFC8"/>
            </a:solidFill>
            <a:prstDash val="solid"/>
          </a:ln>
          <a:effectLst>
            <a:outerShdw sx="100000" sy="100000" kx="0" ky="0" algn="bl" rotWithShape="0" blurRad="127000" dist="25400" dir="5400000">
              <a:srgbClr val="0A2E36">
                <a:alpha val="10000"/>
              </a:srgbClr>
            </a:outerShdw>
          </a:effectLst>
        </p:spPr>
      </p:sp>
      <p:sp>
        <p:nvSpPr>
          <p:cNvPr id="35" name="Text 33"/>
          <p:cNvSpPr/>
          <p:nvPr/>
        </p:nvSpPr>
        <p:spPr>
          <a:xfrm>
            <a:off x="8296656" y="4937760"/>
            <a:ext cx="3078480" cy="237744"/>
          </a:xfrm>
          <a:prstGeom prst="rect">
            <a:avLst/>
          </a:prstGeom>
          <a:noFill/>
          <a:ln/>
        </p:spPr>
        <p:txBody>
          <a:bodyPr wrap="square" lIns="0" tIns="0" rIns="0" bIns="0" rtlCol="0" anchor="ctr"/>
          <a:lstStyle/>
          <a:p>
            <a:pPr indent="0" marL="0">
              <a:buNone/>
            </a:pPr>
            <a:r>
              <a:rPr lang="en-US" sz="1250" b="1" dirty="0">
                <a:solidFill>
                  <a:srgbClr val="0A2E36"/>
                </a:solidFill>
                <a:latin typeface="Calibri" pitchFamily="34" charset="0"/>
                <a:ea typeface="Calibri" pitchFamily="34" charset="-122"/>
                <a:cs typeface="Calibri" pitchFamily="34" charset="-120"/>
              </a:rPr>
              <a:t>Every chart rendered empty</a:t>
            </a:r>
            <a:endParaRPr lang="en-US" sz="1250" dirty="0"/>
          </a:p>
        </p:txBody>
      </p:sp>
      <p:sp>
        <p:nvSpPr>
          <p:cNvPr id="36" name="Text 34"/>
          <p:cNvSpPr/>
          <p:nvPr/>
        </p:nvSpPr>
        <p:spPr>
          <a:xfrm>
            <a:off x="8296656" y="5175504"/>
            <a:ext cx="3078480" cy="201168"/>
          </a:xfrm>
          <a:prstGeom prst="rect">
            <a:avLst/>
          </a:prstGeom>
          <a:noFill/>
          <a:ln/>
        </p:spPr>
        <p:txBody>
          <a:bodyPr wrap="square" lIns="0" tIns="0" rIns="0" bIns="0" rtlCol="0" anchor="ctr"/>
          <a:lstStyle/>
          <a:p>
            <a:pPr indent="0" marL="0">
              <a:buNone/>
            </a:pPr>
            <a:r>
              <a:rPr lang="en-US" sz="1000" b="1" dirty="0">
                <a:solidFill>
                  <a:srgbClr val="C77800"/>
                </a:solidFill>
                <a:latin typeface="Calibri" pitchFamily="34" charset="0"/>
                <a:ea typeface="Calibri" pitchFamily="34" charset="-122"/>
                <a:cs typeface="Calibri" pitchFamily="34" charset="-120"/>
              </a:rPr>
              <a:t>Found by looking at the running app</a:t>
            </a:r>
            <a:endParaRPr lang="en-US" sz="1000" dirty="0"/>
          </a:p>
        </p:txBody>
      </p:sp>
      <p:sp>
        <p:nvSpPr>
          <p:cNvPr id="37" name="Text 35"/>
          <p:cNvSpPr/>
          <p:nvPr/>
        </p:nvSpPr>
        <p:spPr>
          <a:xfrm>
            <a:off x="8296656" y="5394960"/>
            <a:ext cx="3078480" cy="512064"/>
          </a:xfrm>
          <a:prstGeom prst="rect">
            <a:avLst/>
          </a:prstGeom>
          <a:noFill/>
          <a:ln/>
        </p:spPr>
        <p:txBody>
          <a:bodyPr wrap="square" lIns="0" tIns="0" rIns="0" bIns="0" rtlCol="0" anchor="t"/>
          <a:lstStyle/>
          <a:p>
            <a:pPr indent="0" marL="0">
              <a:lnSpc>
                <a:spcPts val="1300"/>
              </a:lnSpc>
              <a:buNone/>
            </a:pPr>
            <a:r>
              <a:rPr lang="en-US" sz="1050" dirty="0">
                <a:solidFill>
                  <a:srgbClr val="445C64"/>
                </a:solidFill>
                <a:latin typeface="Calibri" pitchFamily="34" charset="0"/>
                <a:ea typeface="Calibri" pitchFamily="34" charset="-122"/>
                <a:cs typeface="Calibri" pitchFamily="34" charset="-120"/>
              </a:rPr>
              <a:t>Build passed, types passed, API correct — yet no bars drew. Animation under StrictMode.</a:t>
            </a:r>
            <a:endParaRPr lang="en-US" sz="1050" dirty="0"/>
          </a:p>
        </p:txBody>
      </p:sp>
      <p:sp>
        <p:nvSpPr>
          <p:cNvPr id="38" name="Text 36"/>
          <p:cNvSpPr/>
          <p:nvPr/>
        </p:nvSpPr>
        <p:spPr>
          <a:xfrm>
            <a:off x="566928" y="6053328"/>
            <a:ext cx="11027664" cy="256032"/>
          </a:xfrm>
          <a:prstGeom prst="rect">
            <a:avLst/>
          </a:prstGeom>
          <a:noFill/>
          <a:ln/>
        </p:spPr>
        <p:txBody>
          <a:bodyPr wrap="square" lIns="0" tIns="0" rIns="0" bIns="0" rtlCol="0" anchor="ctr"/>
          <a:lstStyle/>
          <a:p>
            <a:pPr indent="0" marL="0">
              <a:buNone/>
            </a:pPr>
            <a:r>
              <a:rPr lang="en-US" sz="1150" i="1" dirty="0">
                <a:solidFill>
                  <a:srgbClr val="028090"/>
                </a:solidFill>
                <a:latin typeface="Calibri" pitchFamily="34" charset="0"/>
                <a:ea typeface="Calibri" pitchFamily="34" charset="-122"/>
                <a:cs typeface="Calibri" pitchFamily="34" charset="-120"/>
              </a:rPr>
              <a:t>The third is the lesson: a green build proves the code compiles, not that the product works.</a:t>
            </a:r>
            <a:endParaRPr lang="en-US" sz="1150" dirty="0"/>
          </a:p>
        </p:txBody>
      </p:sp>
      <p:sp>
        <p:nvSpPr>
          <p:cNvPr id="39" name="Text 37"/>
          <p:cNvSpPr/>
          <p:nvPr/>
        </p:nvSpPr>
        <p:spPr>
          <a:xfrm>
            <a:off x="566928" y="6345936"/>
            <a:ext cx="7315200" cy="219456"/>
          </a:xfrm>
          <a:prstGeom prst="rect">
            <a:avLst/>
          </a:prstGeom>
          <a:noFill/>
          <a:ln/>
        </p:spPr>
        <p:txBody>
          <a:bodyPr wrap="square" lIns="0" tIns="0" rIns="0" bIns="0" rtlCol="0" anchor="ctr"/>
          <a:lstStyle/>
          <a:p>
            <a:pPr indent="0" marL="0">
              <a:buNone/>
            </a:pPr>
            <a:r>
              <a:rPr lang="en-US" sz="900" dirty="0">
                <a:solidFill>
                  <a:srgbClr val="7C939B"/>
                </a:solidFill>
                <a:latin typeface="Calibri" pitchFamily="34" charset="0"/>
                <a:ea typeface="Calibri" pitchFamily="34" charset="-122"/>
                <a:cs typeface="Calibri" pitchFamily="34" charset="-120"/>
              </a:rPr>
              <a:t>ServiceDesk AI  ·  BCSE408L Cloud Computing  ·  Final Demonstration</a:t>
            </a:r>
            <a:endParaRPr lang="en-US" sz="900" dirty="0"/>
          </a:p>
        </p:txBody>
      </p:sp>
      <p:sp>
        <p:nvSpPr>
          <p:cNvPr id="40" name="Text 38"/>
          <p:cNvSpPr/>
          <p:nvPr/>
        </p:nvSpPr>
        <p:spPr>
          <a:xfrm>
            <a:off x="10680192" y="6345936"/>
            <a:ext cx="914400" cy="219456"/>
          </a:xfrm>
          <a:prstGeom prst="rect">
            <a:avLst/>
          </a:prstGeom>
          <a:noFill/>
          <a:ln/>
        </p:spPr>
        <p:txBody>
          <a:bodyPr wrap="square" lIns="0" tIns="0" rIns="0" bIns="0" rtlCol="0" anchor="ctr"/>
          <a:lstStyle/>
          <a:p>
            <a:pPr algn="r" indent="0" marL="0">
              <a:buNone/>
            </a:pPr>
            <a:r>
              <a:rPr lang="en-US" sz="900" dirty="0">
                <a:solidFill>
                  <a:srgbClr val="7C939B"/>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65760"/>
            <a:ext cx="11027664" cy="237744"/>
          </a:xfrm>
          <a:prstGeom prst="rect">
            <a:avLst/>
          </a:prstGeom>
          <a:noFill/>
          <a:ln/>
        </p:spPr>
        <p:txBody>
          <a:bodyPr wrap="square" lIns="0" tIns="0" rIns="0" bIns="0" rtlCol="0" anchor="ctr"/>
          <a:lstStyle/>
          <a:p>
            <a:pPr indent="0" marL="0">
              <a:buNone/>
            </a:pPr>
            <a:r>
              <a:rPr lang="en-US" sz="1100" b="1" spc="220" kern="0" dirty="0">
                <a:solidFill>
                  <a:srgbClr val="028090"/>
                </a:solidFill>
                <a:latin typeface="Calibri" pitchFamily="34" charset="0"/>
                <a:ea typeface="Calibri" pitchFamily="34" charset="-122"/>
                <a:cs typeface="Calibri" pitchFamily="34" charset="-120"/>
              </a:rPr>
              <a:t>HONEST STATUS</a:t>
            </a:r>
            <a:endParaRPr lang="en-US" sz="1100" dirty="0"/>
          </a:p>
        </p:txBody>
      </p:sp>
      <p:sp>
        <p:nvSpPr>
          <p:cNvPr id="3" name="Text 1"/>
          <p:cNvSpPr/>
          <p:nvPr/>
        </p:nvSpPr>
        <p:spPr>
          <a:xfrm>
            <a:off x="566928" y="621792"/>
            <a:ext cx="11027664" cy="621792"/>
          </a:xfrm>
          <a:prstGeom prst="rect">
            <a:avLst/>
          </a:prstGeom>
          <a:noFill/>
          <a:ln/>
        </p:spPr>
        <p:txBody>
          <a:bodyPr wrap="square" lIns="0" tIns="0" rIns="0" bIns="0" rtlCol="0" anchor="t"/>
          <a:lstStyle/>
          <a:p>
            <a:pPr indent="0" marL="0">
              <a:buNone/>
            </a:pPr>
            <a:r>
              <a:rPr lang="en-US" sz="3000" b="1" dirty="0">
                <a:solidFill>
                  <a:srgbClr val="0A2E36"/>
                </a:solidFill>
                <a:latin typeface="Cambria" pitchFamily="34" charset="0"/>
                <a:ea typeface="Cambria" pitchFamily="34" charset="-122"/>
                <a:cs typeface="Cambria" pitchFamily="34" charset="-120"/>
              </a:rPr>
              <a:t>Compliance — Including What Is Not Done</a:t>
            </a:r>
            <a:endParaRPr lang="en-US" sz="3000" dirty="0"/>
          </a:p>
        </p:txBody>
      </p:sp>
      <p:sp>
        <p:nvSpPr>
          <p:cNvPr id="4" name="Shape 2"/>
          <p:cNvSpPr/>
          <p:nvPr/>
        </p:nvSpPr>
        <p:spPr>
          <a:xfrm>
            <a:off x="566928" y="1353312"/>
            <a:ext cx="6675120" cy="3968496"/>
          </a:xfrm>
          <a:prstGeom prst="roundRect">
            <a:avLst>
              <a:gd name="adj" fmla="val 2304"/>
            </a:avLst>
          </a:prstGeom>
          <a:solidFill>
            <a:srgbClr val="EEF6F7"/>
          </a:solidFill>
          <a:ln w="9525">
            <a:solidFill>
              <a:srgbClr val="D3E3E6"/>
            </a:solidFill>
            <a:prstDash val="solid"/>
          </a:ln>
          <a:effectLst>
            <a:outerShdw sx="100000" sy="100000" kx="0" ky="0" algn="bl" rotWithShape="0" blurRad="127000" dist="25400" dir="5400000">
              <a:srgbClr val="0A2E36">
                <a:alpha val="10000"/>
              </a:srgbClr>
            </a:outerShdw>
          </a:effectLst>
        </p:spPr>
      </p:sp>
      <p:sp>
        <p:nvSpPr>
          <p:cNvPr id="5" name="Shape 3"/>
          <p:cNvSpPr/>
          <p:nvPr/>
        </p:nvSpPr>
        <p:spPr>
          <a:xfrm>
            <a:off x="859536" y="1609344"/>
            <a:ext cx="420624" cy="420624"/>
          </a:xfrm>
          <a:prstGeom prst="ellipse">
            <a:avLst/>
          </a:prstGeom>
          <a:solidFill>
            <a:srgbClr val="028090"/>
          </a:solidFill>
          <a:ln/>
        </p:spPr>
      </p:sp>
      <p:sp>
        <p:nvSpPr>
          <p:cNvPr id="6" name="Text 4"/>
          <p:cNvSpPr/>
          <p:nvPr/>
        </p:nvSpPr>
        <p:spPr>
          <a:xfrm>
            <a:off x="859536" y="1609344"/>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a:t>
            </a:r>
            <a:endParaRPr lang="en-US" sz="1500" dirty="0"/>
          </a:p>
        </p:txBody>
      </p:sp>
      <p:sp>
        <p:nvSpPr>
          <p:cNvPr id="7" name="Text 5"/>
          <p:cNvSpPr/>
          <p:nvPr/>
        </p:nvSpPr>
        <p:spPr>
          <a:xfrm>
            <a:off x="1426464" y="1609344"/>
            <a:ext cx="3840480" cy="420624"/>
          </a:xfrm>
          <a:prstGeom prst="rect">
            <a:avLst/>
          </a:prstGeom>
          <a:noFill/>
          <a:ln/>
        </p:spPr>
        <p:txBody>
          <a:bodyPr wrap="square" lIns="0" tIns="0" rIns="0" bIns="0" rtlCol="0" anchor="ctr"/>
          <a:lstStyle/>
          <a:p>
            <a:pPr indent="0" marL="0">
              <a:buNone/>
            </a:pPr>
            <a:r>
              <a:rPr lang="en-US" sz="1500" b="1" dirty="0">
                <a:solidFill>
                  <a:srgbClr val="0A2E36"/>
                </a:solidFill>
                <a:latin typeface="Cambria" pitchFamily="34" charset="0"/>
                <a:ea typeface="Cambria" pitchFamily="34" charset="-122"/>
                <a:cs typeface="Cambria" pitchFamily="34" charset="-120"/>
              </a:rPr>
              <a:t>Complete and verified</a:t>
            </a:r>
            <a:endParaRPr lang="en-US" sz="1500" dirty="0"/>
          </a:p>
        </p:txBody>
      </p:sp>
      <p:sp>
        <p:nvSpPr>
          <p:cNvPr id="8" name="Text 6"/>
          <p:cNvSpPr/>
          <p:nvPr/>
        </p:nvSpPr>
        <p:spPr>
          <a:xfrm>
            <a:off x="1426464" y="2011680"/>
            <a:ext cx="5486400" cy="237744"/>
          </a:xfrm>
          <a:prstGeom prst="rect">
            <a:avLst/>
          </a:prstGeom>
          <a:noFill/>
          <a:ln/>
        </p:spPr>
        <p:txBody>
          <a:bodyPr wrap="square" lIns="0" tIns="0" rIns="0" bIns="0" rtlCol="0" anchor="ctr"/>
          <a:lstStyle/>
          <a:p>
            <a:pPr indent="0" marL="0">
              <a:buNone/>
            </a:pPr>
            <a:r>
              <a:rPr lang="en-US" sz="1100" dirty="0">
                <a:solidFill>
                  <a:srgbClr val="028090"/>
                </a:solidFill>
                <a:latin typeface="Calibri" pitchFamily="34" charset="0"/>
                <a:ea typeface="Calibri" pitchFamily="34" charset="-122"/>
                <a:cs typeface="Calibri" pitchFamily="34" charset="-120"/>
              </a:rPr>
              <a:t>Checked by running it, not by assuming</a:t>
            </a:r>
            <a:endParaRPr lang="en-US" sz="1100" dirty="0"/>
          </a:p>
        </p:txBody>
      </p:sp>
      <p:sp>
        <p:nvSpPr>
          <p:cNvPr id="9" name="Text 7"/>
          <p:cNvSpPr/>
          <p:nvPr/>
        </p:nvSpPr>
        <p:spPr>
          <a:xfrm>
            <a:off x="877824" y="2395728"/>
            <a:ext cx="6126480" cy="2798064"/>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rgbClr val="445C64"/>
                </a:solidFill>
                <a:latin typeface="Calibri" pitchFamily="34" charset="0"/>
                <a:ea typeface="Calibri" pitchFamily="34" charset="-122"/>
                <a:cs typeface="Calibri" pitchFamily="34" charset="-120"/>
              </a:rPr>
              <a:t>Registration and login — 13 tests</a:t>
            </a:r>
            <a:endParaRPr lang="en-US" sz="1200" dirty="0"/>
          </a:p>
          <a:p>
            <a:pPr marL="342900" indent="-342900">
              <a:spcAft>
                <a:spcPts val="600"/>
              </a:spcAft>
              <a:buSzPct val="100000"/>
              <a:buChar char="•"/>
            </a:pPr>
            <a:r>
              <a:rPr lang="en-US" sz="1200" dirty="0">
                <a:solidFill>
                  <a:srgbClr val="445C64"/>
                </a:solidFill>
                <a:latin typeface="Calibri" pitchFamily="34" charset="0"/>
                <a:ea typeface="Calibri" pitchFamily="34" charset="-122"/>
                <a:cs typeface="Calibri" pitchFamily="34" charset="-120"/>
              </a:rPr>
              <a:t>Role-based access — 26 tests bypassing the interface</a:t>
            </a:r>
            <a:endParaRPr lang="en-US" sz="1200" dirty="0"/>
          </a:p>
          <a:p>
            <a:pPr marL="342900" indent="-342900">
              <a:spcAft>
                <a:spcPts val="600"/>
              </a:spcAft>
              <a:buSzPct val="100000"/>
              <a:buChar char="•"/>
            </a:pPr>
            <a:r>
              <a:rPr lang="en-US" sz="1200" dirty="0">
                <a:solidFill>
                  <a:srgbClr val="445C64"/>
                </a:solidFill>
                <a:latin typeface="Calibri" pitchFamily="34" charset="0"/>
                <a:ea typeface="Calibri" pitchFamily="34" charset="-122"/>
                <a:cs typeface="Calibri" pitchFamily="34" charset="-120"/>
              </a:rPr>
              <a:t>CRUD and the guarded lifecycle — 33 tests</a:t>
            </a:r>
            <a:endParaRPr lang="en-US" sz="1200" dirty="0"/>
          </a:p>
          <a:p>
            <a:pPr marL="342900" indent="-342900">
              <a:spcAft>
                <a:spcPts val="600"/>
              </a:spcAft>
              <a:buSzPct val="100000"/>
              <a:buChar char="•"/>
            </a:pPr>
            <a:r>
              <a:rPr lang="en-US" sz="1200" dirty="0">
                <a:solidFill>
                  <a:srgbClr val="445C64"/>
                </a:solidFill>
                <a:latin typeface="Calibri" pitchFamily="34" charset="0"/>
                <a:ea typeface="Calibri" pitchFamily="34" charset="-122"/>
                <a:cs typeface="Calibri" pitchFamily="34" charset="-120"/>
              </a:rPr>
              <a:t>Dashboards and 7 reports on live data</a:t>
            </a:r>
            <a:endParaRPr lang="en-US" sz="1200" dirty="0"/>
          </a:p>
          <a:p>
            <a:pPr marL="342900" indent="-342900">
              <a:spcAft>
                <a:spcPts val="600"/>
              </a:spcAft>
              <a:buSzPct val="100000"/>
              <a:buChar char="•"/>
            </a:pPr>
            <a:r>
              <a:rPr lang="en-US" sz="1200" dirty="0">
                <a:solidFill>
                  <a:srgbClr val="445C64"/>
                </a:solidFill>
                <a:latin typeface="Calibri" pitchFamily="34" charset="0"/>
                <a:ea typeface="Calibri" pitchFamily="34" charset="-122"/>
                <a:cs typeface="Calibri" pitchFamily="34" charset="-120"/>
              </a:rPr>
              <a:t>REST API — ~40 endpoints across 9 groups</a:t>
            </a:r>
            <a:endParaRPr lang="en-US" sz="1200" dirty="0"/>
          </a:p>
          <a:p>
            <a:pPr marL="342900" indent="-342900">
              <a:spcAft>
                <a:spcPts val="600"/>
              </a:spcAft>
              <a:buSzPct val="100000"/>
              <a:buChar char="•"/>
            </a:pPr>
            <a:r>
              <a:rPr lang="en-US" sz="1200" dirty="0">
                <a:solidFill>
                  <a:srgbClr val="445C64"/>
                </a:solidFill>
                <a:latin typeface="Calibri" pitchFamily="34" charset="0"/>
                <a:ea typeface="Calibri" pitchFamily="34" charset="-122"/>
                <a:cs typeface="Calibri" pitchFamily="34" charset="-120"/>
              </a:rPr>
              <a:t>Responsive UI verified at 375, 768 and 1280 px</a:t>
            </a:r>
            <a:endParaRPr lang="en-US" sz="1200" dirty="0"/>
          </a:p>
          <a:p>
            <a:pPr marL="342900" indent="-342900">
              <a:spcAft>
                <a:spcPts val="600"/>
              </a:spcAft>
              <a:buSzPct val="100000"/>
              <a:buChar char="•"/>
            </a:pPr>
            <a:r>
              <a:rPr lang="en-US" sz="1200" dirty="0">
                <a:solidFill>
                  <a:srgbClr val="445C64"/>
                </a:solidFill>
                <a:latin typeface="Calibri" pitchFamily="34" charset="0"/>
                <a:ea typeface="Calibri" pitchFamily="34" charset="-122"/>
                <a:cs typeface="Calibri" pitchFamily="34" charset="-120"/>
              </a:rPr>
              <a:t>GitHub repository with a documented history</a:t>
            </a:r>
            <a:endParaRPr lang="en-US" sz="1200" dirty="0"/>
          </a:p>
          <a:p>
            <a:pPr marL="342900" indent="-342900">
              <a:spcAft>
                <a:spcPts val="600"/>
              </a:spcAft>
              <a:buSzPct val="100000"/>
              <a:buChar char="•"/>
            </a:pPr>
            <a:r>
              <a:rPr lang="en-US" sz="1200" dirty="0">
                <a:solidFill>
                  <a:srgbClr val="445C64"/>
                </a:solidFill>
                <a:latin typeface="Calibri" pitchFamily="34" charset="0"/>
                <a:ea typeface="Calibri" pitchFamily="34" charset="-122"/>
                <a:cs typeface="Calibri" pitchFamily="34" charset="-120"/>
              </a:rPr>
              <a:t>Backend typecheck and strict frontend build pass</a:t>
            </a:r>
            <a:endParaRPr lang="en-US" sz="1200" dirty="0"/>
          </a:p>
          <a:p>
            <a:pPr marL="342900" indent="-342900">
              <a:spcAft>
                <a:spcPts val="600"/>
              </a:spcAft>
              <a:buSzPct val="100000"/>
              <a:buChar char="•"/>
            </a:pPr>
            <a:r>
              <a:rPr lang="en-US" sz="1200" dirty="0">
                <a:solidFill>
                  <a:srgbClr val="445C64"/>
                </a:solidFill>
                <a:latin typeface="Calibri" pitchFamily="34" charset="0"/>
                <a:ea typeface="Calibri" pitchFamily="34" charset="-122"/>
                <a:cs typeface="Calibri" pitchFamily="34" charset="-120"/>
              </a:rPr>
              <a:t>Migrations apply cleanly to real PostgreSQL</a:t>
            </a:r>
            <a:endParaRPr lang="en-US" sz="1200" dirty="0"/>
          </a:p>
          <a:p>
            <a:pPr marL="342900" indent="-342900">
              <a:spcAft>
                <a:spcPts val="600"/>
              </a:spcAft>
              <a:buSzPct val="100000"/>
              <a:buChar char="•"/>
            </a:pPr>
            <a:r>
              <a:rPr lang="en-US" sz="1200" dirty="0">
                <a:solidFill>
                  <a:srgbClr val="445C64"/>
                </a:solidFill>
                <a:latin typeface="Calibri" pitchFamily="34" charset="0"/>
                <a:ea typeface="Calibri" pitchFamily="34" charset="-122"/>
                <a:cs typeface="Calibri" pitchFamily="34" charset="-120"/>
              </a:rPr>
              <a:t>All three roles exercised end to end in a browser</a:t>
            </a:r>
            <a:endParaRPr lang="en-US" sz="1200" dirty="0"/>
          </a:p>
        </p:txBody>
      </p:sp>
      <p:sp>
        <p:nvSpPr>
          <p:cNvPr id="10" name="Shape 8"/>
          <p:cNvSpPr/>
          <p:nvPr/>
        </p:nvSpPr>
        <p:spPr>
          <a:xfrm>
            <a:off x="7534656" y="1353312"/>
            <a:ext cx="4059936" cy="3968496"/>
          </a:xfrm>
          <a:prstGeom prst="roundRect">
            <a:avLst>
              <a:gd name="adj" fmla="val 2304"/>
            </a:avLst>
          </a:prstGeom>
          <a:solidFill>
            <a:srgbClr val="FBF7EF"/>
          </a:solidFill>
          <a:ln w="9525">
            <a:solidFill>
              <a:srgbClr val="EBDFC8"/>
            </a:solidFill>
            <a:prstDash val="solid"/>
          </a:ln>
          <a:effectLst>
            <a:outerShdw sx="100000" sy="100000" kx="0" ky="0" algn="bl" rotWithShape="0" blurRad="127000" dist="25400" dir="5400000">
              <a:srgbClr val="0A2E36">
                <a:alpha val="10000"/>
              </a:srgbClr>
            </a:outerShdw>
          </a:effectLst>
        </p:spPr>
      </p:sp>
      <p:sp>
        <p:nvSpPr>
          <p:cNvPr id="11" name="Shape 9"/>
          <p:cNvSpPr/>
          <p:nvPr/>
        </p:nvSpPr>
        <p:spPr>
          <a:xfrm>
            <a:off x="7827264" y="1609344"/>
            <a:ext cx="420624" cy="420624"/>
          </a:xfrm>
          <a:prstGeom prst="ellipse">
            <a:avLst/>
          </a:prstGeom>
          <a:solidFill>
            <a:srgbClr val="C77800"/>
          </a:solidFill>
          <a:ln/>
        </p:spPr>
      </p:sp>
      <p:sp>
        <p:nvSpPr>
          <p:cNvPr id="12" name="Text 10"/>
          <p:cNvSpPr/>
          <p:nvPr/>
        </p:nvSpPr>
        <p:spPr>
          <a:xfrm>
            <a:off x="7827264" y="1609344"/>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a:t>
            </a:r>
            <a:endParaRPr lang="en-US" sz="1500" dirty="0"/>
          </a:p>
        </p:txBody>
      </p:sp>
      <p:sp>
        <p:nvSpPr>
          <p:cNvPr id="13" name="Text 11"/>
          <p:cNvSpPr/>
          <p:nvPr/>
        </p:nvSpPr>
        <p:spPr>
          <a:xfrm>
            <a:off x="8394192" y="1609344"/>
            <a:ext cx="2926080" cy="420624"/>
          </a:xfrm>
          <a:prstGeom prst="rect">
            <a:avLst/>
          </a:prstGeom>
          <a:noFill/>
          <a:ln/>
        </p:spPr>
        <p:txBody>
          <a:bodyPr wrap="square" lIns="0" tIns="0" rIns="0" bIns="0" rtlCol="0" anchor="ctr"/>
          <a:lstStyle/>
          <a:p>
            <a:pPr indent="0" marL="0">
              <a:buNone/>
            </a:pPr>
            <a:r>
              <a:rPr lang="en-US" sz="1500" b="1" dirty="0">
                <a:solidFill>
                  <a:srgbClr val="0A2E36"/>
                </a:solidFill>
                <a:latin typeface="Cambria" pitchFamily="34" charset="0"/>
                <a:ea typeface="Cambria" pitchFamily="34" charset="-122"/>
                <a:cs typeface="Cambria" pitchFamily="34" charset="-120"/>
              </a:rPr>
              <a:t>Not done</a:t>
            </a:r>
            <a:endParaRPr lang="en-US" sz="1500" dirty="0"/>
          </a:p>
        </p:txBody>
      </p:sp>
      <p:sp>
        <p:nvSpPr>
          <p:cNvPr id="14" name="Text 12"/>
          <p:cNvSpPr/>
          <p:nvPr/>
        </p:nvSpPr>
        <p:spPr>
          <a:xfrm>
            <a:off x="8394192" y="2011680"/>
            <a:ext cx="2926080" cy="237744"/>
          </a:xfrm>
          <a:prstGeom prst="rect">
            <a:avLst/>
          </a:prstGeom>
          <a:noFill/>
          <a:ln/>
        </p:spPr>
        <p:txBody>
          <a:bodyPr wrap="square" lIns="0" tIns="0" rIns="0" bIns="0" rtlCol="0" anchor="ctr"/>
          <a:lstStyle/>
          <a:p>
            <a:pPr indent="0" marL="0">
              <a:buNone/>
            </a:pPr>
            <a:r>
              <a:rPr lang="en-US" sz="1100" dirty="0">
                <a:solidFill>
                  <a:srgbClr val="C77800"/>
                </a:solidFill>
                <a:latin typeface="Calibri" pitchFamily="34" charset="0"/>
                <a:ea typeface="Calibri" pitchFamily="34" charset="-122"/>
                <a:cs typeface="Calibri" pitchFamily="34" charset="-120"/>
              </a:rPr>
              <a:t>Stated plainly, not buried</a:t>
            </a:r>
            <a:endParaRPr lang="en-US" sz="1100" dirty="0"/>
          </a:p>
        </p:txBody>
      </p:sp>
      <p:sp>
        <p:nvSpPr>
          <p:cNvPr id="15" name="Text 13"/>
          <p:cNvSpPr/>
          <p:nvPr/>
        </p:nvSpPr>
        <p:spPr>
          <a:xfrm>
            <a:off x="7827264" y="2395728"/>
            <a:ext cx="3529584" cy="2743200"/>
          </a:xfrm>
          <a:prstGeom prst="rect">
            <a:avLst/>
          </a:prstGeom>
          <a:noFill/>
          <a:ln/>
        </p:spPr>
        <p:txBody>
          <a:bodyPr wrap="square" lIns="0" tIns="0" rIns="0" bIns="0" rtlCol="0" anchor="t"/>
          <a:lstStyle/>
          <a:p>
            <a:pPr marL="342900" indent="-342900">
              <a:spcAft>
                <a:spcPts val="800"/>
              </a:spcAft>
              <a:buSzPct val="100000"/>
              <a:buChar char="•"/>
            </a:pPr>
            <a:r>
              <a:rPr lang="en-US" sz="1200" dirty="0">
                <a:solidFill>
                  <a:srgbClr val="445C64"/>
                </a:solidFill>
                <a:latin typeface="Calibri" pitchFamily="34" charset="0"/>
                <a:ea typeface="Calibri" pitchFamily="34" charset="-122"/>
                <a:cs typeface="Calibri" pitchFamily="34" charset="-120"/>
              </a:rPr>
              <a:t>Not deployed — no hosting account provisioned, so there is no public URL</a:t>
            </a:r>
            <a:endParaRPr lang="en-US" sz="1200" dirty="0"/>
          </a:p>
          <a:p>
            <a:pPr marL="342900" indent="-342900">
              <a:spcAft>
                <a:spcPts val="800"/>
              </a:spcAft>
              <a:buSzPct val="100000"/>
              <a:buChar char="•"/>
            </a:pPr>
            <a:r>
              <a:rPr lang="en-US" sz="1200" dirty="0">
                <a:solidFill>
                  <a:srgbClr val="445C64"/>
                </a:solidFill>
                <a:latin typeface="Calibri" pitchFamily="34" charset="0"/>
                <a:ea typeface="Calibri" pitchFamily="34" charset="-122"/>
                <a:cs typeface="Calibri" pitchFamily="34" charset="-120"/>
              </a:rPr>
              <a:t>Cloud database instance not provisioned (schema runs on local PostgreSQL)</a:t>
            </a:r>
            <a:endParaRPr lang="en-US" sz="1200" dirty="0"/>
          </a:p>
          <a:p>
            <a:pPr marL="342900" indent="-342900">
              <a:spcAft>
                <a:spcPts val="800"/>
              </a:spcAft>
              <a:buSzPct val="100000"/>
              <a:buChar char="•"/>
            </a:pPr>
            <a:r>
              <a:rPr lang="en-US" sz="1200" dirty="0">
                <a:solidFill>
                  <a:srgbClr val="445C64"/>
                </a:solidFill>
                <a:latin typeface="Calibri" pitchFamily="34" charset="0"/>
                <a:ea typeface="Calibri" pitchFamily="34" charset="-122"/>
                <a:cs typeface="Calibri" pitchFamily="34" charset="-120"/>
              </a:rPr>
              <a:t>File attachments not implemented, so the cloud-storage clause is unmet</a:t>
            </a:r>
            <a:endParaRPr lang="en-US" sz="1200" dirty="0"/>
          </a:p>
          <a:p>
            <a:pPr marL="342900" indent="-342900">
              <a:spcAft>
                <a:spcPts val="800"/>
              </a:spcAft>
              <a:buSzPct val="100000"/>
              <a:buChar char="•"/>
            </a:pPr>
            <a:r>
              <a:rPr lang="en-US" sz="1200" dirty="0">
                <a:solidFill>
                  <a:srgbClr val="445C64"/>
                </a:solidFill>
                <a:latin typeface="Calibri" pitchFamily="34" charset="0"/>
                <a:ea typeface="Calibri" pitchFamily="34" charset="-122"/>
                <a:cs typeface="Calibri" pitchFamily="34" charset="-120"/>
              </a:rPr>
              <a:t>No automated frontend tests — manual verification only</a:t>
            </a:r>
            <a:endParaRPr lang="en-US" sz="1200" dirty="0"/>
          </a:p>
          <a:p>
            <a:pPr marL="342900" indent="-342900">
              <a:spcAft>
                <a:spcPts val="800"/>
              </a:spcAft>
              <a:buSzPct val="100000"/>
              <a:buChar char="•"/>
            </a:pPr>
            <a:r>
              <a:rPr lang="en-US" sz="1200" dirty="0">
                <a:solidFill>
                  <a:srgbClr val="445C64"/>
                </a:solidFill>
                <a:latin typeface="Calibri" pitchFamily="34" charset="0"/>
                <a:ea typeface="Calibri" pitchFamily="34" charset="-122"/>
                <a:cs typeface="Calibri" pitchFamily="34" charset="-120"/>
              </a:rPr>
              <a:t>No load or performance testing under concurrency</a:t>
            </a:r>
            <a:endParaRPr lang="en-US" sz="1200" dirty="0"/>
          </a:p>
        </p:txBody>
      </p:sp>
      <p:sp>
        <p:nvSpPr>
          <p:cNvPr id="16" name="Shape 14"/>
          <p:cNvSpPr/>
          <p:nvPr/>
        </p:nvSpPr>
        <p:spPr>
          <a:xfrm>
            <a:off x="566928" y="5468112"/>
            <a:ext cx="11027664" cy="713232"/>
          </a:xfrm>
          <a:prstGeom prst="roundRect">
            <a:avLst>
              <a:gd name="adj" fmla="val 12821"/>
            </a:avLst>
          </a:prstGeom>
          <a:solidFill>
            <a:srgbClr val="0A2E36"/>
          </a:solidFill>
          <a:ln/>
          <a:effectLst>
            <a:outerShdw sx="100000" sy="100000" kx="0" ky="0" algn="bl" rotWithShape="0" blurRad="127000" dist="25400" dir="5400000">
              <a:srgbClr val="0A2E36">
                <a:alpha val="10000"/>
              </a:srgbClr>
            </a:outerShdw>
          </a:effectLst>
        </p:spPr>
      </p:sp>
      <p:sp>
        <p:nvSpPr>
          <p:cNvPr id="17" name="Text 15"/>
          <p:cNvSpPr/>
          <p:nvPr/>
        </p:nvSpPr>
        <p:spPr>
          <a:xfrm>
            <a:off x="877824" y="5468112"/>
            <a:ext cx="10405872" cy="713232"/>
          </a:xfrm>
          <a:prstGeom prst="rect">
            <a:avLst/>
          </a:prstGeom>
          <a:noFill/>
          <a:ln/>
        </p:spPr>
        <p:txBody>
          <a:bodyPr wrap="square" lIns="0" tIns="0" rIns="0" bIns="0" rtlCol="0" anchor="ctr"/>
          <a:lstStyle/>
          <a:p>
            <a:pPr indent="0" marL="0">
              <a:lnSpc>
                <a:spcPts val="1400"/>
              </a:lnSpc>
              <a:buNone/>
            </a:pPr>
            <a:r>
              <a:rPr lang="en-US" sz="1200" dirty="0">
                <a:solidFill>
                  <a:srgbClr val="FFFFFF"/>
                </a:solidFill>
                <a:latin typeface="Calibri" pitchFamily="34" charset="0"/>
                <a:ea typeface="Calibri" pitchFamily="34" charset="-122"/>
                <a:cs typeface="Calibri" pitchFamily="34" charset="-120"/>
              </a:rPr>
              <a:t>Deployment is the single blocking item. The procedure is fully documented and configured — roughly 75 minutes of work — and the live URL, the cloud database and the screenshots all depend on it.</a:t>
            </a:r>
            <a:endParaRPr lang="en-US" sz="1200" dirty="0"/>
          </a:p>
        </p:txBody>
      </p:sp>
      <p:sp>
        <p:nvSpPr>
          <p:cNvPr id="18" name="Text 16"/>
          <p:cNvSpPr/>
          <p:nvPr/>
        </p:nvSpPr>
        <p:spPr>
          <a:xfrm>
            <a:off x="566928" y="6345936"/>
            <a:ext cx="7315200" cy="219456"/>
          </a:xfrm>
          <a:prstGeom prst="rect">
            <a:avLst/>
          </a:prstGeom>
          <a:noFill/>
          <a:ln/>
        </p:spPr>
        <p:txBody>
          <a:bodyPr wrap="square" lIns="0" tIns="0" rIns="0" bIns="0" rtlCol="0" anchor="ctr"/>
          <a:lstStyle/>
          <a:p>
            <a:pPr indent="0" marL="0">
              <a:buNone/>
            </a:pPr>
            <a:r>
              <a:rPr lang="en-US" sz="900" dirty="0">
                <a:solidFill>
                  <a:srgbClr val="7C939B"/>
                </a:solidFill>
                <a:latin typeface="Calibri" pitchFamily="34" charset="0"/>
                <a:ea typeface="Calibri" pitchFamily="34" charset="-122"/>
                <a:cs typeface="Calibri" pitchFamily="34" charset="-120"/>
              </a:rPr>
              <a:t>ServiceDesk AI  ·  BCSE408L Cloud Computing  ·  Final Demonstration</a:t>
            </a:r>
            <a:endParaRPr lang="en-US" sz="900" dirty="0"/>
          </a:p>
        </p:txBody>
      </p:sp>
      <p:sp>
        <p:nvSpPr>
          <p:cNvPr id="19" name="Text 17"/>
          <p:cNvSpPr/>
          <p:nvPr/>
        </p:nvSpPr>
        <p:spPr>
          <a:xfrm>
            <a:off x="10680192" y="6345936"/>
            <a:ext cx="914400" cy="219456"/>
          </a:xfrm>
          <a:prstGeom prst="rect">
            <a:avLst/>
          </a:prstGeom>
          <a:noFill/>
          <a:ln/>
        </p:spPr>
        <p:txBody>
          <a:bodyPr wrap="square" lIns="0" tIns="0" rIns="0" bIns="0" rtlCol="0" anchor="ctr"/>
          <a:lstStyle/>
          <a:p>
            <a:pPr algn="r" indent="0" marL="0">
              <a:buNone/>
            </a:pPr>
            <a:r>
              <a:rPr lang="en-US" sz="900" dirty="0">
                <a:solidFill>
                  <a:srgbClr val="7C939B"/>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65760"/>
            <a:ext cx="11027664" cy="237744"/>
          </a:xfrm>
          <a:prstGeom prst="rect">
            <a:avLst/>
          </a:prstGeom>
          <a:noFill/>
          <a:ln/>
        </p:spPr>
        <p:txBody>
          <a:bodyPr wrap="square" lIns="0" tIns="0" rIns="0" bIns="0" rtlCol="0" anchor="ctr"/>
          <a:lstStyle/>
          <a:p>
            <a:pPr indent="0" marL="0">
              <a:buNone/>
            </a:pPr>
            <a:r>
              <a:rPr lang="en-US" sz="1100" b="1" spc="220" kern="0" dirty="0">
                <a:solidFill>
                  <a:srgbClr val="028090"/>
                </a:solidFill>
                <a:latin typeface="Calibri" pitchFamily="34" charset="0"/>
                <a:ea typeface="Calibri" pitchFamily="34" charset="-122"/>
                <a:cs typeface="Calibri" pitchFamily="34" charset="-120"/>
              </a:rPr>
              <a:t>REMAINING WORK</a:t>
            </a:r>
            <a:endParaRPr lang="en-US" sz="1100" dirty="0"/>
          </a:p>
        </p:txBody>
      </p:sp>
      <p:sp>
        <p:nvSpPr>
          <p:cNvPr id="3" name="Text 1"/>
          <p:cNvSpPr/>
          <p:nvPr/>
        </p:nvSpPr>
        <p:spPr>
          <a:xfrm>
            <a:off x="566928" y="621792"/>
            <a:ext cx="11027664" cy="621792"/>
          </a:xfrm>
          <a:prstGeom prst="rect">
            <a:avLst/>
          </a:prstGeom>
          <a:noFill/>
          <a:ln/>
        </p:spPr>
        <p:txBody>
          <a:bodyPr wrap="square" lIns="0" tIns="0" rIns="0" bIns="0" rtlCol="0" anchor="t"/>
          <a:lstStyle/>
          <a:p>
            <a:pPr indent="0" marL="0">
              <a:buNone/>
            </a:pPr>
            <a:r>
              <a:rPr lang="en-US" sz="3000" b="1" dirty="0">
                <a:solidFill>
                  <a:srgbClr val="0A2E36"/>
                </a:solidFill>
                <a:latin typeface="Cambria" pitchFamily="34" charset="0"/>
                <a:ea typeface="Cambria" pitchFamily="34" charset="-122"/>
                <a:cs typeface="Cambria" pitchFamily="34" charset="-120"/>
              </a:rPr>
              <a:t>Deployment</a:t>
            </a:r>
            <a:endParaRPr lang="en-US" sz="3000" dirty="0"/>
          </a:p>
        </p:txBody>
      </p:sp>
      <p:sp>
        <p:nvSpPr>
          <p:cNvPr id="4" name="Text 2"/>
          <p:cNvSpPr/>
          <p:nvPr/>
        </p:nvSpPr>
        <p:spPr>
          <a:xfrm>
            <a:off x="566928" y="1316736"/>
            <a:ext cx="10424160" cy="402336"/>
          </a:xfrm>
          <a:prstGeom prst="rect">
            <a:avLst/>
          </a:prstGeom>
          <a:noFill/>
          <a:ln/>
        </p:spPr>
        <p:txBody>
          <a:bodyPr wrap="square" lIns="0" tIns="0" rIns="0" bIns="0" rtlCol="0" anchor="t"/>
          <a:lstStyle/>
          <a:p>
            <a:pPr indent="0" marL="0">
              <a:lnSpc>
                <a:spcPts val="1700"/>
              </a:lnSpc>
              <a:buNone/>
            </a:pPr>
            <a:r>
              <a:rPr lang="en-US" sz="1250" dirty="0">
                <a:solidFill>
                  <a:srgbClr val="445C64"/>
                </a:solidFill>
                <a:latin typeface="Calibri" pitchFamily="34" charset="0"/>
                <a:ea typeface="Calibri" pitchFamily="34" charset="-122"/>
                <a:cs typeface="Calibri" pitchFamily="34" charset="-120"/>
              </a:rPr>
              <a:t>Three tiers, deployed in dependency order. Each step is documented with its exact settings, environment variables and verification checks.</a:t>
            </a:r>
            <a:endParaRPr lang="en-US" sz="1250" dirty="0"/>
          </a:p>
        </p:txBody>
      </p:sp>
      <p:sp>
        <p:nvSpPr>
          <p:cNvPr id="5" name="Shape 3"/>
          <p:cNvSpPr/>
          <p:nvPr/>
        </p:nvSpPr>
        <p:spPr>
          <a:xfrm>
            <a:off x="566928" y="1847088"/>
            <a:ext cx="2592324" cy="1920240"/>
          </a:xfrm>
          <a:prstGeom prst="roundRect">
            <a:avLst>
              <a:gd name="adj" fmla="val 4762"/>
            </a:avLst>
          </a:prstGeom>
          <a:solidFill>
            <a:srgbClr val="EEF6F7"/>
          </a:solidFill>
          <a:ln w="9525">
            <a:solidFill>
              <a:srgbClr val="D3E3E6"/>
            </a:solidFill>
            <a:prstDash val="solid"/>
          </a:ln>
          <a:effectLst>
            <a:outerShdw sx="100000" sy="100000" kx="0" ky="0" algn="bl" rotWithShape="0" blurRad="127000" dist="25400" dir="5400000">
              <a:srgbClr val="0A2E36">
                <a:alpha val="10000"/>
              </a:srgbClr>
            </a:outerShdw>
          </a:effectLst>
        </p:spPr>
      </p:sp>
      <p:sp>
        <p:nvSpPr>
          <p:cNvPr id="6" name="Shape 4"/>
          <p:cNvSpPr/>
          <p:nvPr/>
        </p:nvSpPr>
        <p:spPr>
          <a:xfrm>
            <a:off x="804672" y="2048256"/>
            <a:ext cx="438912" cy="438912"/>
          </a:xfrm>
          <a:prstGeom prst="ellipse">
            <a:avLst/>
          </a:prstGeom>
          <a:solidFill>
            <a:srgbClr val="028090"/>
          </a:solidFill>
          <a:ln/>
        </p:spPr>
      </p:sp>
      <p:sp>
        <p:nvSpPr>
          <p:cNvPr id="7" name="Text 5"/>
          <p:cNvSpPr/>
          <p:nvPr/>
        </p:nvSpPr>
        <p:spPr>
          <a:xfrm>
            <a:off x="804672" y="2048256"/>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8" name="Text 6"/>
          <p:cNvSpPr/>
          <p:nvPr/>
        </p:nvSpPr>
        <p:spPr>
          <a:xfrm>
            <a:off x="1353312" y="2029968"/>
            <a:ext cx="1586484" cy="256032"/>
          </a:xfrm>
          <a:prstGeom prst="rect">
            <a:avLst/>
          </a:prstGeom>
          <a:noFill/>
          <a:ln/>
        </p:spPr>
        <p:txBody>
          <a:bodyPr wrap="square" lIns="0" tIns="0" rIns="0" bIns="0" rtlCol="0" anchor="ctr"/>
          <a:lstStyle/>
          <a:p>
            <a:pPr indent="0" marL="0">
              <a:buNone/>
            </a:pPr>
            <a:r>
              <a:rPr lang="en-US" sz="1450" b="1" dirty="0">
                <a:solidFill>
                  <a:srgbClr val="0A2E36"/>
                </a:solidFill>
                <a:latin typeface="Cambria" pitchFamily="34" charset="0"/>
                <a:ea typeface="Cambria" pitchFamily="34" charset="-122"/>
                <a:cs typeface="Cambria" pitchFamily="34" charset="-120"/>
              </a:rPr>
              <a:t>Database</a:t>
            </a:r>
            <a:endParaRPr lang="en-US" sz="1450" dirty="0"/>
          </a:p>
        </p:txBody>
      </p:sp>
      <p:sp>
        <p:nvSpPr>
          <p:cNvPr id="9" name="Text 7"/>
          <p:cNvSpPr/>
          <p:nvPr/>
        </p:nvSpPr>
        <p:spPr>
          <a:xfrm>
            <a:off x="1353312" y="2286000"/>
            <a:ext cx="1586484" cy="219456"/>
          </a:xfrm>
          <a:prstGeom prst="rect">
            <a:avLst/>
          </a:prstGeom>
          <a:noFill/>
          <a:ln/>
        </p:spPr>
        <p:txBody>
          <a:bodyPr wrap="square" lIns="0" tIns="0" rIns="0" bIns="0" rtlCol="0" anchor="ctr"/>
          <a:lstStyle/>
          <a:p>
            <a:pPr indent="0" marL="0">
              <a:buNone/>
            </a:pPr>
            <a:r>
              <a:rPr lang="en-US" sz="1050" b="1" dirty="0">
                <a:solidFill>
                  <a:srgbClr val="028090"/>
                </a:solidFill>
                <a:latin typeface="Calibri" pitchFamily="34" charset="0"/>
                <a:ea typeface="Calibri" pitchFamily="34" charset="-122"/>
                <a:cs typeface="Calibri" pitchFamily="34" charset="-120"/>
              </a:rPr>
              <a:t>Supabase</a:t>
            </a:r>
            <a:endParaRPr lang="en-US" sz="1050" dirty="0"/>
          </a:p>
        </p:txBody>
      </p:sp>
      <p:sp>
        <p:nvSpPr>
          <p:cNvPr id="10" name="Text 8"/>
          <p:cNvSpPr/>
          <p:nvPr/>
        </p:nvSpPr>
        <p:spPr>
          <a:xfrm>
            <a:off x="804672" y="2633472"/>
            <a:ext cx="2116836" cy="786384"/>
          </a:xfrm>
          <a:prstGeom prst="rect">
            <a:avLst/>
          </a:prstGeom>
          <a:noFill/>
          <a:ln/>
        </p:spPr>
        <p:txBody>
          <a:bodyPr wrap="square" lIns="0" tIns="0" rIns="0" bIns="0" rtlCol="0" anchor="t"/>
          <a:lstStyle/>
          <a:p>
            <a:pPr indent="0" marL="0">
              <a:lnSpc>
                <a:spcPts val="1300"/>
              </a:lnSpc>
              <a:buNone/>
            </a:pPr>
            <a:r>
              <a:rPr lang="en-US" sz="1050" dirty="0">
                <a:solidFill>
                  <a:srgbClr val="445C64"/>
                </a:solidFill>
                <a:latin typeface="Calibri" pitchFamily="34" charset="0"/>
                <a:ea typeface="Calibri" pitchFamily="34" charset="-122"/>
                <a:cs typeface="Calibri" pitchFamily="34" charset="-120"/>
              </a:rPr>
              <a:t>Create the project, copy the pooled connection string, run migrate and seed</a:t>
            </a:r>
            <a:endParaRPr lang="en-US" sz="1050" dirty="0"/>
          </a:p>
        </p:txBody>
      </p:sp>
      <p:sp>
        <p:nvSpPr>
          <p:cNvPr id="11" name="Text 9"/>
          <p:cNvSpPr/>
          <p:nvPr/>
        </p:nvSpPr>
        <p:spPr>
          <a:xfrm>
            <a:off x="804672" y="3456432"/>
            <a:ext cx="2116836" cy="219456"/>
          </a:xfrm>
          <a:prstGeom prst="rect">
            <a:avLst/>
          </a:prstGeom>
          <a:noFill/>
          <a:ln/>
        </p:spPr>
        <p:txBody>
          <a:bodyPr wrap="square" lIns="0" tIns="0" rIns="0" bIns="0" rtlCol="0" anchor="ctr"/>
          <a:lstStyle/>
          <a:p>
            <a:pPr indent="0" marL="0">
              <a:buNone/>
            </a:pPr>
            <a:r>
              <a:rPr lang="en-US" sz="1050" b="1" dirty="0">
                <a:solidFill>
                  <a:srgbClr val="7C939B"/>
                </a:solidFill>
                <a:latin typeface="Calibri" pitchFamily="34" charset="0"/>
                <a:ea typeface="Calibri" pitchFamily="34" charset="-122"/>
                <a:cs typeface="Calibri" pitchFamily="34" charset="-120"/>
              </a:rPr>
              <a:t>20 min</a:t>
            </a:r>
            <a:endParaRPr lang="en-US" sz="1050" dirty="0"/>
          </a:p>
        </p:txBody>
      </p:sp>
      <p:sp>
        <p:nvSpPr>
          <p:cNvPr id="12" name="Shape 10"/>
          <p:cNvSpPr/>
          <p:nvPr/>
        </p:nvSpPr>
        <p:spPr>
          <a:xfrm>
            <a:off x="3378708" y="1847088"/>
            <a:ext cx="2592324" cy="1920240"/>
          </a:xfrm>
          <a:prstGeom prst="roundRect">
            <a:avLst>
              <a:gd name="adj" fmla="val 4762"/>
            </a:avLst>
          </a:prstGeom>
          <a:solidFill>
            <a:srgbClr val="EEF6F7"/>
          </a:solidFill>
          <a:ln w="9525">
            <a:solidFill>
              <a:srgbClr val="D3E3E6"/>
            </a:solidFill>
            <a:prstDash val="solid"/>
          </a:ln>
          <a:effectLst>
            <a:outerShdw sx="100000" sy="100000" kx="0" ky="0" algn="bl" rotWithShape="0" blurRad="127000" dist="25400" dir="5400000">
              <a:srgbClr val="0A2E36">
                <a:alpha val="10000"/>
              </a:srgbClr>
            </a:outerShdw>
          </a:effectLst>
        </p:spPr>
      </p:sp>
      <p:sp>
        <p:nvSpPr>
          <p:cNvPr id="13" name="Shape 11"/>
          <p:cNvSpPr/>
          <p:nvPr/>
        </p:nvSpPr>
        <p:spPr>
          <a:xfrm>
            <a:off x="3616452" y="2048256"/>
            <a:ext cx="438912" cy="438912"/>
          </a:xfrm>
          <a:prstGeom prst="ellipse">
            <a:avLst/>
          </a:prstGeom>
          <a:solidFill>
            <a:srgbClr val="028090"/>
          </a:solidFill>
          <a:ln/>
        </p:spPr>
      </p:sp>
      <p:sp>
        <p:nvSpPr>
          <p:cNvPr id="14" name="Text 12"/>
          <p:cNvSpPr/>
          <p:nvPr/>
        </p:nvSpPr>
        <p:spPr>
          <a:xfrm>
            <a:off x="3616452" y="2048256"/>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5" name="Text 13"/>
          <p:cNvSpPr/>
          <p:nvPr/>
        </p:nvSpPr>
        <p:spPr>
          <a:xfrm>
            <a:off x="4165092" y="2029968"/>
            <a:ext cx="1586484" cy="256032"/>
          </a:xfrm>
          <a:prstGeom prst="rect">
            <a:avLst/>
          </a:prstGeom>
          <a:noFill/>
          <a:ln/>
        </p:spPr>
        <p:txBody>
          <a:bodyPr wrap="square" lIns="0" tIns="0" rIns="0" bIns="0" rtlCol="0" anchor="ctr"/>
          <a:lstStyle/>
          <a:p>
            <a:pPr indent="0" marL="0">
              <a:buNone/>
            </a:pPr>
            <a:r>
              <a:rPr lang="en-US" sz="1450" b="1" dirty="0">
                <a:solidFill>
                  <a:srgbClr val="0A2E36"/>
                </a:solidFill>
                <a:latin typeface="Cambria" pitchFamily="34" charset="0"/>
                <a:ea typeface="Cambria" pitchFamily="34" charset="-122"/>
                <a:cs typeface="Cambria" pitchFamily="34" charset="-120"/>
              </a:rPr>
              <a:t>API</a:t>
            </a:r>
            <a:endParaRPr lang="en-US" sz="1450" dirty="0"/>
          </a:p>
        </p:txBody>
      </p:sp>
      <p:sp>
        <p:nvSpPr>
          <p:cNvPr id="16" name="Text 14"/>
          <p:cNvSpPr/>
          <p:nvPr/>
        </p:nvSpPr>
        <p:spPr>
          <a:xfrm>
            <a:off x="4165092" y="2286000"/>
            <a:ext cx="1586484" cy="219456"/>
          </a:xfrm>
          <a:prstGeom prst="rect">
            <a:avLst/>
          </a:prstGeom>
          <a:noFill/>
          <a:ln/>
        </p:spPr>
        <p:txBody>
          <a:bodyPr wrap="square" lIns="0" tIns="0" rIns="0" bIns="0" rtlCol="0" anchor="ctr"/>
          <a:lstStyle/>
          <a:p>
            <a:pPr indent="0" marL="0">
              <a:buNone/>
            </a:pPr>
            <a:r>
              <a:rPr lang="en-US" sz="1050" b="1" dirty="0">
                <a:solidFill>
                  <a:srgbClr val="028090"/>
                </a:solidFill>
                <a:latin typeface="Calibri" pitchFamily="34" charset="0"/>
                <a:ea typeface="Calibri" pitchFamily="34" charset="-122"/>
                <a:cs typeface="Calibri" pitchFamily="34" charset="-120"/>
              </a:rPr>
              <a:t>Render</a:t>
            </a:r>
            <a:endParaRPr lang="en-US" sz="1050" dirty="0"/>
          </a:p>
        </p:txBody>
      </p:sp>
      <p:sp>
        <p:nvSpPr>
          <p:cNvPr id="17" name="Text 15"/>
          <p:cNvSpPr/>
          <p:nvPr/>
        </p:nvSpPr>
        <p:spPr>
          <a:xfrm>
            <a:off x="3616452" y="2633472"/>
            <a:ext cx="2116836" cy="786384"/>
          </a:xfrm>
          <a:prstGeom prst="rect">
            <a:avLst/>
          </a:prstGeom>
          <a:noFill/>
          <a:ln/>
        </p:spPr>
        <p:txBody>
          <a:bodyPr wrap="square" lIns="0" tIns="0" rIns="0" bIns="0" rtlCol="0" anchor="t"/>
          <a:lstStyle/>
          <a:p>
            <a:pPr indent="0" marL="0">
              <a:lnSpc>
                <a:spcPts val="1300"/>
              </a:lnSpc>
              <a:buNone/>
            </a:pPr>
            <a:r>
              <a:rPr lang="en-US" sz="1050" dirty="0">
                <a:solidFill>
                  <a:srgbClr val="445C64"/>
                </a:solidFill>
                <a:latin typeface="Calibri" pitchFamily="34" charset="0"/>
                <a:ea typeface="Calibri" pitchFamily="34" charset="-122"/>
                <a:cs typeface="Calibri" pitchFamily="34" charset="-120"/>
              </a:rPr>
              <a:t>Root = backend, build and start commands, health check path, environment variables</a:t>
            </a:r>
            <a:endParaRPr lang="en-US" sz="1050" dirty="0"/>
          </a:p>
        </p:txBody>
      </p:sp>
      <p:sp>
        <p:nvSpPr>
          <p:cNvPr id="18" name="Text 16"/>
          <p:cNvSpPr/>
          <p:nvPr/>
        </p:nvSpPr>
        <p:spPr>
          <a:xfrm>
            <a:off x="3616452" y="3456432"/>
            <a:ext cx="2116836" cy="219456"/>
          </a:xfrm>
          <a:prstGeom prst="rect">
            <a:avLst/>
          </a:prstGeom>
          <a:noFill/>
          <a:ln/>
        </p:spPr>
        <p:txBody>
          <a:bodyPr wrap="square" lIns="0" tIns="0" rIns="0" bIns="0" rtlCol="0" anchor="ctr"/>
          <a:lstStyle/>
          <a:p>
            <a:pPr indent="0" marL="0">
              <a:buNone/>
            </a:pPr>
            <a:r>
              <a:rPr lang="en-US" sz="1050" b="1" dirty="0">
                <a:solidFill>
                  <a:srgbClr val="7C939B"/>
                </a:solidFill>
                <a:latin typeface="Calibri" pitchFamily="34" charset="0"/>
                <a:ea typeface="Calibri" pitchFamily="34" charset="-122"/>
                <a:cs typeface="Calibri" pitchFamily="34" charset="-120"/>
              </a:rPr>
              <a:t>20 min</a:t>
            </a:r>
            <a:endParaRPr lang="en-US" sz="1050" dirty="0"/>
          </a:p>
        </p:txBody>
      </p:sp>
      <p:sp>
        <p:nvSpPr>
          <p:cNvPr id="19" name="Shape 17"/>
          <p:cNvSpPr/>
          <p:nvPr/>
        </p:nvSpPr>
        <p:spPr>
          <a:xfrm>
            <a:off x="6190488" y="1847088"/>
            <a:ext cx="2592324" cy="1920240"/>
          </a:xfrm>
          <a:prstGeom prst="roundRect">
            <a:avLst>
              <a:gd name="adj" fmla="val 4762"/>
            </a:avLst>
          </a:prstGeom>
          <a:solidFill>
            <a:srgbClr val="EEF6F7"/>
          </a:solidFill>
          <a:ln w="9525">
            <a:solidFill>
              <a:srgbClr val="D3E3E6"/>
            </a:solidFill>
            <a:prstDash val="solid"/>
          </a:ln>
          <a:effectLst>
            <a:outerShdw sx="100000" sy="100000" kx="0" ky="0" algn="bl" rotWithShape="0" blurRad="127000" dist="25400" dir="5400000">
              <a:srgbClr val="0A2E36">
                <a:alpha val="10000"/>
              </a:srgbClr>
            </a:outerShdw>
          </a:effectLst>
        </p:spPr>
      </p:sp>
      <p:sp>
        <p:nvSpPr>
          <p:cNvPr id="20" name="Shape 18"/>
          <p:cNvSpPr/>
          <p:nvPr/>
        </p:nvSpPr>
        <p:spPr>
          <a:xfrm>
            <a:off x="6428232" y="2048256"/>
            <a:ext cx="438912" cy="438912"/>
          </a:xfrm>
          <a:prstGeom prst="ellipse">
            <a:avLst/>
          </a:prstGeom>
          <a:solidFill>
            <a:srgbClr val="028090"/>
          </a:solidFill>
          <a:ln/>
        </p:spPr>
      </p:sp>
      <p:sp>
        <p:nvSpPr>
          <p:cNvPr id="21" name="Text 19"/>
          <p:cNvSpPr/>
          <p:nvPr/>
        </p:nvSpPr>
        <p:spPr>
          <a:xfrm>
            <a:off x="6428232" y="2048256"/>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22" name="Text 20"/>
          <p:cNvSpPr/>
          <p:nvPr/>
        </p:nvSpPr>
        <p:spPr>
          <a:xfrm>
            <a:off x="6976872" y="2029968"/>
            <a:ext cx="1586484" cy="256032"/>
          </a:xfrm>
          <a:prstGeom prst="rect">
            <a:avLst/>
          </a:prstGeom>
          <a:noFill/>
          <a:ln/>
        </p:spPr>
        <p:txBody>
          <a:bodyPr wrap="square" lIns="0" tIns="0" rIns="0" bIns="0" rtlCol="0" anchor="ctr"/>
          <a:lstStyle/>
          <a:p>
            <a:pPr indent="0" marL="0">
              <a:buNone/>
            </a:pPr>
            <a:r>
              <a:rPr lang="en-US" sz="1450" b="1" dirty="0">
                <a:solidFill>
                  <a:srgbClr val="0A2E36"/>
                </a:solidFill>
                <a:latin typeface="Cambria" pitchFamily="34" charset="0"/>
                <a:ea typeface="Cambria" pitchFamily="34" charset="-122"/>
                <a:cs typeface="Cambria" pitchFamily="34" charset="-120"/>
              </a:rPr>
              <a:t>Frontend</a:t>
            </a:r>
            <a:endParaRPr lang="en-US" sz="1450" dirty="0"/>
          </a:p>
        </p:txBody>
      </p:sp>
      <p:sp>
        <p:nvSpPr>
          <p:cNvPr id="23" name="Text 21"/>
          <p:cNvSpPr/>
          <p:nvPr/>
        </p:nvSpPr>
        <p:spPr>
          <a:xfrm>
            <a:off x="6976872" y="2286000"/>
            <a:ext cx="1586484" cy="219456"/>
          </a:xfrm>
          <a:prstGeom prst="rect">
            <a:avLst/>
          </a:prstGeom>
          <a:noFill/>
          <a:ln/>
        </p:spPr>
        <p:txBody>
          <a:bodyPr wrap="square" lIns="0" tIns="0" rIns="0" bIns="0" rtlCol="0" anchor="ctr"/>
          <a:lstStyle/>
          <a:p>
            <a:pPr indent="0" marL="0">
              <a:buNone/>
            </a:pPr>
            <a:r>
              <a:rPr lang="en-US" sz="1050" b="1" dirty="0">
                <a:solidFill>
                  <a:srgbClr val="028090"/>
                </a:solidFill>
                <a:latin typeface="Calibri" pitchFamily="34" charset="0"/>
                <a:ea typeface="Calibri" pitchFamily="34" charset="-122"/>
                <a:cs typeface="Calibri" pitchFamily="34" charset="-120"/>
              </a:rPr>
              <a:t>Vercel</a:t>
            </a:r>
            <a:endParaRPr lang="en-US" sz="1050" dirty="0"/>
          </a:p>
        </p:txBody>
      </p:sp>
      <p:sp>
        <p:nvSpPr>
          <p:cNvPr id="24" name="Text 22"/>
          <p:cNvSpPr/>
          <p:nvPr/>
        </p:nvSpPr>
        <p:spPr>
          <a:xfrm>
            <a:off x="6428232" y="2633472"/>
            <a:ext cx="2116836" cy="786384"/>
          </a:xfrm>
          <a:prstGeom prst="rect">
            <a:avLst/>
          </a:prstGeom>
          <a:noFill/>
          <a:ln/>
        </p:spPr>
        <p:txBody>
          <a:bodyPr wrap="square" lIns="0" tIns="0" rIns="0" bIns="0" rtlCol="0" anchor="t"/>
          <a:lstStyle/>
          <a:p>
            <a:pPr indent="0" marL="0">
              <a:lnSpc>
                <a:spcPts val="1300"/>
              </a:lnSpc>
              <a:buNone/>
            </a:pPr>
            <a:r>
              <a:rPr lang="en-US" sz="1050" dirty="0">
                <a:solidFill>
                  <a:srgbClr val="445C64"/>
                </a:solidFill>
                <a:latin typeface="Calibri" pitchFamily="34" charset="0"/>
                <a:ea typeface="Calibri" pitchFamily="34" charset="-122"/>
                <a:cs typeface="Calibri" pitchFamily="34" charset="-120"/>
              </a:rPr>
              <a:t>Root = frontend, Vite preset, set the API base URL, SPA rewrite for deep links</a:t>
            </a:r>
            <a:endParaRPr lang="en-US" sz="1050" dirty="0"/>
          </a:p>
        </p:txBody>
      </p:sp>
      <p:sp>
        <p:nvSpPr>
          <p:cNvPr id="25" name="Text 23"/>
          <p:cNvSpPr/>
          <p:nvPr/>
        </p:nvSpPr>
        <p:spPr>
          <a:xfrm>
            <a:off x="6428232" y="3456432"/>
            <a:ext cx="2116836" cy="219456"/>
          </a:xfrm>
          <a:prstGeom prst="rect">
            <a:avLst/>
          </a:prstGeom>
          <a:noFill/>
          <a:ln/>
        </p:spPr>
        <p:txBody>
          <a:bodyPr wrap="square" lIns="0" tIns="0" rIns="0" bIns="0" rtlCol="0" anchor="ctr"/>
          <a:lstStyle/>
          <a:p>
            <a:pPr indent="0" marL="0">
              <a:buNone/>
            </a:pPr>
            <a:r>
              <a:rPr lang="en-US" sz="1050" b="1" dirty="0">
                <a:solidFill>
                  <a:srgbClr val="7C939B"/>
                </a:solidFill>
                <a:latin typeface="Calibri" pitchFamily="34" charset="0"/>
                <a:ea typeface="Calibri" pitchFamily="34" charset="-122"/>
                <a:cs typeface="Calibri" pitchFamily="34" charset="-120"/>
              </a:rPr>
              <a:t>15 min</a:t>
            </a:r>
            <a:endParaRPr lang="en-US" sz="1050" dirty="0"/>
          </a:p>
        </p:txBody>
      </p:sp>
      <p:sp>
        <p:nvSpPr>
          <p:cNvPr id="26" name="Shape 24"/>
          <p:cNvSpPr/>
          <p:nvPr/>
        </p:nvSpPr>
        <p:spPr>
          <a:xfrm>
            <a:off x="9002268" y="1847088"/>
            <a:ext cx="2592324" cy="1920240"/>
          </a:xfrm>
          <a:prstGeom prst="roundRect">
            <a:avLst>
              <a:gd name="adj" fmla="val 4762"/>
            </a:avLst>
          </a:prstGeom>
          <a:solidFill>
            <a:srgbClr val="EEF6F7"/>
          </a:solidFill>
          <a:ln w="9525">
            <a:solidFill>
              <a:srgbClr val="D3E3E6"/>
            </a:solidFill>
            <a:prstDash val="solid"/>
          </a:ln>
          <a:effectLst>
            <a:outerShdw sx="100000" sy="100000" kx="0" ky="0" algn="bl" rotWithShape="0" blurRad="127000" dist="25400" dir="5400000">
              <a:srgbClr val="0A2E36">
                <a:alpha val="10000"/>
              </a:srgbClr>
            </a:outerShdw>
          </a:effectLst>
        </p:spPr>
      </p:sp>
      <p:sp>
        <p:nvSpPr>
          <p:cNvPr id="27" name="Shape 25"/>
          <p:cNvSpPr/>
          <p:nvPr/>
        </p:nvSpPr>
        <p:spPr>
          <a:xfrm>
            <a:off x="9240012" y="2048256"/>
            <a:ext cx="438912" cy="438912"/>
          </a:xfrm>
          <a:prstGeom prst="ellipse">
            <a:avLst/>
          </a:prstGeom>
          <a:solidFill>
            <a:srgbClr val="028090"/>
          </a:solidFill>
          <a:ln/>
        </p:spPr>
      </p:sp>
      <p:sp>
        <p:nvSpPr>
          <p:cNvPr id="28" name="Text 26"/>
          <p:cNvSpPr/>
          <p:nvPr/>
        </p:nvSpPr>
        <p:spPr>
          <a:xfrm>
            <a:off x="9240012" y="2048256"/>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29" name="Text 27"/>
          <p:cNvSpPr/>
          <p:nvPr/>
        </p:nvSpPr>
        <p:spPr>
          <a:xfrm>
            <a:off x="9788652" y="2029968"/>
            <a:ext cx="1586484" cy="256032"/>
          </a:xfrm>
          <a:prstGeom prst="rect">
            <a:avLst/>
          </a:prstGeom>
          <a:noFill/>
          <a:ln/>
        </p:spPr>
        <p:txBody>
          <a:bodyPr wrap="square" lIns="0" tIns="0" rIns="0" bIns="0" rtlCol="0" anchor="ctr"/>
          <a:lstStyle/>
          <a:p>
            <a:pPr indent="0" marL="0">
              <a:buNone/>
            </a:pPr>
            <a:r>
              <a:rPr lang="en-US" sz="1450" b="1" dirty="0">
                <a:solidFill>
                  <a:srgbClr val="0A2E36"/>
                </a:solidFill>
                <a:latin typeface="Cambria" pitchFamily="34" charset="0"/>
                <a:ea typeface="Cambria" pitchFamily="34" charset="-122"/>
                <a:cs typeface="Cambria" pitchFamily="34" charset="-120"/>
              </a:rPr>
              <a:t>CORS</a:t>
            </a:r>
            <a:endParaRPr lang="en-US" sz="1450" dirty="0"/>
          </a:p>
        </p:txBody>
      </p:sp>
      <p:sp>
        <p:nvSpPr>
          <p:cNvPr id="30" name="Text 28"/>
          <p:cNvSpPr/>
          <p:nvPr/>
        </p:nvSpPr>
        <p:spPr>
          <a:xfrm>
            <a:off x="9788652" y="2286000"/>
            <a:ext cx="1586484" cy="219456"/>
          </a:xfrm>
          <a:prstGeom prst="rect">
            <a:avLst/>
          </a:prstGeom>
          <a:noFill/>
          <a:ln/>
        </p:spPr>
        <p:txBody>
          <a:bodyPr wrap="square" lIns="0" tIns="0" rIns="0" bIns="0" rtlCol="0" anchor="ctr"/>
          <a:lstStyle/>
          <a:p>
            <a:pPr indent="0" marL="0">
              <a:buNone/>
            </a:pPr>
            <a:r>
              <a:rPr lang="en-US" sz="1050" b="1" dirty="0">
                <a:solidFill>
                  <a:srgbClr val="028090"/>
                </a:solidFill>
                <a:latin typeface="Calibri" pitchFamily="34" charset="0"/>
                <a:ea typeface="Calibri" pitchFamily="34" charset="-122"/>
                <a:cs typeface="Calibri" pitchFamily="34" charset="-120"/>
              </a:rPr>
              <a:t>Render</a:t>
            </a:r>
            <a:endParaRPr lang="en-US" sz="1050" dirty="0"/>
          </a:p>
        </p:txBody>
      </p:sp>
      <p:sp>
        <p:nvSpPr>
          <p:cNvPr id="31" name="Text 29"/>
          <p:cNvSpPr/>
          <p:nvPr/>
        </p:nvSpPr>
        <p:spPr>
          <a:xfrm>
            <a:off x="9240012" y="2633472"/>
            <a:ext cx="2116836" cy="786384"/>
          </a:xfrm>
          <a:prstGeom prst="rect">
            <a:avLst/>
          </a:prstGeom>
          <a:noFill/>
          <a:ln/>
        </p:spPr>
        <p:txBody>
          <a:bodyPr wrap="square" lIns="0" tIns="0" rIns="0" bIns="0" rtlCol="0" anchor="t"/>
          <a:lstStyle/>
          <a:p>
            <a:pPr indent="0" marL="0">
              <a:lnSpc>
                <a:spcPts val="1300"/>
              </a:lnSpc>
              <a:buNone/>
            </a:pPr>
            <a:r>
              <a:rPr lang="en-US" sz="1050" dirty="0">
                <a:solidFill>
                  <a:srgbClr val="445C64"/>
                </a:solidFill>
                <a:latin typeface="Calibri" pitchFamily="34" charset="0"/>
                <a:ea typeface="Calibri" pitchFamily="34" charset="-122"/>
                <a:cs typeface="Calibri" pitchFamily="34" charset="-120"/>
              </a:rPr>
              <a:t>Set the origin to the exact Vercel URL and redeploy — no wildcard, credentials are sent</a:t>
            </a:r>
            <a:endParaRPr lang="en-US" sz="1050" dirty="0"/>
          </a:p>
        </p:txBody>
      </p:sp>
      <p:sp>
        <p:nvSpPr>
          <p:cNvPr id="32" name="Text 30"/>
          <p:cNvSpPr/>
          <p:nvPr/>
        </p:nvSpPr>
        <p:spPr>
          <a:xfrm>
            <a:off x="9240012" y="3456432"/>
            <a:ext cx="2116836" cy="219456"/>
          </a:xfrm>
          <a:prstGeom prst="rect">
            <a:avLst/>
          </a:prstGeom>
          <a:noFill/>
          <a:ln/>
        </p:spPr>
        <p:txBody>
          <a:bodyPr wrap="square" lIns="0" tIns="0" rIns="0" bIns="0" rtlCol="0" anchor="ctr"/>
          <a:lstStyle/>
          <a:p>
            <a:pPr indent="0" marL="0">
              <a:buNone/>
            </a:pPr>
            <a:r>
              <a:rPr lang="en-US" sz="1050" b="1" dirty="0">
                <a:solidFill>
                  <a:srgbClr val="7C939B"/>
                </a:solidFill>
                <a:latin typeface="Calibri" pitchFamily="34" charset="0"/>
                <a:ea typeface="Calibri" pitchFamily="34" charset="-122"/>
                <a:cs typeface="Calibri" pitchFamily="34" charset="-120"/>
              </a:rPr>
              <a:t>5 min</a:t>
            </a:r>
            <a:endParaRPr lang="en-US" sz="1050" dirty="0"/>
          </a:p>
        </p:txBody>
      </p:sp>
      <p:sp>
        <p:nvSpPr>
          <p:cNvPr id="33" name="Shape 31"/>
          <p:cNvSpPr/>
          <p:nvPr/>
        </p:nvSpPr>
        <p:spPr>
          <a:xfrm>
            <a:off x="566928" y="3968496"/>
            <a:ext cx="5376672" cy="1243584"/>
          </a:xfrm>
          <a:prstGeom prst="roundRect">
            <a:avLst>
              <a:gd name="adj" fmla="val 7353"/>
            </a:avLst>
          </a:prstGeom>
          <a:solidFill>
            <a:srgbClr val="F7FBFB"/>
          </a:solidFill>
          <a:ln w="9525">
            <a:solidFill>
              <a:srgbClr val="D3E3E6"/>
            </a:solidFill>
            <a:prstDash val="solid"/>
          </a:ln>
          <a:effectLst>
            <a:outerShdw sx="100000" sy="100000" kx="0" ky="0" algn="bl" rotWithShape="0" blurRad="127000" dist="25400" dir="5400000">
              <a:srgbClr val="0A2E36">
                <a:alpha val="10000"/>
              </a:srgbClr>
            </a:outerShdw>
          </a:effectLst>
        </p:spPr>
      </p:sp>
      <p:sp>
        <p:nvSpPr>
          <p:cNvPr id="34" name="Text 32"/>
          <p:cNvSpPr/>
          <p:nvPr/>
        </p:nvSpPr>
        <p:spPr>
          <a:xfrm>
            <a:off x="804672" y="4114800"/>
            <a:ext cx="4901184" cy="256032"/>
          </a:xfrm>
          <a:prstGeom prst="rect">
            <a:avLst/>
          </a:prstGeom>
          <a:noFill/>
          <a:ln/>
        </p:spPr>
        <p:txBody>
          <a:bodyPr wrap="square" lIns="0" tIns="0" rIns="0" bIns="0" rtlCol="0" anchor="ctr"/>
          <a:lstStyle/>
          <a:p>
            <a:pPr indent="0" marL="0">
              <a:buNone/>
            </a:pPr>
            <a:r>
              <a:rPr lang="en-US" sz="1300" b="1" dirty="0">
                <a:solidFill>
                  <a:srgbClr val="028090"/>
                </a:solidFill>
                <a:latin typeface="Calibri" pitchFamily="34" charset="0"/>
                <a:ea typeface="Calibri" pitchFamily="34" charset="-122"/>
                <a:cs typeface="Calibri" pitchFamily="34" charset="-120"/>
              </a:rPr>
              <a:t>Free-tier reality</a:t>
            </a:r>
            <a:endParaRPr lang="en-US" sz="1300" dirty="0"/>
          </a:p>
        </p:txBody>
      </p:sp>
      <p:sp>
        <p:nvSpPr>
          <p:cNvPr id="35" name="Text 33"/>
          <p:cNvSpPr/>
          <p:nvPr/>
        </p:nvSpPr>
        <p:spPr>
          <a:xfrm>
            <a:off x="804672" y="4389120"/>
            <a:ext cx="4901184" cy="731520"/>
          </a:xfrm>
          <a:prstGeom prst="rect">
            <a:avLst/>
          </a:prstGeom>
          <a:noFill/>
          <a:ln/>
        </p:spPr>
        <p:txBody>
          <a:bodyPr wrap="square" lIns="0" tIns="0" rIns="0" bIns="0" rtlCol="0" anchor="t"/>
          <a:lstStyle/>
          <a:p>
            <a:pPr indent="0" marL="0">
              <a:lnSpc>
                <a:spcPts val="1400"/>
              </a:lnSpc>
              <a:buNone/>
            </a:pPr>
            <a:r>
              <a:rPr lang="en-US" sz="1100" dirty="0">
                <a:solidFill>
                  <a:srgbClr val="445C64"/>
                </a:solidFill>
                <a:latin typeface="Calibri" pitchFamily="34" charset="0"/>
                <a:ea typeface="Calibri" pitchFamily="34" charset="-122"/>
                <a:cs typeface="Calibri" pitchFamily="34" charset="-120"/>
              </a:rPr>
              <a:t>The API instance sleeps after 15 minutes idle, so the first request takes ~50 s. A scheduled ping to the health endpoint every 10 minutes keeps both the API and the database awake.</a:t>
            </a:r>
            <a:endParaRPr lang="en-US" sz="1100" dirty="0"/>
          </a:p>
        </p:txBody>
      </p:sp>
      <p:sp>
        <p:nvSpPr>
          <p:cNvPr id="36" name="Shape 34"/>
          <p:cNvSpPr/>
          <p:nvPr/>
        </p:nvSpPr>
        <p:spPr>
          <a:xfrm>
            <a:off x="6217920" y="3968496"/>
            <a:ext cx="5376672" cy="1243584"/>
          </a:xfrm>
          <a:prstGeom prst="roundRect">
            <a:avLst>
              <a:gd name="adj" fmla="val 7353"/>
            </a:avLst>
          </a:prstGeom>
          <a:solidFill>
            <a:srgbClr val="F7FBFB"/>
          </a:solidFill>
          <a:ln w="9525">
            <a:solidFill>
              <a:srgbClr val="D3E3E6"/>
            </a:solidFill>
            <a:prstDash val="solid"/>
          </a:ln>
          <a:effectLst>
            <a:outerShdw sx="100000" sy="100000" kx="0" ky="0" algn="bl" rotWithShape="0" blurRad="127000" dist="25400" dir="5400000">
              <a:srgbClr val="0A2E36">
                <a:alpha val="10000"/>
              </a:srgbClr>
            </a:outerShdw>
          </a:effectLst>
        </p:spPr>
      </p:sp>
      <p:sp>
        <p:nvSpPr>
          <p:cNvPr id="37" name="Text 35"/>
          <p:cNvSpPr/>
          <p:nvPr/>
        </p:nvSpPr>
        <p:spPr>
          <a:xfrm>
            <a:off x="6455664" y="4114800"/>
            <a:ext cx="4901184" cy="256032"/>
          </a:xfrm>
          <a:prstGeom prst="rect">
            <a:avLst/>
          </a:prstGeom>
          <a:noFill/>
          <a:ln/>
        </p:spPr>
        <p:txBody>
          <a:bodyPr wrap="square" lIns="0" tIns="0" rIns="0" bIns="0" rtlCol="0" anchor="ctr"/>
          <a:lstStyle/>
          <a:p>
            <a:pPr indent="0" marL="0">
              <a:buNone/>
            </a:pPr>
            <a:r>
              <a:rPr lang="en-US" sz="1300" b="1" dirty="0">
                <a:solidFill>
                  <a:srgbClr val="028090"/>
                </a:solidFill>
                <a:latin typeface="Calibri" pitchFamily="34" charset="0"/>
                <a:ea typeface="Calibri" pitchFamily="34" charset="-122"/>
                <a:cs typeface="Calibri" pitchFamily="34" charset="-120"/>
              </a:rPr>
              <a:t>The credential check</a:t>
            </a:r>
            <a:endParaRPr lang="en-US" sz="1300" dirty="0"/>
          </a:p>
        </p:txBody>
      </p:sp>
      <p:sp>
        <p:nvSpPr>
          <p:cNvPr id="38" name="Text 36"/>
          <p:cNvSpPr/>
          <p:nvPr/>
        </p:nvSpPr>
        <p:spPr>
          <a:xfrm>
            <a:off x="6455664" y="4389120"/>
            <a:ext cx="4901184" cy="731520"/>
          </a:xfrm>
          <a:prstGeom prst="rect">
            <a:avLst/>
          </a:prstGeom>
          <a:noFill/>
          <a:ln/>
        </p:spPr>
        <p:txBody>
          <a:bodyPr wrap="square" lIns="0" tIns="0" rIns="0" bIns="0" rtlCol="0" anchor="t"/>
          <a:lstStyle/>
          <a:p>
            <a:pPr indent="0" marL="0">
              <a:lnSpc>
                <a:spcPts val="1400"/>
              </a:lnSpc>
              <a:buNone/>
            </a:pPr>
            <a:r>
              <a:rPr lang="en-US" sz="1100" dirty="0">
                <a:solidFill>
                  <a:srgbClr val="445C64"/>
                </a:solidFill>
                <a:latin typeface="Calibri" pitchFamily="34" charset="0"/>
                <a:ea typeface="Calibri" pitchFamily="34" charset="-122"/>
                <a:cs typeface="Calibri" pitchFamily="34" charset="-120"/>
              </a:rPr>
              <a:t>After deploying, grep the built JavaScript for the AI key. It must return nothing — that is the proof it never reaches the browser.</a:t>
            </a:r>
            <a:endParaRPr lang="en-US" sz="1100" dirty="0"/>
          </a:p>
        </p:txBody>
      </p:sp>
      <p:sp>
        <p:nvSpPr>
          <p:cNvPr id="39" name="Shape 37"/>
          <p:cNvSpPr/>
          <p:nvPr/>
        </p:nvSpPr>
        <p:spPr>
          <a:xfrm>
            <a:off x="566928" y="5394960"/>
            <a:ext cx="11027664" cy="768096"/>
          </a:xfrm>
          <a:prstGeom prst="roundRect">
            <a:avLst>
              <a:gd name="adj" fmla="val 11905"/>
            </a:avLst>
          </a:prstGeom>
          <a:solidFill>
            <a:srgbClr val="EEF6F7"/>
          </a:solidFill>
          <a:ln w="9525">
            <a:solidFill>
              <a:srgbClr val="D3E3E6"/>
            </a:solidFill>
            <a:prstDash val="solid"/>
          </a:ln>
          <a:effectLst>
            <a:outerShdw sx="100000" sy="100000" kx="0" ky="0" algn="bl" rotWithShape="0" blurRad="127000" dist="25400" dir="5400000">
              <a:srgbClr val="0A2E36">
                <a:alpha val="10000"/>
              </a:srgbClr>
            </a:outerShdw>
          </a:effectLst>
        </p:spPr>
      </p:sp>
      <p:sp>
        <p:nvSpPr>
          <p:cNvPr id="40" name="Text 38"/>
          <p:cNvSpPr/>
          <p:nvPr/>
        </p:nvSpPr>
        <p:spPr>
          <a:xfrm>
            <a:off x="877824" y="5394960"/>
            <a:ext cx="10405872" cy="768096"/>
          </a:xfrm>
          <a:prstGeom prst="rect">
            <a:avLst/>
          </a:prstGeom>
          <a:noFill/>
          <a:ln/>
        </p:spPr>
        <p:txBody>
          <a:bodyPr wrap="square" lIns="0" tIns="0" rIns="0" bIns="0" rtlCol="0" anchor="ctr"/>
          <a:lstStyle/>
          <a:p>
            <a:pPr indent="0" marL="0">
              <a:lnSpc>
                <a:spcPts val="1400"/>
              </a:lnSpc>
              <a:buNone/>
            </a:pPr>
            <a:r>
              <a:rPr lang="en-US" sz="1200" dirty="0">
                <a:solidFill>
                  <a:srgbClr val="445C64"/>
                </a:solidFill>
                <a:latin typeface="Calibri" pitchFamily="34" charset="0"/>
                <a:ea typeface="Calibri" pitchFamily="34" charset="-122"/>
                <a:cs typeface="Calibri" pitchFamily="34" charset="-120"/>
              </a:rPr>
              <a:t>An 11-point verification checklist follows deployment: health, registration, cookie behaviour, ticket creation, AI draft, dashboards, deep-link refresh, mobile layout, and the credential check.</a:t>
            </a:r>
            <a:endParaRPr lang="en-US" sz="1200" dirty="0"/>
          </a:p>
        </p:txBody>
      </p:sp>
      <p:sp>
        <p:nvSpPr>
          <p:cNvPr id="41" name="Text 39"/>
          <p:cNvSpPr/>
          <p:nvPr/>
        </p:nvSpPr>
        <p:spPr>
          <a:xfrm>
            <a:off x="566928" y="6345936"/>
            <a:ext cx="7315200" cy="219456"/>
          </a:xfrm>
          <a:prstGeom prst="rect">
            <a:avLst/>
          </a:prstGeom>
          <a:noFill/>
          <a:ln/>
        </p:spPr>
        <p:txBody>
          <a:bodyPr wrap="square" lIns="0" tIns="0" rIns="0" bIns="0" rtlCol="0" anchor="ctr"/>
          <a:lstStyle/>
          <a:p>
            <a:pPr indent="0" marL="0">
              <a:buNone/>
            </a:pPr>
            <a:r>
              <a:rPr lang="en-US" sz="900" dirty="0">
                <a:solidFill>
                  <a:srgbClr val="7C939B"/>
                </a:solidFill>
                <a:latin typeface="Calibri" pitchFamily="34" charset="0"/>
                <a:ea typeface="Calibri" pitchFamily="34" charset="-122"/>
                <a:cs typeface="Calibri" pitchFamily="34" charset="-120"/>
              </a:rPr>
              <a:t>ServiceDesk AI  ·  BCSE408L Cloud Computing  ·  Final Demonstration</a:t>
            </a:r>
            <a:endParaRPr lang="en-US" sz="900" dirty="0"/>
          </a:p>
        </p:txBody>
      </p:sp>
      <p:sp>
        <p:nvSpPr>
          <p:cNvPr id="42" name="Text 40"/>
          <p:cNvSpPr/>
          <p:nvPr/>
        </p:nvSpPr>
        <p:spPr>
          <a:xfrm>
            <a:off x="10680192" y="6345936"/>
            <a:ext cx="914400" cy="219456"/>
          </a:xfrm>
          <a:prstGeom prst="rect">
            <a:avLst/>
          </a:prstGeom>
          <a:noFill/>
          <a:ln/>
        </p:spPr>
        <p:txBody>
          <a:bodyPr wrap="square" lIns="0" tIns="0" rIns="0" bIns="0" rtlCol="0" anchor="ctr"/>
          <a:lstStyle/>
          <a:p>
            <a:pPr algn="r" indent="0" marL="0">
              <a:buNone/>
            </a:pPr>
            <a:r>
              <a:rPr lang="en-US" sz="900" dirty="0">
                <a:solidFill>
                  <a:srgbClr val="7C939B"/>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65760"/>
            <a:ext cx="11027664" cy="237744"/>
          </a:xfrm>
          <a:prstGeom prst="rect">
            <a:avLst/>
          </a:prstGeom>
          <a:noFill/>
          <a:ln/>
        </p:spPr>
        <p:txBody>
          <a:bodyPr wrap="square" lIns="0" tIns="0" rIns="0" bIns="0" rtlCol="0" anchor="ctr"/>
          <a:lstStyle/>
          <a:p>
            <a:pPr indent="0" marL="0">
              <a:buNone/>
            </a:pPr>
            <a:r>
              <a:rPr lang="en-US" sz="1100" b="1" spc="220" kern="0" dirty="0">
                <a:solidFill>
                  <a:srgbClr val="028090"/>
                </a:solidFill>
                <a:latin typeface="Calibri" pitchFamily="34" charset="0"/>
                <a:ea typeface="Calibri" pitchFamily="34" charset="-122"/>
                <a:cs typeface="Calibri" pitchFamily="34" charset="-120"/>
              </a:rPr>
              <a:t>NEXT VERSION</a:t>
            </a:r>
            <a:endParaRPr lang="en-US" sz="1100" dirty="0"/>
          </a:p>
        </p:txBody>
      </p:sp>
      <p:sp>
        <p:nvSpPr>
          <p:cNvPr id="3" name="Text 1"/>
          <p:cNvSpPr/>
          <p:nvPr/>
        </p:nvSpPr>
        <p:spPr>
          <a:xfrm>
            <a:off x="566928" y="621792"/>
            <a:ext cx="11027664" cy="621792"/>
          </a:xfrm>
          <a:prstGeom prst="rect">
            <a:avLst/>
          </a:prstGeom>
          <a:noFill/>
          <a:ln/>
        </p:spPr>
        <p:txBody>
          <a:bodyPr wrap="square" lIns="0" tIns="0" rIns="0" bIns="0" rtlCol="0" anchor="t"/>
          <a:lstStyle/>
          <a:p>
            <a:pPr indent="0" marL="0">
              <a:buNone/>
            </a:pPr>
            <a:r>
              <a:rPr lang="en-US" sz="3000" b="1" dirty="0">
                <a:solidFill>
                  <a:srgbClr val="0A2E36"/>
                </a:solidFill>
                <a:latin typeface="Cambria" pitchFamily="34" charset="0"/>
                <a:ea typeface="Cambria" pitchFamily="34" charset="-122"/>
                <a:cs typeface="Cambria" pitchFamily="34" charset="-120"/>
              </a:rPr>
              <a:t>Future Enhancements</a:t>
            </a:r>
            <a:endParaRPr lang="en-US" sz="3000" dirty="0"/>
          </a:p>
        </p:txBody>
      </p:sp>
      <p:sp>
        <p:nvSpPr>
          <p:cNvPr id="4" name="Shape 2"/>
          <p:cNvSpPr/>
          <p:nvPr/>
        </p:nvSpPr>
        <p:spPr>
          <a:xfrm>
            <a:off x="566928" y="1426464"/>
            <a:ext cx="3517392" cy="2011680"/>
          </a:xfrm>
          <a:prstGeom prst="roundRect">
            <a:avLst>
              <a:gd name="adj" fmla="val 4545"/>
            </a:avLst>
          </a:prstGeom>
          <a:solidFill>
            <a:srgbClr val="EEF6F7"/>
          </a:solidFill>
          <a:ln w="9525">
            <a:solidFill>
              <a:srgbClr val="D3E3E6"/>
            </a:solidFill>
            <a:prstDash val="solid"/>
          </a:ln>
          <a:effectLst>
            <a:outerShdw sx="100000" sy="100000" kx="0" ky="0" algn="bl" rotWithShape="0" blurRad="127000" dist="25400" dir="5400000">
              <a:srgbClr val="0A2E36">
                <a:alpha val="10000"/>
              </a:srgbClr>
            </a:outerShdw>
          </a:effectLst>
        </p:spPr>
      </p:sp>
      <p:sp>
        <p:nvSpPr>
          <p:cNvPr id="5" name="Text 3"/>
          <p:cNvSpPr/>
          <p:nvPr/>
        </p:nvSpPr>
        <p:spPr>
          <a:xfrm>
            <a:off x="804672" y="1609344"/>
            <a:ext cx="3041904" cy="512064"/>
          </a:xfrm>
          <a:prstGeom prst="rect">
            <a:avLst/>
          </a:prstGeom>
          <a:noFill/>
          <a:ln/>
        </p:spPr>
        <p:txBody>
          <a:bodyPr wrap="square" lIns="0" tIns="0" rIns="0" bIns="0" rtlCol="0" anchor="t"/>
          <a:lstStyle/>
          <a:p>
            <a:pPr indent="0" marL="0">
              <a:lnSpc>
                <a:spcPts val="1800"/>
              </a:lnSpc>
              <a:buNone/>
            </a:pPr>
            <a:r>
              <a:rPr lang="en-US" sz="1500" b="1" dirty="0">
                <a:solidFill>
                  <a:srgbClr val="0A2E36"/>
                </a:solidFill>
                <a:latin typeface="Cambria" pitchFamily="34" charset="0"/>
                <a:ea typeface="Cambria" pitchFamily="34" charset="-122"/>
                <a:cs typeface="Cambria" pitchFamily="34" charset="-120"/>
              </a:rPr>
              <a:t>Email notifications</a:t>
            </a:r>
            <a:endParaRPr lang="en-US" sz="1500" dirty="0"/>
          </a:p>
        </p:txBody>
      </p:sp>
      <p:sp>
        <p:nvSpPr>
          <p:cNvPr id="6" name="Text 4"/>
          <p:cNvSpPr/>
          <p:nvPr/>
        </p:nvSpPr>
        <p:spPr>
          <a:xfrm>
            <a:off x="804672" y="2176272"/>
            <a:ext cx="3041904" cy="914400"/>
          </a:xfrm>
          <a:prstGeom prst="rect">
            <a:avLst/>
          </a:prstGeom>
          <a:noFill/>
          <a:ln/>
        </p:spPr>
        <p:txBody>
          <a:bodyPr wrap="square" lIns="0" tIns="0" rIns="0" bIns="0" rtlCol="0" anchor="t"/>
          <a:lstStyle/>
          <a:p>
            <a:pPr indent="0" marL="0">
              <a:lnSpc>
                <a:spcPts val="1400"/>
              </a:lnSpc>
              <a:buNone/>
            </a:pPr>
            <a:r>
              <a:rPr lang="en-US" sz="1150" dirty="0">
                <a:solidFill>
                  <a:srgbClr val="445C64"/>
                </a:solidFill>
                <a:latin typeface="Calibri" pitchFamily="34" charset="0"/>
                <a:ea typeface="Calibri" pitchFamily="34" charset="-122"/>
                <a:cs typeface="Calibri" pitchFamily="34" charset="-120"/>
              </a:rPr>
              <a:t>Reaches customers who do not sign in — removes the main reason they telephone to ask for progress</a:t>
            </a:r>
            <a:endParaRPr lang="en-US" sz="1150" dirty="0"/>
          </a:p>
        </p:txBody>
      </p:sp>
      <p:sp>
        <p:nvSpPr>
          <p:cNvPr id="7" name="Shape 5"/>
          <p:cNvSpPr/>
          <p:nvPr/>
        </p:nvSpPr>
        <p:spPr>
          <a:xfrm>
            <a:off x="804672" y="3090672"/>
            <a:ext cx="1371600" cy="237744"/>
          </a:xfrm>
          <a:prstGeom prst="roundRect">
            <a:avLst>
              <a:gd name="adj" fmla="val 19231"/>
            </a:avLst>
          </a:prstGeom>
          <a:solidFill>
            <a:srgbClr val="FFFFFF"/>
          </a:solidFill>
          <a:ln w="9525">
            <a:solidFill>
              <a:srgbClr val="00A896"/>
            </a:solidFill>
            <a:prstDash val="solid"/>
          </a:ln>
        </p:spPr>
      </p:sp>
      <p:sp>
        <p:nvSpPr>
          <p:cNvPr id="8" name="Text 6"/>
          <p:cNvSpPr/>
          <p:nvPr/>
        </p:nvSpPr>
        <p:spPr>
          <a:xfrm>
            <a:off x="804672" y="3090672"/>
            <a:ext cx="1371600" cy="237744"/>
          </a:xfrm>
          <a:prstGeom prst="rect">
            <a:avLst/>
          </a:prstGeom>
          <a:noFill/>
          <a:ln/>
        </p:spPr>
        <p:txBody>
          <a:bodyPr wrap="square" lIns="0" tIns="0" rIns="0" bIns="0" rtlCol="0" anchor="ctr"/>
          <a:lstStyle/>
          <a:p>
            <a:pPr algn="ctr" indent="0" marL="0">
              <a:buNone/>
            </a:pPr>
            <a:r>
              <a:rPr lang="en-US" sz="950" b="1" dirty="0">
                <a:solidFill>
                  <a:srgbClr val="028090"/>
                </a:solidFill>
                <a:latin typeface="Calibri" pitchFamily="34" charset="0"/>
                <a:ea typeface="Calibri" pitchFamily="34" charset="-122"/>
                <a:cs typeface="Calibri" pitchFamily="34" charset="-120"/>
              </a:rPr>
              <a:t>Low</a:t>
            </a:r>
            <a:endParaRPr lang="en-US" sz="950" dirty="0"/>
          </a:p>
        </p:txBody>
      </p:sp>
      <p:sp>
        <p:nvSpPr>
          <p:cNvPr id="9" name="Shape 7"/>
          <p:cNvSpPr/>
          <p:nvPr/>
        </p:nvSpPr>
        <p:spPr>
          <a:xfrm>
            <a:off x="4322064" y="1426464"/>
            <a:ext cx="3517392" cy="2011680"/>
          </a:xfrm>
          <a:prstGeom prst="roundRect">
            <a:avLst>
              <a:gd name="adj" fmla="val 4545"/>
            </a:avLst>
          </a:prstGeom>
          <a:solidFill>
            <a:srgbClr val="EEF6F7"/>
          </a:solidFill>
          <a:ln w="9525">
            <a:solidFill>
              <a:srgbClr val="D3E3E6"/>
            </a:solidFill>
            <a:prstDash val="solid"/>
          </a:ln>
          <a:effectLst>
            <a:outerShdw sx="100000" sy="100000" kx="0" ky="0" algn="bl" rotWithShape="0" blurRad="127000" dist="25400" dir="5400000">
              <a:srgbClr val="0A2E36">
                <a:alpha val="10000"/>
              </a:srgbClr>
            </a:outerShdw>
          </a:effectLst>
        </p:spPr>
      </p:sp>
      <p:sp>
        <p:nvSpPr>
          <p:cNvPr id="10" name="Text 8"/>
          <p:cNvSpPr/>
          <p:nvPr/>
        </p:nvSpPr>
        <p:spPr>
          <a:xfrm>
            <a:off x="4559808" y="1609344"/>
            <a:ext cx="3041904" cy="512064"/>
          </a:xfrm>
          <a:prstGeom prst="rect">
            <a:avLst/>
          </a:prstGeom>
          <a:noFill/>
          <a:ln/>
        </p:spPr>
        <p:txBody>
          <a:bodyPr wrap="square" lIns="0" tIns="0" rIns="0" bIns="0" rtlCol="0" anchor="t"/>
          <a:lstStyle/>
          <a:p>
            <a:pPr indent="0" marL="0">
              <a:lnSpc>
                <a:spcPts val="1800"/>
              </a:lnSpc>
              <a:buNone/>
            </a:pPr>
            <a:r>
              <a:rPr lang="en-US" sz="1500" b="1" dirty="0">
                <a:solidFill>
                  <a:srgbClr val="0A2E36"/>
                </a:solidFill>
                <a:latin typeface="Cambria" pitchFamily="34" charset="0"/>
                <a:ea typeface="Cambria" pitchFamily="34" charset="-122"/>
                <a:cs typeface="Cambria" pitchFamily="34" charset="-120"/>
              </a:rPr>
              <a:t>File attachments</a:t>
            </a:r>
            <a:endParaRPr lang="en-US" sz="1500" dirty="0"/>
          </a:p>
        </p:txBody>
      </p:sp>
      <p:sp>
        <p:nvSpPr>
          <p:cNvPr id="11" name="Text 9"/>
          <p:cNvSpPr/>
          <p:nvPr/>
        </p:nvSpPr>
        <p:spPr>
          <a:xfrm>
            <a:off x="4559808" y="2176272"/>
            <a:ext cx="3041904" cy="914400"/>
          </a:xfrm>
          <a:prstGeom prst="rect">
            <a:avLst/>
          </a:prstGeom>
          <a:noFill/>
          <a:ln/>
        </p:spPr>
        <p:txBody>
          <a:bodyPr wrap="square" lIns="0" tIns="0" rIns="0" bIns="0" rtlCol="0" anchor="t"/>
          <a:lstStyle/>
          <a:p>
            <a:pPr indent="0" marL="0">
              <a:lnSpc>
                <a:spcPts val="1400"/>
              </a:lnSpc>
              <a:buNone/>
            </a:pPr>
            <a:r>
              <a:rPr lang="en-US" sz="1150" dirty="0">
                <a:solidFill>
                  <a:srgbClr val="445C64"/>
                </a:solidFill>
                <a:latin typeface="Calibri" pitchFamily="34" charset="0"/>
                <a:ea typeface="Calibri" pitchFamily="34" charset="-122"/>
                <a:cs typeface="Calibri" pitchFamily="34" charset="-120"/>
              </a:rPr>
              <a:t>Screenshots make technical issues far faster to diagnose; also satisfies the cloud-storage clause</a:t>
            </a:r>
            <a:endParaRPr lang="en-US" sz="1150" dirty="0"/>
          </a:p>
        </p:txBody>
      </p:sp>
      <p:sp>
        <p:nvSpPr>
          <p:cNvPr id="12" name="Shape 10"/>
          <p:cNvSpPr/>
          <p:nvPr/>
        </p:nvSpPr>
        <p:spPr>
          <a:xfrm>
            <a:off x="4559808" y="3090672"/>
            <a:ext cx="1371600" cy="237744"/>
          </a:xfrm>
          <a:prstGeom prst="roundRect">
            <a:avLst>
              <a:gd name="adj" fmla="val 19231"/>
            </a:avLst>
          </a:prstGeom>
          <a:solidFill>
            <a:srgbClr val="FFFFFF"/>
          </a:solidFill>
          <a:ln w="9525">
            <a:solidFill>
              <a:srgbClr val="00A896"/>
            </a:solidFill>
            <a:prstDash val="solid"/>
          </a:ln>
        </p:spPr>
      </p:sp>
      <p:sp>
        <p:nvSpPr>
          <p:cNvPr id="13" name="Text 11"/>
          <p:cNvSpPr/>
          <p:nvPr/>
        </p:nvSpPr>
        <p:spPr>
          <a:xfrm>
            <a:off x="4559808" y="3090672"/>
            <a:ext cx="1371600" cy="237744"/>
          </a:xfrm>
          <a:prstGeom prst="rect">
            <a:avLst/>
          </a:prstGeom>
          <a:noFill/>
          <a:ln/>
        </p:spPr>
        <p:txBody>
          <a:bodyPr wrap="square" lIns="0" tIns="0" rIns="0" bIns="0" rtlCol="0" anchor="ctr"/>
          <a:lstStyle/>
          <a:p>
            <a:pPr algn="ctr" indent="0" marL="0">
              <a:buNone/>
            </a:pPr>
            <a:r>
              <a:rPr lang="en-US" sz="950" b="1" dirty="0">
                <a:solidFill>
                  <a:srgbClr val="028090"/>
                </a:solidFill>
                <a:latin typeface="Calibri" pitchFamily="34" charset="0"/>
                <a:ea typeface="Calibri" pitchFamily="34" charset="-122"/>
                <a:cs typeface="Calibri" pitchFamily="34" charset="-120"/>
              </a:rPr>
              <a:t>Low–moderate</a:t>
            </a:r>
            <a:endParaRPr lang="en-US" sz="950" dirty="0"/>
          </a:p>
        </p:txBody>
      </p:sp>
      <p:sp>
        <p:nvSpPr>
          <p:cNvPr id="14" name="Shape 12"/>
          <p:cNvSpPr/>
          <p:nvPr/>
        </p:nvSpPr>
        <p:spPr>
          <a:xfrm>
            <a:off x="8077200" y="1426464"/>
            <a:ext cx="3517392" cy="2011680"/>
          </a:xfrm>
          <a:prstGeom prst="roundRect">
            <a:avLst>
              <a:gd name="adj" fmla="val 4545"/>
            </a:avLst>
          </a:prstGeom>
          <a:solidFill>
            <a:srgbClr val="EEF6F7"/>
          </a:solidFill>
          <a:ln w="9525">
            <a:solidFill>
              <a:srgbClr val="D3E3E6"/>
            </a:solidFill>
            <a:prstDash val="solid"/>
          </a:ln>
          <a:effectLst>
            <a:outerShdw sx="100000" sy="100000" kx="0" ky="0" algn="bl" rotWithShape="0" blurRad="127000" dist="25400" dir="5400000">
              <a:srgbClr val="0A2E36">
                <a:alpha val="10000"/>
              </a:srgbClr>
            </a:outerShdw>
          </a:effectLst>
        </p:spPr>
      </p:sp>
      <p:sp>
        <p:nvSpPr>
          <p:cNvPr id="15" name="Text 13"/>
          <p:cNvSpPr/>
          <p:nvPr/>
        </p:nvSpPr>
        <p:spPr>
          <a:xfrm>
            <a:off x="8314944" y="1609344"/>
            <a:ext cx="3041904" cy="512064"/>
          </a:xfrm>
          <a:prstGeom prst="rect">
            <a:avLst/>
          </a:prstGeom>
          <a:noFill/>
          <a:ln/>
        </p:spPr>
        <p:txBody>
          <a:bodyPr wrap="square" lIns="0" tIns="0" rIns="0" bIns="0" rtlCol="0" anchor="t"/>
          <a:lstStyle/>
          <a:p>
            <a:pPr indent="0" marL="0">
              <a:lnSpc>
                <a:spcPts val="1800"/>
              </a:lnSpc>
              <a:buNone/>
            </a:pPr>
            <a:r>
              <a:rPr lang="en-US" sz="1500" b="1" dirty="0">
                <a:solidFill>
                  <a:srgbClr val="0A2E36"/>
                </a:solidFill>
                <a:latin typeface="Cambria" pitchFamily="34" charset="0"/>
                <a:ea typeface="Cambria" pitchFamily="34" charset="-122"/>
                <a:cs typeface="Cambria" pitchFamily="34" charset="-120"/>
              </a:rPr>
              <a:t>SLA targets &amp; escalation</a:t>
            </a:r>
            <a:endParaRPr lang="en-US" sz="1500" dirty="0"/>
          </a:p>
        </p:txBody>
      </p:sp>
      <p:sp>
        <p:nvSpPr>
          <p:cNvPr id="16" name="Text 14"/>
          <p:cNvSpPr/>
          <p:nvPr/>
        </p:nvSpPr>
        <p:spPr>
          <a:xfrm>
            <a:off x="8314944" y="2176272"/>
            <a:ext cx="3041904" cy="914400"/>
          </a:xfrm>
          <a:prstGeom prst="rect">
            <a:avLst/>
          </a:prstGeom>
          <a:noFill/>
          <a:ln/>
        </p:spPr>
        <p:txBody>
          <a:bodyPr wrap="square" lIns="0" tIns="0" rIns="0" bIns="0" rtlCol="0" anchor="t"/>
          <a:lstStyle/>
          <a:p>
            <a:pPr indent="0" marL="0">
              <a:lnSpc>
                <a:spcPts val="1400"/>
              </a:lnSpc>
              <a:buNone/>
            </a:pPr>
            <a:r>
              <a:rPr lang="en-US" sz="1150" dirty="0">
                <a:solidFill>
                  <a:srgbClr val="445C64"/>
                </a:solidFill>
                <a:latin typeface="Calibri" pitchFamily="34" charset="0"/>
                <a:ea typeface="Calibri" pitchFamily="34" charset="-122"/>
                <a:cs typeface="Calibri" pitchFamily="34" charset="-120"/>
              </a:rPr>
              <a:t>We measure response and resolution time but do not act on it. This turns measurement into management</a:t>
            </a:r>
            <a:endParaRPr lang="en-US" sz="1150" dirty="0"/>
          </a:p>
        </p:txBody>
      </p:sp>
      <p:sp>
        <p:nvSpPr>
          <p:cNvPr id="17" name="Shape 15"/>
          <p:cNvSpPr/>
          <p:nvPr/>
        </p:nvSpPr>
        <p:spPr>
          <a:xfrm>
            <a:off x="8314944" y="3090672"/>
            <a:ext cx="1371600" cy="237744"/>
          </a:xfrm>
          <a:prstGeom prst="roundRect">
            <a:avLst>
              <a:gd name="adj" fmla="val 19231"/>
            </a:avLst>
          </a:prstGeom>
          <a:solidFill>
            <a:srgbClr val="FFFFFF"/>
          </a:solidFill>
          <a:ln w="9525">
            <a:solidFill>
              <a:srgbClr val="00A896"/>
            </a:solidFill>
            <a:prstDash val="solid"/>
          </a:ln>
        </p:spPr>
      </p:sp>
      <p:sp>
        <p:nvSpPr>
          <p:cNvPr id="18" name="Text 16"/>
          <p:cNvSpPr/>
          <p:nvPr/>
        </p:nvSpPr>
        <p:spPr>
          <a:xfrm>
            <a:off x="8314944" y="3090672"/>
            <a:ext cx="1371600" cy="237744"/>
          </a:xfrm>
          <a:prstGeom prst="rect">
            <a:avLst/>
          </a:prstGeom>
          <a:noFill/>
          <a:ln/>
        </p:spPr>
        <p:txBody>
          <a:bodyPr wrap="square" lIns="0" tIns="0" rIns="0" bIns="0" rtlCol="0" anchor="ctr"/>
          <a:lstStyle/>
          <a:p>
            <a:pPr algn="ctr" indent="0" marL="0">
              <a:buNone/>
            </a:pPr>
            <a:r>
              <a:rPr lang="en-US" sz="950" b="1" dirty="0">
                <a:solidFill>
                  <a:srgbClr val="028090"/>
                </a:solidFill>
                <a:latin typeface="Calibri" pitchFamily="34" charset="0"/>
                <a:ea typeface="Calibri" pitchFamily="34" charset="-122"/>
                <a:cs typeface="Calibri" pitchFamily="34" charset="-120"/>
              </a:rPr>
              <a:t>Moderate</a:t>
            </a:r>
            <a:endParaRPr lang="en-US" sz="950" dirty="0"/>
          </a:p>
        </p:txBody>
      </p:sp>
      <p:sp>
        <p:nvSpPr>
          <p:cNvPr id="19" name="Shape 17"/>
          <p:cNvSpPr/>
          <p:nvPr/>
        </p:nvSpPr>
        <p:spPr>
          <a:xfrm>
            <a:off x="566928" y="3639312"/>
            <a:ext cx="3517392" cy="2011680"/>
          </a:xfrm>
          <a:prstGeom prst="roundRect">
            <a:avLst>
              <a:gd name="adj" fmla="val 4545"/>
            </a:avLst>
          </a:prstGeom>
          <a:solidFill>
            <a:srgbClr val="EEF6F7"/>
          </a:solidFill>
          <a:ln w="9525">
            <a:solidFill>
              <a:srgbClr val="D3E3E6"/>
            </a:solidFill>
            <a:prstDash val="solid"/>
          </a:ln>
          <a:effectLst>
            <a:outerShdw sx="100000" sy="100000" kx="0" ky="0" algn="bl" rotWithShape="0" blurRad="127000" dist="25400" dir="5400000">
              <a:srgbClr val="0A2E36">
                <a:alpha val="10000"/>
              </a:srgbClr>
            </a:outerShdw>
          </a:effectLst>
        </p:spPr>
      </p:sp>
      <p:sp>
        <p:nvSpPr>
          <p:cNvPr id="20" name="Text 18"/>
          <p:cNvSpPr/>
          <p:nvPr/>
        </p:nvSpPr>
        <p:spPr>
          <a:xfrm>
            <a:off x="804672" y="3822192"/>
            <a:ext cx="3041904" cy="512064"/>
          </a:xfrm>
          <a:prstGeom prst="rect">
            <a:avLst/>
          </a:prstGeom>
          <a:noFill/>
          <a:ln/>
        </p:spPr>
        <p:txBody>
          <a:bodyPr wrap="square" lIns="0" tIns="0" rIns="0" bIns="0" rtlCol="0" anchor="t"/>
          <a:lstStyle/>
          <a:p>
            <a:pPr indent="0" marL="0">
              <a:lnSpc>
                <a:spcPts val="1800"/>
              </a:lnSpc>
              <a:buNone/>
            </a:pPr>
            <a:r>
              <a:rPr lang="en-US" sz="1500" b="1" dirty="0">
                <a:solidFill>
                  <a:srgbClr val="0A2E36"/>
                </a:solidFill>
                <a:latin typeface="Cambria" pitchFamily="34" charset="0"/>
                <a:ea typeface="Cambria" pitchFamily="34" charset="-122"/>
                <a:cs typeface="Cambria" pitchFamily="34" charset="-120"/>
              </a:rPr>
              <a:t>Knowledge base</a:t>
            </a:r>
            <a:endParaRPr lang="en-US" sz="1500" dirty="0"/>
          </a:p>
        </p:txBody>
      </p:sp>
      <p:sp>
        <p:nvSpPr>
          <p:cNvPr id="21" name="Text 19"/>
          <p:cNvSpPr/>
          <p:nvPr/>
        </p:nvSpPr>
        <p:spPr>
          <a:xfrm>
            <a:off x="804672" y="4389120"/>
            <a:ext cx="3041904" cy="914400"/>
          </a:xfrm>
          <a:prstGeom prst="rect">
            <a:avLst/>
          </a:prstGeom>
          <a:noFill/>
          <a:ln/>
        </p:spPr>
        <p:txBody>
          <a:bodyPr wrap="square" lIns="0" tIns="0" rIns="0" bIns="0" rtlCol="0" anchor="t"/>
          <a:lstStyle/>
          <a:p>
            <a:pPr indent="0" marL="0">
              <a:lnSpc>
                <a:spcPts val="1400"/>
              </a:lnSpc>
              <a:buNone/>
            </a:pPr>
            <a:r>
              <a:rPr lang="en-US" sz="1150" dirty="0">
                <a:solidFill>
                  <a:srgbClr val="445C64"/>
                </a:solidFill>
                <a:latin typeface="Calibri" pitchFamily="34" charset="0"/>
                <a:ea typeface="Calibri" pitchFamily="34" charset="-122"/>
                <a:cs typeface="Calibri" pitchFamily="34" charset="-120"/>
              </a:rPr>
              <a:t>Suggested articles as the customer types would deflect repeat questions before they become tickets</a:t>
            </a:r>
            <a:endParaRPr lang="en-US" sz="1150" dirty="0"/>
          </a:p>
        </p:txBody>
      </p:sp>
      <p:sp>
        <p:nvSpPr>
          <p:cNvPr id="22" name="Shape 20"/>
          <p:cNvSpPr/>
          <p:nvPr/>
        </p:nvSpPr>
        <p:spPr>
          <a:xfrm>
            <a:off x="804672" y="5303520"/>
            <a:ext cx="1371600" cy="237744"/>
          </a:xfrm>
          <a:prstGeom prst="roundRect">
            <a:avLst>
              <a:gd name="adj" fmla="val 19231"/>
            </a:avLst>
          </a:prstGeom>
          <a:solidFill>
            <a:srgbClr val="FFFFFF"/>
          </a:solidFill>
          <a:ln w="9525">
            <a:solidFill>
              <a:srgbClr val="00A896"/>
            </a:solidFill>
            <a:prstDash val="solid"/>
          </a:ln>
        </p:spPr>
      </p:sp>
      <p:sp>
        <p:nvSpPr>
          <p:cNvPr id="23" name="Text 21"/>
          <p:cNvSpPr/>
          <p:nvPr/>
        </p:nvSpPr>
        <p:spPr>
          <a:xfrm>
            <a:off x="804672" y="5303520"/>
            <a:ext cx="1371600" cy="237744"/>
          </a:xfrm>
          <a:prstGeom prst="rect">
            <a:avLst/>
          </a:prstGeom>
          <a:noFill/>
          <a:ln/>
        </p:spPr>
        <p:txBody>
          <a:bodyPr wrap="square" lIns="0" tIns="0" rIns="0" bIns="0" rtlCol="0" anchor="ctr"/>
          <a:lstStyle/>
          <a:p>
            <a:pPr algn="ctr" indent="0" marL="0">
              <a:buNone/>
            </a:pPr>
            <a:r>
              <a:rPr lang="en-US" sz="950" b="1" dirty="0">
                <a:solidFill>
                  <a:srgbClr val="028090"/>
                </a:solidFill>
                <a:latin typeface="Calibri" pitchFamily="34" charset="0"/>
                <a:ea typeface="Calibri" pitchFamily="34" charset="-122"/>
                <a:cs typeface="Calibri" pitchFamily="34" charset="-120"/>
              </a:rPr>
              <a:t>Moderate</a:t>
            </a:r>
            <a:endParaRPr lang="en-US" sz="950" dirty="0"/>
          </a:p>
        </p:txBody>
      </p:sp>
      <p:sp>
        <p:nvSpPr>
          <p:cNvPr id="24" name="Shape 22"/>
          <p:cNvSpPr/>
          <p:nvPr/>
        </p:nvSpPr>
        <p:spPr>
          <a:xfrm>
            <a:off x="4322064" y="3639312"/>
            <a:ext cx="3517392" cy="2011680"/>
          </a:xfrm>
          <a:prstGeom prst="roundRect">
            <a:avLst>
              <a:gd name="adj" fmla="val 4545"/>
            </a:avLst>
          </a:prstGeom>
          <a:solidFill>
            <a:srgbClr val="EEF6F7"/>
          </a:solidFill>
          <a:ln w="9525">
            <a:solidFill>
              <a:srgbClr val="D3E3E6"/>
            </a:solidFill>
            <a:prstDash val="solid"/>
          </a:ln>
          <a:effectLst>
            <a:outerShdw sx="100000" sy="100000" kx="0" ky="0" algn="bl" rotWithShape="0" blurRad="127000" dist="25400" dir="5400000">
              <a:srgbClr val="0A2E36">
                <a:alpha val="10000"/>
              </a:srgbClr>
            </a:outerShdw>
          </a:effectLst>
        </p:spPr>
      </p:sp>
      <p:sp>
        <p:nvSpPr>
          <p:cNvPr id="25" name="Text 23"/>
          <p:cNvSpPr/>
          <p:nvPr/>
        </p:nvSpPr>
        <p:spPr>
          <a:xfrm>
            <a:off x="4559808" y="3822192"/>
            <a:ext cx="3041904" cy="512064"/>
          </a:xfrm>
          <a:prstGeom prst="rect">
            <a:avLst/>
          </a:prstGeom>
          <a:noFill/>
          <a:ln/>
        </p:spPr>
        <p:txBody>
          <a:bodyPr wrap="square" lIns="0" tIns="0" rIns="0" bIns="0" rtlCol="0" anchor="t"/>
          <a:lstStyle/>
          <a:p>
            <a:pPr indent="0" marL="0">
              <a:lnSpc>
                <a:spcPts val="1800"/>
              </a:lnSpc>
              <a:buNone/>
            </a:pPr>
            <a:r>
              <a:rPr lang="en-US" sz="1500" b="1" dirty="0">
                <a:solidFill>
                  <a:srgbClr val="0A2E36"/>
                </a:solidFill>
                <a:latin typeface="Cambria" pitchFamily="34" charset="0"/>
                <a:ea typeface="Cambria" pitchFamily="34" charset="-122"/>
                <a:cs typeface="Cambria" pitchFamily="34" charset="-120"/>
              </a:rPr>
              <a:t>Real-time updates</a:t>
            </a:r>
            <a:endParaRPr lang="en-US" sz="1500" dirty="0"/>
          </a:p>
        </p:txBody>
      </p:sp>
      <p:sp>
        <p:nvSpPr>
          <p:cNvPr id="26" name="Text 24"/>
          <p:cNvSpPr/>
          <p:nvPr/>
        </p:nvSpPr>
        <p:spPr>
          <a:xfrm>
            <a:off x="4559808" y="4389120"/>
            <a:ext cx="3041904" cy="914400"/>
          </a:xfrm>
          <a:prstGeom prst="rect">
            <a:avLst/>
          </a:prstGeom>
          <a:noFill/>
          <a:ln/>
        </p:spPr>
        <p:txBody>
          <a:bodyPr wrap="square" lIns="0" tIns="0" rIns="0" bIns="0" rtlCol="0" anchor="t"/>
          <a:lstStyle/>
          <a:p>
            <a:pPr indent="0" marL="0">
              <a:lnSpc>
                <a:spcPts val="1400"/>
              </a:lnSpc>
              <a:buNone/>
            </a:pPr>
            <a:r>
              <a:rPr lang="en-US" sz="1150" dirty="0">
                <a:solidFill>
                  <a:srgbClr val="445C64"/>
                </a:solidFill>
                <a:latin typeface="Calibri" pitchFamily="34" charset="0"/>
                <a:ea typeface="Calibri" pitchFamily="34" charset="-122"/>
                <a:cs typeface="Calibri" pitchFamily="34" charset="-120"/>
              </a:rPr>
              <a:t>Replaces the 30-second polling and removes the window where two agents act on stale state</a:t>
            </a:r>
            <a:endParaRPr lang="en-US" sz="1150" dirty="0"/>
          </a:p>
        </p:txBody>
      </p:sp>
      <p:sp>
        <p:nvSpPr>
          <p:cNvPr id="27" name="Shape 25"/>
          <p:cNvSpPr/>
          <p:nvPr/>
        </p:nvSpPr>
        <p:spPr>
          <a:xfrm>
            <a:off x="4559808" y="5303520"/>
            <a:ext cx="1371600" cy="237744"/>
          </a:xfrm>
          <a:prstGeom prst="roundRect">
            <a:avLst>
              <a:gd name="adj" fmla="val 19231"/>
            </a:avLst>
          </a:prstGeom>
          <a:solidFill>
            <a:srgbClr val="FFFFFF"/>
          </a:solidFill>
          <a:ln w="9525">
            <a:solidFill>
              <a:srgbClr val="00A896"/>
            </a:solidFill>
            <a:prstDash val="solid"/>
          </a:ln>
        </p:spPr>
      </p:sp>
      <p:sp>
        <p:nvSpPr>
          <p:cNvPr id="28" name="Text 26"/>
          <p:cNvSpPr/>
          <p:nvPr/>
        </p:nvSpPr>
        <p:spPr>
          <a:xfrm>
            <a:off x="4559808" y="5303520"/>
            <a:ext cx="1371600" cy="237744"/>
          </a:xfrm>
          <a:prstGeom prst="rect">
            <a:avLst/>
          </a:prstGeom>
          <a:noFill/>
          <a:ln/>
        </p:spPr>
        <p:txBody>
          <a:bodyPr wrap="square" lIns="0" tIns="0" rIns="0" bIns="0" rtlCol="0" anchor="ctr"/>
          <a:lstStyle/>
          <a:p>
            <a:pPr algn="ctr" indent="0" marL="0">
              <a:buNone/>
            </a:pPr>
            <a:r>
              <a:rPr lang="en-US" sz="950" b="1" dirty="0">
                <a:solidFill>
                  <a:srgbClr val="028090"/>
                </a:solidFill>
                <a:latin typeface="Calibri" pitchFamily="34" charset="0"/>
                <a:ea typeface="Calibri" pitchFamily="34" charset="-122"/>
                <a:cs typeface="Calibri" pitchFamily="34" charset="-120"/>
              </a:rPr>
              <a:t>Moderate</a:t>
            </a:r>
            <a:endParaRPr lang="en-US" sz="950" dirty="0"/>
          </a:p>
        </p:txBody>
      </p:sp>
      <p:sp>
        <p:nvSpPr>
          <p:cNvPr id="29" name="Shape 27"/>
          <p:cNvSpPr/>
          <p:nvPr/>
        </p:nvSpPr>
        <p:spPr>
          <a:xfrm>
            <a:off x="8077200" y="3639312"/>
            <a:ext cx="3517392" cy="2011680"/>
          </a:xfrm>
          <a:prstGeom prst="roundRect">
            <a:avLst>
              <a:gd name="adj" fmla="val 4545"/>
            </a:avLst>
          </a:prstGeom>
          <a:solidFill>
            <a:srgbClr val="EEF6F7"/>
          </a:solidFill>
          <a:ln w="9525">
            <a:solidFill>
              <a:srgbClr val="D3E3E6"/>
            </a:solidFill>
            <a:prstDash val="solid"/>
          </a:ln>
          <a:effectLst>
            <a:outerShdw sx="100000" sy="100000" kx="0" ky="0" algn="bl" rotWithShape="0" blurRad="127000" dist="25400" dir="5400000">
              <a:srgbClr val="0A2E36">
                <a:alpha val="10000"/>
              </a:srgbClr>
            </a:outerShdw>
          </a:effectLst>
        </p:spPr>
      </p:sp>
      <p:sp>
        <p:nvSpPr>
          <p:cNvPr id="30" name="Text 28"/>
          <p:cNvSpPr/>
          <p:nvPr/>
        </p:nvSpPr>
        <p:spPr>
          <a:xfrm>
            <a:off x="8314944" y="3822192"/>
            <a:ext cx="3041904" cy="512064"/>
          </a:xfrm>
          <a:prstGeom prst="rect">
            <a:avLst/>
          </a:prstGeom>
          <a:noFill/>
          <a:ln/>
        </p:spPr>
        <p:txBody>
          <a:bodyPr wrap="square" lIns="0" tIns="0" rIns="0" bIns="0" rtlCol="0" anchor="t"/>
          <a:lstStyle/>
          <a:p>
            <a:pPr indent="0" marL="0">
              <a:lnSpc>
                <a:spcPts val="1800"/>
              </a:lnSpc>
              <a:buNone/>
            </a:pPr>
            <a:r>
              <a:rPr lang="en-US" sz="1500" b="1" dirty="0">
                <a:solidFill>
                  <a:srgbClr val="0A2E36"/>
                </a:solidFill>
                <a:latin typeface="Cambria" pitchFamily="34" charset="0"/>
                <a:ea typeface="Cambria" pitchFamily="34" charset="-122"/>
                <a:cs typeface="Cambria" pitchFamily="34" charset="-120"/>
              </a:rPr>
              <a:t>Multi-tenancy</a:t>
            </a:r>
            <a:endParaRPr lang="en-US" sz="1500" dirty="0"/>
          </a:p>
        </p:txBody>
      </p:sp>
      <p:sp>
        <p:nvSpPr>
          <p:cNvPr id="31" name="Text 29"/>
          <p:cNvSpPr/>
          <p:nvPr/>
        </p:nvSpPr>
        <p:spPr>
          <a:xfrm>
            <a:off x="8314944" y="4389120"/>
            <a:ext cx="3041904" cy="914400"/>
          </a:xfrm>
          <a:prstGeom prst="rect">
            <a:avLst/>
          </a:prstGeom>
          <a:noFill/>
          <a:ln/>
        </p:spPr>
        <p:txBody>
          <a:bodyPr wrap="square" lIns="0" tIns="0" rIns="0" bIns="0" rtlCol="0" anchor="t"/>
          <a:lstStyle/>
          <a:p>
            <a:pPr indent="0" marL="0">
              <a:lnSpc>
                <a:spcPts val="1400"/>
              </a:lnSpc>
              <a:buNone/>
            </a:pPr>
            <a:r>
              <a:rPr lang="en-US" sz="1150" dirty="0">
                <a:solidFill>
                  <a:srgbClr val="445C64"/>
                </a:solidFill>
                <a:latin typeface="Calibri" pitchFamily="34" charset="0"/>
                <a:ea typeface="Calibri" pitchFamily="34" charset="-122"/>
                <a:cs typeface="Calibri" pitchFamily="34" charset="-120"/>
              </a:rPr>
              <a:t>One deployment serving many businesses. Would extend the same query-scoping mechanism we already use for roles</a:t>
            </a:r>
            <a:endParaRPr lang="en-US" sz="1150" dirty="0"/>
          </a:p>
        </p:txBody>
      </p:sp>
      <p:sp>
        <p:nvSpPr>
          <p:cNvPr id="32" name="Shape 30"/>
          <p:cNvSpPr/>
          <p:nvPr/>
        </p:nvSpPr>
        <p:spPr>
          <a:xfrm>
            <a:off x="8314944" y="5303520"/>
            <a:ext cx="1371600" cy="237744"/>
          </a:xfrm>
          <a:prstGeom prst="roundRect">
            <a:avLst>
              <a:gd name="adj" fmla="val 19231"/>
            </a:avLst>
          </a:prstGeom>
          <a:solidFill>
            <a:srgbClr val="FFFFFF"/>
          </a:solidFill>
          <a:ln w="9525">
            <a:solidFill>
              <a:srgbClr val="00A896"/>
            </a:solidFill>
            <a:prstDash val="solid"/>
          </a:ln>
        </p:spPr>
      </p:sp>
      <p:sp>
        <p:nvSpPr>
          <p:cNvPr id="33" name="Text 31"/>
          <p:cNvSpPr/>
          <p:nvPr/>
        </p:nvSpPr>
        <p:spPr>
          <a:xfrm>
            <a:off x="8314944" y="5303520"/>
            <a:ext cx="1371600" cy="237744"/>
          </a:xfrm>
          <a:prstGeom prst="rect">
            <a:avLst/>
          </a:prstGeom>
          <a:noFill/>
          <a:ln/>
        </p:spPr>
        <p:txBody>
          <a:bodyPr wrap="square" lIns="0" tIns="0" rIns="0" bIns="0" rtlCol="0" anchor="ctr"/>
          <a:lstStyle/>
          <a:p>
            <a:pPr algn="ctr" indent="0" marL="0">
              <a:buNone/>
            </a:pPr>
            <a:r>
              <a:rPr lang="en-US" sz="950" b="1" dirty="0">
                <a:solidFill>
                  <a:srgbClr val="028090"/>
                </a:solidFill>
                <a:latin typeface="Calibri" pitchFamily="34" charset="0"/>
                <a:ea typeface="Calibri" pitchFamily="34" charset="-122"/>
                <a:cs typeface="Calibri" pitchFamily="34" charset="-120"/>
              </a:rPr>
              <a:t>High</a:t>
            </a:r>
            <a:endParaRPr lang="en-US" sz="950" dirty="0"/>
          </a:p>
        </p:txBody>
      </p:sp>
      <p:sp>
        <p:nvSpPr>
          <p:cNvPr id="34" name="Text 32"/>
          <p:cNvSpPr/>
          <p:nvPr/>
        </p:nvSpPr>
        <p:spPr>
          <a:xfrm>
            <a:off x="566928" y="5870448"/>
            <a:ext cx="11027664" cy="310896"/>
          </a:xfrm>
          <a:prstGeom prst="rect">
            <a:avLst/>
          </a:prstGeom>
          <a:noFill/>
          <a:ln/>
        </p:spPr>
        <p:txBody>
          <a:bodyPr wrap="square" lIns="0" tIns="0" rIns="0" bIns="0" rtlCol="0" anchor="ctr"/>
          <a:lstStyle/>
          <a:p>
            <a:pPr indent="0" marL="0">
              <a:buNone/>
            </a:pPr>
            <a:r>
              <a:rPr lang="en-US" sz="1150" i="1" dirty="0">
                <a:solidFill>
                  <a:srgbClr val="028090"/>
                </a:solidFill>
                <a:latin typeface="Calibri" pitchFamily="34" charset="0"/>
                <a:ea typeface="Calibri" pitchFamily="34" charset="-122"/>
                <a:cs typeface="Calibri" pitchFamily="34" charset="-120"/>
              </a:rPr>
              <a:t>Multi-tenancy is largest — but the shared query builder that scopes by role today is exactly where a tenant filter would go.</a:t>
            </a:r>
            <a:endParaRPr lang="en-US" sz="1150" dirty="0"/>
          </a:p>
        </p:txBody>
      </p:sp>
      <p:sp>
        <p:nvSpPr>
          <p:cNvPr id="35" name="Text 33"/>
          <p:cNvSpPr/>
          <p:nvPr/>
        </p:nvSpPr>
        <p:spPr>
          <a:xfrm>
            <a:off x="566928" y="6345936"/>
            <a:ext cx="7315200" cy="219456"/>
          </a:xfrm>
          <a:prstGeom prst="rect">
            <a:avLst/>
          </a:prstGeom>
          <a:noFill/>
          <a:ln/>
        </p:spPr>
        <p:txBody>
          <a:bodyPr wrap="square" lIns="0" tIns="0" rIns="0" bIns="0" rtlCol="0" anchor="ctr"/>
          <a:lstStyle/>
          <a:p>
            <a:pPr indent="0" marL="0">
              <a:buNone/>
            </a:pPr>
            <a:r>
              <a:rPr lang="en-US" sz="900" dirty="0">
                <a:solidFill>
                  <a:srgbClr val="7C939B"/>
                </a:solidFill>
                <a:latin typeface="Calibri" pitchFamily="34" charset="0"/>
                <a:ea typeface="Calibri" pitchFamily="34" charset="-122"/>
                <a:cs typeface="Calibri" pitchFamily="34" charset="-120"/>
              </a:rPr>
              <a:t>ServiceDesk AI  ·  BCSE408L Cloud Computing  ·  Final Demonstration</a:t>
            </a:r>
            <a:endParaRPr lang="en-US" sz="900" dirty="0"/>
          </a:p>
        </p:txBody>
      </p:sp>
      <p:sp>
        <p:nvSpPr>
          <p:cNvPr id="36" name="Text 34"/>
          <p:cNvSpPr/>
          <p:nvPr/>
        </p:nvSpPr>
        <p:spPr>
          <a:xfrm>
            <a:off x="10680192" y="6345936"/>
            <a:ext cx="914400" cy="219456"/>
          </a:xfrm>
          <a:prstGeom prst="rect">
            <a:avLst/>
          </a:prstGeom>
          <a:noFill/>
          <a:ln/>
        </p:spPr>
        <p:txBody>
          <a:bodyPr wrap="square" lIns="0" tIns="0" rIns="0" bIns="0" rtlCol="0" anchor="ctr"/>
          <a:lstStyle/>
          <a:p>
            <a:pPr algn="r" indent="0" marL="0">
              <a:buNone/>
            </a:pPr>
            <a:r>
              <a:rPr lang="en-US" sz="900" dirty="0">
                <a:solidFill>
                  <a:srgbClr val="7C939B"/>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A2E36"/>
        </a:solidFill>
      </p:bgPr>
    </p:bg>
    <p:spTree>
      <p:nvGrpSpPr>
        <p:cNvPr id="1" name=""/>
        <p:cNvGrpSpPr/>
        <p:nvPr/>
      </p:nvGrpSpPr>
      <p:grpSpPr>
        <a:xfrm>
          <a:off x="0" y="0"/>
          <a:ext cx="0" cy="0"/>
          <a:chOff x="0" y="0"/>
          <a:chExt cx="0" cy="0"/>
        </a:xfrm>
      </p:grpSpPr>
      <p:sp>
        <p:nvSpPr>
          <p:cNvPr id="2" name="Shape 0"/>
          <p:cNvSpPr/>
          <p:nvPr/>
        </p:nvSpPr>
        <p:spPr>
          <a:xfrm>
            <a:off x="-1371600" y="4023360"/>
            <a:ext cx="4754880" cy="4754880"/>
          </a:xfrm>
          <a:prstGeom prst="ellipse">
            <a:avLst/>
          </a:prstGeom>
          <a:ln w="15240">
            <a:solidFill>
              <a:srgbClr val="14454F"/>
            </a:solidFill>
            <a:prstDash val="solid"/>
          </a:ln>
        </p:spPr>
      </p:sp>
      <p:sp>
        <p:nvSpPr>
          <p:cNvPr id="3" name="Shape 1"/>
          <p:cNvSpPr/>
          <p:nvPr/>
        </p:nvSpPr>
        <p:spPr>
          <a:xfrm>
            <a:off x="9692640" y="-1463040"/>
            <a:ext cx="4023360" cy="4023360"/>
          </a:xfrm>
          <a:prstGeom prst="ellipse">
            <a:avLst/>
          </a:prstGeom>
          <a:ln w="15240">
            <a:solidFill>
              <a:srgbClr val="14454F"/>
            </a:solidFill>
            <a:prstDash val="solid"/>
          </a:ln>
        </p:spPr>
      </p:sp>
      <p:sp>
        <p:nvSpPr>
          <p:cNvPr id="4" name="Text 2"/>
          <p:cNvSpPr/>
          <p:nvPr/>
        </p:nvSpPr>
        <p:spPr>
          <a:xfrm>
            <a:off x="566928" y="1737360"/>
            <a:ext cx="7315200" cy="914400"/>
          </a:xfrm>
          <a:prstGeom prst="rect">
            <a:avLst/>
          </a:prstGeom>
          <a:noFill/>
          <a:ln/>
        </p:spPr>
        <p:txBody>
          <a:bodyPr wrap="square" lIns="0" tIns="0" rIns="0" bIns="0" rtlCol="0" anchor="ctr"/>
          <a:lstStyle/>
          <a:p>
            <a:pPr indent="0" marL="0">
              <a:buNone/>
            </a:pPr>
            <a:r>
              <a:rPr lang="en-US" sz="5000" b="1" dirty="0">
                <a:solidFill>
                  <a:srgbClr val="FFFFFF"/>
                </a:solidFill>
                <a:latin typeface="Cambria" pitchFamily="34" charset="0"/>
                <a:ea typeface="Cambria" pitchFamily="34" charset="-122"/>
                <a:cs typeface="Cambria" pitchFamily="34" charset="-120"/>
              </a:rPr>
              <a:t>Thank you</a:t>
            </a:r>
            <a:endParaRPr lang="en-US" sz="5000" dirty="0"/>
          </a:p>
        </p:txBody>
      </p:sp>
      <p:sp>
        <p:nvSpPr>
          <p:cNvPr id="5" name="Text 3"/>
          <p:cNvSpPr/>
          <p:nvPr/>
        </p:nvSpPr>
        <p:spPr>
          <a:xfrm>
            <a:off x="566928" y="2706624"/>
            <a:ext cx="8229600" cy="365760"/>
          </a:xfrm>
          <a:prstGeom prst="rect">
            <a:avLst/>
          </a:prstGeom>
          <a:noFill/>
          <a:ln/>
        </p:spPr>
        <p:txBody>
          <a:bodyPr wrap="square" lIns="0" tIns="0" rIns="0" bIns="0" rtlCol="0" anchor="ctr"/>
          <a:lstStyle/>
          <a:p>
            <a:pPr indent="0" marL="0">
              <a:buNone/>
            </a:pPr>
            <a:r>
              <a:rPr lang="en-US" sz="1500" dirty="0">
                <a:solidFill>
                  <a:srgbClr val="BCD4D8"/>
                </a:solidFill>
                <a:latin typeface="Cambria" pitchFamily="34" charset="0"/>
                <a:ea typeface="Cambria" pitchFamily="34" charset="-122"/>
                <a:cs typeface="Cambria" pitchFamily="34" charset="-120"/>
              </a:rPr>
              <a:t>Questions are welcome — both of us are prepared to answer, and to modify the code.</a:t>
            </a:r>
            <a:endParaRPr lang="en-US" sz="1500" dirty="0"/>
          </a:p>
        </p:txBody>
      </p:sp>
      <p:sp>
        <p:nvSpPr>
          <p:cNvPr id="6" name="Text 4"/>
          <p:cNvSpPr/>
          <p:nvPr/>
        </p:nvSpPr>
        <p:spPr>
          <a:xfrm>
            <a:off x="566928" y="3401568"/>
            <a:ext cx="1828800" cy="274320"/>
          </a:xfrm>
          <a:prstGeom prst="rect">
            <a:avLst/>
          </a:prstGeom>
          <a:noFill/>
          <a:ln/>
        </p:spPr>
        <p:txBody>
          <a:bodyPr wrap="square" lIns="0" tIns="0" rIns="0" bIns="0" rtlCol="0" anchor="ctr"/>
          <a:lstStyle/>
          <a:p>
            <a:pPr indent="0" marL="0">
              <a:buNone/>
            </a:pPr>
            <a:r>
              <a:rPr lang="en-US" sz="1100" b="1" spc="120" kern="0" dirty="0">
                <a:solidFill>
                  <a:srgbClr val="02C39A"/>
                </a:solidFill>
                <a:latin typeface="Calibri" pitchFamily="34" charset="0"/>
                <a:ea typeface="Calibri" pitchFamily="34" charset="-122"/>
                <a:cs typeface="Calibri" pitchFamily="34" charset="-120"/>
              </a:rPr>
              <a:t>Project 19</a:t>
            </a:r>
            <a:endParaRPr lang="en-US" sz="1100" dirty="0"/>
          </a:p>
        </p:txBody>
      </p:sp>
      <p:sp>
        <p:nvSpPr>
          <p:cNvPr id="7" name="Text 5"/>
          <p:cNvSpPr/>
          <p:nvPr/>
        </p:nvSpPr>
        <p:spPr>
          <a:xfrm>
            <a:off x="2487168" y="3401568"/>
            <a:ext cx="8229600" cy="274320"/>
          </a:xfrm>
          <a:prstGeom prst="rect">
            <a:avLst/>
          </a:prstGeom>
          <a:noFill/>
          <a:ln/>
        </p:spPr>
        <p:txBody>
          <a:bodyPr wrap="square" lIns="0" tIns="0" rIns="0" bIns="0" rtlCol="0" anchor="ctr"/>
          <a:lstStyle/>
          <a:p>
            <a:pPr indent="0" marL="0">
              <a:buNone/>
            </a:pPr>
            <a:r>
              <a:rPr lang="en-US" sz="1250" dirty="0">
                <a:solidFill>
                  <a:srgbClr val="FFFFFF"/>
                </a:solidFill>
                <a:latin typeface="Calibri" pitchFamily="34" charset="0"/>
                <a:ea typeface="Calibri" pitchFamily="34" charset="-122"/>
                <a:cs typeface="Calibri" pitchFamily="34" charset="-120"/>
              </a:rPr>
              <a:t>ServiceDesk AI · Customer Support SaaS</a:t>
            </a:r>
            <a:endParaRPr lang="en-US" sz="1250" dirty="0"/>
          </a:p>
        </p:txBody>
      </p:sp>
      <p:sp>
        <p:nvSpPr>
          <p:cNvPr id="8" name="Text 6"/>
          <p:cNvSpPr/>
          <p:nvPr/>
        </p:nvSpPr>
        <p:spPr>
          <a:xfrm>
            <a:off x="566928" y="3803904"/>
            <a:ext cx="1828800" cy="274320"/>
          </a:xfrm>
          <a:prstGeom prst="rect">
            <a:avLst/>
          </a:prstGeom>
          <a:noFill/>
          <a:ln/>
        </p:spPr>
        <p:txBody>
          <a:bodyPr wrap="square" lIns="0" tIns="0" rIns="0" bIns="0" rtlCol="0" anchor="ctr"/>
          <a:lstStyle/>
          <a:p>
            <a:pPr indent="0" marL="0">
              <a:buNone/>
            </a:pPr>
            <a:r>
              <a:rPr lang="en-US" sz="1100" b="1" spc="120" kern="0" dirty="0">
                <a:solidFill>
                  <a:srgbClr val="02C39A"/>
                </a:solidFill>
                <a:latin typeface="Calibri" pitchFamily="34" charset="0"/>
                <a:ea typeface="Calibri" pitchFamily="34" charset="-122"/>
                <a:cs typeface="Calibri" pitchFamily="34" charset="-120"/>
              </a:rPr>
              <a:t>Team</a:t>
            </a:r>
            <a:endParaRPr lang="en-US" sz="1100" dirty="0"/>
          </a:p>
        </p:txBody>
      </p:sp>
      <p:sp>
        <p:nvSpPr>
          <p:cNvPr id="9" name="Text 7"/>
          <p:cNvSpPr/>
          <p:nvPr/>
        </p:nvSpPr>
        <p:spPr>
          <a:xfrm>
            <a:off x="2487168" y="3803904"/>
            <a:ext cx="8229600" cy="274320"/>
          </a:xfrm>
          <a:prstGeom prst="rect">
            <a:avLst/>
          </a:prstGeom>
          <a:noFill/>
          <a:ln/>
        </p:spPr>
        <p:txBody>
          <a:bodyPr wrap="square" lIns="0" tIns="0" rIns="0" bIns="0" rtlCol="0" anchor="ctr"/>
          <a:lstStyle/>
          <a:p>
            <a:pPr indent="0" marL="0">
              <a:buNone/>
            </a:pPr>
            <a:r>
              <a:rPr lang="en-US" sz="1250" dirty="0">
                <a:solidFill>
                  <a:srgbClr val="FFFFFF"/>
                </a:solidFill>
                <a:latin typeface="Calibri" pitchFamily="34" charset="0"/>
                <a:ea typeface="Calibri" pitchFamily="34" charset="-122"/>
                <a:cs typeface="Calibri" pitchFamily="34" charset="-120"/>
              </a:rPr>
              <a:t>Aarush Jagannathan 23BLC1211 · Gomatheswar M 23BLC1195</a:t>
            </a:r>
            <a:endParaRPr lang="en-US" sz="1250" dirty="0"/>
          </a:p>
        </p:txBody>
      </p:sp>
      <p:sp>
        <p:nvSpPr>
          <p:cNvPr id="10" name="Text 8"/>
          <p:cNvSpPr/>
          <p:nvPr/>
        </p:nvSpPr>
        <p:spPr>
          <a:xfrm>
            <a:off x="566928" y="4206240"/>
            <a:ext cx="1828800" cy="274320"/>
          </a:xfrm>
          <a:prstGeom prst="rect">
            <a:avLst/>
          </a:prstGeom>
          <a:noFill/>
          <a:ln/>
        </p:spPr>
        <p:txBody>
          <a:bodyPr wrap="square" lIns="0" tIns="0" rIns="0" bIns="0" rtlCol="0" anchor="ctr"/>
          <a:lstStyle/>
          <a:p>
            <a:pPr indent="0" marL="0">
              <a:buNone/>
            </a:pPr>
            <a:r>
              <a:rPr lang="en-US" sz="1100" b="1" spc="120" kern="0" dirty="0">
                <a:solidFill>
                  <a:srgbClr val="02C39A"/>
                </a:solidFill>
                <a:latin typeface="Calibri" pitchFamily="34" charset="0"/>
                <a:ea typeface="Calibri" pitchFamily="34" charset="-122"/>
                <a:cs typeface="Calibri" pitchFamily="34" charset="-120"/>
              </a:rPr>
              <a:t>Guide</a:t>
            </a:r>
            <a:endParaRPr lang="en-US" sz="1100" dirty="0"/>
          </a:p>
        </p:txBody>
      </p:sp>
      <p:sp>
        <p:nvSpPr>
          <p:cNvPr id="11" name="Text 9"/>
          <p:cNvSpPr/>
          <p:nvPr/>
        </p:nvSpPr>
        <p:spPr>
          <a:xfrm>
            <a:off x="2487168" y="4206240"/>
            <a:ext cx="8229600" cy="274320"/>
          </a:xfrm>
          <a:prstGeom prst="rect">
            <a:avLst/>
          </a:prstGeom>
          <a:noFill/>
          <a:ln/>
        </p:spPr>
        <p:txBody>
          <a:bodyPr wrap="square" lIns="0" tIns="0" rIns="0" bIns="0" rtlCol="0" anchor="ctr"/>
          <a:lstStyle/>
          <a:p>
            <a:pPr indent="0" marL="0">
              <a:buNone/>
            </a:pPr>
            <a:r>
              <a:rPr lang="en-US" sz="1250" dirty="0">
                <a:solidFill>
                  <a:srgbClr val="FFFFFF"/>
                </a:solidFill>
                <a:latin typeface="Calibri" pitchFamily="34" charset="0"/>
                <a:ea typeface="Calibri" pitchFamily="34" charset="-122"/>
                <a:cs typeface="Calibri" pitchFamily="34" charset="-120"/>
              </a:rPr>
              <a:t>Dr. M Dinakaran</a:t>
            </a:r>
            <a:endParaRPr lang="en-US" sz="1250" dirty="0"/>
          </a:p>
        </p:txBody>
      </p:sp>
      <p:sp>
        <p:nvSpPr>
          <p:cNvPr id="12" name="Text 10"/>
          <p:cNvSpPr/>
          <p:nvPr/>
        </p:nvSpPr>
        <p:spPr>
          <a:xfrm>
            <a:off x="566928" y="4608576"/>
            <a:ext cx="1828800" cy="274320"/>
          </a:xfrm>
          <a:prstGeom prst="rect">
            <a:avLst/>
          </a:prstGeom>
          <a:noFill/>
          <a:ln/>
        </p:spPr>
        <p:txBody>
          <a:bodyPr wrap="square" lIns="0" tIns="0" rIns="0" bIns="0" rtlCol="0" anchor="ctr"/>
          <a:lstStyle/>
          <a:p>
            <a:pPr indent="0" marL="0">
              <a:buNone/>
            </a:pPr>
            <a:r>
              <a:rPr lang="en-US" sz="1100" b="1" spc="120" kern="0" dirty="0">
                <a:solidFill>
                  <a:srgbClr val="02C39A"/>
                </a:solidFill>
                <a:latin typeface="Calibri" pitchFamily="34" charset="0"/>
                <a:ea typeface="Calibri" pitchFamily="34" charset="-122"/>
                <a:cs typeface="Calibri" pitchFamily="34" charset="-120"/>
              </a:rPr>
              <a:t>Repository</a:t>
            </a:r>
            <a:endParaRPr lang="en-US" sz="1100" dirty="0"/>
          </a:p>
        </p:txBody>
      </p:sp>
      <p:sp>
        <p:nvSpPr>
          <p:cNvPr id="13" name="Text 11"/>
          <p:cNvSpPr/>
          <p:nvPr/>
        </p:nvSpPr>
        <p:spPr>
          <a:xfrm>
            <a:off x="2487168" y="4608576"/>
            <a:ext cx="8229600" cy="274320"/>
          </a:xfrm>
          <a:prstGeom prst="rect">
            <a:avLst/>
          </a:prstGeom>
          <a:noFill/>
          <a:ln/>
        </p:spPr>
        <p:txBody>
          <a:bodyPr wrap="square" lIns="0" tIns="0" rIns="0" bIns="0" rtlCol="0" anchor="ctr"/>
          <a:lstStyle/>
          <a:p>
            <a:pPr indent="0" marL="0">
              <a:buNone/>
            </a:pPr>
            <a:r>
              <a:rPr lang="en-US" sz="1250" dirty="0">
                <a:solidFill>
                  <a:srgbClr val="FFFFFF"/>
                </a:solidFill>
                <a:latin typeface="Calibri" pitchFamily="34" charset="0"/>
                <a:ea typeface="Calibri" pitchFamily="34" charset="-122"/>
                <a:cs typeface="Calibri" pitchFamily="34" charset="-120"/>
              </a:rPr>
              <a:t>github.com/ItzGOLLY/servicedesk-ai</a:t>
            </a:r>
            <a:endParaRPr lang="en-US" sz="1250" dirty="0"/>
          </a:p>
        </p:txBody>
      </p:sp>
      <p:sp>
        <p:nvSpPr>
          <p:cNvPr id="14" name="Text 12"/>
          <p:cNvSpPr/>
          <p:nvPr/>
        </p:nvSpPr>
        <p:spPr>
          <a:xfrm>
            <a:off x="566928" y="5010912"/>
            <a:ext cx="1828800" cy="274320"/>
          </a:xfrm>
          <a:prstGeom prst="rect">
            <a:avLst/>
          </a:prstGeom>
          <a:noFill/>
          <a:ln/>
        </p:spPr>
        <p:txBody>
          <a:bodyPr wrap="square" lIns="0" tIns="0" rIns="0" bIns="0" rtlCol="0" anchor="ctr"/>
          <a:lstStyle/>
          <a:p>
            <a:pPr indent="0" marL="0">
              <a:buNone/>
            </a:pPr>
            <a:r>
              <a:rPr lang="en-US" sz="1100" b="1" spc="120" kern="0" dirty="0">
                <a:solidFill>
                  <a:srgbClr val="02C39A"/>
                </a:solidFill>
                <a:latin typeface="Calibri" pitchFamily="34" charset="0"/>
                <a:ea typeface="Calibri" pitchFamily="34" charset="-122"/>
                <a:cs typeface="Calibri" pitchFamily="34" charset="-120"/>
              </a:rPr>
              <a:t>Tests</a:t>
            </a:r>
            <a:endParaRPr lang="en-US" sz="1100" dirty="0"/>
          </a:p>
        </p:txBody>
      </p:sp>
      <p:sp>
        <p:nvSpPr>
          <p:cNvPr id="15" name="Text 13"/>
          <p:cNvSpPr/>
          <p:nvPr/>
        </p:nvSpPr>
        <p:spPr>
          <a:xfrm>
            <a:off x="2487168" y="5010912"/>
            <a:ext cx="8229600" cy="274320"/>
          </a:xfrm>
          <a:prstGeom prst="rect">
            <a:avLst/>
          </a:prstGeom>
          <a:noFill/>
          <a:ln/>
        </p:spPr>
        <p:txBody>
          <a:bodyPr wrap="square" lIns="0" tIns="0" rIns="0" bIns="0" rtlCol="0" anchor="ctr"/>
          <a:lstStyle/>
          <a:p>
            <a:pPr indent="0" marL="0">
              <a:buNone/>
            </a:pPr>
            <a:r>
              <a:rPr lang="en-US" sz="1250" dirty="0">
                <a:solidFill>
                  <a:srgbClr val="FFFFFF"/>
                </a:solidFill>
                <a:latin typeface="Calibri" pitchFamily="34" charset="0"/>
                <a:ea typeface="Calibri" pitchFamily="34" charset="-122"/>
                <a:cs typeface="Calibri" pitchFamily="34" charset="-120"/>
              </a:rPr>
              <a:t>92 passed · 0 failed · against real PostgreSQL</a:t>
            </a:r>
            <a:endParaRPr lang="en-US" sz="1250" dirty="0"/>
          </a:p>
        </p:txBody>
      </p:sp>
      <p:sp>
        <p:nvSpPr>
          <p:cNvPr id="16" name="Text 14"/>
          <p:cNvSpPr/>
          <p:nvPr/>
        </p:nvSpPr>
        <p:spPr>
          <a:xfrm>
            <a:off x="566928" y="5413248"/>
            <a:ext cx="1828800" cy="274320"/>
          </a:xfrm>
          <a:prstGeom prst="rect">
            <a:avLst/>
          </a:prstGeom>
          <a:noFill/>
          <a:ln/>
        </p:spPr>
        <p:txBody>
          <a:bodyPr wrap="square" lIns="0" tIns="0" rIns="0" bIns="0" rtlCol="0" anchor="ctr"/>
          <a:lstStyle/>
          <a:p>
            <a:pPr indent="0" marL="0">
              <a:buNone/>
            </a:pPr>
            <a:r>
              <a:rPr lang="en-US" sz="1100" b="1" spc="120" kern="0" dirty="0">
                <a:solidFill>
                  <a:srgbClr val="02C39A"/>
                </a:solidFill>
                <a:latin typeface="Calibri" pitchFamily="34" charset="0"/>
                <a:ea typeface="Calibri" pitchFamily="34" charset="-122"/>
                <a:cs typeface="Calibri" pitchFamily="34" charset="-120"/>
              </a:rPr>
              <a:t>Live URL</a:t>
            </a:r>
            <a:endParaRPr lang="en-US" sz="1100" dirty="0"/>
          </a:p>
        </p:txBody>
      </p:sp>
      <p:sp>
        <p:nvSpPr>
          <p:cNvPr id="17" name="Text 15"/>
          <p:cNvSpPr/>
          <p:nvPr/>
        </p:nvSpPr>
        <p:spPr>
          <a:xfrm>
            <a:off x="2487168" y="5413248"/>
            <a:ext cx="8229600" cy="274320"/>
          </a:xfrm>
          <a:prstGeom prst="rect">
            <a:avLst/>
          </a:prstGeom>
          <a:noFill/>
          <a:ln/>
        </p:spPr>
        <p:txBody>
          <a:bodyPr wrap="square" lIns="0" tIns="0" rIns="0" bIns="0" rtlCol="0" anchor="ctr"/>
          <a:lstStyle/>
          <a:p>
            <a:pPr indent="0" marL="0">
              <a:buNone/>
            </a:pPr>
            <a:r>
              <a:rPr lang="en-US" sz="1250" i="1" dirty="0">
                <a:solidFill>
                  <a:srgbClr val="8FAAB1"/>
                </a:solidFill>
                <a:latin typeface="Calibri" pitchFamily="34" charset="0"/>
                <a:ea typeface="Calibri" pitchFamily="34" charset="-122"/>
                <a:cs typeface="Calibri" pitchFamily="34" charset="-120"/>
              </a:rPr>
              <a:t>Not yet deployed — deployment is documented and pending</a:t>
            </a:r>
            <a:endParaRPr lang="en-US" sz="1250" dirty="0"/>
          </a:p>
        </p:txBody>
      </p:sp>
      <p:sp>
        <p:nvSpPr>
          <p:cNvPr id="18" name="Text 16"/>
          <p:cNvSpPr/>
          <p:nvPr/>
        </p:nvSpPr>
        <p:spPr>
          <a:xfrm>
            <a:off x="566928" y="5925312"/>
            <a:ext cx="10424160" cy="274320"/>
          </a:xfrm>
          <a:prstGeom prst="rect">
            <a:avLst/>
          </a:prstGeom>
          <a:noFill/>
          <a:ln/>
        </p:spPr>
        <p:txBody>
          <a:bodyPr wrap="square" lIns="0" tIns="0" rIns="0" bIns="0" rtlCol="0" anchor="ctr"/>
          <a:lstStyle/>
          <a:p>
            <a:pPr indent="0" marL="0">
              <a:buNone/>
            </a:pPr>
            <a:r>
              <a:rPr lang="en-US" sz="1050" dirty="0">
                <a:solidFill>
                  <a:srgbClr val="5E7D85"/>
                </a:solidFill>
                <a:latin typeface="Calibri" pitchFamily="34" charset="0"/>
                <a:ea typeface="Calibri" pitchFamily="34" charset="-122"/>
                <a:cs typeface="Calibri" pitchFamily="34" charset="-120"/>
              </a:rPr>
              <a:t>BCSE408L — Cloud Computing  ·  School of Computer Science Engineering and Information Systems  ·  VIT Chennai</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VIT Chennai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ServiceDesk AI — Final Demonstration</dc:title>
  <dc:subject>PptxGenJS Presentation</dc:subject>
  <dc:creator>Aarush Jagannathan, Gomatheswar M</dc:creator>
  <cp:lastModifiedBy>Aarush Jagannathan, Gomatheswar M</cp:lastModifiedBy>
  <cp:revision>1</cp:revision>
  <dcterms:created xsi:type="dcterms:W3CDTF">2026-08-18T10:48:35Z</dcterms:created>
  <dcterms:modified xsi:type="dcterms:W3CDTF">2026-08-18T10:48:35Z</dcterms:modified>
</cp:coreProperties>
</file>