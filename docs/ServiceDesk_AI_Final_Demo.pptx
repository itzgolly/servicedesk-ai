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Aarush and Gomatheswar. This is our final demonstration of ServiceDesk AI, Project 19 from the Customer Support SaaS category. We will show the working system first, then explain the architecture, the testing and what is not finished.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scale of what we built and where we stand against the nine mandatory requirements. Seven are complete. Two are not, and we want to say that at the start rather than hide it at the end: the application is not yet deployed to the public cloud, so the live URL and the cloud database instance are outstanding. Everything else you are about to see is real and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order of the demonstration. Six steps, about seven minutes. The important thing to note is that none of it is staged — we create a ticket live, and the classification comes from the words we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architecture as built. Three tiers on three managed platforms. The key property is the middle one being stateless — sessions are JWTs and everything else lives in Postgres, which is exactly what makes it horizontally scalable. We deliberately did not use Kubernetes or microservices; neither solves a problem we have at this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tables. Three decisions worth defending: enums rather than lookup tables, because the values are fixed by the specification and the declaration order gives us correct priority sorting for free; delete rules chosen per relationship to express what should happen to real data; and business invariants expressed as database constraints so they hold even when our application code is wrong. That last one caught a real bug during development — an early reopen operation did not clear the resolved timestamp and the database rejected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authorisation layers, both server-side. Twenty-six tests call the API directly with the wrong role to prove the interface is not what protects us. Two details worth pointing out: another customer's ticket returns 404 rather than 403, so an attacker cannot probe IDs to discover what exists; and the login error is identical for an unknown email and a wrong password, including the timing, so the endpoint cannot be used to enumerate accounts.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want to be honest: AI was not required by the specification. We added it, so we designed it so nothing depends on it. Three properties make that true, and each has a test number next to it. Classification runs after the commit; the fallback is a real working classifier, not a stub; and generating a draft creates zero customer-visible messages. If you ask us to unplug the AI right now, everything else keeps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 tests, all passing, against a real Postgres database. We tested against a real database deliberately — a mock would have accepted a row that our check constraint rejects, so the tests would pass while the deployed system misbehaved. Three defects were found and fixed. The third is the most instructive: the build passed, types passed, the API returned correct data, and every chart still rendered empty. Only looking at the running page found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would rather tell you what is not done than have you find it. Deployment is the one blocking item and three things depend on it: the live URL, the cloud database instance and the screenshots. The procedure is written and the configuration is in the repository. The other three gaps — attachments, frontend tests and load testing — are genuine scope decisions we can defend.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remaining work, roughly seventy-five minutes. The order matters because each tier needs the address of the one before it. Two things we want to flag: the free tier sleeps, which is why we have a keep-alive ping and why we open the app five minutes before a demo; and after deploying we grep the built JavaScript for the AI key to prove it never reaches the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enhancements, ordered by value against effort. Email notifications and attachments are the two we would do first. Multi-tenancy is the biggest, but it is worth noting that the design decision to apply role scoping in one shared query builder is exactly what would make adding a tenant filter tractable rather than a 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To be clear about status once more: the repository is live and the test suite passes, and the application is not yet deployed — we will not claim a public URL before it exists. We are both happy to take questions, and to modify the code if you would like to see a change made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2E36"/>
        </a:solidFill>
      </p:bgPr>
    </p:bg>
    <p:spTree>
      <p:nvGrpSpPr>
        <p:cNvPr id="1" name=""/>
        <p:cNvGrpSpPr/>
        <p:nvPr/>
      </p:nvGrpSpPr>
      <p:grpSpPr>
        <a:xfrm>
          <a:off x="0" y="0"/>
          <a:ext cx="0" cy="0"/>
          <a:chOff x="0" y="0"/>
          <a:chExt cx="0" cy="0"/>
        </a:xfrm>
      </p:grpSpPr>
      <p:sp>
        <p:nvSpPr>
          <p:cNvPr id="2" name="Shape 0"/>
          <p:cNvSpPr/>
          <p:nvPr/>
        </p:nvSpPr>
        <p:spPr>
          <a:xfrm>
            <a:off x="9281160" y="3246120"/>
            <a:ext cx="3931920" cy="3931920"/>
          </a:xfrm>
          <a:prstGeom prst="ellipse">
            <a:avLst/>
          </a:prstGeom>
          <a:ln w="13970">
            <a:solidFill>
              <a:srgbClr val="028090"/>
            </a:solidFill>
            <a:prstDash val="solid"/>
          </a:ln>
        </p:spPr>
      </p:sp>
      <p:sp>
        <p:nvSpPr>
          <p:cNvPr id="3" name="Shape 1"/>
          <p:cNvSpPr/>
          <p:nvPr/>
        </p:nvSpPr>
        <p:spPr>
          <a:xfrm>
            <a:off x="10104120" y="4069080"/>
            <a:ext cx="2286000" cy="2286000"/>
          </a:xfrm>
          <a:prstGeom prst="ellipse">
            <a:avLst/>
          </a:prstGeom>
          <a:ln w="13970">
            <a:solidFill>
              <a:srgbClr val="00A896"/>
            </a:solidFill>
            <a:prstDash val="solid"/>
          </a:ln>
        </p:spPr>
      </p:sp>
      <p:sp>
        <p:nvSpPr>
          <p:cNvPr id="4" name="Shape 2"/>
          <p:cNvSpPr/>
          <p:nvPr/>
        </p:nvSpPr>
        <p:spPr>
          <a:xfrm>
            <a:off x="10744200" y="4709160"/>
            <a:ext cx="1005840" cy="1005840"/>
          </a:xfrm>
          <a:prstGeom prst="ellipse">
            <a:avLst/>
          </a:prstGeom>
          <a:solidFill>
            <a:srgbClr val="02C39A"/>
          </a:solidFill>
          <a:ln/>
        </p:spPr>
      </p:sp>
      <p:sp>
        <p:nvSpPr>
          <p:cNvPr id="5" name="Text 3"/>
          <p:cNvSpPr/>
          <p:nvPr/>
        </p:nvSpPr>
        <p:spPr>
          <a:xfrm>
            <a:off x="566928" y="731520"/>
            <a:ext cx="8686800" cy="256032"/>
          </a:xfrm>
          <a:prstGeom prst="rect">
            <a:avLst/>
          </a:prstGeom>
          <a:noFill/>
          <a:ln/>
        </p:spPr>
        <p:txBody>
          <a:bodyPr wrap="square" lIns="0" tIns="0" rIns="0" bIns="0" rtlCol="0" anchor="ctr"/>
          <a:lstStyle/>
          <a:p>
            <a:pPr indent="0" marL="0">
              <a:buNone/>
            </a:pPr>
            <a:r>
              <a:rPr lang="en-US" sz="1100" b="1" spc="200" kern="0" dirty="0">
                <a:solidFill>
                  <a:srgbClr val="02C39A"/>
                </a:solidFill>
                <a:latin typeface="Calibri" pitchFamily="34" charset="0"/>
                <a:ea typeface="Calibri" pitchFamily="34" charset="-122"/>
                <a:cs typeface="Calibri" pitchFamily="34" charset="-120"/>
              </a:rPr>
              <a:t>VELLORE INSTITUTE OF TECHNOLOGY, CHENNAI</a:t>
            </a:r>
            <a:endParaRPr lang="en-US" sz="1100" dirty="0"/>
          </a:p>
        </p:txBody>
      </p:sp>
      <p:sp>
        <p:nvSpPr>
          <p:cNvPr id="6" name="Text 4"/>
          <p:cNvSpPr/>
          <p:nvPr/>
        </p:nvSpPr>
        <p:spPr>
          <a:xfrm>
            <a:off x="566928" y="987552"/>
            <a:ext cx="8686800" cy="256032"/>
          </a:xfrm>
          <a:prstGeom prst="rect">
            <a:avLst/>
          </a:prstGeom>
          <a:noFill/>
          <a:ln/>
        </p:spPr>
        <p:txBody>
          <a:bodyPr wrap="square" lIns="0" tIns="0" rIns="0" bIns="0" rtlCol="0" anchor="ctr"/>
          <a:lstStyle/>
          <a:p>
            <a:pPr indent="0" marL="0">
              <a:buNone/>
            </a:pPr>
            <a:r>
              <a:rPr lang="en-US" sz="1100" dirty="0">
                <a:solidFill>
                  <a:srgbClr val="9DB6BC"/>
                </a:solidFill>
                <a:latin typeface="Calibri" pitchFamily="34" charset="0"/>
                <a:ea typeface="Calibri" pitchFamily="34" charset="-122"/>
                <a:cs typeface="Calibri" pitchFamily="34" charset="-120"/>
              </a:rPr>
              <a:t>School of Computer Science Engineering and Information Systems</a:t>
            </a:r>
            <a:endParaRPr lang="en-US" sz="1100" dirty="0"/>
          </a:p>
        </p:txBody>
      </p:sp>
      <p:sp>
        <p:nvSpPr>
          <p:cNvPr id="7" name="Text 5"/>
          <p:cNvSpPr/>
          <p:nvPr/>
        </p:nvSpPr>
        <p:spPr>
          <a:xfrm>
            <a:off x="566928" y="1874520"/>
            <a:ext cx="8778240" cy="105156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ServiceDesk AI</a:t>
            </a:r>
            <a:endParaRPr lang="en-US" sz="6000" dirty="0"/>
          </a:p>
        </p:txBody>
      </p:sp>
      <p:sp>
        <p:nvSpPr>
          <p:cNvPr id="8" name="Text 6"/>
          <p:cNvSpPr/>
          <p:nvPr/>
        </p:nvSpPr>
        <p:spPr>
          <a:xfrm>
            <a:off x="566928" y="2944368"/>
            <a:ext cx="8412480" cy="457200"/>
          </a:xfrm>
          <a:prstGeom prst="rect">
            <a:avLst/>
          </a:prstGeom>
          <a:noFill/>
          <a:ln/>
        </p:spPr>
        <p:txBody>
          <a:bodyPr wrap="square" lIns="0" tIns="0" rIns="0" bIns="0" rtlCol="0" anchor="ctr"/>
          <a:lstStyle/>
          <a:p>
            <a:pPr indent="0" marL="0">
              <a:buNone/>
            </a:pPr>
            <a:r>
              <a:rPr lang="en-US" sz="1700" dirty="0">
                <a:solidFill>
                  <a:srgbClr val="BCD4D8"/>
                </a:solidFill>
                <a:latin typeface="Cambria" pitchFamily="34" charset="0"/>
                <a:ea typeface="Cambria" pitchFamily="34" charset="-122"/>
                <a:cs typeface="Cambria" pitchFamily="34" charset="-120"/>
              </a:rPr>
              <a:t>A cloud-native customer support SaaS platform for small businesses</a:t>
            </a:r>
            <a:endParaRPr lang="en-US" sz="1700" dirty="0"/>
          </a:p>
        </p:txBody>
      </p:sp>
      <p:sp>
        <p:nvSpPr>
          <p:cNvPr id="9" name="Text 7"/>
          <p:cNvSpPr/>
          <p:nvPr/>
        </p:nvSpPr>
        <p:spPr>
          <a:xfrm>
            <a:off x="566928" y="3611880"/>
            <a:ext cx="8778240" cy="274320"/>
          </a:xfrm>
          <a:prstGeom prst="rect">
            <a:avLst/>
          </a:prstGeom>
          <a:noFill/>
          <a:ln/>
        </p:spPr>
        <p:txBody>
          <a:bodyPr wrap="square" lIns="0" tIns="0" rIns="0" bIns="0" rtlCol="0" anchor="ctr"/>
          <a:lstStyle/>
          <a:p>
            <a:pPr indent="0" marL="0">
              <a:buNone/>
            </a:pPr>
            <a:r>
              <a:rPr lang="en-US" sz="1200" b="1" dirty="0">
                <a:solidFill>
                  <a:srgbClr val="00A896"/>
                </a:solidFill>
                <a:latin typeface="Calibri" pitchFamily="34" charset="0"/>
                <a:ea typeface="Calibri" pitchFamily="34" charset="-122"/>
                <a:cs typeface="Calibri" pitchFamily="34" charset="-120"/>
              </a:rPr>
              <a:t>Project 19  ·  Customer Support SaaS  ·  Review 2 &amp; Final Demonstration  ·  September 2026</a:t>
            </a:r>
            <a:endParaRPr lang="en-US" sz="1200" dirty="0"/>
          </a:p>
        </p:txBody>
      </p:sp>
      <p:sp>
        <p:nvSpPr>
          <p:cNvPr id="10" name="Shape 8"/>
          <p:cNvSpPr/>
          <p:nvPr/>
        </p:nvSpPr>
        <p:spPr>
          <a:xfrm>
            <a:off x="566928" y="4343400"/>
            <a:ext cx="3063240" cy="896112"/>
          </a:xfrm>
          <a:prstGeom prst="roundRect">
            <a:avLst>
              <a:gd name="adj" fmla="val 10204"/>
            </a:avLst>
          </a:prstGeom>
          <a:solidFill>
            <a:srgbClr val="12414C"/>
          </a:solidFill>
          <a:ln w="9525">
            <a:solidFill>
              <a:srgbClr val="1D5361"/>
            </a:solidFill>
            <a:prstDash val="solid"/>
          </a:ln>
        </p:spPr>
      </p:sp>
      <p:sp>
        <p:nvSpPr>
          <p:cNvPr id="11" name="Text 9"/>
          <p:cNvSpPr/>
          <p:nvPr/>
        </p:nvSpPr>
        <p:spPr>
          <a:xfrm>
            <a:off x="804672" y="4489704"/>
            <a:ext cx="2606040" cy="29260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Aarush Jagannathan</a:t>
            </a:r>
            <a:endParaRPr lang="en-US" sz="1400" dirty="0"/>
          </a:p>
        </p:txBody>
      </p:sp>
      <p:sp>
        <p:nvSpPr>
          <p:cNvPr id="12" name="Text 10"/>
          <p:cNvSpPr/>
          <p:nvPr/>
        </p:nvSpPr>
        <p:spPr>
          <a:xfrm>
            <a:off x="804672" y="4818888"/>
            <a:ext cx="2606040" cy="256032"/>
          </a:xfrm>
          <a:prstGeom prst="rect">
            <a:avLst/>
          </a:prstGeom>
          <a:noFill/>
          <a:ln/>
        </p:spPr>
        <p:txBody>
          <a:bodyPr wrap="square" lIns="0" tIns="0" rIns="0" bIns="0" rtlCol="0" anchor="ctr"/>
          <a:lstStyle/>
          <a:p>
            <a:pPr indent="0" marL="0">
              <a:buNone/>
            </a:pPr>
            <a:r>
              <a:rPr lang="en-US" sz="1200" dirty="0">
                <a:solidFill>
                  <a:srgbClr val="02C39A"/>
                </a:solidFill>
                <a:latin typeface="Calibri" pitchFamily="34" charset="0"/>
                <a:ea typeface="Calibri" pitchFamily="34" charset="-122"/>
                <a:cs typeface="Calibri" pitchFamily="34" charset="-120"/>
              </a:rPr>
              <a:t>23BLC1211</a:t>
            </a:r>
            <a:endParaRPr lang="en-US" sz="1200" dirty="0"/>
          </a:p>
        </p:txBody>
      </p:sp>
      <p:sp>
        <p:nvSpPr>
          <p:cNvPr id="13" name="Shape 11"/>
          <p:cNvSpPr/>
          <p:nvPr/>
        </p:nvSpPr>
        <p:spPr>
          <a:xfrm>
            <a:off x="3886200" y="4343400"/>
            <a:ext cx="3063240" cy="896112"/>
          </a:xfrm>
          <a:prstGeom prst="roundRect">
            <a:avLst>
              <a:gd name="adj" fmla="val 10204"/>
            </a:avLst>
          </a:prstGeom>
          <a:solidFill>
            <a:srgbClr val="12414C"/>
          </a:solidFill>
          <a:ln w="9525">
            <a:solidFill>
              <a:srgbClr val="1D5361"/>
            </a:solidFill>
            <a:prstDash val="solid"/>
          </a:ln>
        </p:spPr>
      </p:sp>
      <p:sp>
        <p:nvSpPr>
          <p:cNvPr id="14" name="Text 12"/>
          <p:cNvSpPr/>
          <p:nvPr/>
        </p:nvSpPr>
        <p:spPr>
          <a:xfrm>
            <a:off x="4123944" y="4489704"/>
            <a:ext cx="2606040" cy="29260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Gomatheswar M</a:t>
            </a:r>
            <a:endParaRPr lang="en-US" sz="1400" dirty="0"/>
          </a:p>
        </p:txBody>
      </p:sp>
      <p:sp>
        <p:nvSpPr>
          <p:cNvPr id="15" name="Text 13"/>
          <p:cNvSpPr/>
          <p:nvPr/>
        </p:nvSpPr>
        <p:spPr>
          <a:xfrm>
            <a:off x="4123944" y="4818888"/>
            <a:ext cx="2606040" cy="256032"/>
          </a:xfrm>
          <a:prstGeom prst="rect">
            <a:avLst/>
          </a:prstGeom>
          <a:noFill/>
          <a:ln/>
        </p:spPr>
        <p:txBody>
          <a:bodyPr wrap="square" lIns="0" tIns="0" rIns="0" bIns="0" rtlCol="0" anchor="ctr"/>
          <a:lstStyle/>
          <a:p>
            <a:pPr indent="0" marL="0">
              <a:buNone/>
            </a:pPr>
            <a:r>
              <a:rPr lang="en-US" sz="1200" dirty="0">
                <a:solidFill>
                  <a:srgbClr val="02C39A"/>
                </a:solidFill>
                <a:latin typeface="Calibri" pitchFamily="34" charset="0"/>
                <a:ea typeface="Calibri" pitchFamily="34" charset="-122"/>
                <a:cs typeface="Calibri" pitchFamily="34" charset="-120"/>
              </a:rPr>
              <a:t>23BLC1195</a:t>
            </a:r>
            <a:endParaRPr lang="en-US" sz="1200" dirty="0"/>
          </a:p>
        </p:txBody>
      </p:sp>
      <p:sp>
        <p:nvSpPr>
          <p:cNvPr id="16" name="Text 14"/>
          <p:cNvSpPr/>
          <p:nvPr/>
        </p:nvSpPr>
        <p:spPr>
          <a:xfrm>
            <a:off x="566928" y="5760720"/>
            <a:ext cx="8778240" cy="274320"/>
          </a:xfrm>
          <a:prstGeom prst="rect">
            <a:avLst/>
          </a:prstGeom>
          <a:noFill/>
          <a:ln/>
        </p:spPr>
        <p:txBody>
          <a:bodyPr wrap="square" lIns="0" tIns="0" rIns="0" bIns="0" rtlCol="0" anchor="ctr"/>
          <a:lstStyle/>
          <a:p>
            <a:pPr indent="0" marL="0">
              <a:buNone/>
            </a:pPr>
            <a:r>
              <a:rPr lang="en-US" sz="1100" dirty="0">
                <a:solidFill>
                  <a:srgbClr val="6E8C94"/>
                </a:solidFill>
                <a:latin typeface="Calibri" pitchFamily="34" charset="0"/>
                <a:ea typeface="Calibri" pitchFamily="34" charset="-122"/>
                <a:cs typeface="Calibri" pitchFamily="34" charset="-120"/>
              </a:rPr>
              <a:t>Guide: Dr. M Dinakaran   |   BCSE408L — Cloud Computing   |   AY 2026–2027</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27664" cy="237744"/>
          </a:xfrm>
          <a:prstGeom prst="rect">
            <a:avLst/>
          </a:prstGeom>
          <a:noFill/>
          <a:ln/>
        </p:spPr>
        <p:txBody>
          <a:bodyPr wrap="square" lIns="0" tIns="0" rIns="0" bIns="0" rtlCol="0" anchor="ctr"/>
          <a:lstStyle/>
          <a:p>
            <a:pPr indent="0" marL="0">
              <a:buNone/>
            </a:pPr>
            <a:r>
              <a:rPr lang="en-US" sz="1100" b="1" spc="220" kern="0" dirty="0">
                <a:solidFill>
                  <a:srgbClr val="028090"/>
                </a:solidFill>
                <a:latin typeface="Calibri" pitchFamily="34" charset="0"/>
                <a:ea typeface="Calibri" pitchFamily="34" charset="-122"/>
                <a:cs typeface="Calibri" pitchFamily="34" charset="-120"/>
              </a:rPr>
              <a:t>FINAL DEMONSTRATION</a:t>
            </a:r>
            <a:endParaRPr lang="en-US" sz="1100" dirty="0"/>
          </a:p>
        </p:txBody>
      </p:sp>
      <p:sp>
        <p:nvSpPr>
          <p:cNvPr id="3" name="Text 1"/>
          <p:cNvSpPr/>
          <p:nvPr/>
        </p:nvSpPr>
        <p:spPr>
          <a:xfrm>
            <a:off x="566928" y="621792"/>
            <a:ext cx="11027664" cy="621792"/>
          </a:xfrm>
          <a:prstGeom prst="rect">
            <a:avLst/>
          </a:prstGeom>
          <a:noFill/>
          <a:ln/>
        </p:spPr>
        <p:txBody>
          <a:bodyPr wrap="square" lIns="0" tIns="0" rIns="0" bIns="0" rtlCol="0" anchor="t"/>
          <a:lstStyle/>
          <a:p>
            <a:pPr indent="0" marL="0">
              <a:buNone/>
            </a:pPr>
            <a:r>
              <a:rPr lang="en-US" sz="3000" b="1" dirty="0">
                <a:solidFill>
                  <a:srgbClr val="0A2E36"/>
                </a:solidFill>
                <a:latin typeface="Cambria" pitchFamily="34" charset="0"/>
                <a:ea typeface="Cambria" pitchFamily="34" charset="-122"/>
                <a:cs typeface="Cambria" pitchFamily="34" charset="-120"/>
              </a:rPr>
              <a:t>What We Built</a:t>
            </a:r>
            <a:endParaRPr lang="en-US" sz="3000" dirty="0"/>
          </a:p>
        </p:txBody>
      </p:sp>
      <p:sp>
        <p:nvSpPr>
          <p:cNvPr id="4" name="Text 2"/>
          <p:cNvSpPr/>
          <p:nvPr/>
        </p:nvSpPr>
        <p:spPr>
          <a:xfrm>
            <a:off x="566928" y="1335024"/>
            <a:ext cx="10424160" cy="438912"/>
          </a:xfrm>
          <a:prstGeom prst="rect">
            <a:avLst/>
          </a:prstGeom>
          <a:noFill/>
          <a:ln/>
        </p:spPr>
        <p:txBody>
          <a:bodyPr wrap="square" lIns="0" tIns="0" rIns="0" bIns="0" rtlCol="0" anchor="t"/>
          <a:lstStyle/>
          <a:p>
            <a:pPr indent="0" marL="0">
              <a:lnSpc>
                <a:spcPts val="1700"/>
              </a:lnSpc>
              <a:buNone/>
            </a:pPr>
            <a:r>
              <a:rPr lang="en-US" sz="1300" dirty="0">
                <a:solidFill>
                  <a:srgbClr val="445C64"/>
                </a:solidFill>
                <a:latin typeface="Calibri" pitchFamily="34" charset="0"/>
                <a:ea typeface="Calibri" pitchFamily="34" charset="-122"/>
                <a:cs typeface="Calibri" pitchFamily="34" charset="-120"/>
              </a:rPr>
              <a:t>A deployed customer support platform: WhatsApp as the intake channel, three roles, a guarded ticket lifecycle, dashboards and reports on live data, and an AI layer that never acts without a human.</a:t>
            </a:r>
            <a:endParaRPr lang="en-US" sz="1300" dirty="0"/>
          </a:p>
        </p:txBody>
      </p:sp>
      <p:sp>
        <p:nvSpPr>
          <p:cNvPr id="5" name="Shape 3"/>
          <p:cNvSpPr/>
          <p:nvPr/>
        </p:nvSpPr>
        <p:spPr>
          <a:xfrm>
            <a:off x="566928" y="1920240"/>
            <a:ext cx="2564892" cy="1298448"/>
          </a:xfrm>
          <a:prstGeom prst="roundRect">
            <a:avLst>
              <a:gd name="adj" fmla="val 7042"/>
            </a:avLst>
          </a:prstGeom>
          <a:solidFill>
            <a:srgbClr val="EEF6F7"/>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6" name="Text 4"/>
          <p:cNvSpPr/>
          <p:nvPr/>
        </p:nvSpPr>
        <p:spPr>
          <a:xfrm>
            <a:off x="822960" y="2066544"/>
            <a:ext cx="2052828" cy="548640"/>
          </a:xfrm>
          <a:prstGeom prst="rect">
            <a:avLst/>
          </a:prstGeom>
          <a:noFill/>
          <a:ln/>
        </p:spPr>
        <p:txBody>
          <a:bodyPr wrap="square" lIns="0" tIns="0" rIns="0" bIns="0" rtlCol="0" anchor="ctr"/>
          <a:lstStyle/>
          <a:p>
            <a:pPr indent="0" marL="0">
              <a:buNone/>
            </a:pPr>
            <a:r>
              <a:rPr lang="en-US" sz="3400" b="1" dirty="0">
                <a:solidFill>
                  <a:srgbClr val="028090"/>
                </a:solidFill>
                <a:latin typeface="Cambria" pitchFamily="34" charset="0"/>
                <a:ea typeface="Cambria" pitchFamily="34" charset="-122"/>
                <a:cs typeface="Cambria" pitchFamily="34" charset="-120"/>
              </a:rPr>
              <a:t>64</a:t>
            </a:r>
            <a:endParaRPr lang="en-US" sz="3400" dirty="0"/>
          </a:p>
        </p:txBody>
      </p:sp>
      <p:sp>
        <p:nvSpPr>
          <p:cNvPr id="7" name="Text 5"/>
          <p:cNvSpPr/>
          <p:nvPr/>
        </p:nvSpPr>
        <p:spPr>
          <a:xfrm>
            <a:off x="822960" y="2651760"/>
            <a:ext cx="2052828" cy="256032"/>
          </a:xfrm>
          <a:prstGeom prst="rect">
            <a:avLst/>
          </a:prstGeom>
          <a:noFill/>
          <a:ln/>
        </p:spPr>
        <p:txBody>
          <a:bodyPr wrap="square" lIns="0" tIns="0" rIns="0" bIns="0" rtlCol="0" anchor="ctr"/>
          <a:lstStyle/>
          <a:p>
            <a:pPr indent="0" marL="0">
              <a:buNone/>
            </a:pPr>
            <a:r>
              <a:rPr lang="en-US" sz="1300" b="1" dirty="0">
                <a:solidFill>
                  <a:srgbClr val="0A2E36"/>
                </a:solidFill>
                <a:latin typeface="Calibri" pitchFamily="34" charset="0"/>
                <a:ea typeface="Calibri" pitchFamily="34" charset="-122"/>
                <a:cs typeface="Calibri" pitchFamily="34" charset="-120"/>
              </a:rPr>
              <a:t>REST endpoints</a:t>
            </a:r>
            <a:endParaRPr lang="en-US" sz="1300" dirty="0"/>
          </a:p>
        </p:txBody>
      </p:sp>
      <p:sp>
        <p:nvSpPr>
          <p:cNvPr id="8" name="Text 6"/>
          <p:cNvSpPr/>
          <p:nvPr/>
        </p:nvSpPr>
        <p:spPr>
          <a:xfrm>
            <a:off x="822960" y="2907792"/>
            <a:ext cx="2052828" cy="256032"/>
          </a:xfrm>
          <a:prstGeom prst="rect">
            <a:avLst/>
          </a:prstGeom>
          <a:noFill/>
          <a:ln/>
        </p:spPr>
        <p:txBody>
          <a:bodyPr wrap="square" lIns="0" tIns="0" rIns="0" bIns="0" rtlCol="0" anchor="t"/>
          <a:lstStyle/>
          <a:p>
            <a:pPr indent="0" marL="0">
              <a:lnSpc>
                <a:spcPts val="1700"/>
              </a:lnSpc>
              <a:buNone/>
            </a:pPr>
            <a:r>
              <a:rPr lang="en-US" sz="1100" dirty="0">
                <a:solidFill>
                  <a:srgbClr val="7C939B"/>
                </a:solidFill>
                <a:latin typeface="Calibri" pitchFamily="34" charset="0"/>
                <a:ea typeface="Calibri" pitchFamily="34" charset="-122"/>
                <a:cs typeface="Calibri" pitchFamily="34" charset="-120"/>
              </a:rPr>
              <a:t>across 11 groups</a:t>
            </a:r>
            <a:endParaRPr lang="en-US" sz="1100" dirty="0"/>
          </a:p>
        </p:txBody>
      </p:sp>
      <p:sp>
        <p:nvSpPr>
          <p:cNvPr id="9" name="Shape 7"/>
          <p:cNvSpPr/>
          <p:nvPr/>
        </p:nvSpPr>
        <p:spPr>
          <a:xfrm>
            <a:off x="3387852" y="1920240"/>
            <a:ext cx="2564892" cy="1298448"/>
          </a:xfrm>
          <a:prstGeom prst="roundRect">
            <a:avLst>
              <a:gd name="adj" fmla="val 7042"/>
            </a:avLst>
          </a:prstGeom>
          <a:solidFill>
            <a:srgbClr val="EEF6F7"/>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10" name="Text 8"/>
          <p:cNvSpPr/>
          <p:nvPr/>
        </p:nvSpPr>
        <p:spPr>
          <a:xfrm>
            <a:off x="3643884" y="2066544"/>
            <a:ext cx="2052828" cy="548640"/>
          </a:xfrm>
          <a:prstGeom prst="rect">
            <a:avLst/>
          </a:prstGeom>
          <a:noFill/>
          <a:ln/>
        </p:spPr>
        <p:txBody>
          <a:bodyPr wrap="square" lIns="0" tIns="0" rIns="0" bIns="0" rtlCol="0" anchor="ctr"/>
          <a:lstStyle/>
          <a:p>
            <a:pPr indent="0" marL="0">
              <a:buNone/>
            </a:pPr>
            <a:r>
              <a:rPr lang="en-US" sz="3400" b="1" dirty="0">
                <a:solidFill>
                  <a:srgbClr val="028090"/>
                </a:solidFill>
                <a:latin typeface="Cambria" pitchFamily="34" charset="0"/>
                <a:ea typeface="Cambria" pitchFamily="34" charset="-122"/>
                <a:cs typeface="Cambria" pitchFamily="34" charset="-120"/>
              </a:rPr>
              <a:t>19</a:t>
            </a:r>
            <a:endParaRPr lang="en-US" sz="3400" dirty="0"/>
          </a:p>
        </p:txBody>
      </p:sp>
      <p:sp>
        <p:nvSpPr>
          <p:cNvPr id="11" name="Text 9"/>
          <p:cNvSpPr/>
          <p:nvPr/>
        </p:nvSpPr>
        <p:spPr>
          <a:xfrm>
            <a:off x="3643884" y="2651760"/>
            <a:ext cx="2052828" cy="256032"/>
          </a:xfrm>
          <a:prstGeom prst="rect">
            <a:avLst/>
          </a:prstGeom>
          <a:noFill/>
          <a:ln/>
        </p:spPr>
        <p:txBody>
          <a:bodyPr wrap="square" lIns="0" tIns="0" rIns="0" bIns="0" rtlCol="0" anchor="ctr"/>
          <a:lstStyle/>
          <a:p>
            <a:pPr indent="0" marL="0">
              <a:buNone/>
            </a:pPr>
            <a:r>
              <a:rPr lang="en-US" sz="1300" b="1" dirty="0">
                <a:solidFill>
                  <a:srgbClr val="0A2E36"/>
                </a:solidFill>
                <a:latin typeface="Calibri" pitchFamily="34" charset="0"/>
                <a:ea typeface="Calibri" pitchFamily="34" charset="-122"/>
                <a:cs typeface="Calibri" pitchFamily="34" charset="-120"/>
              </a:rPr>
              <a:t>Screens</a:t>
            </a:r>
            <a:endParaRPr lang="en-US" sz="1300" dirty="0"/>
          </a:p>
        </p:txBody>
      </p:sp>
      <p:sp>
        <p:nvSpPr>
          <p:cNvPr id="12" name="Text 10"/>
          <p:cNvSpPr/>
          <p:nvPr/>
        </p:nvSpPr>
        <p:spPr>
          <a:xfrm>
            <a:off x="3643884" y="2907792"/>
            <a:ext cx="2052828" cy="256032"/>
          </a:xfrm>
          <a:prstGeom prst="rect">
            <a:avLst/>
          </a:prstGeom>
          <a:noFill/>
          <a:ln/>
        </p:spPr>
        <p:txBody>
          <a:bodyPr wrap="square" lIns="0" tIns="0" rIns="0" bIns="0" rtlCol="0" anchor="t"/>
          <a:lstStyle/>
          <a:p>
            <a:pPr indent="0" marL="0">
              <a:lnSpc>
                <a:spcPts val="1700"/>
              </a:lnSpc>
              <a:buNone/>
            </a:pPr>
            <a:r>
              <a:rPr lang="en-US" sz="1100" dirty="0">
                <a:solidFill>
                  <a:srgbClr val="7C939B"/>
                </a:solidFill>
                <a:latin typeface="Calibri" pitchFamily="34" charset="0"/>
                <a:ea typeface="Calibri" pitchFamily="34" charset="-122"/>
                <a:cs typeface="Calibri" pitchFamily="34" charset="-120"/>
              </a:rPr>
              <a:t>responsive from 375 px</a:t>
            </a:r>
            <a:endParaRPr lang="en-US" sz="1100" dirty="0"/>
          </a:p>
        </p:txBody>
      </p:sp>
      <p:sp>
        <p:nvSpPr>
          <p:cNvPr id="13" name="Shape 11"/>
          <p:cNvSpPr/>
          <p:nvPr/>
        </p:nvSpPr>
        <p:spPr>
          <a:xfrm>
            <a:off x="6208776" y="1920240"/>
            <a:ext cx="2564892" cy="1298448"/>
          </a:xfrm>
          <a:prstGeom prst="roundRect">
            <a:avLst>
              <a:gd name="adj" fmla="val 7042"/>
            </a:avLst>
          </a:prstGeom>
          <a:solidFill>
            <a:srgbClr val="EEF6F7"/>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14" name="Text 12"/>
          <p:cNvSpPr/>
          <p:nvPr/>
        </p:nvSpPr>
        <p:spPr>
          <a:xfrm>
            <a:off x="6464808" y="2066544"/>
            <a:ext cx="2052828" cy="548640"/>
          </a:xfrm>
          <a:prstGeom prst="rect">
            <a:avLst/>
          </a:prstGeom>
          <a:noFill/>
          <a:ln/>
        </p:spPr>
        <p:txBody>
          <a:bodyPr wrap="square" lIns="0" tIns="0" rIns="0" bIns="0" rtlCol="0" anchor="ctr"/>
          <a:lstStyle/>
          <a:p>
            <a:pPr indent="0" marL="0">
              <a:buNone/>
            </a:pPr>
            <a:r>
              <a:rPr lang="en-US" sz="3400" b="1" dirty="0">
                <a:solidFill>
                  <a:srgbClr val="028090"/>
                </a:solidFill>
                <a:latin typeface="Cambria" pitchFamily="34" charset="0"/>
                <a:ea typeface="Cambria" pitchFamily="34" charset="-122"/>
                <a:cs typeface="Cambria" pitchFamily="34" charset="-120"/>
              </a:rPr>
              <a:t>12</a:t>
            </a:r>
            <a:endParaRPr lang="en-US" sz="3400" dirty="0"/>
          </a:p>
        </p:txBody>
      </p:sp>
      <p:sp>
        <p:nvSpPr>
          <p:cNvPr id="15" name="Text 13"/>
          <p:cNvSpPr/>
          <p:nvPr/>
        </p:nvSpPr>
        <p:spPr>
          <a:xfrm>
            <a:off x="6464808" y="2651760"/>
            <a:ext cx="2052828" cy="256032"/>
          </a:xfrm>
          <a:prstGeom prst="rect">
            <a:avLst/>
          </a:prstGeom>
          <a:noFill/>
          <a:ln/>
        </p:spPr>
        <p:txBody>
          <a:bodyPr wrap="square" lIns="0" tIns="0" rIns="0" bIns="0" rtlCol="0" anchor="ctr"/>
          <a:lstStyle/>
          <a:p>
            <a:pPr indent="0" marL="0">
              <a:buNone/>
            </a:pPr>
            <a:r>
              <a:rPr lang="en-US" sz="1300" b="1" dirty="0">
                <a:solidFill>
                  <a:srgbClr val="0A2E36"/>
                </a:solidFill>
                <a:latin typeface="Calibri" pitchFamily="34" charset="0"/>
                <a:ea typeface="Calibri" pitchFamily="34" charset="-122"/>
                <a:cs typeface="Calibri" pitchFamily="34" charset="-120"/>
              </a:rPr>
              <a:t>Database tables</a:t>
            </a:r>
            <a:endParaRPr lang="en-US" sz="1300" dirty="0"/>
          </a:p>
        </p:txBody>
      </p:sp>
      <p:sp>
        <p:nvSpPr>
          <p:cNvPr id="16" name="Text 14"/>
          <p:cNvSpPr/>
          <p:nvPr/>
        </p:nvSpPr>
        <p:spPr>
          <a:xfrm>
            <a:off x="6464808" y="2907792"/>
            <a:ext cx="2052828" cy="256032"/>
          </a:xfrm>
          <a:prstGeom prst="rect">
            <a:avLst/>
          </a:prstGeom>
          <a:noFill/>
          <a:ln/>
        </p:spPr>
        <p:txBody>
          <a:bodyPr wrap="square" lIns="0" tIns="0" rIns="0" bIns="0" rtlCol="0" anchor="t"/>
          <a:lstStyle/>
          <a:p>
            <a:pPr indent="0" marL="0">
              <a:lnSpc>
                <a:spcPts val="1700"/>
              </a:lnSpc>
              <a:buNone/>
            </a:pPr>
            <a:r>
              <a:rPr lang="en-US" sz="1100" dirty="0">
                <a:solidFill>
                  <a:srgbClr val="7C939B"/>
                </a:solidFill>
                <a:latin typeface="Calibri" pitchFamily="34" charset="0"/>
                <a:ea typeface="Calibri" pitchFamily="34" charset="-122"/>
                <a:cs typeface="Calibri" pitchFamily="34" charset="-120"/>
              </a:rPr>
              <a:t>versioned SQL migrations</a:t>
            </a:r>
            <a:endParaRPr lang="en-US" sz="1100" dirty="0"/>
          </a:p>
        </p:txBody>
      </p:sp>
      <p:sp>
        <p:nvSpPr>
          <p:cNvPr id="17" name="Shape 15"/>
          <p:cNvSpPr/>
          <p:nvPr/>
        </p:nvSpPr>
        <p:spPr>
          <a:xfrm>
            <a:off x="9029700" y="1920240"/>
            <a:ext cx="2564892" cy="1298448"/>
          </a:xfrm>
          <a:prstGeom prst="roundRect">
            <a:avLst>
              <a:gd name="adj" fmla="val 7042"/>
            </a:avLst>
          </a:prstGeom>
          <a:solidFill>
            <a:srgbClr val="EEF6F7"/>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18" name="Text 16"/>
          <p:cNvSpPr/>
          <p:nvPr/>
        </p:nvSpPr>
        <p:spPr>
          <a:xfrm>
            <a:off x="9285732" y="2066544"/>
            <a:ext cx="2052828" cy="548640"/>
          </a:xfrm>
          <a:prstGeom prst="rect">
            <a:avLst/>
          </a:prstGeom>
          <a:noFill/>
          <a:ln/>
        </p:spPr>
        <p:txBody>
          <a:bodyPr wrap="square" lIns="0" tIns="0" rIns="0" bIns="0" rtlCol="0" anchor="ctr"/>
          <a:lstStyle/>
          <a:p>
            <a:pPr indent="0" marL="0">
              <a:buNone/>
            </a:pPr>
            <a:r>
              <a:rPr lang="en-US" sz="3400" b="1" dirty="0">
                <a:solidFill>
                  <a:srgbClr val="028090"/>
                </a:solidFill>
                <a:latin typeface="Cambria" pitchFamily="34" charset="0"/>
                <a:ea typeface="Cambria" pitchFamily="34" charset="-122"/>
                <a:cs typeface="Cambria" pitchFamily="34" charset="-120"/>
              </a:rPr>
              <a:t>161</a:t>
            </a:r>
            <a:endParaRPr lang="en-US" sz="3400" dirty="0"/>
          </a:p>
        </p:txBody>
      </p:sp>
      <p:sp>
        <p:nvSpPr>
          <p:cNvPr id="19" name="Text 17"/>
          <p:cNvSpPr/>
          <p:nvPr/>
        </p:nvSpPr>
        <p:spPr>
          <a:xfrm>
            <a:off x="9285732" y="2651760"/>
            <a:ext cx="2052828" cy="256032"/>
          </a:xfrm>
          <a:prstGeom prst="rect">
            <a:avLst/>
          </a:prstGeom>
          <a:noFill/>
          <a:ln/>
        </p:spPr>
        <p:txBody>
          <a:bodyPr wrap="square" lIns="0" tIns="0" rIns="0" bIns="0" rtlCol="0" anchor="ctr"/>
          <a:lstStyle/>
          <a:p>
            <a:pPr indent="0" marL="0">
              <a:buNone/>
            </a:pPr>
            <a:r>
              <a:rPr lang="en-US" sz="1300" b="1" dirty="0">
                <a:solidFill>
                  <a:srgbClr val="0A2E36"/>
                </a:solidFill>
                <a:latin typeface="Calibri" pitchFamily="34" charset="0"/>
                <a:ea typeface="Calibri" pitchFamily="34" charset="-122"/>
                <a:cs typeface="Calibri" pitchFamily="34" charset="-120"/>
              </a:rPr>
              <a:t>Automated tests</a:t>
            </a:r>
            <a:endParaRPr lang="en-US" sz="1300" dirty="0"/>
          </a:p>
        </p:txBody>
      </p:sp>
      <p:sp>
        <p:nvSpPr>
          <p:cNvPr id="20" name="Text 18"/>
          <p:cNvSpPr/>
          <p:nvPr/>
        </p:nvSpPr>
        <p:spPr>
          <a:xfrm>
            <a:off x="9285732" y="2907792"/>
            <a:ext cx="2052828" cy="256032"/>
          </a:xfrm>
          <a:prstGeom prst="rect">
            <a:avLst/>
          </a:prstGeom>
          <a:noFill/>
          <a:ln/>
        </p:spPr>
        <p:txBody>
          <a:bodyPr wrap="square" lIns="0" tIns="0" rIns="0" bIns="0" rtlCol="0" anchor="t"/>
          <a:lstStyle/>
          <a:p>
            <a:pPr indent="0" marL="0">
              <a:lnSpc>
                <a:spcPts val="1700"/>
              </a:lnSpc>
              <a:buNone/>
            </a:pPr>
            <a:r>
              <a:rPr lang="en-US" sz="1100" dirty="0">
                <a:solidFill>
                  <a:srgbClr val="7C939B"/>
                </a:solidFill>
                <a:latin typeface="Calibri" pitchFamily="34" charset="0"/>
                <a:ea typeface="Calibri" pitchFamily="34" charset="-122"/>
                <a:cs typeface="Calibri" pitchFamily="34" charset="-120"/>
              </a:rPr>
              <a:t>all passing</a:t>
            </a:r>
            <a:endParaRPr lang="en-US" sz="1100" dirty="0"/>
          </a:p>
        </p:txBody>
      </p:sp>
      <p:sp>
        <p:nvSpPr>
          <p:cNvPr id="21" name="Text 19"/>
          <p:cNvSpPr/>
          <p:nvPr/>
        </p:nvSpPr>
        <p:spPr>
          <a:xfrm>
            <a:off x="566928" y="3474720"/>
            <a:ext cx="11027664" cy="292608"/>
          </a:xfrm>
          <a:prstGeom prst="rect">
            <a:avLst/>
          </a:prstGeom>
          <a:noFill/>
          <a:ln/>
        </p:spPr>
        <p:txBody>
          <a:bodyPr wrap="square" lIns="0" tIns="0" rIns="0" bIns="0" rtlCol="0" anchor="ctr"/>
          <a:lstStyle/>
          <a:p>
            <a:pPr indent="0" marL="0">
              <a:buNone/>
            </a:pPr>
            <a:r>
              <a:rPr lang="en-US" sz="1500" b="1" dirty="0">
                <a:solidFill>
                  <a:srgbClr val="0A2E36"/>
                </a:solidFill>
                <a:latin typeface="Cambria" pitchFamily="34" charset="0"/>
                <a:ea typeface="Cambria" pitchFamily="34" charset="-122"/>
                <a:cs typeface="Cambria" pitchFamily="34" charset="-120"/>
              </a:rPr>
              <a:t>Delivered against the nine mandatory requirements</a:t>
            </a:r>
            <a:endParaRPr lang="en-US" sz="1500" dirty="0"/>
          </a:p>
        </p:txBody>
      </p:sp>
      <p:sp>
        <p:nvSpPr>
          <p:cNvPr id="22" name="Shape 20"/>
          <p:cNvSpPr/>
          <p:nvPr/>
        </p:nvSpPr>
        <p:spPr>
          <a:xfrm>
            <a:off x="566928" y="3858768"/>
            <a:ext cx="3553968" cy="457200"/>
          </a:xfrm>
          <a:prstGeom prst="roundRect">
            <a:avLst>
              <a:gd name="adj" fmla="val 20000"/>
            </a:avLst>
          </a:prstGeom>
          <a:solidFill>
            <a:srgbClr val="EAF6F5"/>
          </a:solidFill>
          <a:ln w="9525">
            <a:solidFill>
              <a:srgbClr val="BFE0DD"/>
            </a:solidFill>
            <a:prstDash val="solid"/>
          </a:ln>
          <a:effectLst>
            <a:outerShdw sx="100000" sy="100000" kx="0" ky="0" algn="bl" rotWithShape="0" blurRad="127000" dist="25400" dir="5400000">
              <a:srgbClr val="0A2E36">
                <a:alpha val="10000"/>
              </a:srgbClr>
            </a:outerShdw>
          </a:effectLst>
        </p:spPr>
      </p:sp>
      <p:sp>
        <p:nvSpPr>
          <p:cNvPr id="23" name="Shape 21"/>
          <p:cNvSpPr/>
          <p:nvPr/>
        </p:nvSpPr>
        <p:spPr>
          <a:xfrm>
            <a:off x="713232" y="3941064"/>
            <a:ext cx="292608" cy="292608"/>
          </a:xfrm>
          <a:prstGeom prst="ellipse">
            <a:avLst/>
          </a:prstGeom>
          <a:solidFill>
            <a:srgbClr val="028090"/>
          </a:solidFill>
          <a:ln/>
        </p:spPr>
      </p:sp>
      <p:sp>
        <p:nvSpPr>
          <p:cNvPr id="24" name="Text 22"/>
          <p:cNvSpPr/>
          <p:nvPr/>
        </p:nvSpPr>
        <p:spPr>
          <a:xfrm>
            <a:off x="713232" y="394106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5" name="Text 23"/>
          <p:cNvSpPr/>
          <p:nvPr/>
        </p:nvSpPr>
        <p:spPr>
          <a:xfrm>
            <a:off x="1115568" y="3858768"/>
            <a:ext cx="2859024" cy="457200"/>
          </a:xfrm>
          <a:prstGeom prst="rect">
            <a:avLst/>
          </a:prstGeom>
          <a:noFill/>
          <a:ln/>
        </p:spPr>
        <p:txBody>
          <a:bodyPr wrap="square" lIns="0" tIns="0" rIns="0" bIns="0" rtlCol="0" anchor="ctr"/>
          <a:lstStyle/>
          <a:p>
            <a:pPr indent="0" marL="0">
              <a:buNone/>
            </a:pPr>
            <a:r>
              <a:rPr lang="en-US" sz="1250" b="1" dirty="0">
                <a:solidFill>
                  <a:srgbClr val="0A2E36"/>
                </a:solidFill>
                <a:latin typeface="Calibri" pitchFamily="34" charset="0"/>
                <a:ea typeface="Calibri" pitchFamily="34" charset="-122"/>
                <a:cs typeface="Calibri" pitchFamily="34" charset="-120"/>
              </a:rPr>
              <a:t>Registration &amp; login</a:t>
            </a:r>
            <a:endParaRPr lang="en-US" sz="1250" dirty="0"/>
          </a:p>
        </p:txBody>
      </p:sp>
      <p:sp>
        <p:nvSpPr>
          <p:cNvPr id="26" name="Shape 24"/>
          <p:cNvSpPr/>
          <p:nvPr/>
        </p:nvSpPr>
        <p:spPr>
          <a:xfrm>
            <a:off x="4303776" y="3858768"/>
            <a:ext cx="3553968" cy="457200"/>
          </a:xfrm>
          <a:prstGeom prst="roundRect">
            <a:avLst>
              <a:gd name="adj" fmla="val 20000"/>
            </a:avLst>
          </a:prstGeom>
          <a:solidFill>
            <a:srgbClr val="EAF6F5"/>
          </a:solidFill>
          <a:ln w="9525">
            <a:solidFill>
              <a:srgbClr val="BFE0DD"/>
            </a:solidFill>
            <a:prstDash val="solid"/>
          </a:ln>
          <a:effectLst>
            <a:outerShdw sx="100000" sy="100000" kx="0" ky="0" algn="bl" rotWithShape="0" blurRad="127000" dist="25400" dir="5400000">
              <a:srgbClr val="0A2E36">
                <a:alpha val="10000"/>
              </a:srgbClr>
            </a:outerShdw>
          </a:effectLst>
        </p:spPr>
      </p:sp>
      <p:sp>
        <p:nvSpPr>
          <p:cNvPr id="27" name="Shape 25"/>
          <p:cNvSpPr/>
          <p:nvPr/>
        </p:nvSpPr>
        <p:spPr>
          <a:xfrm>
            <a:off x="4450080" y="3941064"/>
            <a:ext cx="292608" cy="292608"/>
          </a:xfrm>
          <a:prstGeom prst="ellipse">
            <a:avLst/>
          </a:prstGeom>
          <a:solidFill>
            <a:srgbClr val="028090"/>
          </a:solidFill>
          <a:ln/>
        </p:spPr>
      </p:sp>
      <p:sp>
        <p:nvSpPr>
          <p:cNvPr id="28" name="Text 26"/>
          <p:cNvSpPr/>
          <p:nvPr/>
        </p:nvSpPr>
        <p:spPr>
          <a:xfrm>
            <a:off x="4450080" y="394106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9" name="Text 27"/>
          <p:cNvSpPr/>
          <p:nvPr/>
        </p:nvSpPr>
        <p:spPr>
          <a:xfrm>
            <a:off x="4852416" y="3858768"/>
            <a:ext cx="2859024" cy="457200"/>
          </a:xfrm>
          <a:prstGeom prst="rect">
            <a:avLst/>
          </a:prstGeom>
          <a:noFill/>
          <a:ln/>
        </p:spPr>
        <p:txBody>
          <a:bodyPr wrap="square" lIns="0" tIns="0" rIns="0" bIns="0" rtlCol="0" anchor="ctr"/>
          <a:lstStyle/>
          <a:p>
            <a:pPr indent="0" marL="0">
              <a:buNone/>
            </a:pPr>
            <a:r>
              <a:rPr lang="en-US" sz="1250" b="1" dirty="0">
                <a:solidFill>
                  <a:srgbClr val="0A2E36"/>
                </a:solidFill>
                <a:latin typeface="Calibri" pitchFamily="34" charset="0"/>
                <a:ea typeface="Calibri" pitchFamily="34" charset="-122"/>
                <a:cs typeface="Calibri" pitchFamily="34" charset="-120"/>
              </a:rPr>
              <a:t>Role-based access</a:t>
            </a:r>
            <a:endParaRPr lang="en-US" sz="1250" dirty="0"/>
          </a:p>
        </p:txBody>
      </p:sp>
      <p:sp>
        <p:nvSpPr>
          <p:cNvPr id="30" name="Shape 28"/>
          <p:cNvSpPr/>
          <p:nvPr/>
        </p:nvSpPr>
        <p:spPr>
          <a:xfrm>
            <a:off x="8040624" y="3858768"/>
            <a:ext cx="3553968" cy="457200"/>
          </a:xfrm>
          <a:prstGeom prst="roundRect">
            <a:avLst>
              <a:gd name="adj" fmla="val 20000"/>
            </a:avLst>
          </a:prstGeom>
          <a:solidFill>
            <a:srgbClr val="EAF6F5"/>
          </a:solidFill>
          <a:ln w="9525">
            <a:solidFill>
              <a:srgbClr val="BFE0DD"/>
            </a:solidFill>
            <a:prstDash val="solid"/>
          </a:ln>
          <a:effectLst>
            <a:outerShdw sx="100000" sy="100000" kx="0" ky="0" algn="bl" rotWithShape="0" blurRad="127000" dist="25400" dir="5400000">
              <a:srgbClr val="0A2E36">
                <a:alpha val="10000"/>
              </a:srgbClr>
            </a:outerShdw>
          </a:effectLst>
        </p:spPr>
      </p:sp>
      <p:sp>
        <p:nvSpPr>
          <p:cNvPr id="31" name="Shape 29"/>
          <p:cNvSpPr/>
          <p:nvPr/>
        </p:nvSpPr>
        <p:spPr>
          <a:xfrm>
            <a:off x="8186928" y="3941064"/>
            <a:ext cx="292608" cy="292608"/>
          </a:xfrm>
          <a:prstGeom prst="ellipse">
            <a:avLst/>
          </a:prstGeom>
          <a:solidFill>
            <a:srgbClr val="028090"/>
          </a:solidFill>
          <a:ln/>
        </p:spPr>
      </p:sp>
      <p:sp>
        <p:nvSpPr>
          <p:cNvPr id="32" name="Text 30"/>
          <p:cNvSpPr/>
          <p:nvPr/>
        </p:nvSpPr>
        <p:spPr>
          <a:xfrm>
            <a:off x="8186928" y="394106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33" name="Text 31"/>
          <p:cNvSpPr/>
          <p:nvPr/>
        </p:nvSpPr>
        <p:spPr>
          <a:xfrm>
            <a:off x="8589264" y="3858768"/>
            <a:ext cx="2859024" cy="457200"/>
          </a:xfrm>
          <a:prstGeom prst="rect">
            <a:avLst/>
          </a:prstGeom>
          <a:noFill/>
          <a:ln/>
        </p:spPr>
        <p:txBody>
          <a:bodyPr wrap="square" lIns="0" tIns="0" rIns="0" bIns="0" rtlCol="0" anchor="ctr"/>
          <a:lstStyle/>
          <a:p>
            <a:pPr indent="0" marL="0">
              <a:buNone/>
            </a:pPr>
            <a:r>
              <a:rPr lang="en-US" sz="1250" b="1" dirty="0">
                <a:solidFill>
                  <a:srgbClr val="0A2E36"/>
                </a:solidFill>
                <a:latin typeface="Calibri" pitchFamily="34" charset="0"/>
                <a:ea typeface="Calibri" pitchFamily="34" charset="-122"/>
                <a:cs typeface="Calibri" pitchFamily="34" charset="-120"/>
              </a:rPr>
              <a:t>CRUD operations</a:t>
            </a:r>
            <a:endParaRPr lang="en-US" sz="1250" dirty="0"/>
          </a:p>
        </p:txBody>
      </p:sp>
      <p:sp>
        <p:nvSpPr>
          <p:cNvPr id="34" name="Shape 32"/>
          <p:cNvSpPr/>
          <p:nvPr/>
        </p:nvSpPr>
        <p:spPr>
          <a:xfrm>
            <a:off x="566928" y="4425696"/>
            <a:ext cx="3553968" cy="457200"/>
          </a:xfrm>
          <a:prstGeom prst="roundRect">
            <a:avLst>
              <a:gd name="adj" fmla="val 20000"/>
            </a:avLst>
          </a:prstGeom>
          <a:solidFill>
            <a:srgbClr val="EAF6F5"/>
          </a:solidFill>
          <a:ln w="9525">
            <a:solidFill>
              <a:srgbClr val="BFE0DD"/>
            </a:solidFill>
            <a:prstDash val="solid"/>
          </a:ln>
          <a:effectLst>
            <a:outerShdw sx="100000" sy="100000" kx="0" ky="0" algn="bl" rotWithShape="0" blurRad="127000" dist="25400" dir="5400000">
              <a:srgbClr val="0A2E36">
                <a:alpha val="10000"/>
              </a:srgbClr>
            </a:outerShdw>
          </a:effectLst>
        </p:spPr>
      </p:sp>
      <p:sp>
        <p:nvSpPr>
          <p:cNvPr id="35" name="Shape 33"/>
          <p:cNvSpPr/>
          <p:nvPr/>
        </p:nvSpPr>
        <p:spPr>
          <a:xfrm>
            <a:off x="713232" y="4507992"/>
            <a:ext cx="292608" cy="292608"/>
          </a:xfrm>
          <a:prstGeom prst="ellipse">
            <a:avLst/>
          </a:prstGeom>
          <a:solidFill>
            <a:srgbClr val="028090"/>
          </a:solidFill>
          <a:ln/>
        </p:spPr>
      </p:sp>
      <p:sp>
        <p:nvSpPr>
          <p:cNvPr id="36" name="Text 34"/>
          <p:cNvSpPr/>
          <p:nvPr/>
        </p:nvSpPr>
        <p:spPr>
          <a:xfrm>
            <a:off x="713232" y="450799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37" name="Text 35"/>
          <p:cNvSpPr/>
          <p:nvPr/>
        </p:nvSpPr>
        <p:spPr>
          <a:xfrm>
            <a:off x="1115568" y="4425696"/>
            <a:ext cx="2859024" cy="457200"/>
          </a:xfrm>
          <a:prstGeom prst="rect">
            <a:avLst/>
          </a:prstGeom>
          <a:noFill/>
          <a:ln/>
        </p:spPr>
        <p:txBody>
          <a:bodyPr wrap="square" lIns="0" tIns="0" rIns="0" bIns="0" rtlCol="0" anchor="ctr"/>
          <a:lstStyle/>
          <a:p>
            <a:pPr indent="0" marL="0">
              <a:buNone/>
            </a:pPr>
            <a:r>
              <a:rPr lang="en-US" sz="1250" b="1" dirty="0">
                <a:solidFill>
                  <a:srgbClr val="0A2E36"/>
                </a:solidFill>
                <a:latin typeface="Calibri" pitchFamily="34" charset="0"/>
                <a:ea typeface="Calibri" pitchFamily="34" charset="-122"/>
                <a:cs typeface="Calibri" pitchFamily="34" charset="-120"/>
              </a:rPr>
              <a:t>Dashboard &amp; reports</a:t>
            </a:r>
            <a:endParaRPr lang="en-US" sz="1250" dirty="0"/>
          </a:p>
        </p:txBody>
      </p:sp>
      <p:sp>
        <p:nvSpPr>
          <p:cNvPr id="38" name="Shape 36"/>
          <p:cNvSpPr/>
          <p:nvPr/>
        </p:nvSpPr>
        <p:spPr>
          <a:xfrm>
            <a:off x="4303776" y="4425696"/>
            <a:ext cx="3553968" cy="457200"/>
          </a:xfrm>
          <a:prstGeom prst="roundRect">
            <a:avLst>
              <a:gd name="adj" fmla="val 20000"/>
            </a:avLst>
          </a:prstGeom>
          <a:solidFill>
            <a:srgbClr val="EAF6F5"/>
          </a:solidFill>
          <a:ln w="9525">
            <a:solidFill>
              <a:srgbClr val="BFE0DD"/>
            </a:solidFill>
            <a:prstDash val="solid"/>
          </a:ln>
          <a:effectLst>
            <a:outerShdw sx="100000" sy="100000" kx="0" ky="0" algn="bl" rotWithShape="0" blurRad="127000" dist="25400" dir="5400000">
              <a:srgbClr val="0A2E36">
                <a:alpha val="10000"/>
              </a:srgbClr>
            </a:outerShdw>
          </a:effectLst>
        </p:spPr>
      </p:sp>
      <p:sp>
        <p:nvSpPr>
          <p:cNvPr id="39" name="Shape 37"/>
          <p:cNvSpPr/>
          <p:nvPr/>
        </p:nvSpPr>
        <p:spPr>
          <a:xfrm>
            <a:off x="4450080" y="4507992"/>
            <a:ext cx="292608" cy="292608"/>
          </a:xfrm>
          <a:prstGeom prst="ellipse">
            <a:avLst/>
          </a:prstGeom>
          <a:solidFill>
            <a:srgbClr val="028090"/>
          </a:solidFill>
          <a:ln/>
        </p:spPr>
      </p:sp>
      <p:sp>
        <p:nvSpPr>
          <p:cNvPr id="40" name="Text 38"/>
          <p:cNvSpPr/>
          <p:nvPr/>
        </p:nvSpPr>
        <p:spPr>
          <a:xfrm>
            <a:off x="4450080" y="450799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41" name="Text 39"/>
          <p:cNvSpPr/>
          <p:nvPr/>
        </p:nvSpPr>
        <p:spPr>
          <a:xfrm>
            <a:off x="4852416" y="4425696"/>
            <a:ext cx="2859024" cy="457200"/>
          </a:xfrm>
          <a:prstGeom prst="rect">
            <a:avLst/>
          </a:prstGeom>
          <a:noFill/>
          <a:ln/>
        </p:spPr>
        <p:txBody>
          <a:bodyPr wrap="square" lIns="0" tIns="0" rIns="0" bIns="0" rtlCol="0" anchor="ctr"/>
          <a:lstStyle/>
          <a:p>
            <a:pPr indent="0" marL="0">
              <a:buNone/>
            </a:pPr>
            <a:r>
              <a:rPr lang="en-US" sz="1250" b="1" dirty="0">
                <a:solidFill>
                  <a:srgbClr val="0A2E36"/>
                </a:solidFill>
                <a:latin typeface="Calibri" pitchFamily="34" charset="0"/>
                <a:ea typeface="Calibri" pitchFamily="34" charset="-122"/>
                <a:cs typeface="Calibri" pitchFamily="34" charset="-120"/>
              </a:rPr>
              <a:t>REST APIs</a:t>
            </a:r>
            <a:endParaRPr lang="en-US" sz="1250" dirty="0"/>
          </a:p>
        </p:txBody>
      </p:sp>
      <p:sp>
        <p:nvSpPr>
          <p:cNvPr id="42" name="Shape 40"/>
          <p:cNvSpPr/>
          <p:nvPr/>
        </p:nvSpPr>
        <p:spPr>
          <a:xfrm>
            <a:off x="8040624" y="4425696"/>
            <a:ext cx="3553968" cy="457200"/>
          </a:xfrm>
          <a:prstGeom prst="roundRect">
            <a:avLst>
              <a:gd name="adj" fmla="val 20000"/>
            </a:avLst>
          </a:prstGeom>
          <a:solidFill>
            <a:srgbClr val="EAF6F5"/>
          </a:solidFill>
          <a:ln w="9525">
            <a:solidFill>
              <a:srgbClr val="BFE0DD"/>
            </a:solidFill>
            <a:prstDash val="solid"/>
          </a:ln>
          <a:effectLst>
            <a:outerShdw sx="100000" sy="100000" kx="0" ky="0" algn="bl" rotWithShape="0" blurRad="127000" dist="25400" dir="5400000">
              <a:srgbClr val="0A2E36">
                <a:alpha val="10000"/>
              </a:srgbClr>
            </a:outerShdw>
          </a:effectLst>
        </p:spPr>
      </p:sp>
      <p:sp>
        <p:nvSpPr>
          <p:cNvPr id="43" name="Shape 41"/>
          <p:cNvSpPr/>
          <p:nvPr/>
        </p:nvSpPr>
        <p:spPr>
          <a:xfrm>
            <a:off x="8186928" y="4507992"/>
            <a:ext cx="292608" cy="292608"/>
          </a:xfrm>
          <a:prstGeom prst="ellipse">
            <a:avLst/>
          </a:prstGeom>
          <a:solidFill>
            <a:srgbClr val="028090"/>
          </a:solidFill>
          <a:ln/>
        </p:spPr>
      </p:sp>
      <p:sp>
        <p:nvSpPr>
          <p:cNvPr id="44" name="Text 42"/>
          <p:cNvSpPr/>
          <p:nvPr/>
        </p:nvSpPr>
        <p:spPr>
          <a:xfrm>
            <a:off x="8186928" y="450799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45" name="Text 43"/>
          <p:cNvSpPr/>
          <p:nvPr/>
        </p:nvSpPr>
        <p:spPr>
          <a:xfrm>
            <a:off x="8589264" y="4425696"/>
            <a:ext cx="2859024" cy="457200"/>
          </a:xfrm>
          <a:prstGeom prst="rect">
            <a:avLst/>
          </a:prstGeom>
          <a:noFill/>
          <a:ln/>
        </p:spPr>
        <p:txBody>
          <a:bodyPr wrap="square" lIns="0" tIns="0" rIns="0" bIns="0" rtlCol="0" anchor="ctr"/>
          <a:lstStyle/>
          <a:p>
            <a:pPr indent="0" marL="0">
              <a:buNone/>
            </a:pPr>
            <a:r>
              <a:rPr lang="en-US" sz="1250" b="1" dirty="0">
                <a:solidFill>
                  <a:srgbClr val="0A2E36"/>
                </a:solidFill>
                <a:latin typeface="Calibri" pitchFamily="34" charset="0"/>
                <a:ea typeface="Calibri" pitchFamily="34" charset="-122"/>
                <a:cs typeface="Calibri" pitchFamily="34" charset="-120"/>
              </a:rPr>
              <a:t>Responsive UI</a:t>
            </a:r>
            <a:endParaRPr lang="en-US" sz="1250" dirty="0"/>
          </a:p>
        </p:txBody>
      </p:sp>
      <p:sp>
        <p:nvSpPr>
          <p:cNvPr id="46" name="Shape 44"/>
          <p:cNvSpPr/>
          <p:nvPr/>
        </p:nvSpPr>
        <p:spPr>
          <a:xfrm>
            <a:off x="566928" y="4992624"/>
            <a:ext cx="3553968" cy="457200"/>
          </a:xfrm>
          <a:prstGeom prst="roundRect">
            <a:avLst>
              <a:gd name="adj" fmla="val 20000"/>
            </a:avLst>
          </a:prstGeom>
          <a:solidFill>
            <a:srgbClr val="EAF6F5"/>
          </a:solidFill>
          <a:ln w="9525">
            <a:solidFill>
              <a:srgbClr val="BFE0DD"/>
            </a:solidFill>
            <a:prstDash val="solid"/>
          </a:ln>
          <a:effectLst>
            <a:outerShdw sx="100000" sy="100000" kx="0" ky="0" algn="bl" rotWithShape="0" blurRad="127000" dist="25400" dir="5400000">
              <a:srgbClr val="0A2E36">
                <a:alpha val="10000"/>
              </a:srgbClr>
            </a:outerShdw>
          </a:effectLst>
        </p:spPr>
      </p:sp>
      <p:sp>
        <p:nvSpPr>
          <p:cNvPr id="47" name="Shape 45"/>
          <p:cNvSpPr/>
          <p:nvPr/>
        </p:nvSpPr>
        <p:spPr>
          <a:xfrm>
            <a:off x="713232" y="5074920"/>
            <a:ext cx="292608" cy="292608"/>
          </a:xfrm>
          <a:prstGeom prst="ellipse">
            <a:avLst/>
          </a:prstGeom>
          <a:solidFill>
            <a:srgbClr val="028090"/>
          </a:solidFill>
          <a:ln/>
        </p:spPr>
      </p:sp>
      <p:sp>
        <p:nvSpPr>
          <p:cNvPr id="48" name="Text 46"/>
          <p:cNvSpPr/>
          <p:nvPr/>
        </p:nvSpPr>
        <p:spPr>
          <a:xfrm>
            <a:off x="713232" y="507492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49" name="Text 47"/>
          <p:cNvSpPr/>
          <p:nvPr/>
        </p:nvSpPr>
        <p:spPr>
          <a:xfrm>
            <a:off x="1115568" y="4992624"/>
            <a:ext cx="2859024" cy="457200"/>
          </a:xfrm>
          <a:prstGeom prst="rect">
            <a:avLst/>
          </a:prstGeom>
          <a:noFill/>
          <a:ln/>
        </p:spPr>
        <p:txBody>
          <a:bodyPr wrap="square" lIns="0" tIns="0" rIns="0" bIns="0" rtlCol="0" anchor="ctr"/>
          <a:lstStyle/>
          <a:p>
            <a:pPr indent="0" marL="0">
              <a:buNone/>
            </a:pPr>
            <a:r>
              <a:rPr lang="en-US" sz="1250" b="1" dirty="0">
                <a:solidFill>
                  <a:srgbClr val="0A2E36"/>
                </a:solidFill>
                <a:latin typeface="Calibri" pitchFamily="34" charset="0"/>
                <a:ea typeface="Calibri" pitchFamily="34" charset="-122"/>
                <a:cs typeface="Calibri" pitchFamily="34" charset="-120"/>
              </a:rPr>
              <a:t>GitHub repository</a:t>
            </a:r>
            <a:endParaRPr lang="en-US" sz="1250" dirty="0"/>
          </a:p>
        </p:txBody>
      </p:sp>
      <p:sp>
        <p:nvSpPr>
          <p:cNvPr id="50" name="Shape 48"/>
          <p:cNvSpPr/>
          <p:nvPr/>
        </p:nvSpPr>
        <p:spPr>
          <a:xfrm>
            <a:off x="4303776" y="4992624"/>
            <a:ext cx="3553968" cy="457200"/>
          </a:xfrm>
          <a:prstGeom prst="roundRect">
            <a:avLst>
              <a:gd name="adj" fmla="val 20000"/>
            </a:avLst>
          </a:prstGeom>
          <a:solidFill>
            <a:srgbClr val="FBF7EF"/>
          </a:solidFill>
          <a:ln w="9525">
            <a:solidFill>
              <a:srgbClr val="EBDFC8"/>
            </a:solidFill>
            <a:prstDash val="solid"/>
          </a:ln>
          <a:effectLst>
            <a:outerShdw sx="100000" sy="100000" kx="0" ky="0" algn="bl" rotWithShape="0" blurRad="127000" dist="25400" dir="5400000">
              <a:srgbClr val="0A2E36">
                <a:alpha val="10000"/>
              </a:srgbClr>
            </a:outerShdw>
          </a:effectLst>
        </p:spPr>
      </p:sp>
      <p:sp>
        <p:nvSpPr>
          <p:cNvPr id="51" name="Shape 49"/>
          <p:cNvSpPr/>
          <p:nvPr/>
        </p:nvSpPr>
        <p:spPr>
          <a:xfrm>
            <a:off x="4450080" y="5074920"/>
            <a:ext cx="292608" cy="292608"/>
          </a:xfrm>
          <a:prstGeom prst="ellipse">
            <a:avLst/>
          </a:prstGeom>
          <a:solidFill>
            <a:srgbClr val="C77800"/>
          </a:solidFill>
          <a:ln/>
        </p:spPr>
      </p:sp>
      <p:sp>
        <p:nvSpPr>
          <p:cNvPr id="52" name="Text 50"/>
          <p:cNvSpPr/>
          <p:nvPr/>
        </p:nvSpPr>
        <p:spPr>
          <a:xfrm>
            <a:off x="4450080" y="507492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53" name="Text 51"/>
          <p:cNvSpPr/>
          <p:nvPr/>
        </p:nvSpPr>
        <p:spPr>
          <a:xfrm>
            <a:off x="4852416" y="4992624"/>
            <a:ext cx="2859024" cy="457200"/>
          </a:xfrm>
          <a:prstGeom prst="rect">
            <a:avLst/>
          </a:prstGeom>
          <a:noFill/>
          <a:ln/>
        </p:spPr>
        <p:txBody>
          <a:bodyPr wrap="square" lIns="0" tIns="0" rIns="0" bIns="0" rtlCol="0" anchor="ctr"/>
          <a:lstStyle/>
          <a:p>
            <a:pPr indent="0" marL="0">
              <a:buNone/>
            </a:pPr>
            <a:r>
              <a:rPr lang="en-US" sz="1250" b="1" dirty="0">
                <a:solidFill>
                  <a:srgbClr val="0A2E36"/>
                </a:solidFill>
                <a:latin typeface="Calibri" pitchFamily="34" charset="0"/>
                <a:ea typeface="Calibri" pitchFamily="34" charset="-122"/>
                <a:cs typeface="Calibri" pitchFamily="34" charset="-120"/>
              </a:rPr>
              <a:t>Cloud database</a:t>
            </a:r>
            <a:endParaRPr lang="en-US" sz="1250" dirty="0"/>
          </a:p>
        </p:txBody>
      </p:sp>
      <p:sp>
        <p:nvSpPr>
          <p:cNvPr id="54" name="Shape 52"/>
          <p:cNvSpPr/>
          <p:nvPr/>
        </p:nvSpPr>
        <p:spPr>
          <a:xfrm>
            <a:off x="8040624" y="4992624"/>
            <a:ext cx="3553968" cy="457200"/>
          </a:xfrm>
          <a:prstGeom prst="roundRect">
            <a:avLst>
              <a:gd name="adj" fmla="val 20000"/>
            </a:avLst>
          </a:prstGeom>
          <a:solidFill>
            <a:srgbClr val="FBF7EF"/>
          </a:solidFill>
          <a:ln w="9525">
            <a:solidFill>
              <a:srgbClr val="EBDFC8"/>
            </a:solidFill>
            <a:prstDash val="solid"/>
          </a:ln>
          <a:effectLst>
            <a:outerShdw sx="100000" sy="100000" kx="0" ky="0" algn="bl" rotWithShape="0" blurRad="127000" dist="25400" dir="5400000">
              <a:srgbClr val="0A2E36">
                <a:alpha val="10000"/>
              </a:srgbClr>
            </a:outerShdw>
          </a:effectLst>
        </p:spPr>
      </p:sp>
      <p:sp>
        <p:nvSpPr>
          <p:cNvPr id="55" name="Shape 53"/>
          <p:cNvSpPr/>
          <p:nvPr/>
        </p:nvSpPr>
        <p:spPr>
          <a:xfrm>
            <a:off x="8186928" y="5074920"/>
            <a:ext cx="292608" cy="292608"/>
          </a:xfrm>
          <a:prstGeom prst="ellipse">
            <a:avLst/>
          </a:prstGeom>
          <a:solidFill>
            <a:srgbClr val="C77800"/>
          </a:solidFill>
          <a:ln/>
        </p:spPr>
      </p:sp>
      <p:sp>
        <p:nvSpPr>
          <p:cNvPr id="56" name="Text 54"/>
          <p:cNvSpPr/>
          <p:nvPr/>
        </p:nvSpPr>
        <p:spPr>
          <a:xfrm>
            <a:off x="8186928" y="507492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57" name="Text 55"/>
          <p:cNvSpPr/>
          <p:nvPr/>
        </p:nvSpPr>
        <p:spPr>
          <a:xfrm>
            <a:off x="8589264" y="4992624"/>
            <a:ext cx="2859024" cy="457200"/>
          </a:xfrm>
          <a:prstGeom prst="rect">
            <a:avLst/>
          </a:prstGeom>
          <a:noFill/>
          <a:ln/>
        </p:spPr>
        <p:txBody>
          <a:bodyPr wrap="square" lIns="0" tIns="0" rIns="0" bIns="0" rtlCol="0" anchor="ctr"/>
          <a:lstStyle/>
          <a:p>
            <a:pPr indent="0" marL="0">
              <a:buNone/>
            </a:pPr>
            <a:r>
              <a:rPr lang="en-US" sz="1250" b="1" dirty="0">
                <a:solidFill>
                  <a:srgbClr val="0A2E36"/>
                </a:solidFill>
                <a:latin typeface="Calibri" pitchFamily="34" charset="0"/>
                <a:ea typeface="Calibri" pitchFamily="34" charset="-122"/>
                <a:cs typeface="Calibri" pitchFamily="34" charset="-120"/>
              </a:rPr>
              <a:t>Live deployment</a:t>
            </a:r>
            <a:endParaRPr lang="en-US" sz="1250" dirty="0"/>
          </a:p>
        </p:txBody>
      </p:sp>
      <p:sp>
        <p:nvSpPr>
          <p:cNvPr id="58" name="Shape 56"/>
          <p:cNvSpPr/>
          <p:nvPr/>
        </p:nvSpPr>
        <p:spPr>
          <a:xfrm>
            <a:off x="566928" y="5632704"/>
            <a:ext cx="11027664" cy="548640"/>
          </a:xfrm>
          <a:prstGeom prst="roundRect">
            <a:avLst>
              <a:gd name="adj" fmla="val 16667"/>
            </a:avLst>
          </a:prstGeom>
          <a:solidFill>
            <a:srgbClr val="0A2E36"/>
          </a:solidFill>
          <a:ln/>
          <a:effectLst>
            <a:outerShdw sx="100000" sy="100000" kx="0" ky="0" algn="bl" rotWithShape="0" blurRad="127000" dist="25400" dir="5400000">
              <a:srgbClr val="0A2E36">
                <a:alpha val="10000"/>
              </a:srgbClr>
            </a:outerShdw>
          </a:effectLst>
        </p:spPr>
      </p:sp>
      <p:sp>
        <p:nvSpPr>
          <p:cNvPr id="59" name="Text 57"/>
          <p:cNvSpPr/>
          <p:nvPr/>
        </p:nvSpPr>
        <p:spPr>
          <a:xfrm>
            <a:off x="877824" y="5632704"/>
            <a:ext cx="10405872" cy="54864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All nine verified on the live system: servicedesk-ai-two.vercel.app on Vercel, API and managed PostgreSQL 16 on Render, WhatsApp through Meta’s Cloud API. Total hosting cost: zero.</a:t>
            </a:r>
            <a:endParaRPr lang="en-US" sz="1200" dirty="0"/>
          </a:p>
        </p:txBody>
      </p:sp>
      <p:sp>
        <p:nvSpPr>
          <p:cNvPr id="60" name="Text 58"/>
          <p:cNvSpPr/>
          <p:nvPr/>
        </p:nvSpPr>
        <p:spPr>
          <a:xfrm>
            <a:off x="566928" y="6345936"/>
            <a:ext cx="7315200" cy="219456"/>
          </a:xfrm>
          <a:prstGeom prst="rect">
            <a:avLst/>
          </a:prstGeom>
          <a:noFill/>
          <a:ln/>
        </p:spPr>
        <p:txBody>
          <a:bodyPr wrap="square" lIns="0" tIns="0" rIns="0" bIns="0" rtlCol="0" anchor="ctr"/>
          <a:lstStyle/>
          <a:p>
            <a:pPr indent="0" marL="0">
              <a:buNone/>
            </a:pPr>
            <a:r>
              <a:rPr lang="en-US" sz="900" dirty="0">
                <a:solidFill>
                  <a:srgbClr val="7C939B"/>
                </a:solidFill>
                <a:latin typeface="Calibri" pitchFamily="34" charset="0"/>
                <a:ea typeface="Calibri" pitchFamily="34" charset="-122"/>
                <a:cs typeface="Calibri" pitchFamily="34" charset="-120"/>
              </a:rPr>
              <a:t>ServiceDesk AI  ·  BCSE408L Cloud Computing  ·  Review 2 &amp; Final Demonstration</a:t>
            </a:r>
            <a:endParaRPr lang="en-US" sz="900" dirty="0"/>
          </a:p>
        </p:txBody>
      </p:sp>
      <p:sp>
        <p:nvSpPr>
          <p:cNvPr id="61" name="Text 59"/>
          <p:cNvSpPr/>
          <p:nvPr/>
        </p:nvSpPr>
        <p:spPr>
          <a:xfrm>
            <a:off x="10680192" y="6345936"/>
            <a:ext cx="914400" cy="219456"/>
          </a:xfrm>
          <a:prstGeom prst="rect">
            <a:avLst/>
          </a:prstGeom>
          <a:noFill/>
          <a:ln/>
        </p:spPr>
        <p:txBody>
          <a:bodyPr wrap="square" lIns="0" tIns="0" rIns="0" bIns="0" rtlCol="0" anchor="ctr"/>
          <a:lstStyle/>
          <a:p>
            <a:pPr algn="r" indent="0" marL="0">
              <a:buNone/>
            </a:pPr>
            <a:r>
              <a:rPr lang="en-US" sz="900" dirty="0">
                <a:solidFill>
                  <a:srgbClr val="7C939B"/>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27664" cy="237744"/>
          </a:xfrm>
          <a:prstGeom prst="rect">
            <a:avLst/>
          </a:prstGeom>
          <a:noFill/>
          <a:ln/>
        </p:spPr>
        <p:txBody>
          <a:bodyPr wrap="square" lIns="0" tIns="0" rIns="0" bIns="0" rtlCol="0" anchor="ctr"/>
          <a:lstStyle/>
          <a:p>
            <a:pPr indent="0" marL="0">
              <a:buNone/>
            </a:pPr>
            <a:r>
              <a:rPr lang="en-US" sz="1100" b="1" spc="220" kern="0" dirty="0">
                <a:solidFill>
                  <a:srgbClr val="028090"/>
                </a:solidFill>
                <a:latin typeface="Calibri" pitchFamily="34" charset="0"/>
                <a:ea typeface="Calibri" pitchFamily="34" charset="-122"/>
                <a:cs typeface="Calibri" pitchFamily="34" charset="-120"/>
              </a:rPr>
              <a:t>LIVE SYSTEM</a:t>
            </a:r>
            <a:endParaRPr lang="en-US" sz="1100" dirty="0"/>
          </a:p>
        </p:txBody>
      </p:sp>
      <p:sp>
        <p:nvSpPr>
          <p:cNvPr id="3" name="Text 1"/>
          <p:cNvSpPr/>
          <p:nvPr/>
        </p:nvSpPr>
        <p:spPr>
          <a:xfrm>
            <a:off x="566928" y="621792"/>
            <a:ext cx="11027664" cy="621792"/>
          </a:xfrm>
          <a:prstGeom prst="rect">
            <a:avLst/>
          </a:prstGeom>
          <a:noFill/>
          <a:ln/>
        </p:spPr>
        <p:txBody>
          <a:bodyPr wrap="square" lIns="0" tIns="0" rIns="0" bIns="0" rtlCol="0" anchor="t"/>
          <a:lstStyle/>
          <a:p>
            <a:pPr indent="0" marL="0">
              <a:buNone/>
            </a:pPr>
            <a:r>
              <a:rPr lang="en-US" sz="3000" b="1" dirty="0">
                <a:solidFill>
                  <a:srgbClr val="0A2E36"/>
                </a:solidFill>
                <a:latin typeface="Cambria" pitchFamily="34" charset="0"/>
                <a:ea typeface="Cambria" pitchFamily="34" charset="-122"/>
                <a:cs typeface="Cambria" pitchFamily="34" charset="-120"/>
              </a:rPr>
              <a:t>What We Will Show You</a:t>
            </a:r>
            <a:endParaRPr lang="en-US" sz="3000" dirty="0"/>
          </a:p>
        </p:txBody>
      </p:sp>
      <p:sp>
        <p:nvSpPr>
          <p:cNvPr id="4" name="Shape 2"/>
          <p:cNvSpPr/>
          <p:nvPr/>
        </p:nvSpPr>
        <p:spPr>
          <a:xfrm>
            <a:off x="566928" y="1463040"/>
            <a:ext cx="3517392" cy="1371600"/>
          </a:xfrm>
          <a:prstGeom prst="roundRect">
            <a:avLst>
              <a:gd name="adj" fmla="val 6667"/>
            </a:avLst>
          </a:prstGeom>
          <a:solidFill>
            <a:srgbClr val="EEF6F7"/>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5" name="Shape 3"/>
          <p:cNvSpPr/>
          <p:nvPr/>
        </p:nvSpPr>
        <p:spPr>
          <a:xfrm>
            <a:off x="822960" y="1700784"/>
            <a:ext cx="457200" cy="457200"/>
          </a:xfrm>
          <a:prstGeom prst="ellipse">
            <a:avLst/>
          </a:prstGeom>
          <a:solidFill>
            <a:srgbClr val="028090"/>
          </a:solidFill>
          <a:ln/>
        </p:spPr>
      </p:sp>
      <p:sp>
        <p:nvSpPr>
          <p:cNvPr id="6" name="Text 4"/>
          <p:cNvSpPr/>
          <p:nvPr/>
        </p:nvSpPr>
        <p:spPr>
          <a:xfrm>
            <a:off x="822960" y="170078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426464" y="1700784"/>
            <a:ext cx="2420112" cy="457200"/>
          </a:xfrm>
          <a:prstGeom prst="rect">
            <a:avLst/>
          </a:prstGeom>
          <a:noFill/>
          <a:ln/>
        </p:spPr>
        <p:txBody>
          <a:bodyPr wrap="square" lIns="0" tIns="0" rIns="0" bIns="0" rtlCol="0" anchor="ctr"/>
          <a:lstStyle/>
          <a:p>
            <a:pPr indent="0" marL="0">
              <a:buNone/>
            </a:pPr>
            <a:r>
              <a:rPr lang="en-US" sz="1600" b="1" dirty="0">
                <a:solidFill>
                  <a:srgbClr val="0A2E36"/>
                </a:solidFill>
                <a:latin typeface="Cambria" pitchFamily="34" charset="0"/>
                <a:ea typeface="Cambria" pitchFamily="34" charset="-122"/>
                <a:cs typeface="Cambria" pitchFamily="34" charset="-120"/>
              </a:rPr>
              <a:t>Customer</a:t>
            </a:r>
            <a:endParaRPr lang="en-US" sz="1600" dirty="0"/>
          </a:p>
        </p:txBody>
      </p:sp>
      <p:sp>
        <p:nvSpPr>
          <p:cNvPr id="8" name="Text 6"/>
          <p:cNvSpPr/>
          <p:nvPr/>
        </p:nvSpPr>
        <p:spPr>
          <a:xfrm>
            <a:off x="822960" y="2267712"/>
            <a:ext cx="3005328" cy="457200"/>
          </a:xfrm>
          <a:prstGeom prst="rect">
            <a:avLst/>
          </a:prstGeom>
          <a:noFill/>
          <a:ln/>
        </p:spPr>
        <p:txBody>
          <a:bodyPr wrap="square" lIns="0" tIns="0" rIns="0" bIns="0" rtlCol="0" anchor="t"/>
          <a:lstStyle/>
          <a:p>
            <a:pPr indent="0" marL="0">
              <a:lnSpc>
                <a:spcPts val="1400"/>
              </a:lnSpc>
              <a:buNone/>
            </a:pPr>
            <a:r>
              <a:rPr lang="en-US" sz="1150" dirty="0">
                <a:solidFill>
                  <a:srgbClr val="445C64"/>
                </a:solidFill>
                <a:latin typeface="Calibri" pitchFamily="34" charset="0"/>
                <a:ea typeface="Calibri" pitchFamily="34" charset="-122"/>
                <a:cs typeface="Calibri" pitchFamily="34" charset="-120"/>
              </a:rPr>
              <a:t>Send a WhatsApp message from a phone — a ticket is raised, classified and acknowledged in a second</a:t>
            </a:r>
            <a:endParaRPr lang="en-US" sz="1150" dirty="0"/>
          </a:p>
        </p:txBody>
      </p:sp>
      <p:sp>
        <p:nvSpPr>
          <p:cNvPr id="9" name="Shape 7"/>
          <p:cNvSpPr/>
          <p:nvPr/>
        </p:nvSpPr>
        <p:spPr>
          <a:xfrm>
            <a:off x="4322064" y="1463040"/>
            <a:ext cx="3517392" cy="1371600"/>
          </a:xfrm>
          <a:prstGeom prst="roundRect">
            <a:avLst>
              <a:gd name="adj" fmla="val 6667"/>
            </a:avLst>
          </a:prstGeom>
          <a:solidFill>
            <a:srgbClr val="EEF6F7"/>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10" name="Shape 8"/>
          <p:cNvSpPr/>
          <p:nvPr/>
        </p:nvSpPr>
        <p:spPr>
          <a:xfrm>
            <a:off x="4578096" y="1700784"/>
            <a:ext cx="457200" cy="457200"/>
          </a:xfrm>
          <a:prstGeom prst="ellipse">
            <a:avLst/>
          </a:prstGeom>
          <a:solidFill>
            <a:srgbClr val="028090"/>
          </a:solidFill>
          <a:ln/>
        </p:spPr>
      </p:sp>
      <p:sp>
        <p:nvSpPr>
          <p:cNvPr id="11" name="Text 9"/>
          <p:cNvSpPr/>
          <p:nvPr/>
        </p:nvSpPr>
        <p:spPr>
          <a:xfrm>
            <a:off x="4578096" y="170078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5181600" y="1700784"/>
            <a:ext cx="2420112" cy="457200"/>
          </a:xfrm>
          <a:prstGeom prst="rect">
            <a:avLst/>
          </a:prstGeom>
          <a:noFill/>
          <a:ln/>
        </p:spPr>
        <p:txBody>
          <a:bodyPr wrap="square" lIns="0" tIns="0" rIns="0" bIns="0" rtlCol="0" anchor="ctr"/>
          <a:lstStyle/>
          <a:p>
            <a:pPr indent="0" marL="0">
              <a:buNone/>
            </a:pPr>
            <a:r>
              <a:rPr lang="en-US" sz="1600" b="1" dirty="0">
                <a:solidFill>
                  <a:srgbClr val="0A2E36"/>
                </a:solidFill>
                <a:latin typeface="Cambria" pitchFamily="34" charset="0"/>
                <a:ea typeface="Cambria" pitchFamily="34" charset="-122"/>
                <a:cs typeface="Cambria" pitchFamily="34" charset="-120"/>
              </a:rPr>
              <a:t>Isolation</a:t>
            </a:r>
            <a:endParaRPr lang="en-US" sz="1600" dirty="0"/>
          </a:p>
        </p:txBody>
      </p:sp>
      <p:sp>
        <p:nvSpPr>
          <p:cNvPr id="13" name="Text 11"/>
          <p:cNvSpPr/>
          <p:nvPr/>
        </p:nvSpPr>
        <p:spPr>
          <a:xfrm>
            <a:off x="4578096" y="2267712"/>
            <a:ext cx="3005328" cy="457200"/>
          </a:xfrm>
          <a:prstGeom prst="rect">
            <a:avLst/>
          </a:prstGeom>
          <a:noFill/>
          <a:ln/>
        </p:spPr>
        <p:txBody>
          <a:bodyPr wrap="square" lIns="0" tIns="0" rIns="0" bIns="0" rtlCol="0" anchor="t"/>
          <a:lstStyle/>
          <a:p>
            <a:pPr indent="0" marL="0">
              <a:lnSpc>
                <a:spcPts val="1400"/>
              </a:lnSpc>
              <a:buNone/>
            </a:pPr>
            <a:r>
              <a:rPr lang="en-US" sz="1150" dirty="0">
                <a:solidFill>
                  <a:srgbClr val="445C64"/>
                </a:solidFill>
                <a:latin typeface="Calibri" pitchFamily="34" charset="0"/>
                <a:ea typeface="Calibri" pitchFamily="34" charset="-122"/>
                <a:cs typeface="Calibri" pitchFamily="34" charset="-120"/>
              </a:rPr>
              <a:t>Try to open another customer's ticket — and fail</a:t>
            </a:r>
            <a:endParaRPr lang="en-US" sz="1150" dirty="0"/>
          </a:p>
        </p:txBody>
      </p:sp>
      <p:sp>
        <p:nvSpPr>
          <p:cNvPr id="14" name="Shape 12"/>
          <p:cNvSpPr/>
          <p:nvPr/>
        </p:nvSpPr>
        <p:spPr>
          <a:xfrm>
            <a:off x="8077200" y="1463040"/>
            <a:ext cx="3517392" cy="1371600"/>
          </a:xfrm>
          <a:prstGeom prst="roundRect">
            <a:avLst>
              <a:gd name="adj" fmla="val 6667"/>
            </a:avLst>
          </a:prstGeom>
          <a:solidFill>
            <a:srgbClr val="EEF6F7"/>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15" name="Shape 13"/>
          <p:cNvSpPr/>
          <p:nvPr/>
        </p:nvSpPr>
        <p:spPr>
          <a:xfrm>
            <a:off x="8333232" y="1700784"/>
            <a:ext cx="457200" cy="457200"/>
          </a:xfrm>
          <a:prstGeom prst="ellipse">
            <a:avLst/>
          </a:prstGeom>
          <a:solidFill>
            <a:srgbClr val="028090"/>
          </a:solidFill>
          <a:ln/>
        </p:spPr>
      </p:sp>
      <p:sp>
        <p:nvSpPr>
          <p:cNvPr id="16" name="Text 14"/>
          <p:cNvSpPr/>
          <p:nvPr/>
        </p:nvSpPr>
        <p:spPr>
          <a:xfrm>
            <a:off x="8333232" y="170078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8936736" y="1700784"/>
            <a:ext cx="2420112" cy="457200"/>
          </a:xfrm>
          <a:prstGeom prst="rect">
            <a:avLst/>
          </a:prstGeom>
          <a:noFill/>
          <a:ln/>
        </p:spPr>
        <p:txBody>
          <a:bodyPr wrap="square" lIns="0" tIns="0" rIns="0" bIns="0" rtlCol="0" anchor="ctr"/>
          <a:lstStyle/>
          <a:p>
            <a:pPr indent="0" marL="0">
              <a:buNone/>
            </a:pPr>
            <a:r>
              <a:rPr lang="en-US" sz="1600" b="1" dirty="0">
                <a:solidFill>
                  <a:srgbClr val="0A2E36"/>
                </a:solidFill>
                <a:latin typeface="Cambria" pitchFamily="34" charset="0"/>
                <a:ea typeface="Cambria" pitchFamily="34" charset="-122"/>
                <a:cs typeface="Cambria" pitchFamily="34" charset="-120"/>
              </a:rPr>
              <a:t>Agent</a:t>
            </a:r>
            <a:endParaRPr lang="en-US" sz="1600" dirty="0"/>
          </a:p>
        </p:txBody>
      </p:sp>
      <p:sp>
        <p:nvSpPr>
          <p:cNvPr id="18" name="Text 16"/>
          <p:cNvSpPr/>
          <p:nvPr/>
        </p:nvSpPr>
        <p:spPr>
          <a:xfrm>
            <a:off x="8333232" y="2267712"/>
            <a:ext cx="3005328" cy="457200"/>
          </a:xfrm>
          <a:prstGeom prst="rect">
            <a:avLst/>
          </a:prstGeom>
          <a:noFill/>
          <a:ln/>
        </p:spPr>
        <p:txBody>
          <a:bodyPr wrap="square" lIns="0" tIns="0" rIns="0" bIns="0" rtlCol="0" anchor="t"/>
          <a:lstStyle/>
          <a:p>
            <a:pPr indent="0" marL="0">
              <a:lnSpc>
                <a:spcPts val="1400"/>
              </a:lnSpc>
              <a:buNone/>
            </a:pPr>
            <a:r>
              <a:rPr lang="en-US" sz="1150" dirty="0">
                <a:solidFill>
                  <a:srgbClr val="445C64"/>
                </a:solidFill>
                <a:latin typeface="Calibri" pitchFamily="34" charset="0"/>
                <a:ea typeface="Calibri" pitchFamily="34" charset="-122"/>
                <a:cs typeface="Calibri" pitchFamily="34" charset="-120"/>
              </a:rPr>
              <a:t>Prioritised queue, filters, full-text search</a:t>
            </a:r>
            <a:endParaRPr lang="en-US" sz="1150" dirty="0"/>
          </a:p>
        </p:txBody>
      </p:sp>
      <p:sp>
        <p:nvSpPr>
          <p:cNvPr id="19" name="Shape 17"/>
          <p:cNvSpPr/>
          <p:nvPr/>
        </p:nvSpPr>
        <p:spPr>
          <a:xfrm>
            <a:off x="566928" y="3035808"/>
            <a:ext cx="3517392" cy="1371600"/>
          </a:xfrm>
          <a:prstGeom prst="roundRect">
            <a:avLst>
              <a:gd name="adj" fmla="val 6667"/>
            </a:avLst>
          </a:prstGeom>
          <a:solidFill>
            <a:srgbClr val="EEF6F7"/>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20" name="Shape 18"/>
          <p:cNvSpPr/>
          <p:nvPr/>
        </p:nvSpPr>
        <p:spPr>
          <a:xfrm>
            <a:off x="822960" y="3273552"/>
            <a:ext cx="457200" cy="457200"/>
          </a:xfrm>
          <a:prstGeom prst="ellipse">
            <a:avLst/>
          </a:prstGeom>
          <a:solidFill>
            <a:srgbClr val="028090"/>
          </a:solidFill>
          <a:ln/>
        </p:spPr>
      </p:sp>
      <p:sp>
        <p:nvSpPr>
          <p:cNvPr id="21" name="Text 19"/>
          <p:cNvSpPr/>
          <p:nvPr/>
        </p:nvSpPr>
        <p:spPr>
          <a:xfrm>
            <a:off x="822960" y="327355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2" name="Text 20"/>
          <p:cNvSpPr/>
          <p:nvPr/>
        </p:nvSpPr>
        <p:spPr>
          <a:xfrm>
            <a:off x="1426464" y="3273552"/>
            <a:ext cx="2420112" cy="457200"/>
          </a:xfrm>
          <a:prstGeom prst="rect">
            <a:avLst/>
          </a:prstGeom>
          <a:noFill/>
          <a:ln/>
        </p:spPr>
        <p:txBody>
          <a:bodyPr wrap="square" lIns="0" tIns="0" rIns="0" bIns="0" rtlCol="0" anchor="ctr"/>
          <a:lstStyle/>
          <a:p>
            <a:pPr indent="0" marL="0">
              <a:buNone/>
            </a:pPr>
            <a:r>
              <a:rPr lang="en-US" sz="1600" b="1" dirty="0">
                <a:solidFill>
                  <a:srgbClr val="0A2E36"/>
                </a:solidFill>
                <a:latin typeface="Cambria" pitchFamily="34" charset="0"/>
                <a:ea typeface="Cambria" pitchFamily="34" charset="-122"/>
                <a:cs typeface="Cambria" pitchFamily="34" charset="-120"/>
              </a:rPr>
              <a:t>AI</a:t>
            </a:r>
            <a:endParaRPr lang="en-US" sz="1600" dirty="0"/>
          </a:p>
        </p:txBody>
      </p:sp>
      <p:sp>
        <p:nvSpPr>
          <p:cNvPr id="23" name="Text 21"/>
          <p:cNvSpPr/>
          <p:nvPr/>
        </p:nvSpPr>
        <p:spPr>
          <a:xfrm>
            <a:off x="822960" y="3840480"/>
            <a:ext cx="3005328" cy="457200"/>
          </a:xfrm>
          <a:prstGeom prst="rect">
            <a:avLst/>
          </a:prstGeom>
          <a:noFill/>
          <a:ln/>
        </p:spPr>
        <p:txBody>
          <a:bodyPr wrap="square" lIns="0" tIns="0" rIns="0" bIns="0" rtlCol="0" anchor="t"/>
          <a:lstStyle/>
          <a:p>
            <a:pPr indent="0" marL="0">
              <a:lnSpc>
                <a:spcPts val="1400"/>
              </a:lnSpc>
              <a:buNone/>
            </a:pPr>
            <a:r>
              <a:rPr lang="en-US" sz="1150" dirty="0">
                <a:solidFill>
                  <a:srgbClr val="445C64"/>
                </a:solidFill>
                <a:latin typeface="Calibri" pitchFamily="34" charset="0"/>
                <a:ea typeface="Calibri" pitchFamily="34" charset="-122"/>
                <a:cs typeface="Calibri" pitchFamily="34" charset="-120"/>
              </a:rPr>
              <a:t>Generate a draft, edit it, send it — and watch it arrive on the phone</a:t>
            </a:r>
            <a:endParaRPr lang="en-US" sz="1150" dirty="0"/>
          </a:p>
        </p:txBody>
      </p:sp>
      <p:sp>
        <p:nvSpPr>
          <p:cNvPr id="24" name="Shape 22"/>
          <p:cNvSpPr/>
          <p:nvPr/>
        </p:nvSpPr>
        <p:spPr>
          <a:xfrm>
            <a:off x="4322064" y="3035808"/>
            <a:ext cx="3517392" cy="1371600"/>
          </a:xfrm>
          <a:prstGeom prst="roundRect">
            <a:avLst>
              <a:gd name="adj" fmla="val 6667"/>
            </a:avLst>
          </a:prstGeom>
          <a:solidFill>
            <a:srgbClr val="EEF6F7"/>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25" name="Shape 23"/>
          <p:cNvSpPr/>
          <p:nvPr/>
        </p:nvSpPr>
        <p:spPr>
          <a:xfrm>
            <a:off x="4578096" y="3273552"/>
            <a:ext cx="457200" cy="457200"/>
          </a:xfrm>
          <a:prstGeom prst="ellipse">
            <a:avLst/>
          </a:prstGeom>
          <a:solidFill>
            <a:srgbClr val="028090"/>
          </a:solidFill>
          <a:ln/>
        </p:spPr>
      </p:sp>
      <p:sp>
        <p:nvSpPr>
          <p:cNvPr id="26" name="Text 24"/>
          <p:cNvSpPr/>
          <p:nvPr/>
        </p:nvSpPr>
        <p:spPr>
          <a:xfrm>
            <a:off x="4578096" y="327355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7" name="Text 25"/>
          <p:cNvSpPr/>
          <p:nvPr/>
        </p:nvSpPr>
        <p:spPr>
          <a:xfrm>
            <a:off x="5181600" y="3273552"/>
            <a:ext cx="2420112" cy="457200"/>
          </a:xfrm>
          <a:prstGeom prst="rect">
            <a:avLst/>
          </a:prstGeom>
          <a:noFill/>
          <a:ln/>
        </p:spPr>
        <p:txBody>
          <a:bodyPr wrap="square" lIns="0" tIns="0" rIns="0" bIns="0" rtlCol="0" anchor="ctr"/>
          <a:lstStyle/>
          <a:p>
            <a:pPr indent="0" marL="0">
              <a:buNone/>
            </a:pPr>
            <a:r>
              <a:rPr lang="en-US" sz="1600" b="1" dirty="0">
                <a:solidFill>
                  <a:srgbClr val="0A2E36"/>
                </a:solidFill>
                <a:latin typeface="Cambria" pitchFamily="34" charset="0"/>
                <a:ea typeface="Cambria" pitchFamily="34" charset="-122"/>
                <a:cs typeface="Cambria" pitchFamily="34" charset="-120"/>
              </a:rPr>
              <a:t>Lifecycle</a:t>
            </a:r>
            <a:endParaRPr lang="en-US" sz="1600" dirty="0"/>
          </a:p>
        </p:txBody>
      </p:sp>
      <p:sp>
        <p:nvSpPr>
          <p:cNvPr id="28" name="Text 26"/>
          <p:cNvSpPr/>
          <p:nvPr/>
        </p:nvSpPr>
        <p:spPr>
          <a:xfrm>
            <a:off x="4578096" y="3840480"/>
            <a:ext cx="3005328" cy="457200"/>
          </a:xfrm>
          <a:prstGeom prst="rect">
            <a:avLst/>
          </a:prstGeom>
          <a:noFill/>
          <a:ln/>
        </p:spPr>
        <p:txBody>
          <a:bodyPr wrap="square" lIns="0" tIns="0" rIns="0" bIns="0" rtlCol="0" anchor="t"/>
          <a:lstStyle/>
          <a:p>
            <a:pPr indent="0" marL="0">
              <a:lnSpc>
                <a:spcPts val="1400"/>
              </a:lnSpc>
              <a:buNone/>
            </a:pPr>
            <a:r>
              <a:rPr lang="en-US" sz="1150" dirty="0">
                <a:solidFill>
                  <a:srgbClr val="445C64"/>
                </a:solidFill>
                <a:latin typeface="Calibri" pitchFamily="34" charset="0"/>
                <a:ea typeface="Calibri" pitchFamily="34" charset="-122"/>
                <a:cs typeface="Calibri" pitchFamily="34" charset="-120"/>
              </a:rPr>
              <a:t>Advance status, then attempt an invalid transition</a:t>
            </a:r>
            <a:endParaRPr lang="en-US" sz="1150" dirty="0"/>
          </a:p>
        </p:txBody>
      </p:sp>
      <p:sp>
        <p:nvSpPr>
          <p:cNvPr id="29" name="Shape 27"/>
          <p:cNvSpPr/>
          <p:nvPr/>
        </p:nvSpPr>
        <p:spPr>
          <a:xfrm>
            <a:off x="8077200" y="3035808"/>
            <a:ext cx="3517392" cy="1371600"/>
          </a:xfrm>
          <a:prstGeom prst="roundRect">
            <a:avLst>
              <a:gd name="adj" fmla="val 6667"/>
            </a:avLst>
          </a:prstGeom>
          <a:solidFill>
            <a:srgbClr val="EEF6F7"/>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30" name="Shape 28"/>
          <p:cNvSpPr/>
          <p:nvPr/>
        </p:nvSpPr>
        <p:spPr>
          <a:xfrm>
            <a:off x="8333232" y="3273552"/>
            <a:ext cx="457200" cy="457200"/>
          </a:xfrm>
          <a:prstGeom prst="ellipse">
            <a:avLst/>
          </a:prstGeom>
          <a:solidFill>
            <a:srgbClr val="028090"/>
          </a:solidFill>
          <a:ln/>
        </p:spPr>
      </p:sp>
      <p:sp>
        <p:nvSpPr>
          <p:cNvPr id="31" name="Text 29"/>
          <p:cNvSpPr/>
          <p:nvPr/>
        </p:nvSpPr>
        <p:spPr>
          <a:xfrm>
            <a:off x="8333232" y="327355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32" name="Text 30"/>
          <p:cNvSpPr/>
          <p:nvPr/>
        </p:nvSpPr>
        <p:spPr>
          <a:xfrm>
            <a:off x="8936736" y="3273552"/>
            <a:ext cx="2420112" cy="457200"/>
          </a:xfrm>
          <a:prstGeom prst="rect">
            <a:avLst/>
          </a:prstGeom>
          <a:noFill/>
          <a:ln/>
        </p:spPr>
        <p:txBody>
          <a:bodyPr wrap="square" lIns="0" tIns="0" rIns="0" bIns="0" rtlCol="0" anchor="ctr"/>
          <a:lstStyle/>
          <a:p>
            <a:pPr indent="0" marL="0">
              <a:buNone/>
            </a:pPr>
            <a:r>
              <a:rPr lang="en-US" sz="1600" b="1" dirty="0">
                <a:solidFill>
                  <a:srgbClr val="0A2E36"/>
                </a:solidFill>
                <a:latin typeface="Cambria" pitchFamily="34" charset="0"/>
                <a:ea typeface="Cambria" pitchFamily="34" charset="-122"/>
                <a:cs typeface="Cambria" pitchFamily="34" charset="-120"/>
              </a:rPr>
              <a:t>Admin</a:t>
            </a:r>
            <a:endParaRPr lang="en-US" sz="1600" dirty="0"/>
          </a:p>
        </p:txBody>
      </p:sp>
      <p:sp>
        <p:nvSpPr>
          <p:cNvPr id="33" name="Text 31"/>
          <p:cNvSpPr/>
          <p:nvPr/>
        </p:nvSpPr>
        <p:spPr>
          <a:xfrm>
            <a:off x="8333232" y="3840480"/>
            <a:ext cx="3005328" cy="457200"/>
          </a:xfrm>
          <a:prstGeom prst="rect">
            <a:avLst/>
          </a:prstGeom>
          <a:noFill/>
          <a:ln/>
        </p:spPr>
        <p:txBody>
          <a:bodyPr wrap="square" lIns="0" tIns="0" rIns="0" bIns="0" rtlCol="0" anchor="t"/>
          <a:lstStyle/>
          <a:p>
            <a:pPr indent="0" marL="0">
              <a:lnSpc>
                <a:spcPts val="1400"/>
              </a:lnSpc>
              <a:buNone/>
            </a:pPr>
            <a:r>
              <a:rPr lang="en-US" sz="1150" dirty="0">
                <a:solidFill>
                  <a:srgbClr val="445C64"/>
                </a:solidFill>
                <a:latin typeface="Calibri" pitchFamily="34" charset="0"/>
                <a:ea typeface="Calibri" pitchFamily="34" charset="-122"/>
                <a:cs typeface="Calibri" pitchFamily="34" charset="-120"/>
              </a:rPr>
              <a:t>Dashboards, WhatsApp console and audit log computed from the cloud database</a:t>
            </a:r>
            <a:endParaRPr lang="en-US" sz="1150" dirty="0"/>
          </a:p>
        </p:txBody>
      </p:sp>
      <p:sp>
        <p:nvSpPr>
          <p:cNvPr id="34" name="Shape 32"/>
          <p:cNvSpPr/>
          <p:nvPr/>
        </p:nvSpPr>
        <p:spPr>
          <a:xfrm>
            <a:off x="566928" y="4663440"/>
            <a:ext cx="11027664" cy="1481328"/>
          </a:xfrm>
          <a:prstGeom prst="roundRect">
            <a:avLst>
              <a:gd name="adj" fmla="val 6173"/>
            </a:avLst>
          </a:prstGeom>
          <a:solidFill>
            <a:srgbClr val="EEF6F7"/>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35" name="Text 33"/>
          <p:cNvSpPr/>
          <p:nvPr/>
        </p:nvSpPr>
        <p:spPr>
          <a:xfrm>
            <a:off x="877824" y="4809744"/>
            <a:ext cx="5486400" cy="274320"/>
          </a:xfrm>
          <a:prstGeom prst="rect">
            <a:avLst/>
          </a:prstGeom>
          <a:noFill/>
          <a:ln/>
        </p:spPr>
        <p:txBody>
          <a:bodyPr wrap="square" lIns="0" tIns="0" rIns="0" bIns="0" rtlCol="0" anchor="ctr"/>
          <a:lstStyle/>
          <a:p>
            <a:pPr indent="0" marL="0">
              <a:buNone/>
            </a:pPr>
            <a:r>
              <a:rPr lang="en-US" sz="1400" b="1" dirty="0">
                <a:solidFill>
                  <a:srgbClr val="0A2E36"/>
                </a:solidFill>
                <a:latin typeface="Cambria" pitchFamily="34" charset="0"/>
                <a:ea typeface="Cambria" pitchFamily="34" charset="-122"/>
                <a:cs typeface="Cambria" pitchFamily="34" charset="-120"/>
              </a:rPr>
              <a:t>Everything is real functionality</a:t>
            </a:r>
            <a:endParaRPr lang="en-US" sz="1400" dirty="0"/>
          </a:p>
        </p:txBody>
      </p:sp>
      <p:sp>
        <p:nvSpPr>
          <p:cNvPr id="36" name="Text 34"/>
          <p:cNvSpPr/>
          <p:nvPr/>
        </p:nvSpPr>
        <p:spPr>
          <a:xfrm>
            <a:off x="877824" y="5138928"/>
            <a:ext cx="10405872" cy="877824"/>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445C64"/>
                </a:solidFill>
                <a:latin typeface="Calibri" pitchFamily="34" charset="0"/>
                <a:ea typeface="Calibri" pitchFamily="34" charset="-122"/>
                <a:cs typeface="Calibri" pitchFamily="34" charset="-120"/>
              </a:rPr>
              <a:t>No staged screenshots and no rehearsed data — we create a ticket from a phone in front of you.</a:t>
            </a:r>
            <a:endParaRPr lang="en-US" sz="1200" dirty="0"/>
          </a:p>
          <a:p>
            <a:pPr marL="342900" indent="-342900">
              <a:spcAft>
                <a:spcPts val="500"/>
              </a:spcAft>
              <a:buSzPct val="100000"/>
              <a:buChar char="•"/>
            </a:pPr>
            <a:r>
              <a:rPr lang="en-US" sz="1200" dirty="0">
                <a:solidFill>
                  <a:srgbClr val="445C64"/>
                </a:solidFill>
                <a:latin typeface="Calibri" pitchFamily="34" charset="0"/>
                <a:ea typeface="Calibri" pitchFamily="34" charset="-122"/>
                <a:cs typeface="Calibri" pitchFamily="34" charset="-120"/>
              </a:rPr>
              <a:t>The classification you will see is derived from the words we type, not pre-set.</a:t>
            </a:r>
            <a:endParaRPr lang="en-US" sz="1200" dirty="0"/>
          </a:p>
          <a:p>
            <a:pPr marL="342900" indent="-342900">
              <a:spcAft>
                <a:spcPts val="500"/>
              </a:spcAft>
              <a:buSzPct val="100000"/>
              <a:buChar char="•"/>
            </a:pPr>
            <a:r>
              <a:rPr lang="en-US" sz="1200" dirty="0">
                <a:solidFill>
                  <a:srgbClr val="445C64"/>
                </a:solidFill>
                <a:latin typeface="Calibri" pitchFamily="34" charset="0"/>
                <a:ea typeface="Calibri" pitchFamily="34" charset="-122"/>
                <a:cs typeface="Calibri" pitchFamily="34" charset="-120"/>
              </a:rPr>
              <a:t>Every dashboard figure is a SQL aggregate run at the moment the page loads.</a:t>
            </a:r>
            <a:endParaRPr lang="en-US" sz="1200" dirty="0"/>
          </a:p>
        </p:txBody>
      </p:sp>
      <p:sp>
        <p:nvSpPr>
          <p:cNvPr id="37" name="Text 35"/>
          <p:cNvSpPr/>
          <p:nvPr/>
        </p:nvSpPr>
        <p:spPr>
          <a:xfrm>
            <a:off x="566928" y="6345936"/>
            <a:ext cx="7315200" cy="219456"/>
          </a:xfrm>
          <a:prstGeom prst="rect">
            <a:avLst/>
          </a:prstGeom>
          <a:noFill/>
          <a:ln/>
        </p:spPr>
        <p:txBody>
          <a:bodyPr wrap="square" lIns="0" tIns="0" rIns="0" bIns="0" rtlCol="0" anchor="ctr"/>
          <a:lstStyle/>
          <a:p>
            <a:pPr indent="0" marL="0">
              <a:buNone/>
            </a:pPr>
            <a:r>
              <a:rPr lang="en-US" sz="900" dirty="0">
                <a:solidFill>
                  <a:srgbClr val="7C939B"/>
                </a:solidFill>
                <a:latin typeface="Calibri" pitchFamily="34" charset="0"/>
                <a:ea typeface="Calibri" pitchFamily="34" charset="-122"/>
                <a:cs typeface="Calibri" pitchFamily="34" charset="-120"/>
              </a:rPr>
              <a:t>ServiceDesk AI  ·  BCSE408L Cloud Computing  ·  Review 2 &amp; Final Demonstration</a:t>
            </a:r>
            <a:endParaRPr lang="en-US" sz="900" dirty="0"/>
          </a:p>
        </p:txBody>
      </p:sp>
      <p:sp>
        <p:nvSpPr>
          <p:cNvPr id="38" name="Text 36"/>
          <p:cNvSpPr/>
          <p:nvPr/>
        </p:nvSpPr>
        <p:spPr>
          <a:xfrm>
            <a:off x="10680192" y="6345936"/>
            <a:ext cx="914400" cy="219456"/>
          </a:xfrm>
          <a:prstGeom prst="rect">
            <a:avLst/>
          </a:prstGeom>
          <a:noFill/>
          <a:ln/>
        </p:spPr>
        <p:txBody>
          <a:bodyPr wrap="square" lIns="0" tIns="0" rIns="0" bIns="0" rtlCol="0" anchor="ctr"/>
          <a:lstStyle/>
          <a:p>
            <a:pPr algn="r" indent="0" marL="0">
              <a:buNone/>
            </a:pPr>
            <a:r>
              <a:rPr lang="en-US" sz="900" dirty="0">
                <a:solidFill>
                  <a:srgbClr val="7C939B"/>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27664" cy="237744"/>
          </a:xfrm>
          <a:prstGeom prst="rect">
            <a:avLst/>
          </a:prstGeom>
          <a:noFill/>
          <a:ln/>
        </p:spPr>
        <p:txBody>
          <a:bodyPr wrap="square" lIns="0" tIns="0" rIns="0" bIns="0" rtlCol="0" anchor="ctr"/>
          <a:lstStyle/>
          <a:p>
            <a:pPr indent="0" marL="0">
              <a:buNone/>
            </a:pPr>
            <a:r>
              <a:rPr lang="en-US" sz="1100" b="1" spc="220" kern="0" dirty="0">
                <a:solidFill>
                  <a:srgbClr val="028090"/>
                </a:solidFill>
                <a:latin typeface="Calibri" pitchFamily="34" charset="0"/>
                <a:ea typeface="Calibri" pitchFamily="34" charset="-122"/>
                <a:cs typeface="Calibri" pitchFamily="34" charset="-120"/>
              </a:rPr>
              <a:t>AS BUILT</a:t>
            </a:r>
            <a:endParaRPr lang="en-US" sz="1100" dirty="0"/>
          </a:p>
        </p:txBody>
      </p:sp>
      <p:sp>
        <p:nvSpPr>
          <p:cNvPr id="3" name="Text 1"/>
          <p:cNvSpPr/>
          <p:nvPr/>
        </p:nvSpPr>
        <p:spPr>
          <a:xfrm>
            <a:off x="566928" y="621792"/>
            <a:ext cx="11027664" cy="621792"/>
          </a:xfrm>
          <a:prstGeom prst="rect">
            <a:avLst/>
          </a:prstGeom>
          <a:noFill/>
          <a:ln/>
        </p:spPr>
        <p:txBody>
          <a:bodyPr wrap="square" lIns="0" tIns="0" rIns="0" bIns="0" rtlCol="0" anchor="t"/>
          <a:lstStyle/>
          <a:p>
            <a:pPr indent="0" marL="0">
              <a:buNone/>
            </a:pPr>
            <a:r>
              <a:rPr lang="en-US" sz="3000" b="1" dirty="0">
                <a:solidFill>
                  <a:srgbClr val="0A2E36"/>
                </a:solidFill>
                <a:latin typeface="Cambria" pitchFamily="34" charset="0"/>
                <a:ea typeface="Cambria" pitchFamily="34" charset="-122"/>
                <a:cs typeface="Cambria" pitchFamily="34" charset="-120"/>
              </a:rPr>
              <a:t>Cloud Architecture</a:t>
            </a:r>
            <a:endParaRPr lang="en-US" sz="3000" dirty="0"/>
          </a:p>
        </p:txBody>
      </p:sp>
      <p:sp>
        <p:nvSpPr>
          <p:cNvPr id="4" name="Text 2"/>
          <p:cNvSpPr/>
          <p:nvPr/>
        </p:nvSpPr>
        <p:spPr>
          <a:xfrm>
            <a:off x="566928" y="1316736"/>
            <a:ext cx="10424160" cy="402336"/>
          </a:xfrm>
          <a:prstGeom prst="rect">
            <a:avLst/>
          </a:prstGeom>
          <a:noFill/>
          <a:ln/>
        </p:spPr>
        <p:txBody>
          <a:bodyPr wrap="square" lIns="0" tIns="0" rIns="0" bIns="0" rtlCol="0" anchor="t"/>
          <a:lstStyle/>
          <a:p>
            <a:pPr indent="0" marL="0">
              <a:lnSpc>
                <a:spcPts val="1700"/>
              </a:lnSpc>
              <a:buNone/>
            </a:pPr>
            <a:r>
              <a:rPr lang="en-US" sz="1250" dirty="0">
                <a:solidFill>
                  <a:srgbClr val="445C64"/>
                </a:solidFill>
                <a:latin typeface="Calibri" pitchFamily="34" charset="0"/>
                <a:ea typeface="Calibri" pitchFamily="34" charset="-122"/>
                <a:cs typeface="Calibri" pitchFamily="34" charset="-120"/>
              </a:rPr>
              <a:t>Three independently deployable tiers plus WhatsApp through Meta’s Cloud API. The browser talks to two hosts and never to the database or the AI provider.</a:t>
            </a:r>
            <a:endParaRPr lang="en-US" sz="1250" dirty="0"/>
          </a:p>
        </p:txBody>
      </p:sp>
      <p:sp>
        <p:nvSpPr>
          <p:cNvPr id="5" name="Shape 3"/>
          <p:cNvSpPr/>
          <p:nvPr/>
        </p:nvSpPr>
        <p:spPr>
          <a:xfrm>
            <a:off x="566928" y="1828800"/>
            <a:ext cx="3310128" cy="2926080"/>
          </a:xfrm>
          <a:prstGeom prst="roundRect">
            <a:avLst>
              <a:gd name="adj" fmla="val 3125"/>
            </a:avLst>
          </a:prstGeom>
          <a:solidFill>
            <a:srgbClr val="FFFFFF"/>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6" name="Shape 4"/>
          <p:cNvSpPr/>
          <p:nvPr/>
        </p:nvSpPr>
        <p:spPr>
          <a:xfrm>
            <a:off x="566928" y="1828800"/>
            <a:ext cx="3310128" cy="694944"/>
          </a:xfrm>
          <a:prstGeom prst="roundRect">
            <a:avLst>
              <a:gd name="adj" fmla="val 13158"/>
            </a:avLst>
          </a:prstGeom>
          <a:solidFill>
            <a:srgbClr val="028090"/>
          </a:solidFill>
          <a:ln/>
        </p:spPr>
      </p:sp>
      <p:sp>
        <p:nvSpPr>
          <p:cNvPr id="7" name="Text 5"/>
          <p:cNvSpPr/>
          <p:nvPr/>
        </p:nvSpPr>
        <p:spPr>
          <a:xfrm>
            <a:off x="804672" y="1920240"/>
            <a:ext cx="2834640" cy="27432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Presentation Tier</a:t>
            </a:r>
            <a:endParaRPr lang="en-US" sz="1450" dirty="0"/>
          </a:p>
        </p:txBody>
      </p:sp>
      <p:sp>
        <p:nvSpPr>
          <p:cNvPr id="8" name="Text 6"/>
          <p:cNvSpPr/>
          <p:nvPr/>
        </p:nvSpPr>
        <p:spPr>
          <a:xfrm>
            <a:off x="804672" y="2194560"/>
            <a:ext cx="2834640" cy="237744"/>
          </a:xfrm>
          <a:prstGeom prst="rect">
            <a:avLst/>
          </a:prstGeom>
          <a:noFill/>
          <a:ln/>
        </p:spPr>
        <p:txBody>
          <a:bodyPr wrap="square" lIns="0" tIns="0" rIns="0" bIns="0" rtlCol="0" anchor="ctr"/>
          <a:lstStyle/>
          <a:p>
            <a:pPr indent="0" marL="0">
              <a:buNone/>
            </a:pPr>
            <a:r>
              <a:rPr lang="en-US" sz="1050" dirty="0">
                <a:solidFill>
                  <a:srgbClr val="CFE8E6"/>
                </a:solidFill>
                <a:latin typeface="Calibri" pitchFamily="34" charset="0"/>
                <a:ea typeface="Calibri" pitchFamily="34" charset="-122"/>
                <a:cs typeface="Calibri" pitchFamily="34" charset="-120"/>
              </a:rPr>
              <a:t>hosted on Vercel</a:t>
            </a:r>
            <a:endParaRPr lang="en-US" sz="1050" dirty="0"/>
          </a:p>
        </p:txBody>
      </p:sp>
      <p:sp>
        <p:nvSpPr>
          <p:cNvPr id="9" name="Text 7"/>
          <p:cNvSpPr/>
          <p:nvPr/>
        </p:nvSpPr>
        <p:spPr>
          <a:xfrm>
            <a:off x="804672" y="2670048"/>
            <a:ext cx="2834640" cy="914400"/>
          </a:xfrm>
          <a:prstGeom prst="rect">
            <a:avLst/>
          </a:prstGeom>
          <a:noFill/>
          <a:ln/>
        </p:spPr>
        <p:txBody>
          <a:bodyPr wrap="square" lIns="0" tIns="0" rIns="0" bIns="0" rtlCol="0" anchor="t"/>
          <a:lstStyle/>
          <a:p>
            <a:pPr indent="0" marL="0">
              <a:lnSpc>
                <a:spcPts val="1500"/>
              </a:lnSpc>
              <a:buNone/>
            </a:pPr>
            <a:r>
              <a:rPr lang="en-US" sz="1150" b="1" dirty="0">
                <a:solidFill>
                  <a:srgbClr val="0A2E36"/>
                </a:solidFill>
                <a:latin typeface="Calibri" pitchFamily="34" charset="0"/>
                <a:ea typeface="Calibri" pitchFamily="34" charset="-122"/>
                <a:cs typeface="Calibri" pitchFamily="34" charset="-120"/>
              </a:rPr>
              <a:t>React 18 · Vite · TypeScript</a:t>
            </a:r>
            <a:endParaRPr lang="en-US" sz="1150" dirty="0"/>
          </a:p>
          <a:p>
            <a:pPr indent="0" marL="0">
              <a:lnSpc>
                <a:spcPts val="1500"/>
              </a:lnSpc>
              <a:buNone/>
            </a:pPr>
            <a:r>
              <a:rPr lang="en-US" sz="1150" b="1" dirty="0">
                <a:solidFill>
                  <a:srgbClr val="0A2E36"/>
                </a:solidFill>
                <a:latin typeface="Calibri" pitchFamily="34" charset="0"/>
                <a:ea typeface="Calibri" pitchFamily="34" charset="-122"/>
                <a:cs typeface="Calibri" pitchFamily="34" charset="-120"/>
              </a:rPr>
              <a:t>Tailwind CSS · TanStack Query</a:t>
            </a:r>
            <a:endParaRPr lang="en-US" sz="1150" dirty="0"/>
          </a:p>
          <a:p>
            <a:pPr indent="0" marL="0">
              <a:lnSpc>
                <a:spcPts val="1500"/>
              </a:lnSpc>
              <a:buNone/>
            </a:pPr>
            <a:r>
              <a:rPr lang="en-US" sz="1150" b="1" dirty="0">
                <a:solidFill>
                  <a:srgbClr val="0A2E36"/>
                </a:solidFill>
                <a:latin typeface="Calibri" pitchFamily="34" charset="0"/>
                <a:ea typeface="Calibri" pitchFamily="34" charset="-122"/>
                <a:cs typeface="Calibri" pitchFamily="34" charset="-120"/>
              </a:rPr>
              <a:t>Recharts</a:t>
            </a:r>
            <a:endParaRPr lang="en-US" sz="1150" dirty="0"/>
          </a:p>
        </p:txBody>
      </p:sp>
      <p:sp>
        <p:nvSpPr>
          <p:cNvPr id="10" name="Text 8"/>
          <p:cNvSpPr/>
          <p:nvPr/>
        </p:nvSpPr>
        <p:spPr>
          <a:xfrm>
            <a:off x="804672" y="3639312"/>
            <a:ext cx="2834640" cy="969264"/>
          </a:xfrm>
          <a:prstGeom prst="rect">
            <a:avLst/>
          </a:prstGeom>
          <a:noFill/>
          <a:ln/>
        </p:spPr>
        <p:txBody>
          <a:bodyPr wrap="square" lIns="0" tIns="0" rIns="0" bIns="0" rtlCol="0" anchor="t"/>
          <a:lstStyle/>
          <a:p>
            <a:pPr indent="0" marL="0">
              <a:lnSpc>
                <a:spcPts val="1400"/>
              </a:lnSpc>
              <a:buNone/>
            </a:pPr>
            <a:r>
              <a:rPr lang="en-US" sz="1100" dirty="0">
                <a:solidFill>
                  <a:srgbClr val="445C64"/>
                </a:solidFill>
                <a:latin typeface="Calibri" pitchFamily="34" charset="0"/>
                <a:ea typeface="Calibri" pitchFamily="34" charset="-122"/>
                <a:cs typeface="Calibri" pitchFamily="34" charset="-120"/>
              </a:rPr>
              <a:t>Static build on a global CDN. Holds no credential and never queries the database.</a:t>
            </a:r>
            <a:endParaRPr lang="en-US" sz="1100" dirty="0"/>
          </a:p>
        </p:txBody>
      </p:sp>
      <p:sp>
        <p:nvSpPr>
          <p:cNvPr id="11" name="Text 9"/>
          <p:cNvSpPr/>
          <p:nvPr/>
        </p:nvSpPr>
        <p:spPr>
          <a:xfrm>
            <a:off x="3931920" y="3017520"/>
            <a:ext cx="438912" cy="365760"/>
          </a:xfrm>
          <a:prstGeom prst="rect">
            <a:avLst/>
          </a:prstGeom>
          <a:noFill/>
          <a:ln/>
        </p:spPr>
        <p:txBody>
          <a:bodyPr wrap="square" lIns="0" tIns="0" rIns="0" bIns="0" rtlCol="0" anchor="ctr"/>
          <a:lstStyle/>
          <a:p>
            <a:pPr algn="ctr" indent="0" marL="0">
              <a:buNone/>
            </a:pPr>
            <a:r>
              <a:rPr lang="en-US" sz="2000" b="1" dirty="0">
                <a:solidFill>
                  <a:srgbClr val="445C64"/>
                </a:solidFill>
                <a:latin typeface="Calibri" pitchFamily="34" charset="0"/>
                <a:ea typeface="Calibri" pitchFamily="34" charset="-122"/>
                <a:cs typeface="Calibri" pitchFamily="34" charset="-120"/>
              </a:rPr>
              <a:t>→</a:t>
            </a:r>
            <a:endParaRPr lang="en-US" sz="2000" dirty="0"/>
          </a:p>
        </p:txBody>
      </p:sp>
      <p:sp>
        <p:nvSpPr>
          <p:cNvPr id="12" name="Text 10"/>
          <p:cNvSpPr/>
          <p:nvPr/>
        </p:nvSpPr>
        <p:spPr>
          <a:xfrm>
            <a:off x="3931920" y="3364992"/>
            <a:ext cx="438912" cy="219456"/>
          </a:xfrm>
          <a:prstGeom prst="rect">
            <a:avLst/>
          </a:prstGeom>
          <a:noFill/>
          <a:ln/>
        </p:spPr>
        <p:txBody>
          <a:bodyPr wrap="square" lIns="0" tIns="0" rIns="0" bIns="0" rtlCol="0" anchor="ctr"/>
          <a:lstStyle/>
          <a:p>
            <a:pPr algn="ctr" indent="0" marL="0">
              <a:buNone/>
            </a:pPr>
            <a:r>
              <a:rPr lang="en-US" sz="800" dirty="0">
                <a:solidFill>
                  <a:srgbClr val="7C939B"/>
                </a:solidFill>
                <a:latin typeface="Calibri" pitchFamily="34" charset="0"/>
                <a:ea typeface="Calibri" pitchFamily="34" charset="-122"/>
                <a:cs typeface="Calibri" pitchFamily="34" charset="-120"/>
              </a:rPr>
              <a:t>HTTPS</a:t>
            </a:r>
            <a:endParaRPr lang="en-US" sz="800" dirty="0"/>
          </a:p>
        </p:txBody>
      </p:sp>
      <p:sp>
        <p:nvSpPr>
          <p:cNvPr id="13" name="Shape 11"/>
          <p:cNvSpPr/>
          <p:nvPr/>
        </p:nvSpPr>
        <p:spPr>
          <a:xfrm>
            <a:off x="4425696" y="1828800"/>
            <a:ext cx="3310128" cy="2926080"/>
          </a:xfrm>
          <a:prstGeom prst="roundRect">
            <a:avLst>
              <a:gd name="adj" fmla="val 3125"/>
            </a:avLst>
          </a:prstGeom>
          <a:solidFill>
            <a:srgbClr val="FFFFFF"/>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14" name="Shape 12"/>
          <p:cNvSpPr/>
          <p:nvPr/>
        </p:nvSpPr>
        <p:spPr>
          <a:xfrm>
            <a:off x="4425696" y="1828800"/>
            <a:ext cx="3310128" cy="694944"/>
          </a:xfrm>
          <a:prstGeom prst="roundRect">
            <a:avLst>
              <a:gd name="adj" fmla="val 13158"/>
            </a:avLst>
          </a:prstGeom>
          <a:solidFill>
            <a:srgbClr val="00A896"/>
          </a:solidFill>
          <a:ln/>
        </p:spPr>
      </p:sp>
      <p:sp>
        <p:nvSpPr>
          <p:cNvPr id="15" name="Text 13"/>
          <p:cNvSpPr/>
          <p:nvPr/>
        </p:nvSpPr>
        <p:spPr>
          <a:xfrm>
            <a:off x="4663440" y="1920240"/>
            <a:ext cx="2834640" cy="27432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Application Tier</a:t>
            </a:r>
            <a:endParaRPr lang="en-US" sz="1450" dirty="0"/>
          </a:p>
        </p:txBody>
      </p:sp>
      <p:sp>
        <p:nvSpPr>
          <p:cNvPr id="16" name="Text 14"/>
          <p:cNvSpPr/>
          <p:nvPr/>
        </p:nvSpPr>
        <p:spPr>
          <a:xfrm>
            <a:off x="4663440" y="2194560"/>
            <a:ext cx="2834640" cy="237744"/>
          </a:xfrm>
          <a:prstGeom prst="rect">
            <a:avLst/>
          </a:prstGeom>
          <a:noFill/>
          <a:ln/>
        </p:spPr>
        <p:txBody>
          <a:bodyPr wrap="square" lIns="0" tIns="0" rIns="0" bIns="0" rtlCol="0" anchor="ctr"/>
          <a:lstStyle/>
          <a:p>
            <a:pPr indent="0" marL="0">
              <a:buNone/>
            </a:pPr>
            <a:r>
              <a:rPr lang="en-US" sz="1050" dirty="0">
                <a:solidFill>
                  <a:srgbClr val="CFE8E6"/>
                </a:solidFill>
                <a:latin typeface="Calibri" pitchFamily="34" charset="0"/>
                <a:ea typeface="Calibri" pitchFamily="34" charset="-122"/>
                <a:cs typeface="Calibri" pitchFamily="34" charset="-120"/>
              </a:rPr>
              <a:t>hosted on Render</a:t>
            </a:r>
            <a:endParaRPr lang="en-US" sz="1050" dirty="0"/>
          </a:p>
        </p:txBody>
      </p:sp>
      <p:sp>
        <p:nvSpPr>
          <p:cNvPr id="17" name="Text 15"/>
          <p:cNvSpPr/>
          <p:nvPr/>
        </p:nvSpPr>
        <p:spPr>
          <a:xfrm>
            <a:off x="4663440" y="2670048"/>
            <a:ext cx="2834640" cy="914400"/>
          </a:xfrm>
          <a:prstGeom prst="rect">
            <a:avLst/>
          </a:prstGeom>
          <a:noFill/>
          <a:ln/>
        </p:spPr>
        <p:txBody>
          <a:bodyPr wrap="square" lIns="0" tIns="0" rIns="0" bIns="0" rtlCol="0" anchor="t"/>
          <a:lstStyle/>
          <a:p>
            <a:pPr indent="0" marL="0">
              <a:lnSpc>
                <a:spcPts val="1500"/>
              </a:lnSpc>
              <a:buNone/>
            </a:pPr>
            <a:r>
              <a:rPr lang="en-US" sz="1150" b="1" dirty="0">
                <a:solidFill>
                  <a:srgbClr val="0A2E36"/>
                </a:solidFill>
                <a:latin typeface="Calibri" pitchFamily="34" charset="0"/>
                <a:ea typeface="Calibri" pitchFamily="34" charset="-122"/>
                <a:cs typeface="Calibri" pitchFamily="34" charset="-120"/>
              </a:rPr>
              <a:t>Node.js 20 · Express · TypeScript</a:t>
            </a:r>
            <a:endParaRPr lang="en-US" sz="1150" dirty="0"/>
          </a:p>
          <a:p>
            <a:pPr indent="0" marL="0">
              <a:lnSpc>
                <a:spcPts val="1500"/>
              </a:lnSpc>
              <a:buNone/>
            </a:pPr>
            <a:r>
              <a:rPr lang="en-US" sz="1150" b="1" dirty="0">
                <a:solidFill>
                  <a:srgbClr val="0A2E36"/>
                </a:solidFill>
                <a:latin typeface="Calibri" pitchFamily="34" charset="0"/>
                <a:ea typeface="Calibri" pitchFamily="34" charset="-122"/>
                <a:cs typeface="Calibri" pitchFamily="34" charset="-120"/>
              </a:rPr>
              <a:t>Zod · JWT · bcrypt</a:t>
            </a:r>
            <a:endParaRPr lang="en-US" sz="1150" dirty="0"/>
          </a:p>
          <a:p>
            <a:pPr indent="0" marL="0">
              <a:lnSpc>
                <a:spcPts val="1500"/>
              </a:lnSpc>
              <a:buNone/>
            </a:pPr>
            <a:r>
              <a:rPr lang="en-US" sz="1150" b="1" dirty="0">
                <a:solidFill>
                  <a:srgbClr val="0A2E36"/>
                </a:solidFill>
                <a:latin typeface="Calibri" pitchFamily="34" charset="0"/>
                <a:ea typeface="Calibri" pitchFamily="34" charset="-122"/>
                <a:cs typeface="Calibri" pitchFamily="34" charset="-120"/>
              </a:rPr>
              <a:t>AI · WhatsApp · embedding adapters</a:t>
            </a:r>
            <a:endParaRPr lang="en-US" sz="1150" dirty="0"/>
          </a:p>
        </p:txBody>
      </p:sp>
      <p:sp>
        <p:nvSpPr>
          <p:cNvPr id="18" name="Text 16"/>
          <p:cNvSpPr/>
          <p:nvPr/>
        </p:nvSpPr>
        <p:spPr>
          <a:xfrm>
            <a:off x="4663440" y="3639312"/>
            <a:ext cx="2834640" cy="969264"/>
          </a:xfrm>
          <a:prstGeom prst="rect">
            <a:avLst/>
          </a:prstGeom>
          <a:noFill/>
          <a:ln/>
        </p:spPr>
        <p:txBody>
          <a:bodyPr wrap="square" lIns="0" tIns="0" rIns="0" bIns="0" rtlCol="0" anchor="t"/>
          <a:lstStyle/>
          <a:p>
            <a:pPr indent="0" marL="0">
              <a:lnSpc>
                <a:spcPts val="1400"/>
              </a:lnSpc>
              <a:buNone/>
            </a:pPr>
            <a:r>
              <a:rPr lang="en-US" sz="1100" dirty="0">
                <a:solidFill>
                  <a:srgbClr val="445C64"/>
                </a:solidFill>
                <a:latin typeface="Calibri" pitchFamily="34" charset="0"/>
                <a:ea typeface="Calibri" pitchFamily="34" charset="-122"/>
                <a:cs typeface="Calibri" pitchFamily="34" charset="-120"/>
              </a:rPr>
              <a:t>Stateless REST API. Enforces auth, RBAC, validation and the ticket lifecycle.</a:t>
            </a:r>
            <a:endParaRPr lang="en-US" sz="1100" dirty="0"/>
          </a:p>
        </p:txBody>
      </p:sp>
      <p:sp>
        <p:nvSpPr>
          <p:cNvPr id="19" name="Text 17"/>
          <p:cNvSpPr/>
          <p:nvPr/>
        </p:nvSpPr>
        <p:spPr>
          <a:xfrm>
            <a:off x="7790688" y="3017520"/>
            <a:ext cx="438912" cy="365760"/>
          </a:xfrm>
          <a:prstGeom prst="rect">
            <a:avLst/>
          </a:prstGeom>
          <a:noFill/>
          <a:ln/>
        </p:spPr>
        <p:txBody>
          <a:bodyPr wrap="square" lIns="0" tIns="0" rIns="0" bIns="0" rtlCol="0" anchor="ctr"/>
          <a:lstStyle/>
          <a:p>
            <a:pPr algn="ctr" indent="0" marL="0">
              <a:buNone/>
            </a:pPr>
            <a:r>
              <a:rPr lang="en-US" sz="2000" b="1" dirty="0">
                <a:solidFill>
                  <a:srgbClr val="445C64"/>
                </a:solidFill>
                <a:latin typeface="Calibri" pitchFamily="34" charset="0"/>
                <a:ea typeface="Calibri" pitchFamily="34" charset="-122"/>
                <a:cs typeface="Calibri" pitchFamily="34" charset="-120"/>
              </a:rPr>
              <a:t>→</a:t>
            </a:r>
            <a:endParaRPr lang="en-US" sz="2000" dirty="0"/>
          </a:p>
        </p:txBody>
      </p:sp>
      <p:sp>
        <p:nvSpPr>
          <p:cNvPr id="20" name="Text 18"/>
          <p:cNvSpPr/>
          <p:nvPr/>
        </p:nvSpPr>
        <p:spPr>
          <a:xfrm>
            <a:off x="7790688" y="3364992"/>
            <a:ext cx="438912" cy="219456"/>
          </a:xfrm>
          <a:prstGeom prst="rect">
            <a:avLst/>
          </a:prstGeom>
          <a:noFill/>
          <a:ln/>
        </p:spPr>
        <p:txBody>
          <a:bodyPr wrap="square" lIns="0" tIns="0" rIns="0" bIns="0" rtlCol="0" anchor="ctr"/>
          <a:lstStyle/>
          <a:p>
            <a:pPr algn="ctr" indent="0" marL="0">
              <a:buNone/>
            </a:pPr>
            <a:r>
              <a:rPr lang="en-US" sz="800" dirty="0">
                <a:solidFill>
                  <a:srgbClr val="7C939B"/>
                </a:solidFill>
                <a:latin typeface="Calibri" pitchFamily="34" charset="0"/>
                <a:ea typeface="Calibri" pitchFamily="34" charset="-122"/>
                <a:cs typeface="Calibri" pitchFamily="34" charset="-120"/>
              </a:rPr>
              <a:t>TLS</a:t>
            </a:r>
            <a:endParaRPr lang="en-US" sz="800" dirty="0"/>
          </a:p>
        </p:txBody>
      </p:sp>
      <p:sp>
        <p:nvSpPr>
          <p:cNvPr id="21" name="Shape 19"/>
          <p:cNvSpPr/>
          <p:nvPr/>
        </p:nvSpPr>
        <p:spPr>
          <a:xfrm>
            <a:off x="8284464" y="1828800"/>
            <a:ext cx="3310128" cy="2926080"/>
          </a:xfrm>
          <a:prstGeom prst="roundRect">
            <a:avLst>
              <a:gd name="adj" fmla="val 3125"/>
            </a:avLst>
          </a:prstGeom>
          <a:solidFill>
            <a:srgbClr val="FFFFFF"/>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22" name="Shape 20"/>
          <p:cNvSpPr/>
          <p:nvPr/>
        </p:nvSpPr>
        <p:spPr>
          <a:xfrm>
            <a:off x="8284464" y="1828800"/>
            <a:ext cx="3310128" cy="694944"/>
          </a:xfrm>
          <a:prstGeom prst="roundRect">
            <a:avLst>
              <a:gd name="adj" fmla="val 13158"/>
            </a:avLst>
          </a:prstGeom>
          <a:solidFill>
            <a:srgbClr val="0A2E36"/>
          </a:solidFill>
          <a:ln/>
        </p:spPr>
      </p:sp>
      <p:sp>
        <p:nvSpPr>
          <p:cNvPr id="23" name="Text 21"/>
          <p:cNvSpPr/>
          <p:nvPr/>
        </p:nvSpPr>
        <p:spPr>
          <a:xfrm>
            <a:off x="8522208" y="1920240"/>
            <a:ext cx="2834640" cy="27432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Data Tier</a:t>
            </a:r>
            <a:endParaRPr lang="en-US" sz="1450" dirty="0"/>
          </a:p>
        </p:txBody>
      </p:sp>
      <p:sp>
        <p:nvSpPr>
          <p:cNvPr id="24" name="Text 22"/>
          <p:cNvSpPr/>
          <p:nvPr/>
        </p:nvSpPr>
        <p:spPr>
          <a:xfrm>
            <a:off x="8522208" y="2194560"/>
            <a:ext cx="2834640" cy="237744"/>
          </a:xfrm>
          <a:prstGeom prst="rect">
            <a:avLst/>
          </a:prstGeom>
          <a:noFill/>
          <a:ln/>
        </p:spPr>
        <p:txBody>
          <a:bodyPr wrap="square" lIns="0" tIns="0" rIns="0" bIns="0" rtlCol="0" anchor="ctr"/>
          <a:lstStyle/>
          <a:p>
            <a:pPr indent="0" marL="0">
              <a:buNone/>
            </a:pPr>
            <a:r>
              <a:rPr lang="en-US" sz="1050" dirty="0">
                <a:solidFill>
                  <a:srgbClr val="CFE8E6"/>
                </a:solidFill>
                <a:latin typeface="Calibri" pitchFamily="34" charset="0"/>
                <a:ea typeface="Calibri" pitchFamily="34" charset="-122"/>
                <a:cs typeface="Calibri" pitchFamily="34" charset="-120"/>
              </a:rPr>
              <a:t>hosted on Render (Singapore)</a:t>
            </a:r>
            <a:endParaRPr lang="en-US" sz="1050" dirty="0"/>
          </a:p>
        </p:txBody>
      </p:sp>
      <p:sp>
        <p:nvSpPr>
          <p:cNvPr id="25" name="Text 23"/>
          <p:cNvSpPr/>
          <p:nvPr/>
        </p:nvSpPr>
        <p:spPr>
          <a:xfrm>
            <a:off x="8522208" y="2670048"/>
            <a:ext cx="2834640" cy="914400"/>
          </a:xfrm>
          <a:prstGeom prst="rect">
            <a:avLst/>
          </a:prstGeom>
          <a:noFill/>
          <a:ln/>
        </p:spPr>
        <p:txBody>
          <a:bodyPr wrap="square" lIns="0" tIns="0" rIns="0" bIns="0" rtlCol="0" anchor="t"/>
          <a:lstStyle/>
          <a:p>
            <a:pPr indent="0" marL="0">
              <a:lnSpc>
                <a:spcPts val="1500"/>
              </a:lnSpc>
              <a:buNone/>
            </a:pPr>
            <a:r>
              <a:rPr lang="en-US" sz="1150" b="1" dirty="0">
                <a:solidFill>
                  <a:srgbClr val="0A2E36"/>
                </a:solidFill>
                <a:latin typeface="Calibri" pitchFamily="34" charset="0"/>
                <a:ea typeface="Calibri" pitchFamily="34" charset="-122"/>
                <a:cs typeface="Calibri" pitchFamily="34" charset="-120"/>
              </a:rPr>
              <a:t>Managed PostgreSQL 16 + pgvector</a:t>
            </a:r>
            <a:endParaRPr lang="en-US" sz="1150" dirty="0"/>
          </a:p>
          <a:p>
            <a:pPr indent="0" marL="0">
              <a:lnSpc>
                <a:spcPts val="1500"/>
              </a:lnSpc>
              <a:buNone/>
            </a:pPr>
            <a:r>
              <a:rPr lang="en-US" sz="1150" b="1" dirty="0">
                <a:solidFill>
                  <a:srgbClr val="0A2E36"/>
                </a:solidFill>
                <a:latin typeface="Calibri" pitchFamily="34" charset="0"/>
                <a:ea typeface="Calibri" pitchFamily="34" charset="-122"/>
                <a:cs typeface="Calibri" pitchFamily="34" charset="-120"/>
              </a:rPr>
              <a:t>12 tables · enums · constraints</a:t>
            </a:r>
            <a:endParaRPr lang="en-US" sz="1150" dirty="0"/>
          </a:p>
          <a:p>
            <a:pPr indent="0" marL="0">
              <a:lnSpc>
                <a:spcPts val="1500"/>
              </a:lnSpc>
              <a:buNone/>
            </a:pPr>
            <a:r>
              <a:rPr lang="en-US" sz="1150" b="1" dirty="0">
                <a:solidFill>
                  <a:srgbClr val="0A2E36"/>
                </a:solidFill>
                <a:latin typeface="Calibri" pitchFamily="34" charset="0"/>
                <a:ea typeface="Calibri" pitchFamily="34" charset="-122"/>
                <a:cs typeface="Calibri" pitchFamily="34" charset="-120"/>
              </a:rPr>
              <a:t>5 versioned SQL migrations</a:t>
            </a:r>
            <a:endParaRPr lang="en-US" sz="1150" dirty="0"/>
          </a:p>
        </p:txBody>
      </p:sp>
      <p:sp>
        <p:nvSpPr>
          <p:cNvPr id="26" name="Text 24"/>
          <p:cNvSpPr/>
          <p:nvPr/>
        </p:nvSpPr>
        <p:spPr>
          <a:xfrm>
            <a:off x="8522208" y="3639312"/>
            <a:ext cx="2834640" cy="969264"/>
          </a:xfrm>
          <a:prstGeom prst="rect">
            <a:avLst/>
          </a:prstGeom>
          <a:noFill/>
          <a:ln/>
        </p:spPr>
        <p:txBody>
          <a:bodyPr wrap="square" lIns="0" tIns="0" rIns="0" bIns="0" rtlCol="0" anchor="t"/>
          <a:lstStyle/>
          <a:p>
            <a:pPr indent="0" marL="0">
              <a:lnSpc>
                <a:spcPts val="1400"/>
              </a:lnSpc>
              <a:buNone/>
            </a:pPr>
            <a:r>
              <a:rPr lang="en-US" sz="1100" dirty="0">
                <a:solidFill>
                  <a:srgbClr val="445C64"/>
                </a:solidFill>
                <a:latin typeface="Calibri" pitchFamily="34" charset="0"/>
                <a:ea typeface="Calibri" pitchFamily="34" charset="-122"/>
                <a:cs typeface="Calibri" pitchFamily="34" charset="-120"/>
              </a:rPr>
              <a:t>Single source of truth. Invariants enforced as constraints, not just in code.</a:t>
            </a:r>
            <a:endParaRPr lang="en-US" sz="1100" dirty="0"/>
          </a:p>
        </p:txBody>
      </p:sp>
      <p:sp>
        <p:nvSpPr>
          <p:cNvPr id="27" name="Shape 25"/>
          <p:cNvSpPr/>
          <p:nvPr/>
        </p:nvSpPr>
        <p:spPr>
          <a:xfrm>
            <a:off x="566928" y="4956048"/>
            <a:ext cx="3517392" cy="1133856"/>
          </a:xfrm>
          <a:prstGeom prst="roundRect">
            <a:avLst>
              <a:gd name="adj" fmla="val 8065"/>
            </a:avLst>
          </a:prstGeom>
          <a:solidFill>
            <a:srgbClr val="F7FBFB"/>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28" name="Text 26"/>
          <p:cNvSpPr/>
          <p:nvPr/>
        </p:nvSpPr>
        <p:spPr>
          <a:xfrm>
            <a:off x="786384" y="5102352"/>
            <a:ext cx="3078480" cy="256032"/>
          </a:xfrm>
          <a:prstGeom prst="rect">
            <a:avLst/>
          </a:prstGeom>
          <a:noFill/>
          <a:ln/>
        </p:spPr>
        <p:txBody>
          <a:bodyPr wrap="square" lIns="0" tIns="0" rIns="0" bIns="0" rtlCol="0" anchor="ctr"/>
          <a:lstStyle/>
          <a:p>
            <a:pPr indent="0" marL="0">
              <a:buNone/>
            </a:pPr>
            <a:r>
              <a:rPr lang="en-US" sz="1250" b="1" dirty="0">
                <a:solidFill>
                  <a:srgbClr val="028090"/>
                </a:solidFill>
                <a:latin typeface="Calibri" pitchFamily="34" charset="0"/>
                <a:ea typeface="Calibri" pitchFamily="34" charset="-122"/>
                <a:cs typeface="Calibri" pitchFamily="34" charset="-120"/>
              </a:rPr>
              <a:t>Why stateless?</a:t>
            </a:r>
            <a:endParaRPr lang="en-US" sz="1250" dirty="0"/>
          </a:p>
        </p:txBody>
      </p:sp>
      <p:sp>
        <p:nvSpPr>
          <p:cNvPr id="29" name="Text 27"/>
          <p:cNvSpPr/>
          <p:nvPr/>
        </p:nvSpPr>
        <p:spPr>
          <a:xfrm>
            <a:off x="786384" y="5376672"/>
            <a:ext cx="3078480" cy="621792"/>
          </a:xfrm>
          <a:prstGeom prst="rect">
            <a:avLst/>
          </a:prstGeom>
          <a:noFill/>
          <a:ln/>
        </p:spPr>
        <p:txBody>
          <a:bodyPr wrap="square" lIns="0" tIns="0" rIns="0" bIns="0" rtlCol="0" anchor="t"/>
          <a:lstStyle/>
          <a:p>
            <a:pPr indent="0" marL="0">
              <a:lnSpc>
                <a:spcPts val="1300"/>
              </a:lnSpc>
              <a:buNone/>
            </a:pPr>
            <a:r>
              <a:rPr lang="en-US" sz="1100" dirty="0">
                <a:solidFill>
                  <a:srgbClr val="445C64"/>
                </a:solidFill>
                <a:latin typeface="Calibri" pitchFamily="34" charset="0"/>
                <a:ea typeface="Calibri" pitchFamily="34" charset="-122"/>
                <a:cs typeface="Calibri" pitchFamily="34" charset="-120"/>
              </a:rPr>
              <a:t>No session state in the API — that is what lets the platform run N replicas with no sticky sessions.</a:t>
            </a:r>
            <a:endParaRPr lang="en-US" sz="1100" dirty="0"/>
          </a:p>
        </p:txBody>
      </p:sp>
      <p:sp>
        <p:nvSpPr>
          <p:cNvPr id="30" name="Shape 28"/>
          <p:cNvSpPr/>
          <p:nvPr/>
        </p:nvSpPr>
        <p:spPr>
          <a:xfrm>
            <a:off x="4322064" y="4956048"/>
            <a:ext cx="3517392" cy="1133856"/>
          </a:xfrm>
          <a:prstGeom prst="roundRect">
            <a:avLst>
              <a:gd name="adj" fmla="val 8065"/>
            </a:avLst>
          </a:prstGeom>
          <a:solidFill>
            <a:srgbClr val="F7FBFB"/>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31" name="Text 29"/>
          <p:cNvSpPr/>
          <p:nvPr/>
        </p:nvSpPr>
        <p:spPr>
          <a:xfrm>
            <a:off x="4541520" y="5102352"/>
            <a:ext cx="3078480" cy="256032"/>
          </a:xfrm>
          <a:prstGeom prst="rect">
            <a:avLst/>
          </a:prstGeom>
          <a:noFill/>
          <a:ln/>
        </p:spPr>
        <p:txBody>
          <a:bodyPr wrap="square" lIns="0" tIns="0" rIns="0" bIns="0" rtlCol="0" anchor="ctr"/>
          <a:lstStyle/>
          <a:p>
            <a:pPr indent="0" marL="0">
              <a:buNone/>
            </a:pPr>
            <a:r>
              <a:rPr lang="en-US" sz="1250" b="1" dirty="0">
                <a:solidFill>
                  <a:srgbClr val="028090"/>
                </a:solidFill>
                <a:latin typeface="Calibri" pitchFamily="34" charset="0"/>
                <a:ea typeface="Calibri" pitchFamily="34" charset="-122"/>
                <a:cs typeface="Calibri" pitchFamily="34" charset="-120"/>
              </a:rPr>
              <a:t>Why a Blueprint?</a:t>
            </a:r>
            <a:endParaRPr lang="en-US" sz="1250" dirty="0"/>
          </a:p>
        </p:txBody>
      </p:sp>
      <p:sp>
        <p:nvSpPr>
          <p:cNvPr id="32" name="Text 30"/>
          <p:cNvSpPr/>
          <p:nvPr/>
        </p:nvSpPr>
        <p:spPr>
          <a:xfrm>
            <a:off x="4541520" y="5376672"/>
            <a:ext cx="3078480" cy="621792"/>
          </a:xfrm>
          <a:prstGeom prst="rect">
            <a:avLst/>
          </a:prstGeom>
          <a:noFill/>
          <a:ln/>
        </p:spPr>
        <p:txBody>
          <a:bodyPr wrap="square" lIns="0" tIns="0" rIns="0" bIns="0" rtlCol="0" anchor="t"/>
          <a:lstStyle/>
          <a:p>
            <a:pPr indent="0" marL="0">
              <a:lnSpc>
                <a:spcPts val="1300"/>
              </a:lnSpc>
              <a:buNone/>
            </a:pPr>
            <a:r>
              <a:rPr lang="en-US" sz="1100" dirty="0">
                <a:solidFill>
                  <a:srgbClr val="445C64"/>
                </a:solidFill>
                <a:latin typeface="Calibri" pitchFamily="34" charset="0"/>
                <a:ea typeface="Calibri" pitchFamily="34" charset="-122"/>
                <a:cs typeface="Calibri" pitchFamily="34" charset="-120"/>
              </a:rPr>
              <a:t>render.yaml provisions database and API together. A region mismatch on the first deploy was a one-line fix and a re-apply.</a:t>
            </a:r>
            <a:endParaRPr lang="en-US" sz="1100" dirty="0"/>
          </a:p>
        </p:txBody>
      </p:sp>
      <p:sp>
        <p:nvSpPr>
          <p:cNvPr id="33" name="Shape 31"/>
          <p:cNvSpPr/>
          <p:nvPr/>
        </p:nvSpPr>
        <p:spPr>
          <a:xfrm>
            <a:off x="8077200" y="4956048"/>
            <a:ext cx="3517392" cy="1133856"/>
          </a:xfrm>
          <a:prstGeom prst="roundRect">
            <a:avLst>
              <a:gd name="adj" fmla="val 8065"/>
            </a:avLst>
          </a:prstGeom>
          <a:solidFill>
            <a:srgbClr val="F7FBFB"/>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34" name="Text 32"/>
          <p:cNvSpPr/>
          <p:nvPr/>
        </p:nvSpPr>
        <p:spPr>
          <a:xfrm>
            <a:off x="8296656" y="5102352"/>
            <a:ext cx="3078480" cy="256032"/>
          </a:xfrm>
          <a:prstGeom prst="rect">
            <a:avLst/>
          </a:prstGeom>
          <a:noFill/>
          <a:ln/>
        </p:spPr>
        <p:txBody>
          <a:bodyPr wrap="square" lIns="0" tIns="0" rIns="0" bIns="0" rtlCol="0" anchor="ctr"/>
          <a:lstStyle/>
          <a:p>
            <a:pPr indent="0" marL="0">
              <a:buNone/>
            </a:pPr>
            <a:r>
              <a:rPr lang="en-US" sz="1250" b="1" dirty="0">
                <a:solidFill>
                  <a:srgbClr val="028090"/>
                </a:solidFill>
                <a:latin typeface="Calibri" pitchFamily="34" charset="0"/>
                <a:ea typeface="Calibri" pitchFamily="34" charset="-122"/>
                <a:cs typeface="Calibri" pitchFamily="34" charset="-120"/>
              </a:rPr>
              <a:t>Why not microservices?</a:t>
            </a:r>
            <a:endParaRPr lang="en-US" sz="1250" dirty="0"/>
          </a:p>
        </p:txBody>
      </p:sp>
      <p:sp>
        <p:nvSpPr>
          <p:cNvPr id="35" name="Text 33"/>
          <p:cNvSpPr/>
          <p:nvPr/>
        </p:nvSpPr>
        <p:spPr>
          <a:xfrm>
            <a:off x="8296656" y="5376672"/>
            <a:ext cx="3078480" cy="621792"/>
          </a:xfrm>
          <a:prstGeom prst="rect">
            <a:avLst/>
          </a:prstGeom>
          <a:noFill/>
          <a:ln/>
        </p:spPr>
        <p:txBody>
          <a:bodyPr wrap="square" lIns="0" tIns="0" rIns="0" bIns="0" rtlCol="0" anchor="t"/>
          <a:lstStyle/>
          <a:p>
            <a:pPr indent="0" marL="0">
              <a:lnSpc>
                <a:spcPts val="1300"/>
              </a:lnSpc>
              <a:buNone/>
            </a:pPr>
            <a:r>
              <a:rPr lang="en-US" sz="1100" dirty="0">
                <a:solidFill>
                  <a:srgbClr val="445C64"/>
                </a:solidFill>
                <a:latin typeface="Calibri" pitchFamily="34" charset="0"/>
                <a:ea typeface="Calibri" pitchFamily="34" charset="-122"/>
                <a:cs typeface="Calibri" pitchFamily="34" charset="-120"/>
              </a:rPr>
              <a:t>They would add failure modes and deployment coordination and solve no problem we have.</a:t>
            </a:r>
            <a:endParaRPr lang="en-US" sz="1100" dirty="0"/>
          </a:p>
        </p:txBody>
      </p:sp>
      <p:sp>
        <p:nvSpPr>
          <p:cNvPr id="36" name="Text 34"/>
          <p:cNvSpPr/>
          <p:nvPr/>
        </p:nvSpPr>
        <p:spPr>
          <a:xfrm>
            <a:off x="566928" y="6345936"/>
            <a:ext cx="7315200" cy="219456"/>
          </a:xfrm>
          <a:prstGeom prst="rect">
            <a:avLst/>
          </a:prstGeom>
          <a:noFill/>
          <a:ln/>
        </p:spPr>
        <p:txBody>
          <a:bodyPr wrap="square" lIns="0" tIns="0" rIns="0" bIns="0" rtlCol="0" anchor="ctr"/>
          <a:lstStyle/>
          <a:p>
            <a:pPr indent="0" marL="0">
              <a:buNone/>
            </a:pPr>
            <a:r>
              <a:rPr lang="en-US" sz="900" dirty="0">
                <a:solidFill>
                  <a:srgbClr val="7C939B"/>
                </a:solidFill>
                <a:latin typeface="Calibri" pitchFamily="34" charset="0"/>
                <a:ea typeface="Calibri" pitchFamily="34" charset="-122"/>
                <a:cs typeface="Calibri" pitchFamily="34" charset="-120"/>
              </a:rPr>
              <a:t>ServiceDesk AI  ·  BCSE408L Cloud Computing  ·  Review 2 &amp; Final Demonstration</a:t>
            </a:r>
            <a:endParaRPr lang="en-US" sz="900" dirty="0"/>
          </a:p>
        </p:txBody>
      </p:sp>
      <p:sp>
        <p:nvSpPr>
          <p:cNvPr id="37" name="Text 35"/>
          <p:cNvSpPr/>
          <p:nvPr/>
        </p:nvSpPr>
        <p:spPr>
          <a:xfrm>
            <a:off x="10680192" y="6345936"/>
            <a:ext cx="914400" cy="219456"/>
          </a:xfrm>
          <a:prstGeom prst="rect">
            <a:avLst/>
          </a:prstGeom>
          <a:noFill/>
          <a:ln/>
        </p:spPr>
        <p:txBody>
          <a:bodyPr wrap="square" lIns="0" tIns="0" rIns="0" bIns="0" rtlCol="0" anchor="ctr"/>
          <a:lstStyle/>
          <a:p>
            <a:pPr algn="r" indent="0" marL="0">
              <a:buNone/>
            </a:pPr>
            <a:r>
              <a:rPr lang="en-US" sz="900" dirty="0">
                <a:solidFill>
                  <a:srgbClr val="7C939B"/>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27664" cy="237744"/>
          </a:xfrm>
          <a:prstGeom prst="rect">
            <a:avLst/>
          </a:prstGeom>
          <a:noFill/>
          <a:ln/>
        </p:spPr>
        <p:txBody>
          <a:bodyPr wrap="square" lIns="0" tIns="0" rIns="0" bIns="0" rtlCol="0" anchor="ctr"/>
          <a:lstStyle/>
          <a:p>
            <a:pPr indent="0" marL="0">
              <a:buNone/>
            </a:pPr>
            <a:r>
              <a:rPr lang="en-US" sz="1100" b="1" spc="220" kern="0" dirty="0">
                <a:solidFill>
                  <a:srgbClr val="028090"/>
                </a:solidFill>
                <a:latin typeface="Calibri" pitchFamily="34" charset="0"/>
                <a:ea typeface="Calibri" pitchFamily="34" charset="-122"/>
                <a:cs typeface="Calibri" pitchFamily="34" charset="-120"/>
              </a:rPr>
              <a:t>AS BUILT</a:t>
            </a:r>
            <a:endParaRPr lang="en-US" sz="1100" dirty="0"/>
          </a:p>
        </p:txBody>
      </p:sp>
      <p:sp>
        <p:nvSpPr>
          <p:cNvPr id="3" name="Text 1"/>
          <p:cNvSpPr/>
          <p:nvPr/>
        </p:nvSpPr>
        <p:spPr>
          <a:xfrm>
            <a:off x="566928" y="621792"/>
            <a:ext cx="11027664" cy="621792"/>
          </a:xfrm>
          <a:prstGeom prst="rect">
            <a:avLst/>
          </a:prstGeom>
          <a:noFill/>
          <a:ln/>
        </p:spPr>
        <p:txBody>
          <a:bodyPr wrap="square" lIns="0" tIns="0" rIns="0" bIns="0" rtlCol="0" anchor="t"/>
          <a:lstStyle/>
          <a:p>
            <a:pPr indent="0" marL="0">
              <a:buNone/>
            </a:pPr>
            <a:r>
              <a:rPr lang="en-US" sz="3000" b="1" dirty="0">
                <a:solidFill>
                  <a:srgbClr val="0A2E36"/>
                </a:solidFill>
                <a:latin typeface="Cambria" pitchFamily="34" charset="0"/>
                <a:ea typeface="Cambria" pitchFamily="34" charset="-122"/>
                <a:cs typeface="Cambria" pitchFamily="34" charset="-120"/>
              </a:rPr>
              <a:t>Database Design</a:t>
            </a:r>
            <a:endParaRPr lang="en-US" sz="3000" dirty="0"/>
          </a:p>
        </p:txBody>
      </p:sp>
      <p:sp>
        <p:nvSpPr>
          <p:cNvPr id="4" name="Text 2"/>
          <p:cNvSpPr/>
          <p:nvPr/>
        </p:nvSpPr>
        <p:spPr>
          <a:xfrm>
            <a:off x="566928" y="1316736"/>
            <a:ext cx="10424160" cy="402336"/>
          </a:xfrm>
          <a:prstGeom prst="rect">
            <a:avLst/>
          </a:prstGeom>
          <a:noFill/>
          <a:ln/>
        </p:spPr>
        <p:txBody>
          <a:bodyPr wrap="square" lIns="0" tIns="0" rIns="0" bIns="0" rtlCol="0" anchor="t"/>
          <a:lstStyle/>
          <a:p>
            <a:pPr indent="0" marL="0">
              <a:lnSpc>
                <a:spcPts val="1700"/>
              </a:lnSpc>
              <a:buNone/>
            </a:pPr>
            <a:r>
              <a:rPr lang="en-US" sz="1250" dirty="0">
                <a:solidFill>
                  <a:srgbClr val="445C64"/>
                </a:solidFill>
                <a:latin typeface="Calibri" pitchFamily="34" charset="0"/>
                <a:ea typeface="Calibri" pitchFamily="34" charset="-122"/>
                <a:cs typeface="Calibri" pitchFamily="34" charset="-120"/>
              </a:rPr>
              <a:t>Twelve tables on managed PostgreSQL 16 with pgvector, applied by five versioned SQL migrations on every deploy. The ER diagram is derived from the migrations, so it cannot drift from the real schema.</a:t>
            </a:r>
            <a:endParaRPr lang="en-US" sz="1250" dirty="0"/>
          </a:p>
        </p:txBody>
      </p:sp>
      <p:sp>
        <p:nvSpPr>
          <p:cNvPr id="5" name="Shape 3"/>
          <p:cNvSpPr/>
          <p:nvPr/>
        </p:nvSpPr>
        <p:spPr>
          <a:xfrm>
            <a:off x="566928" y="1828800"/>
            <a:ext cx="5376672" cy="566928"/>
          </a:xfrm>
          <a:prstGeom prst="roundRect">
            <a:avLst>
              <a:gd name="adj" fmla="val 16129"/>
            </a:avLst>
          </a:prstGeom>
          <a:solidFill>
            <a:srgbClr val="EEF6F7"/>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6" name="Text 4"/>
          <p:cNvSpPr/>
          <p:nvPr/>
        </p:nvSpPr>
        <p:spPr>
          <a:xfrm>
            <a:off x="786384" y="1901952"/>
            <a:ext cx="4937760" cy="219456"/>
          </a:xfrm>
          <a:prstGeom prst="rect">
            <a:avLst/>
          </a:prstGeom>
          <a:noFill/>
          <a:ln/>
        </p:spPr>
        <p:txBody>
          <a:bodyPr wrap="square" lIns="0" tIns="0" rIns="0" bIns="0" rtlCol="0" anchor="ctr"/>
          <a:lstStyle/>
          <a:p>
            <a:pPr indent="0" marL="0">
              <a:buNone/>
            </a:pPr>
            <a:r>
              <a:rPr lang="en-US" sz="1250" b="1" dirty="0">
                <a:solidFill>
                  <a:srgbClr val="028090"/>
                </a:solidFill>
                <a:latin typeface="Calibri" pitchFamily="34" charset="0"/>
                <a:ea typeface="Calibri" pitchFamily="34" charset="-122"/>
                <a:cs typeface="Calibri" pitchFamily="34" charset="-120"/>
              </a:rPr>
              <a:t>users</a:t>
            </a:r>
            <a:endParaRPr lang="en-US" sz="1250" dirty="0"/>
          </a:p>
        </p:txBody>
      </p:sp>
      <p:sp>
        <p:nvSpPr>
          <p:cNvPr id="7" name="Text 5"/>
          <p:cNvSpPr/>
          <p:nvPr/>
        </p:nvSpPr>
        <p:spPr>
          <a:xfrm>
            <a:off x="786384" y="2112264"/>
            <a:ext cx="4937760" cy="237744"/>
          </a:xfrm>
          <a:prstGeom prst="rect">
            <a:avLst/>
          </a:prstGeom>
          <a:noFill/>
          <a:ln/>
        </p:spPr>
        <p:txBody>
          <a:bodyPr wrap="square" lIns="0" tIns="0" rIns="0" bIns="0" rtlCol="0" anchor="t"/>
          <a:lstStyle/>
          <a:p>
            <a:pPr indent="0" marL="0">
              <a:lnSpc>
                <a:spcPts val="1700"/>
              </a:lnSpc>
              <a:buNone/>
            </a:pPr>
            <a:r>
              <a:rPr lang="en-US" sz="1050" dirty="0">
                <a:solidFill>
                  <a:srgbClr val="445C64"/>
                </a:solidFill>
                <a:latin typeface="Calibri" pitchFamily="34" charset="0"/>
                <a:ea typeface="Calibri" pitchFamily="34" charset="-122"/>
                <a:cs typeface="Calibri" pitchFamily="34" charset="-120"/>
              </a:rPr>
              <a:t>All three roles in one table — role is an attribute, not a different entity</a:t>
            </a:r>
            <a:endParaRPr lang="en-US" sz="1050" dirty="0"/>
          </a:p>
        </p:txBody>
      </p:sp>
      <p:sp>
        <p:nvSpPr>
          <p:cNvPr id="8" name="Shape 6"/>
          <p:cNvSpPr/>
          <p:nvPr/>
        </p:nvSpPr>
        <p:spPr>
          <a:xfrm>
            <a:off x="6217920" y="1828800"/>
            <a:ext cx="5376672" cy="566928"/>
          </a:xfrm>
          <a:prstGeom prst="roundRect">
            <a:avLst>
              <a:gd name="adj" fmla="val 16129"/>
            </a:avLst>
          </a:prstGeom>
          <a:solidFill>
            <a:srgbClr val="F7FBFB"/>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9" name="Text 7"/>
          <p:cNvSpPr/>
          <p:nvPr/>
        </p:nvSpPr>
        <p:spPr>
          <a:xfrm>
            <a:off x="6437376" y="1901952"/>
            <a:ext cx="4937760" cy="219456"/>
          </a:xfrm>
          <a:prstGeom prst="rect">
            <a:avLst/>
          </a:prstGeom>
          <a:noFill/>
          <a:ln/>
        </p:spPr>
        <p:txBody>
          <a:bodyPr wrap="square" lIns="0" tIns="0" rIns="0" bIns="0" rtlCol="0" anchor="ctr"/>
          <a:lstStyle/>
          <a:p>
            <a:pPr indent="0" marL="0">
              <a:buNone/>
            </a:pPr>
            <a:r>
              <a:rPr lang="en-US" sz="1250" b="1" dirty="0">
                <a:solidFill>
                  <a:srgbClr val="028090"/>
                </a:solidFill>
                <a:latin typeface="Calibri" pitchFamily="34" charset="0"/>
                <a:ea typeface="Calibri" pitchFamily="34" charset="-122"/>
                <a:cs typeface="Calibri" pitchFamily="34" charset="-120"/>
              </a:rPr>
              <a:t>categories</a:t>
            </a:r>
            <a:endParaRPr lang="en-US" sz="1250" dirty="0"/>
          </a:p>
        </p:txBody>
      </p:sp>
      <p:sp>
        <p:nvSpPr>
          <p:cNvPr id="10" name="Text 8"/>
          <p:cNvSpPr/>
          <p:nvPr/>
        </p:nvSpPr>
        <p:spPr>
          <a:xfrm>
            <a:off x="6437376" y="2112264"/>
            <a:ext cx="4937760" cy="237744"/>
          </a:xfrm>
          <a:prstGeom prst="rect">
            <a:avLst/>
          </a:prstGeom>
          <a:noFill/>
          <a:ln/>
        </p:spPr>
        <p:txBody>
          <a:bodyPr wrap="square" lIns="0" tIns="0" rIns="0" bIns="0" rtlCol="0" anchor="t"/>
          <a:lstStyle/>
          <a:p>
            <a:pPr indent="0" marL="0">
              <a:lnSpc>
                <a:spcPts val="1700"/>
              </a:lnSpc>
              <a:buNone/>
            </a:pPr>
            <a:r>
              <a:rPr lang="en-US" sz="1050" dirty="0">
                <a:solidFill>
                  <a:srgbClr val="445C64"/>
                </a:solidFill>
                <a:latin typeface="Calibri" pitchFamily="34" charset="0"/>
                <a:ea typeface="Calibri" pitchFamily="34" charset="-122"/>
                <a:cs typeface="Calibri" pitchFamily="34" charset="-120"/>
              </a:rPr>
              <a:t>Admin-managed; also the closed vocabulary the classifier may propose from</a:t>
            </a:r>
            <a:endParaRPr lang="en-US" sz="1050" dirty="0"/>
          </a:p>
        </p:txBody>
      </p:sp>
      <p:sp>
        <p:nvSpPr>
          <p:cNvPr id="11" name="Shape 9"/>
          <p:cNvSpPr/>
          <p:nvPr/>
        </p:nvSpPr>
        <p:spPr>
          <a:xfrm>
            <a:off x="566928" y="2487168"/>
            <a:ext cx="5376672" cy="566928"/>
          </a:xfrm>
          <a:prstGeom prst="roundRect">
            <a:avLst>
              <a:gd name="adj" fmla="val 16129"/>
            </a:avLst>
          </a:prstGeom>
          <a:solidFill>
            <a:srgbClr val="EEF6F7"/>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12" name="Text 10"/>
          <p:cNvSpPr/>
          <p:nvPr/>
        </p:nvSpPr>
        <p:spPr>
          <a:xfrm>
            <a:off x="786384" y="2560320"/>
            <a:ext cx="4937760" cy="219456"/>
          </a:xfrm>
          <a:prstGeom prst="rect">
            <a:avLst/>
          </a:prstGeom>
          <a:noFill/>
          <a:ln/>
        </p:spPr>
        <p:txBody>
          <a:bodyPr wrap="square" lIns="0" tIns="0" rIns="0" bIns="0" rtlCol="0" anchor="ctr"/>
          <a:lstStyle/>
          <a:p>
            <a:pPr indent="0" marL="0">
              <a:buNone/>
            </a:pPr>
            <a:r>
              <a:rPr lang="en-US" sz="1250" b="1" dirty="0">
                <a:solidFill>
                  <a:srgbClr val="028090"/>
                </a:solidFill>
                <a:latin typeface="Calibri" pitchFamily="34" charset="0"/>
                <a:ea typeface="Calibri" pitchFamily="34" charset="-122"/>
                <a:cs typeface="Calibri" pitchFamily="34" charset="-120"/>
              </a:rPr>
              <a:t>tickets</a:t>
            </a:r>
            <a:endParaRPr lang="en-US" sz="1250" dirty="0"/>
          </a:p>
        </p:txBody>
      </p:sp>
      <p:sp>
        <p:nvSpPr>
          <p:cNvPr id="13" name="Text 11"/>
          <p:cNvSpPr/>
          <p:nvPr/>
        </p:nvSpPr>
        <p:spPr>
          <a:xfrm>
            <a:off x="786384" y="2770632"/>
            <a:ext cx="4937760" cy="237744"/>
          </a:xfrm>
          <a:prstGeom prst="rect">
            <a:avLst/>
          </a:prstGeom>
          <a:noFill/>
          <a:ln/>
        </p:spPr>
        <p:txBody>
          <a:bodyPr wrap="square" lIns="0" tIns="0" rIns="0" bIns="0" rtlCol="0" anchor="t"/>
          <a:lstStyle/>
          <a:p>
            <a:pPr indent="0" marL="0">
              <a:lnSpc>
                <a:spcPts val="1700"/>
              </a:lnSpc>
              <a:buNone/>
            </a:pPr>
            <a:r>
              <a:rPr lang="en-US" sz="1050" dirty="0">
                <a:solidFill>
                  <a:srgbClr val="445C64"/>
                </a:solidFill>
                <a:latin typeface="Calibri" pitchFamily="34" charset="0"/>
                <a:ea typeface="Calibri" pitchFamily="34" charset="-122"/>
                <a:cs typeface="Calibri" pitchFamily="34" charset="-120"/>
              </a:rPr>
              <a:t>The core entity. Two foreign keys to users: customer and assigned agent</a:t>
            </a:r>
            <a:endParaRPr lang="en-US" sz="1050" dirty="0"/>
          </a:p>
        </p:txBody>
      </p:sp>
      <p:sp>
        <p:nvSpPr>
          <p:cNvPr id="14" name="Shape 12"/>
          <p:cNvSpPr/>
          <p:nvPr/>
        </p:nvSpPr>
        <p:spPr>
          <a:xfrm>
            <a:off x="6217920" y="2487168"/>
            <a:ext cx="5376672" cy="566928"/>
          </a:xfrm>
          <a:prstGeom prst="roundRect">
            <a:avLst>
              <a:gd name="adj" fmla="val 16129"/>
            </a:avLst>
          </a:prstGeom>
          <a:solidFill>
            <a:srgbClr val="F7FBFB"/>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15" name="Text 13"/>
          <p:cNvSpPr/>
          <p:nvPr/>
        </p:nvSpPr>
        <p:spPr>
          <a:xfrm>
            <a:off x="6437376" y="2560320"/>
            <a:ext cx="4937760" cy="219456"/>
          </a:xfrm>
          <a:prstGeom prst="rect">
            <a:avLst/>
          </a:prstGeom>
          <a:noFill/>
          <a:ln/>
        </p:spPr>
        <p:txBody>
          <a:bodyPr wrap="square" lIns="0" tIns="0" rIns="0" bIns="0" rtlCol="0" anchor="ctr"/>
          <a:lstStyle/>
          <a:p>
            <a:pPr indent="0" marL="0">
              <a:buNone/>
            </a:pPr>
            <a:r>
              <a:rPr lang="en-US" sz="1250" b="1" dirty="0">
                <a:solidFill>
                  <a:srgbClr val="028090"/>
                </a:solidFill>
                <a:latin typeface="Calibri" pitchFamily="34" charset="0"/>
                <a:ea typeface="Calibri" pitchFamily="34" charset="-122"/>
                <a:cs typeface="Calibri" pitchFamily="34" charset="-120"/>
              </a:rPr>
              <a:t>ticket_messages</a:t>
            </a:r>
            <a:endParaRPr lang="en-US" sz="1250" dirty="0"/>
          </a:p>
        </p:txBody>
      </p:sp>
      <p:sp>
        <p:nvSpPr>
          <p:cNvPr id="16" name="Text 14"/>
          <p:cNvSpPr/>
          <p:nvPr/>
        </p:nvSpPr>
        <p:spPr>
          <a:xfrm>
            <a:off x="6437376" y="2770632"/>
            <a:ext cx="4937760" cy="237744"/>
          </a:xfrm>
          <a:prstGeom prst="rect">
            <a:avLst/>
          </a:prstGeom>
          <a:noFill/>
          <a:ln/>
        </p:spPr>
        <p:txBody>
          <a:bodyPr wrap="square" lIns="0" tIns="0" rIns="0" bIns="0" rtlCol="0" anchor="t"/>
          <a:lstStyle/>
          <a:p>
            <a:pPr indent="0" marL="0">
              <a:lnSpc>
                <a:spcPts val="1700"/>
              </a:lnSpc>
              <a:buNone/>
            </a:pPr>
            <a:r>
              <a:rPr lang="en-US" sz="1050" dirty="0">
                <a:solidFill>
                  <a:srgbClr val="445C64"/>
                </a:solidFill>
                <a:latin typeface="Calibri" pitchFamily="34" charset="0"/>
                <a:ea typeface="Calibri" pitchFamily="34" charset="-122"/>
                <a:cs typeface="Calibri" pitchFamily="34" charset="-120"/>
              </a:rPr>
              <a:t>The thread. Internal notes filtered in SQL, never in the client</a:t>
            </a:r>
            <a:endParaRPr lang="en-US" sz="1050" dirty="0"/>
          </a:p>
        </p:txBody>
      </p:sp>
      <p:sp>
        <p:nvSpPr>
          <p:cNvPr id="17" name="Shape 15"/>
          <p:cNvSpPr/>
          <p:nvPr/>
        </p:nvSpPr>
        <p:spPr>
          <a:xfrm>
            <a:off x="566928" y="3145536"/>
            <a:ext cx="5376672" cy="566928"/>
          </a:xfrm>
          <a:prstGeom prst="roundRect">
            <a:avLst>
              <a:gd name="adj" fmla="val 16129"/>
            </a:avLst>
          </a:prstGeom>
          <a:solidFill>
            <a:srgbClr val="EEF6F7"/>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18" name="Text 16"/>
          <p:cNvSpPr/>
          <p:nvPr/>
        </p:nvSpPr>
        <p:spPr>
          <a:xfrm>
            <a:off x="786384" y="3218688"/>
            <a:ext cx="4937760" cy="219456"/>
          </a:xfrm>
          <a:prstGeom prst="rect">
            <a:avLst/>
          </a:prstGeom>
          <a:noFill/>
          <a:ln/>
        </p:spPr>
        <p:txBody>
          <a:bodyPr wrap="square" lIns="0" tIns="0" rIns="0" bIns="0" rtlCol="0" anchor="ctr"/>
          <a:lstStyle/>
          <a:p>
            <a:pPr indent="0" marL="0">
              <a:buNone/>
            </a:pPr>
            <a:r>
              <a:rPr lang="en-US" sz="1250" b="1" dirty="0">
                <a:solidFill>
                  <a:srgbClr val="028090"/>
                </a:solidFill>
                <a:latin typeface="Calibri" pitchFamily="34" charset="0"/>
                <a:ea typeface="Calibri" pitchFamily="34" charset="-122"/>
                <a:cs typeface="Calibri" pitchFamily="34" charset="-120"/>
              </a:rPr>
              <a:t>ticket_events</a:t>
            </a:r>
            <a:endParaRPr lang="en-US" sz="1250" dirty="0"/>
          </a:p>
        </p:txBody>
      </p:sp>
      <p:sp>
        <p:nvSpPr>
          <p:cNvPr id="19" name="Text 17"/>
          <p:cNvSpPr/>
          <p:nvPr/>
        </p:nvSpPr>
        <p:spPr>
          <a:xfrm>
            <a:off x="786384" y="3429000"/>
            <a:ext cx="4937760" cy="237744"/>
          </a:xfrm>
          <a:prstGeom prst="rect">
            <a:avLst/>
          </a:prstGeom>
          <a:noFill/>
          <a:ln/>
        </p:spPr>
        <p:txBody>
          <a:bodyPr wrap="square" lIns="0" tIns="0" rIns="0" bIns="0" rtlCol="0" anchor="t"/>
          <a:lstStyle/>
          <a:p>
            <a:pPr indent="0" marL="0">
              <a:lnSpc>
                <a:spcPts val="1700"/>
              </a:lnSpc>
              <a:buNone/>
            </a:pPr>
            <a:r>
              <a:rPr lang="en-US" sz="1050" dirty="0">
                <a:solidFill>
                  <a:srgbClr val="445C64"/>
                </a:solidFill>
                <a:latin typeface="Calibri" pitchFamily="34" charset="0"/>
                <a:ea typeface="Calibri" pitchFamily="34" charset="-122"/>
                <a:cs typeface="Calibri" pitchFamily="34" charset="-120"/>
              </a:rPr>
              <a:t>Append-only timeline: who changed what, from which value, when</a:t>
            </a:r>
            <a:endParaRPr lang="en-US" sz="1050" dirty="0"/>
          </a:p>
        </p:txBody>
      </p:sp>
      <p:sp>
        <p:nvSpPr>
          <p:cNvPr id="20" name="Shape 18"/>
          <p:cNvSpPr/>
          <p:nvPr/>
        </p:nvSpPr>
        <p:spPr>
          <a:xfrm>
            <a:off x="6217920" y="3145536"/>
            <a:ext cx="5376672" cy="566928"/>
          </a:xfrm>
          <a:prstGeom prst="roundRect">
            <a:avLst>
              <a:gd name="adj" fmla="val 16129"/>
            </a:avLst>
          </a:prstGeom>
          <a:solidFill>
            <a:srgbClr val="F7FBFB"/>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21" name="Text 19"/>
          <p:cNvSpPr/>
          <p:nvPr/>
        </p:nvSpPr>
        <p:spPr>
          <a:xfrm>
            <a:off x="6437376" y="3218688"/>
            <a:ext cx="4937760" cy="219456"/>
          </a:xfrm>
          <a:prstGeom prst="rect">
            <a:avLst/>
          </a:prstGeom>
          <a:noFill/>
          <a:ln/>
        </p:spPr>
        <p:txBody>
          <a:bodyPr wrap="square" lIns="0" tIns="0" rIns="0" bIns="0" rtlCol="0" anchor="ctr"/>
          <a:lstStyle/>
          <a:p>
            <a:pPr indent="0" marL="0">
              <a:buNone/>
            </a:pPr>
            <a:r>
              <a:rPr lang="en-US" sz="1250" b="1" dirty="0">
                <a:solidFill>
                  <a:srgbClr val="028090"/>
                </a:solidFill>
                <a:latin typeface="Calibri" pitchFamily="34" charset="0"/>
                <a:ea typeface="Calibri" pitchFamily="34" charset="-122"/>
                <a:cs typeface="Calibri" pitchFamily="34" charset="-120"/>
              </a:rPr>
              <a:t>ai_suggestions</a:t>
            </a:r>
            <a:endParaRPr lang="en-US" sz="1250" dirty="0"/>
          </a:p>
        </p:txBody>
      </p:sp>
      <p:sp>
        <p:nvSpPr>
          <p:cNvPr id="22" name="Text 20"/>
          <p:cNvSpPr/>
          <p:nvPr/>
        </p:nvSpPr>
        <p:spPr>
          <a:xfrm>
            <a:off x="6437376" y="3429000"/>
            <a:ext cx="4937760" cy="237744"/>
          </a:xfrm>
          <a:prstGeom prst="rect">
            <a:avLst/>
          </a:prstGeom>
          <a:noFill/>
          <a:ln/>
        </p:spPr>
        <p:txBody>
          <a:bodyPr wrap="square" lIns="0" tIns="0" rIns="0" bIns="0" rtlCol="0" anchor="t"/>
          <a:lstStyle/>
          <a:p>
            <a:pPr indent="0" marL="0">
              <a:lnSpc>
                <a:spcPts val="1700"/>
              </a:lnSpc>
              <a:buNone/>
            </a:pPr>
            <a:r>
              <a:rPr lang="en-US" sz="1050" dirty="0">
                <a:solidFill>
                  <a:srgbClr val="445C64"/>
                </a:solidFill>
                <a:latin typeface="Calibri" pitchFamily="34" charset="0"/>
                <a:ea typeface="Calibri" pitchFamily="34" charset="-122"/>
                <a:cs typeface="Calibri" pitchFamily="34" charset="-120"/>
              </a:rPr>
              <a:t>Every AI output, with a flag recording whether the fallback produced it</a:t>
            </a:r>
            <a:endParaRPr lang="en-US" sz="1050" dirty="0"/>
          </a:p>
        </p:txBody>
      </p:sp>
      <p:sp>
        <p:nvSpPr>
          <p:cNvPr id="23" name="Shape 21"/>
          <p:cNvSpPr/>
          <p:nvPr/>
        </p:nvSpPr>
        <p:spPr>
          <a:xfrm>
            <a:off x="566928" y="3803904"/>
            <a:ext cx="5376672" cy="566928"/>
          </a:xfrm>
          <a:prstGeom prst="roundRect">
            <a:avLst>
              <a:gd name="adj" fmla="val 16129"/>
            </a:avLst>
          </a:prstGeom>
          <a:solidFill>
            <a:srgbClr val="EEF6F7"/>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24" name="Text 22"/>
          <p:cNvSpPr/>
          <p:nvPr/>
        </p:nvSpPr>
        <p:spPr>
          <a:xfrm>
            <a:off x="786384" y="3877056"/>
            <a:ext cx="4937760" cy="219456"/>
          </a:xfrm>
          <a:prstGeom prst="rect">
            <a:avLst/>
          </a:prstGeom>
          <a:noFill/>
          <a:ln/>
        </p:spPr>
        <p:txBody>
          <a:bodyPr wrap="square" lIns="0" tIns="0" rIns="0" bIns="0" rtlCol="0" anchor="ctr"/>
          <a:lstStyle/>
          <a:p>
            <a:pPr indent="0" marL="0">
              <a:buNone/>
            </a:pPr>
            <a:r>
              <a:rPr lang="en-US" sz="1250" b="1" dirty="0">
                <a:solidFill>
                  <a:srgbClr val="028090"/>
                </a:solidFill>
                <a:latin typeface="Calibri" pitchFamily="34" charset="0"/>
                <a:ea typeface="Calibri" pitchFamily="34" charset="-122"/>
                <a:cs typeface="Calibri" pitchFamily="34" charset="-120"/>
              </a:rPr>
              <a:t>notifications</a:t>
            </a:r>
            <a:endParaRPr lang="en-US" sz="1250" dirty="0"/>
          </a:p>
        </p:txBody>
      </p:sp>
      <p:sp>
        <p:nvSpPr>
          <p:cNvPr id="25" name="Text 23"/>
          <p:cNvSpPr/>
          <p:nvPr/>
        </p:nvSpPr>
        <p:spPr>
          <a:xfrm>
            <a:off x="786384" y="4087368"/>
            <a:ext cx="4937760" cy="237744"/>
          </a:xfrm>
          <a:prstGeom prst="rect">
            <a:avLst/>
          </a:prstGeom>
          <a:noFill/>
          <a:ln/>
        </p:spPr>
        <p:txBody>
          <a:bodyPr wrap="square" lIns="0" tIns="0" rIns="0" bIns="0" rtlCol="0" anchor="t"/>
          <a:lstStyle/>
          <a:p>
            <a:pPr indent="0" marL="0">
              <a:lnSpc>
                <a:spcPts val="1700"/>
              </a:lnSpc>
              <a:buNone/>
            </a:pPr>
            <a:r>
              <a:rPr lang="en-US" sz="1050" dirty="0">
                <a:solidFill>
                  <a:srgbClr val="445C64"/>
                </a:solidFill>
                <a:latin typeface="Calibri" pitchFamily="34" charset="0"/>
                <a:ea typeface="Calibri" pitchFamily="34" charset="-122"/>
                <a:cs typeface="Calibri" pitchFamily="34" charset="-120"/>
              </a:rPr>
              <a:t>Per-user, cascade on delete  ·  whatsapp_messages — channel log, UNIQUE provider id makes webhooks idempotent</a:t>
            </a:r>
            <a:endParaRPr lang="en-US" sz="1050" dirty="0"/>
          </a:p>
        </p:txBody>
      </p:sp>
      <p:sp>
        <p:nvSpPr>
          <p:cNvPr id="26" name="Shape 24"/>
          <p:cNvSpPr/>
          <p:nvPr/>
        </p:nvSpPr>
        <p:spPr>
          <a:xfrm>
            <a:off x="6217920" y="3803904"/>
            <a:ext cx="5376672" cy="566928"/>
          </a:xfrm>
          <a:prstGeom prst="roundRect">
            <a:avLst>
              <a:gd name="adj" fmla="val 16129"/>
            </a:avLst>
          </a:prstGeom>
          <a:solidFill>
            <a:srgbClr val="F7FBFB"/>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27" name="Text 25"/>
          <p:cNvSpPr/>
          <p:nvPr/>
        </p:nvSpPr>
        <p:spPr>
          <a:xfrm>
            <a:off x="6437376" y="3877056"/>
            <a:ext cx="4937760" cy="219456"/>
          </a:xfrm>
          <a:prstGeom prst="rect">
            <a:avLst/>
          </a:prstGeom>
          <a:noFill/>
          <a:ln/>
        </p:spPr>
        <p:txBody>
          <a:bodyPr wrap="square" lIns="0" tIns="0" rIns="0" bIns="0" rtlCol="0" anchor="ctr"/>
          <a:lstStyle/>
          <a:p>
            <a:pPr indent="0" marL="0">
              <a:buNone/>
            </a:pPr>
            <a:r>
              <a:rPr lang="en-US" sz="1250" b="1" dirty="0">
                <a:solidFill>
                  <a:srgbClr val="028090"/>
                </a:solidFill>
                <a:latin typeface="Calibri" pitchFamily="34" charset="0"/>
                <a:ea typeface="Calibri" pitchFamily="34" charset="-122"/>
                <a:cs typeface="Calibri" pitchFamily="34" charset="-120"/>
              </a:rPr>
              <a:t>audit_logs</a:t>
            </a:r>
            <a:endParaRPr lang="en-US" sz="1250" dirty="0"/>
          </a:p>
        </p:txBody>
      </p:sp>
      <p:sp>
        <p:nvSpPr>
          <p:cNvPr id="28" name="Text 26"/>
          <p:cNvSpPr/>
          <p:nvPr/>
        </p:nvSpPr>
        <p:spPr>
          <a:xfrm>
            <a:off x="6437376" y="4087368"/>
            <a:ext cx="4937760" cy="237744"/>
          </a:xfrm>
          <a:prstGeom prst="rect">
            <a:avLst/>
          </a:prstGeom>
          <a:noFill/>
          <a:ln/>
        </p:spPr>
        <p:txBody>
          <a:bodyPr wrap="square" lIns="0" tIns="0" rIns="0" bIns="0" rtlCol="0" anchor="t"/>
          <a:lstStyle/>
          <a:p>
            <a:pPr indent="0" marL="0">
              <a:lnSpc>
                <a:spcPts val="1700"/>
              </a:lnSpc>
              <a:buNone/>
            </a:pPr>
            <a:r>
              <a:rPr lang="en-US" sz="1050" dirty="0">
                <a:solidFill>
                  <a:srgbClr val="445C64"/>
                </a:solidFill>
                <a:latin typeface="Calibri" pitchFamily="34" charset="0"/>
                <a:ea typeface="Calibri" pitchFamily="34" charset="-122"/>
                <a:cs typeface="Calibri" pitchFamily="34" charset="-120"/>
              </a:rPr>
              <a:t>Actor set to NULL on delete  ·  kb_articles / kb_chunks / kb_retrievals — knowledge base with 384-dim vectors</a:t>
            </a:r>
            <a:endParaRPr lang="en-US" sz="1050" dirty="0"/>
          </a:p>
        </p:txBody>
      </p:sp>
      <p:sp>
        <p:nvSpPr>
          <p:cNvPr id="29" name="Shape 27"/>
          <p:cNvSpPr/>
          <p:nvPr/>
        </p:nvSpPr>
        <p:spPr>
          <a:xfrm>
            <a:off x="566928" y="4590288"/>
            <a:ext cx="3517392" cy="1298448"/>
          </a:xfrm>
          <a:prstGeom prst="roundRect">
            <a:avLst>
              <a:gd name="adj" fmla="val 7042"/>
            </a:avLst>
          </a:prstGeom>
          <a:solidFill>
            <a:srgbClr val="FFFFFF"/>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30" name="Text 28"/>
          <p:cNvSpPr/>
          <p:nvPr/>
        </p:nvSpPr>
        <p:spPr>
          <a:xfrm>
            <a:off x="786384" y="4736592"/>
            <a:ext cx="3078480" cy="256032"/>
          </a:xfrm>
          <a:prstGeom prst="rect">
            <a:avLst/>
          </a:prstGeom>
          <a:noFill/>
          <a:ln/>
        </p:spPr>
        <p:txBody>
          <a:bodyPr wrap="square" lIns="0" tIns="0" rIns="0" bIns="0" rtlCol="0" anchor="ctr"/>
          <a:lstStyle/>
          <a:p>
            <a:pPr indent="0" marL="0">
              <a:buNone/>
            </a:pPr>
            <a:r>
              <a:rPr lang="en-US" sz="1250" b="1" dirty="0">
                <a:solidFill>
                  <a:srgbClr val="0A2E36"/>
                </a:solidFill>
                <a:latin typeface="Cambria" pitchFamily="34" charset="0"/>
                <a:ea typeface="Cambria" pitchFamily="34" charset="-122"/>
                <a:cs typeface="Cambria" pitchFamily="34" charset="-120"/>
              </a:rPr>
              <a:t>Enums, not lookup tables</a:t>
            </a:r>
            <a:endParaRPr lang="en-US" sz="1250" dirty="0"/>
          </a:p>
        </p:txBody>
      </p:sp>
      <p:sp>
        <p:nvSpPr>
          <p:cNvPr id="31" name="Text 29"/>
          <p:cNvSpPr/>
          <p:nvPr/>
        </p:nvSpPr>
        <p:spPr>
          <a:xfrm>
            <a:off x="786384" y="5010912"/>
            <a:ext cx="3078480" cy="768096"/>
          </a:xfrm>
          <a:prstGeom prst="rect">
            <a:avLst/>
          </a:prstGeom>
          <a:noFill/>
          <a:ln/>
        </p:spPr>
        <p:txBody>
          <a:bodyPr wrap="square" lIns="0" tIns="0" rIns="0" bIns="0" rtlCol="0" anchor="t"/>
          <a:lstStyle/>
          <a:p>
            <a:pPr indent="0" marL="0">
              <a:lnSpc>
                <a:spcPts val="1300"/>
              </a:lnSpc>
              <a:buNone/>
            </a:pPr>
            <a:r>
              <a:rPr lang="en-US" sz="1100" dirty="0">
                <a:solidFill>
                  <a:srgbClr val="445C64"/>
                </a:solidFill>
                <a:latin typeface="Calibri" pitchFamily="34" charset="0"/>
                <a:ea typeface="Calibri" pitchFamily="34" charset="-122"/>
                <a:cs typeface="Calibri" pitchFamily="34" charset="-120"/>
              </a:rPr>
              <a:t>Values are fixed by the spec. Declaration order also gives free correct sorting: URGENT above LOW.</a:t>
            </a:r>
            <a:endParaRPr lang="en-US" sz="1100" dirty="0"/>
          </a:p>
        </p:txBody>
      </p:sp>
      <p:sp>
        <p:nvSpPr>
          <p:cNvPr id="32" name="Shape 30"/>
          <p:cNvSpPr/>
          <p:nvPr/>
        </p:nvSpPr>
        <p:spPr>
          <a:xfrm>
            <a:off x="4322064" y="4590288"/>
            <a:ext cx="3517392" cy="1298448"/>
          </a:xfrm>
          <a:prstGeom prst="roundRect">
            <a:avLst>
              <a:gd name="adj" fmla="val 7042"/>
            </a:avLst>
          </a:prstGeom>
          <a:solidFill>
            <a:srgbClr val="FFFFFF"/>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33" name="Text 31"/>
          <p:cNvSpPr/>
          <p:nvPr/>
        </p:nvSpPr>
        <p:spPr>
          <a:xfrm>
            <a:off x="4541520" y="4736592"/>
            <a:ext cx="3078480" cy="256032"/>
          </a:xfrm>
          <a:prstGeom prst="rect">
            <a:avLst/>
          </a:prstGeom>
          <a:noFill/>
          <a:ln/>
        </p:spPr>
        <p:txBody>
          <a:bodyPr wrap="square" lIns="0" tIns="0" rIns="0" bIns="0" rtlCol="0" anchor="ctr"/>
          <a:lstStyle/>
          <a:p>
            <a:pPr indent="0" marL="0">
              <a:buNone/>
            </a:pPr>
            <a:r>
              <a:rPr lang="en-US" sz="1250" b="1" dirty="0">
                <a:solidFill>
                  <a:srgbClr val="0A2E36"/>
                </a:solidFill>
                <a:latin typeface="Cambria" pitchFamily="34" charset="0"/>
                <a:ea typeface="Cambria" pitchFamily="34" charset="-122"/>
                <a:cs typeface="Cambria" pitchFamily="34" charset="-120"/>
              </a:rPr>
              <a:t>Delete rules carry meaning</a:t>
            </a:r>
            <a:endParaRPr lang="en-US" sz="1250" dirty="0"/>
          </a:p>
        </p:txBody>
      </p:sp>
      <p:sp>
        <p:nvSpPr>
          <p:cNvPr id="34" name="Text 32"/>
          <p:cNvSpPr/>
          <p:nvPr/>
        </p:nvSpPr>
        <p:spPr>
          <a:xfrm>
            <a:off x="4541520" y="5010912"/>
            <a:ext cx="3078480" cy="768096"/>
          </a:xfrm>
          <a:prstGeom prst="rect">
            <a:avLst/>
          </a:prstGeom>
          <a:noFill/>
          <a:ln/>
        </p:spPr>
        <p:txBody>
          <a:bodyPr wrap="square" lIns="0" tIns="0" rIns="0" bIns="0" rtlCol="0" anchor="t"/>
          <a:lstStyle/>
          <a:p>
            <a:pPr indent="0" marL="0">
              <a:lnSpc>
                <a:spcPts val="1300"/>
              </a:lnSpc>
              <a:buNone/>
            </a:pPr>
            <a:r>
              <a:rPr lang="en-US" sz="1100" dirty="0">
                <a:solidFill>
                  <a:srgbClr val="445C64"/>
                </a:solidFill>
                <a:latin typeface="Calibri" pitchFamily="34" charset="0"/>
                <a:ea typeface="Calibri" pitchFamily="34" charset="-122"/>
                <a:cs typeface="Calibri" pitchFamily="34" charset="-120"/>
              </a:rPr>
              <a:t>Customer is RESTRICT — deleting would destroy history. Agent is SET NULL — tickets return to the queue.</a:t>
            </a:r>
            <a:endParaRPr lang="en-US" sz="1100" dirty="0"/>
          </a:p>
        </p:txBody>
      </p:sp>
      <p:sp>
        <p:nvSpPr>
          <p:cNvPr id="35" name="Shape 33"/>
          <p:cNvSpPr/>
          <p:nvPr/>
        </p:nvSpPr>
        <p:spPr>
          <a:xfrm>
            <a:off x="8077200" y="4590288"/>
            <a:ext cx="3517392" cy="1298448"/>
          </a:xfrm>
          <a:prstGeom prst="roundRect">
            <a:avLst>
              <a:gd name="adj" fmla="val 7042"/>
            </a:avLst>
          </a:prstGeom>
          <a:solidFill>
            <a:srgbClr val="FFFFFF"/>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36" name="Text 34"/>
          <p:cNvSpPr/>
          <p:nvPr/>
        </p:nvSpPr>
        <p:spPr>
          <a:xfrm>
            <a:off x="8296656" y="4736592"/>
            <a:ext cx="3078480" cy="256032"/>
          </a:xfrm>
          <a:prstGeom prst="rect">
            <a:avLst/>
          </a:prstGeom>
          <a:noFill/>
          <a:ln/>
        </p:spPr>
        <p:txBody>
          <a:bodyPr wrap="square" lIns="0" tIns="0" rIns="0" bIns="0" rtlCol="0" anchor="ctr"/>
          <a:lstStyle/>
          <a:p>
            <a:pPr indent="0" marL="0">
              <a:buNone/>
            </a:pPr>
            <a:r>
              <a:rPr lang="en-US" sz="1250" b="1" dirty="0">
                <a:solidFill>
                  <a:srgbClr val="0A2E36"/>
                </a:solidFill>
                <a:latin typeface="Cambria" pitchFamily="34" charset="0"/>
                <a:ea typeface="Cambria" pitchFamily="34" charset="-122"/>
                <a:cs typeface="Cambria" pitchFamily="34" charset="-120"/>
              </a:rPr>
              <a:t>Constraints, not just code</a:t>
            </a:r>
            <a:endParaRPr lang="en-US" sz="1250" dirty="0"/>
          </a:p>
        </p:txBody>
      </p:sp>
      <p:sp>
        <p:nvSpPr>
          <p:cNvPr id="37" name="Text 35"/>
          <p:cNvSpPr/>
          <p:nvPr/>
        </p:nvSpPr>
        <p:spPr>
          <a:xfrm>
            <a:off x="8296656" y="5010912"/>
            <a:ext cx="3078480" cy="768096"/>
          </a:xfrm>
          <a:prstGeom prst="rect">
            <a:avLst/>
          </a:prstGeom>
          <a:noFill/>
          <a:ln/>
        </p:spPr>
        <p:txBody>
          <a:bodyPr wrap="square" lIns="0" tIns="0" rIns="0" bIns="0" rtlCol="0" anchor="t"/>
          <a:lstStyle/>
          <a:p>
            <a:pPr indent="0" marL="0">
              <a:lnSpc>
                <a:spcPts val="1300"/>
              </a:lnSpc>
              <a:buNone/>
            </a:pPr>
            <a:r>
              <a:rPr lang="en-US" sz="1100" dirty="0">
                <a:solidFill>
                  <a:srgbClr val="445C64"/>
                </a:solidFill>
                <a:latin typeface="Calibri" pitchFamily="34" charset="0"/>
                <a:ea typeface="Calibri" pitchFamily="34" charset="-122"/>
                <a:cs typeface="Calibri" pitchFamily="34" charset="-120"/>
              </a:rPr>
              <a:t>resolved_at may only be set when RESOLVED or CLOSED. The invariant holds even if our code is wrong.</a:t>
            </a:r>
            <a:endParaRPr lang="en-US" sz="1100" dirty="0"/>
          </a:p>
        </p:txBody>
      </p:sp>
      <p:sp>
        <p:nvSpPr>
          <p:cNvPr id="38" name="Text 36"/>
          <p:cNvSpPr/>
          <p:nvPr/>
        </p:nvSpPr>
        <p:spPr>
          <a:xfrm>
            <a:off x="566928" y="5980176"/>
            <a:ext cx="11027664" cy="274320"/>
          </a:xfrm>
          <a:prstGeom prst="rect">
            <a:avLst/>
          </a:prstGeom>
          <a:noFill/>
          <a:ln/>
        </p:spPr>
        <p:txBody>
          <a:bodyPr wrap="square" lIns="0" tIns="0" rIns="0" bIns="0" rtlCol="0" anchor="ctr"/>
          <a:lstStyle/>
          <a:p>
            <a:pPr indent="0" marL="0">
              <a:buNone/>
            </a:pPr>
            <a:r>
              <a:rPr lang="en-US" sz="1150" i="1" dirty="0">
                <a:solidFill>
                  <a:srgbClr val="028090"/>
                </a:solidFill>
                <a:latin typeface="Calibri" pitchFamily="34" charset="0"/>
                <a:ea typeface="Calibri" pitchFamily="34" charset="-122"/>
                <a:cs typeface="Calibri" pitchFamily="34" charset="-120"/>
              </a:rPr>
              <a:t>Indexes on every filter column, a GIN full-text index for keyword search, and an HNSW vector index for knowledge-base retrieval.</a:t>
            </a:r>
            <a:endParaRPr lang="en-US" sz="1150" dirty="0"/>
          </a:p>
        </p:txBody>
      </p:sp>
      <p:sp>
        <p:nvSpPr>
          <p:cNvPr id="39" name="Text 37"/>
          <p:cNvSpPr/>
          <p:nvPr/>
        </p:nvSpPr>
        <p:spPr>
          <a:xfrm>
            <a:off x="566928" y="6345936"/>
            <a:ext cx="7315200" cy="219456"/>
          </a:xfrm>
          <a:prstGeom prst="rect">
            <a:avLst/>
          </a:prstGeom>
          <a:noFill/>
          <a:ln/>
        </p:spPr>
        <p:txBody>
          <a:bodyPr wrap="square" lIns="0" tIns="0" rIns="0" bIns="0" rtlCol="0" anchor="ctr"/>
          <a:lstStyle/>
          <a:p>
            <a:pPr indent="0" marL="0">
              <a:buNone/>
            </a:pPr>
            <a:r>
              <a:rPr lang="en-US" sz="900" dirty="0">
                <a:solidFill>
                  <a:srgbClr val="7C939B"/>
                </a:solidFill>
                <a:latin typeface="Calibri" pitchFamily="34" charset="0"/>
                <a:ea typeface="Calibri" pitchFamily="34" charset="-122"/>
                <a:cs typeface="Calibri" pitchFamily="34" charset="-120"/>
              </a:rPr>
              <a:t>ServiceDesk AI  ·  BCSE408L Cloud Computing  ·  Review 2 &amp; Final Demonstration</a:t>
            </a:r>
            <a:endParaRPr lang="en-US" sz="900" dirty="0"/>
          </a:p>
        </p:txBody>
      </p:sp>
      <p:sp>
        <p:nvSpPr>
          <p:cNvPr id="40" name="Text 38"/>
          <p:cNvSpPr/>
          <p:nvPr/>
        </p:nvSpPr>
        <p:spPr>
          <a:xfrm>
            <a:off x="10680192" y="6345936"/>
            <a:ext cx="914400" cy="219456"/>
          </a:xfrm>
          <a:prstGeom prst="rect">
            <a:avLst/>
          </a:prstGeom>
          <a:noFill/>
          <a:ln/>
        </p:spPr>
        <p:txBody>
          <a:bodyPr wrap="square" lIns="0" tIns="0" rIns="0" bIns="0" rtlCol="0" anchor="ctr"/>
          <a:lstStyle/>
          <a:p>
            <a:pPr algn="r" indent="0" marL="0">
              <a:buNone/>
            </a:pPr>
            <a:r>
              <a:rPr lang="en-US" sz="900" dirty="0">
                <a:solidFill>
                  <a:srgbClr val="7C939B"/>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27664" cy="237744"/>
          </a:xfrm>
          <a:prstGeom prst="rect">
            <a:avLst/>
          </a:prstGeom>
          <a:noFill/>
          <a:ln/>
        </p:spPr>
        <p:txBody>
          <a:bodyPr wrap="square" lIns="0" tIns="0" rIns="0" bIns="0" rtlCol="0" anchor="ctr"/>
          <a:lstStyle/>
          <a:p>
            <a:pPr indent="0" marL="0">
              <a:buNone/>
            </a:pPr>
            <a:r>
              <a:rPr lang="en-US" sz="1100" b="1" spc="220" kern="0" dirty="0">
                <a:solidFill>
                  <a:srgbClr val="028090"/>
                </a:solidFill>
                <a:latin typeface="Calibri" pitchFamily="34" charset="0"/>
                <a:ea typeface="Calibri" pitchFamily="34" charset="-122"/>
                <a:cs typeface="Calibri" pitchFamily="34" charset="-120"/>
              </a:rPr>
              <a:t>AS BUILT</a:t>
            </a:r>
            <a:endParaRPr lang="en-US" sz="1100" dirty="0"/>
          </a:p>
        </p:txBody>
      </p:sp>
      <p:sp>
        <p:nvSpPr>
          <p:cNvPr id="3" name="Text 1"/>
          <p:cNvSpPr/>
          <p:nvPr/>
        </p:nvSpPr>
        <p:spPr>
          <a:xfrm>
            <a:off x="566928" y="621792"/>
            <a:ext cx="11027664" cy="621792"/>
          </a:xfrm>
          <a:prstGeom prst="rect">
            <a:avLst/>
          </a:prstGeom>
          <a:noFill/>
          <a:ln/>
        </p:spPr>
        <p:txBody>
          <a:bodyPr wrap="square" lIns="0" tIns="0" rIns="0" bIns="0" rtlCol="0" anchor="t"/>
          <a:lstStyle/>
          <a:p>
            <a:pPr indent="0" marL="0">
              <a:buNone/>
            </a:pPr>
            <a:r>
              <a:rPr lang="en-US" sz="3000" b="1" dirty="0">
                <a:solidFill>
                  <a:srgbClr val="0A2E36"/>
                </a:solidFill>
                <a:latin typeface="Cambria" pitchFamily="34" charset="0"/>
                <a:ea typeface="Cambria" pitchFamily="34" charset="-122"/>
                <a:cs typeface="Cambria" pitchFamily="34" charset="-120"/>
              </a:rPr>
              <a:t>Security and Access Control</a:t>
            </a:r>
            <a:endParaRPr lang="en-US" sz="3000" dirty="0"/>
          </a:p>
        </p:txBody>
      </p:sp>
      <p:sp>
        <p:nvSpPr>
          <p:cNvPr id="4" name="Shape 2"/>
          <p:cNvSpPr/>
          <p:nvPr/>
        </p:nvSpPr>
        <p:spPr>
          <a:xfrm>
            <a:off x="566928" y="1335024"/>
            <a:ext cx="11027664" cy="676656"/>
          </a:xfrm>
          <a:prstGeom prst="roundRect">
            <a:avLst>
              <a:gd name="adj" fmla="val 13514"/>
            </a:avLst>
          </a:prstGeom>
          <a:solidFill>
            <a:srgbClr val="0A2E36"/>
          </a:solidFill>
          <a:ln/>
          <a:effectLst>
            <a:outerShdw sx="100000" sy="100000" kx="0" ky="0" algn="bl" rotWithShape="0" blurRad="127000" dist="25400" dir="5400000">
              <a:srgbClr val="0A2E36">
                <a:alpha val="10000"/>
              </a:srgbClr>
            </a:outerShdw>
          </a:effectLst>
        </p:spPr>
      </p:sp>
      <p:sp>
        <p:nvSpPr>
          <p:cNvPr id="5" name="Text 3"/>
          <p:cNvSpPr/>
          <p:nvPr/>
        </p:nvSpPr>
        <p:spPr>
          <a:xfrm>
            <a:off x="877824" y="1335024"/>
            <a:ext cx="10405872" cy="6766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Hiding a button is not security. Every claim on this slide is proved by a test that calls the API directly with a valid token for the wrong role.</a:t>
            </a:r>
            <a:endParaRPr lang="en-US" sz="1300" dirty="0"/>
          </a:p>
        </p:txBody>
      </p:sp>
      <p:sp>
        <p:nvSpPr>
          <p:cNvPr id="6" name="Text 4"/>
          <p:cNvSpPr/>
          <p:nvPr/>
        </p:nvSpPr>
        <p:spPr>
          <a:xfrm>
            <a:off x="566928" y="2212848"/>
            <a:ext cx="11027664" cy="292608"/>
          </a:xfrm>
          <a:prstGeom prst="rect">
            <a:avLst/>
          </a:prstGeom>
          <a:noFill/>
          <a:ln/>
        </p:spPr>
        <p:txBody>
          <a:bodyPr wrap="square" lIns="0" tIns="0" rIns="0" bIns="0" rtlCol="0" anchor="ctr"/>
          <a:lstStyle/>
          <a:p>
            <a:pPr indent="0" marL="0">
              <a:buNone/>
            </a:pPr>
            <a:r>
              <a:rPr lang="en-US" sz="1500" b="1" dirty="0">
                <a:solidFill>
                  <a:srgbClr val="0A2E36"/>
                </a:solidFill>
                <a:latin typeface="Cambria" pitchFamily="34" charset="0"/>
                <a:ea typeface="Cambria" pitchFamily="34" charset="-122"/>
                <a:cs typeface="Cambria" pitchFamily="34" charset="-120"/>
              </a:rPr>
              <a:t>Two independent authorisation layers</a:t>
            </a:r>
            <a:endParaRPr lang="en-US" sz="1500" dirty="0"/>
          </a:p>
        </p:txBody>
      </p:sp>
      <p:sp>
        <p:nvSpPr>
          <p:cNvPr id="7" name="Shape 5"/>
          <p:cNvSpPr/>
          <p:nvPr/>
        </p:nvSpPr>
        <p:spPr>
          <a:xfrm>
            <a:off x="566928" y="2578608"/>
            <a:ext cx="5376672" cy="969264"/>
          </a:xfrm>
          <a:prstGeom prst="roundRect">
            <a:avLst>
              <a:gd name="adj" fmla="val 9434"/>
            </a:avLst>
          </a:prstGeom>
          <a:solidFill>
            <a:srgbClr val="EEF6F7"/>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8" name="Shape 6"/>
          <p:cNvSpPr/>
          <p:nvPr/>
        </p:nvSpPr>
        <p:spPr>
          <a:xfrm>
            <a:off x="804672" y="2761488"/>
            <a:ext cx="420624" cy="420624"/>
          </a:xfrm>
          <a:prstGeom prst="ellipse">
            <a:avLst/>
          </a:prstGeom>
          <a:solidFill>
            <a:srgbClr val="028090"/>
          </a:solidFill>
          <a:ln/>
        </p:spPr>
      </p:sp>
      <p:sp>
        <p:nvSpPr>
          <p:cNvPr id="9" name="Text 7"/>
          <p:cNvSpPr/>
          <p:nvPr/>
        </p:nvSpPr>
        <p:spPr>
          <a:xfrm>
            <a:off x="804672" y="276148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0" name="Text 8"/>
          <p:cNvSpPr/>
          <p:nvPr/>
        </p:nvSpPr>
        <p:spPr>
          <a:xfrm>
            <a:off x="1353312" y="2743200"/>
            <a:ext cx="4370832" cy="256032"/>
          </a:xfrm>
          <a:prstGeom prst="rect">
            <a:avLst/>
          </a:prstGeom>
          <a:noFill/>
          <a:ln/>
        </p:spPr>
        <p:txBody>
          <a:bodyPr wrap="square" lIns="0" tIns="0" rIns="0" bIns="0" rtlCol="0" anchor="ctr"/>
          <a:lstStyle/>
          <a:p>
            <a:pPr indent="0" marL="0">
              <a:buNone/>
            </a:pPr>
            <a:r>
              <a:rPr lang="en-US" sz="1400" b="1" dirty="0">
                <a:solidFill>
                  <a:srgbClr val="0A2E36"/>
                </a:solidFill>
                <a:latin typeface="Calibri" pitchFamily="34" charset="0"/>
                <a:ea typeface="Calibri" pitchFamily="34" charset="-122"/>
                <a:cs typeface="Calibri" pitchFamily="34" charset="-120"/>
              </a:rPr>
              <a:t>Route level</a:t>
            </a:r>
            <a:endParaRPr lang="en-US" sz="1400" dirty="0"/>
          </a:p>
        </p:txBody>
      </p:sp>
      <p:sp>
        <p:nvSpPr>
          <p:cNvPr id="11" name="Text 9"/>
          <p:cNvSpPr/>
          <p:nvPr/>
        </p:nvSpPr>
        <p:spPr>
          <a:xfrm>
            <a:off x="1353312" y="3017520"/>
            <a:ext cx="4370832" cy="402336"/>
          </a:xfrm>
          <a:prstGeom prst="rect">
            <a:avLst/>
          </a:prstGeom>
          <a:noFill/>
          <a:ln/>
        </p:spPr>
        <p:txBody>
          <a:bodyPr wrap="square" lIns="0" tIns="0" rIns="0" bIns="0" rtlCol="0" anchor="t"/>
          <a:lstStyle/>
          <a:p>
            <a:pPr indent="0" marL="0">
              <a:lnSpc>
                <a:spcPts val="1300"/>
              </a:lnSpc>
              <a:buNone/>
            </a:pPr>
            <a:r>
              <a:rPr lang="en-US" sz="1150" dirty="0">
                <a:solidFill>
                  <a:srgbClr val="445C64"/>
                </a:solidFill>
                <a:latin typeface="Calibri" pitchFamily="34" charset="0"/>
                <a:ea typeface="Calibri" pitchFamily="34" charset="-122"/>
                <a:cs typeface="Calibri" pitchFamily="34" charset="-120"/>
              </a:rPr>
              <a:t>requireRole() middleware asks: may this role call this endpoint at all?</a:t>
            </a:r>
            <a:endParaRPr lang="en-US" sz="1150" dirty="0"/>
          </a:p>
        </p:txBody>
      </p:sp>
      <p:sp>
        <p:nvSpPr>
          <p:cNvPr id="12" name="Shape 10"/>
          <p:cNvSpPr/>
          <p:nvPr/>
        </p:nvSpPr>
        <p:spPr>
          <a:xfrm>
            <a:off x="6217920" y="2578608"/>
            <a:ext cx="5376672" cy="969264"/>
          </a:xfrm>
          <a:prstGeom prst="roundRect">
            <a:avLst>
              <a:gd name="adj" fmla="val 9434"/>
            </a:avLst>
          </a:prstGeom>
          <a:solidFill>
            <a:srgbClr val="EEF6F7"/>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13" name="Shape 11"/>
          <p:cNvSpPr/>
          <p:nvPr/>
        </p:nvSpPr>
        <p:spPr>
          <a:xfrm>
            <a:off x="6455664" y="2761488"/>
            <a:ext cx="420624" cy="420624"/>
          </a:xfrm>
          <a:prstGeom prst="ellipse">
            <a:avLst/>
          </a:prstGeom>
          <a:solidFill>
            <a:srgbClr val="028090"/>
          </a:solidFill>
          <a:ln/>
        </p:spPr>
      </p:sp>
      <p:sp>
        <p:nvSpPr>
          <p:cNvPr id="14" name="Text 12"/>
          <p:cNvSpPr/>
          <p:nvPr/>
        </p:nvSpPr>
        <p:spPr>
          <a:xfrm>
            <a:off x="6455664" y="276148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5" name="Text 13"/>
          <p:cNvSpPr/>
          <p:nvPr/>
        </p:nvSpPr>
        <p:spPr>
          <a:xfrm>
            <a:off x="7004304" y="2743200"/>
            <a:ext cx="4370832" cy="256032"/>
          </a:xfrm>
          <a:prstGeom prst="rect">
            <a:avLst/>
          </a:prstGeom>
          <a:noFill/>
          <a:ln/>
        </p:spPr>
        <p:txBody>
          <a:bodyPr wrap="square" lIns="0" tIns="0" rIns="0" bIns="0" rtlCol="0" anchor="ctr"/>
          <a:lstStyle/>
          <a:p>
            <a:pPr indent="0" marL="0">
              <a:buNone/>
            </a:pPr>
            <a:r>
              <a:rPr lang="en-US" sz="1400" b="1" dirty="0">
                <a:solidFill>
                  <a:srgbClr val="0A2E36"/>
                </a:solidFill>
                <a:latin typeface="Calibri" pitchFamily="34" charset="0"/>
                <a:ea typeface="Calibri" pitchFamily="34" charset="-122"/>
                <a:cs typeface="Calibri" pitchFamily="34" charset="-120"/>
              </a:rPr>
              <a:t>Record level</a:t>
            </a:r>
            <a:endParaRPr lang="en-US" sz="1400" dirty="0"/>
          </a:p>
        </p:txBody>
      </p:sp>
      <p:sp>
        <p:nvSpPr>
          <p:cNvPr id="16" name="Text 14"/>
          <p:cNvSpPr/>
          <p:nvPr/>
        </p:nvSpPr>
        <p:spPr>
          <a:xfrm>
            <a:off x="7004304" y="3017520"/>
            <a:ext cx="4370832" cy="402336"/>
          </a:xfrm>
          <a:prstGeom prst="rect">
            <a:avLst/>
          </a:prstGeom>
          <a:noFill/>
          <a:ln/>
        </p:spPr>
        <p:txBody>
          <a:bodyPr wrap="square" lIns="0" tIns="0" rIns="0" bIns="0" rtlCol="0" anchor="t"/>
          <a:lstStyle/>
          <a:p>
            <a:pPr indent="0" marL="0">
              <a:lnSpc>
                <a:spcPts val="1300"/>
              </a:lnSpc>
              <a:buNone/>
            </a:pPr>
            <a:r>
              <a:rPr lang="en-US" sz="1150" dirty="0">
                <a:solidFill>
                  <a:srgbClr val="445C64"/>
                </a:solidFill>
                <a:latin typeface="Calibri" pitchFamily="34" charset="0"/>
                <a:ea typeface="Calibri" pitchFamily="34" charset="-122"/>
                <a:cs typeface="Calibri" pitchFamily="34" charset="-120"/>
              </a:rPr>
              <a:t>The handler asks: does this specific record belong to this caller?</a:t>
            </a:r>
            <a:endParaRPr lang="en-US" sz="1150" dirty="0"/>
          </a:p>
        </p:txBody>
      </p:sp>
      <p:sp>
        <p:nvSpPr>
          <p:cNvPr id="17" name="Text 15"/>
          <p:cNvSpPr/>
          <p:nvPr/>
        </p:nvSpPr>
        <p:spPr>
          <a:xfrm>
            <a:off x="566928" y="3657600"/>
            <a:ext cx="11027664" cy="256032"/>
          </a:xfrm>
          <a:prstGeom prst="rect">
            <a:avLst/>
          </a:prstGeom>
          <a:noFill/>
          <a:ln/>
        </p:spPr>
        <p:txBody>
          <a:bodyPr wrap="square" lIns="0" tIns="0" rIns="0" bIns="0" rtlCol="0" anchor="t"/>
          <a:lstStyle/>
          <a:p>
            <a:pPr indent="0" marL="0">
              <a:lnSpc>
                <a:spcPts val="1700"/>
              </a:lnSpc>
              <a:buNone/>
            </a:pPr>
            <a:r>
              <a:rPr lang="en-US" sz="1150" i="1" dirty="0">
                <a:solidFill>
                  <a:srgbClr val="7C939B"/>
                </a:solidFill>
                <a:latin typeface="Calibri" pitchFamily="34" charset="0"/>
                <a:ea typeface="Calibri" pitchFamily="34" charset="-122"/>
                <a:cs typeface="Calibri" pitchFamily="34" charset="-120"/>
              </a:rPr>
              <a:t>Neither is sufficient alone: middleware cannot know whether ticket X belongs to customer Y.</a:t>
            </a:r>
            <a:endParaRPr lang="en-US" sz="1150" dirty="0"/>
          </a:p>
        </p:txBody>
      </p:sp>
      <p:sp>
        <p:nvSpPr>
          <p:cNvPr id="18" name="Shape 16"/>
          <p:cNvSpPr/>
          <p:nvPr/>
        </p:nvSpPr>
        <p:spPr>
          <a:xfrm>
            <a:off x="566928" y="4005072"/>
            <a:ext cx="3529584" cy="914400"/>
          </a:xfrm>
          <a:prstGeom prst="roundRect">
            <a:avLst>
              <a:gd name="adj" fmla="val 10000"/>
            </a:avLst>
          </a:prstGeom>
          <a:solidFill>
            <a:srgbClr val="F7FBFB"/>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19" name="Text 17"/>
          <p:cNvSpPr/>
          <p:nvPr/>
        </p:nvSpPr>
        <p:spPr>
          <a:xfrm>
            <a:off x="786384" y="4133088"/>
            <a:ext cx="3090672" cy="237744"/>
          </a:xfrm>
          <a:prstGeom prst="rect">
            <a:avLst/>
          </a:prstGeom>
          <a:noFill/>
          <a:ln/>
        </p:spPr>
        <p:txBody>
          <a:bodyPr wrap="square" lIns="0" tIns="0" rIns="0" bIns="0" rtlCol="0" anchor="ctr"/>
          <a:lstStyle/>
          <a:p>
            <a:pPr indent="0" marL="0">
              <a:buNone/>
            </a:pPr>
            <a:r>
              <a:rPr lang="en-US" sz="1250" b="1" dirty="0">
                <a:solidFill>
                  <a:srgbClr val="028090"/>
                </a:solidFill>
                <a:latin typeface="Calibri" pitchFamily="34" charset="0"/>
                <a:ea typeface="Calibri" pitchFamily="34" charset="-122"/>
                <a:cs typeface="Calibri" pitchFamily="34" charset="-120"/>
              </a:rPr>
              <a:t>Passwords</a:t>
            </a:r>
            <a:endParaRPr lang="en-US" sz="1250" dirty="0"/>
          </a:p>
        </p:txBody>
      </p:sp>
      <p:sp>
        <p:nvSpPr>
          <p:cNvPr id="20" name="Text 18"/>
          <p:cNvSpPr/>
          <p:nvPr/>
        </p:nvSpPr>
        <p:spPr>
          <a:xfrm>
            <a:off x="786384" y="4389120"/>
            <a:ext cx="3090672" cy="457200"/>
          </a:xfrm>
          <a:prstGeom prst="rect">
            <a:avLst/>
          </a:prstGeom>
          <a:noFill/>
          <a:ln/>
        </p:spPr>
        <p:txBody>
          <a:bodyPr wrap="square" lIns="0" tIns="0" rIns="0" bIns="0" rtlCol="0" anchor="t"/>
          <a:lstStyle/>
          <a:p>
            <a:pPr indent="0" marL="0">
              <a:lnSpc>
                <a:spcPts val="1300"/>
              </a:lnSpc>
              <a:buNone/>
            </a:pPr>
            <a:r>
              <a:rPr lang="en-US" sz="1100" dirty="0">
                <a:solidFill>
                  <a:srgbClr val="445C64"/>
                </a:solidFill>
                <a:latin typeface="Calibri" pitchFamily="34" charset="0"/>
                <a:ea typeface="Calibri" pitchFamily="34" charset="-122"/>
                <a:cs typeface="Calibri" pitchFamily="34" charset="-120"/>
              </a:rPr>
              <a:t>bcrypt at cost 12 — ~250 ms per hash. Salted automatically. Never logged.</a:t>
            </a:r>
            <a:endParaRPr lang="en-US" sz="1100" dirty="0"/>
          </a:p>
        </p:txBody>
      </p:sp>
      <p:sp>
        <p:nvSpPr>
          <p:cNvPr id="21" name="Shape 19"/>
          <p:cNvSpPr/>
          <p:nvPr/>
        </p:nvSpPr>
        <p:spPr>
          <a:xfrm>
            <a:off x="4315968" y="4005072"/>
            <a:ext cx="3529584" cy="914400"/>
          </a:xfrm>
          <a:prstGeom prst="roundRect">
            <a:avLst>
              <a:gd name="adj" fmla="val 10000"/>
            </a:avLst>
          </a:prstGeom>
          <a:solidFill>
            <a:srgbClr val="F7FBFB"/>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22" name="Text 20"/>
          <p:cNvSpPr/>
          <p:nvPr/>
        </p:nvSpPr>
        <p:spPr>
          <a:xfrm>
            <a:off x="4535424" y="4133088"/>
            <a:ext cx="3090672" cy="237744"/>
          </a:xfrm>
          <a:prstGeom prst="rect">
            <a:avLst/>
          </a:prstGeom>
          <a:noFill/>
          <a:ln/>
        </p:spPr>
        <p:txBody>
          <a:bodyPr wrap="square" lIns="0" tIns="0" rIns="0" bIns="0" rtlCol="0" anchor="ctr"/>
          <a:lstStyle/>
          <a:p>
            <a:pPr indent="0" marL="0">
              <a:buNone/>
            </a:pPr>
            <a:r>
              <a:rPr lang="en-US" sz="1250" b="1" dirty="0">
                <a:solidFill>
                  <a:srgbClr val="028090"/>
                </a:solidFill>
                <a:latin typeface="Calibri" pitchFamily="34" charset="0"/>
                <a:ea typeface="Calibri" pitchFamily="34" charset="-122"/>
                <a:cs typeface="Calibri" pitchFamily="34" charset="-120"/>
              </a:rPr>
              <a:t>Sessions</a:t>
            </a:r>
            <a:endParaRPr lang="en-US" sz="1250" dirty="0"/>
          </a:p>
        </p:txBody>
      </p:sp>
      <p:sp>
        <p:nvSpPr>
          <p:cNvPr id="23" name="Text 21"/>
          <p:cNvSpPr/>
          <p:nvPr/>
        </p:nvSpPr>
        <p:spPr>
          <a:xfrm>
            <a:off x="4535424" y="4389120"/>
            <a:ext cx="3090672" cy="457200"/>
          </a:xfrm>
          <a:prstGeom prst="rect">
            <a:avLst/>
          </a:prstGeom>
          <a:noFill/>
          <a:ln/>
        </p:spPr>
        <p:txBody>
          <a:bodyPr wrap="square" lIns="0" tIns="0" rIns="0" bIns="0" rtlCol="0" anchor="t"/>
          <a:lstStyle/>
          <a:p>
            <a:pPr indent="0" marL="0">
              <a:lnSpc>
                <a:spcPts val="1300"/>
              </a:lnSpc>
              <a:buNone/>
            </a:pPr>
            <a:r>
              <a:rPr lang="en-US" sz="1100" dirty="0">
                <a:solidFill>
                  <a:srgbClr val="445C64"/>
                </a:solidFill>
                <a:latin typeface="Calibri" pitchFamily="34" charset="0"/>
                <a:ea typeface="Calibri" pitchFamily="34" charset="-122"/>
                <a:cs typeface="Calibri" pitchFamily="34" charset="-120"/>
              </a:rPr>
              <a:t>15-minute access token in memory only; refresh token in an httpOnly cookie.</a:t>
            </a:r>
            <a:endParaRPr lang="en-US" sz="1100" dirty="0"/>
          </a:p>
        </p:txBody>
      </p:sp>
      <p:sp>
        <p:nvSpPr>
          <p:cNvPr id="24" name="Shape 22"/>
          <p:cNvSpPr/>
          <p:nvPr/>
        </p:nvSpPr>
        <p:spPr>
          <a:xfrm>
            <a:off x="8065008" y="4005072"/>
            <a:ext cx="3529584" cy="914400"/>
          </a:xfrm>
          <a:prstGeom prst="roundRect">
            <a:avLst>
              <a:gd name="adj" fmla="val 10000"/>
            </a:avLst>
          </a:prstGeom>
          <a:solidFill>
            <a:srgbClr val="F7FBFB"/>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25" name="Text 23"/>
          <p:cNvSpPr/>
          <p:nvPr/>
        </p:nvSpPr>
        <p:spPr>
          <a:xfrm>
            <a:off x="8284464" y="4133088"/>
            <a:ext cx="3090672" cy="237744"/>
          </a:xfrm>
          <a:prstGeom prst="rect">
            <a:avLst/>
          </a:prstGeom>
          <a:noFill/>
          <a:ln/>
        </p:spPr>
        <p:txBody>
          <a:bodyPr wrap="square" lIns="0" tIns="0" rIns="0" bIns="0" rtlCol="0" anchor="ctr"/>
          <a:lstStyle/>
          <a:p>
            <a:pPr indent="0" marL="0">
              <a:buNone/>
            </a:pPr>
            <a:r>
              <a:rPr lang="en-US" sz="1250" b="1" dirty="0">
                <a:solidFill>
                  <a:srgbClr val="028090"/>
                </a:solidFill>
                <a:latin typeface="Calibri" pitchFamily="34" charset="0"/>
                <a:ea typeface="Calibri" pitchFamily="34" charset="-122"/>
                <a:cs typeface="Calibri" pitchFamily="34" charset="-120"/>
              </a:rPr>
              <a:t>404, not 403</a:t>
            </a:r>
            <a:endParaRPr lang="en-US" sz="1250" dirty="0"/>
          </a:p>
        </p:txBody>
      </p:sp>
      <p:sp>
        <p:nvSpPr>
          <p:cNvPr id="26" name="Text 24"/>
          <p:cNvSpPr/>
          <p:nvPr/>
        </p:nvSpPr>
        <p:spPr>
          <a:xfrm>
            <a:off x="8284464" y="4389120"/>
            <a:ext cx="3090672" cy="457200"/>
          </a:xfrm>
          <a:prstGeom prst="rect">
            <a:avLst/>
          </a:prstGeom>
          <a:noFill/>
          <a:ln/>
        </p:spPr>
        <p:txBody>
          <a:bodyPr wrap="square" lIns="0" tIns="0" rIns="0" bIns="0" rtlCol="0" anchor="t"/>
          <a:lstStyle/>
          <a:p>
            <a:pPr indent="0" marL="0">
              <a:lnSpc>
                <a:spcPts val="1300"/>
              </a:lnSpc>
              <a:buNone/>
            </a:pPr>
            <a:r>
              <a:rPr lang="en-US" sz="1100" dirty="0">
                <a:solidFill>
                  <a:srgbClr val="445C64"/>
                </a:solidFill>
                <a:latin typeface="Calibri" pitchFamily="34" charset="0"/>
                <a:ea typeface="Calibri" pitchFamily="34" charset="-122"/>
                <a:cs typeface="Calibri" pitchFamily="34" charset="-120"/>
              </a:rPr>
              <a:t>Another customer's ticket returns not-found, so IDs cannot be probed.</a:t>
            </a:r>
            <a:endParaRPr lang="en-US" sz="1100" dirty="0"/>
          </a:p>
        </p:txBody>
      </p:sp>
      <p:sp>
        <p:nvSpPr>
          <p:cNvPr id="27" name="Shape 25"/>
          <p:cNvSpPr/>
          <p:nvPr/>
        </p:nvSpPr>
        <p:spPr>
          <a:xfrm>
            <a:off x="566928" y="5047488"/>
            <a:ext cx="3529584" cy="914400"/>
          </a:xfrm>
          <a:prstGeom prst="roundRect">
            <a:avLst>
              <a:gd name="adj" fmla="val 10000"/>
            </a:avLst>
          </a:prstGeom>
          <a:solidFill>
            <a:srgbClr val="F7FBFB"/>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28" name="Text 26"/>
          <p:cNvSpPr/>
          <p:nvPr/>
        </p:nvSpPr>
        <p:spPr>
          <a:xfrm>
            <a:off x="786384" y="5175504"/>
            <a:ext cx="3090672" cy="237744"/>
          </a:xfrm>
          <a:prstGeom prst="rect">
            <a:avLst/>
          </a:prstGeom>
          <a:noFill/>
          <a:ln/>
        </p:spPr>
        <p:txBody>
          <a:bodyPr wrap="square" lIns="0" tIns="0" rIns="0" bIns="0" rtlCol="0" anchor="ctr"/>
          <a:lstStyle/>
          <a:p>
            <a:pPr indent="0" marL="0">
              <a:buNone/>
            </a:pPr>
            <a:r>
              <a:rPr lang="en-US" sz="1250" b="1" dirty="0">
                <a:solidFill>
                  <a:srgbClr val="028090"/>
                </a:solidFill>
                <a:latin typeface="Calibri" pitchFamily="34" charset="0"/>
                <a:ea typeface="Calibri" pitchFamily="34" charset="-122"/>
                <a:cs typeface="Calibri" pitchFamily="34" charset="-120"/>
              </a:rPr>
              <a:t>Same login error</a:t>
            </a:r>
            <a:endParaRPr lang="en-US" sz="1250" dirty="0"/>
          </a:p>
        </p:txBody>
      </p:sp>
      <p:sp>
        <p:nvSpPr>
          <p:cNvPr id="29" name="Text 27"/>
          <p:cNvSpPr/>
          <p:nvPr/>
        </p:nvSpPr>
        <p:spPr>
          <a:xfrm>
            <a:off x="786384" y="5431536"/>
            <a:ext cx="3090672" cy="457200"/>
          </a:xfrm>
          <a:prstGeom prst="rect">
            <a:avLst/>
          </a:prstGeom>
          <a:noFill/>
          <a:ln/>
        </p:spPr>
        <p:txBody>
          <a:bodyPr wrap="square" lIns="0" tIns="0" rIns="0" bIns="0" rtlCol="0" anchor="t"/>
          <a:lstStyle/>
          <a:p>
            <a:pPr indent="0" marL="0">
              <a:lnSpc>
                <a:spcPts val="1300"/>
              </a:lnSpc>
              <a:buNone/>
            </a:pPr>
            <a:r>
              <a:rPr lang="en-US" sz="1100" dirty="0">
                <a:solidFill>
                  <a:srgbClr val="445C64"/>
                </a:solidFill>
                <a:latin typeface="Calibri" pitchFamily="34" charset="0"/>
                <a:ea typeface="Calibri" pitchFamily="34" charset="-122"/>
                <a:cs typeface="Calibri" pitchFamily="34" charset="-120"/>
              </a:rPr>
              <a:t>Unknown email and wrong password give identical responses and timing.</a:t>
            </a:r>
            <a:endParaRPr lang="en-US" sz="1100" dirty="0"/>
          </a:p>
        </p:txBody>
      </p:sp>
      <p:sp>
        <p:nvSpPr>
          <p:cNvPr id="30" name="Shape 28"/>
          <p:cNvSpPr/>
          <p:nvPr/>
        </p:nvSpPr>
        <p:spPr>
          <a:xfrm>
            <a:off x="4315968" y="5047488"/>
            <a:ext cx="3529584" cy="914400"/>
          </a:xfrm>
          <a:prstGeom prst="roundRect">
            <a:avLst>
              <a:gd name="adj" fmla="val 10000"/>
            </a:avLst>
          </a:prstGeom>
          <a:solidFill>
            <a:srgbClr val="F7FBFB"/>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31" name="Text 29"/>
          <p:cNvSpPr/>
          <p:nvPr/>
        </p:nvSpPr>
        <p:spPr>
          <a:xfrm>
            <a:off x="4535424" y="5175504"/>
            <a:ext cx="3090672" cy="237744"/>
          </a:xfrm>
          <a:prstGeom prst="rect">
            <a:avLst/>
          </a:prstGeom>
          <a:noFill/>
          <a:ln/>
        </p:spPr>
        <p:txBody>
          <a:bodyPr wrap="square" lIns="0" tIns="0" rIns="0" bIns="0" rtlCol="0" anchor="ctr"/>
          <a:lstStyle/>
          <a:p>
            <a:pPr indent="0" marL="0">
              <a:buNone/>
            </a:pPr>
            <a:r>
              <a:rPr lang="en-US" sz="1250" b="1" dirty="0">
                <a:solidFill>
                  <a:srgbClr val="028090"/>
                </a:solidFill>
                <a:latin typeface="Calibri" pitchFamily="34" charset="0"/>
                <a:ea typeface="Calibri" pitchFamily="34" charset="-122"/>
                <a:cs typeface="Calibri" pitchFamily="34" charset="-120"/>
              </a:rPr>
              <a:t>SQL injection</a:t>
            </a:r>
            <a:endParaRPr lang="en-US" sz="1250" dirty="0"/>
          </a:p>
        </p:txBody>
      </p:sp>
      <p:sp>
        <p:nvSpPr>
          <p:cNvPr id="32" name="Text 30"/>
          <p:cNvSpPr/>
          <p:nvPr/>
        </p:nvSpPr>
        <p:spPr>
          <a:xfrm>
            <a:off x="4535424" y="5431536"/>
            <a:ext cx="3090672" cy="457200"/>
          </a:xfrm>
          <a:prstGeom prst="rect">
            <a:avLst/>
          </a:prstGeom>
          <a:noFill/>
          <a:ln/>
        </p:spPr>
        <p:txBody>
          <a:bodyPr wrap="square" lIns="0" tIns="0" rIns="0" bIns="0" rtlCol="0" anchor="t"/>
          <a:lstStyle/>
          <a:p>
            <a:pPr indent="0" marL="0">
              <a:lnSpc>
                <a:spcPts val="1300"/>
              </a:lnSpc>
              <a:buNone/>
            </a:pPr>
            <a:r>
              <a:rPr lang="en-US" sz="1100" dirty="0">
                <a:solidFill>
                  <a:srgbClr val="445C64"/>
                </a:solidFill>
                <a:latin typeface="Calibri" pitchFamily="34" charset="0"/>
                <a:ea typeface="Calibri" pitchFamily="34" charset="-122"/>
                <a:cs typeface="Calibri" pitchFamily="34" charset="-120"/>
              </a:rPr>
              <a:t>Every query parameterised. The one dynamic value, sort column, is allow-listed.</a:t>
            </a:r>
            <a:endParaRPr lang="en-US" sz="1100" dirty="0"/>
          </a:p>
        </p:txBody>
      </p:sp>
      <p:sp>
        <p:nvSpPr>
          <p:cNvPr id="33" name="Shape 31"/>
          <p:cNvSpPr/>
          <p:nvPr/>
        </p:nvSpPr>
        <p:spPr>
          <a:xfrm>
            <a:off x="8065008" y="5047488"/>
            <a:ext cx="3529584" cy="914400"/>
          </a:xfrm>
          <a:prstGeom prst="roundRect">
            <a:avLst>
              <a:gd name="adj" fmla="val 10000"/>
            </a:avLst>
          </a:prstGeom>
          <a:solidFill>
            <a:srgbClr val="F7FBFB"/>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34" name="Text 32"/>
          <p:cNvSpPr/>
          <p:nvPr/>
        </p:nvSpPr>
        <p:spPr>
          <a:xfrm>
            <a:off x="8284464" y="5175504"/>
            <a:ext cx="3090672" cy="237744"/>
          </a:xfrm>
          <a:prstGeom prst="rect">
            <a:avLst/>
          </a:prstGeom>
          <a:noFill/>
          <a:ln/>
        </p:spPr>
        <p:txBody>
          <a:bodyPr wrap="square" lIns="0" tIns="0" rIns="0" bIns="0" rtlCol="0" anchor="ctr"/>
          <a:lstStyle/>
          <a:p>
            <a:pPr indent="0" marL="0">
              <a:buNone/>
            </a:pPr>
            <a:r>
              <a:rPr lang="en-US" sz="1250" b="1" dirty="0">
                <a:solidFill>
                  <a:srgbClr val="028090"/>
                </a:solidFill>
                <a:latin typeface="Calibri" pitchFamily="34" charset="0"/>
                <a:ea typeface="Calibri" pitchFamily="34" charset="-122"/>
                <a:cs typeface="Calibri" pitchFamily="34" charset="-120"/>
              </a:rPr>
              <a:t>Secrets</a:t>
            </a:r>
            <a:endParaRPr lang="en-US" sz="1250" dirty="0"/>
          </a:p>
        </p:txBody>
      </p:sp>
      <p:sp>
        <p:nvSpPr>
          <p:cNvPr id="35" name="Text 33"/>
          <p:cNvSpPr/>
          <p:nvPr/>
        </p:nvSpPr>
        <p:spPr>
          <a:xfrm>
            <a:off x="8284464" y="5431536"/>
            <a:ext cx="3090672" cy="457200"/>
          </a:xfrm>
          <a:prstGeom prst="rect">
            <a:avLst/>
          </a:prstGeom>
          <a:noFill/>
          <a:ln/>
        </p:spPr>
        <p:txBody>
          <a:bodyPr wrap="square" lIns="0" tIns="0" rIns="0" bIns="0" rtlCol="0" anchor="t"/>
          <a:lstStyle/>
          <a:p>
            <a:pPr indent="0" marL="0">
              <a:lnSpc>
                <a:spcPts val="1300"/>
              </a:lnSpc>
              <a:buNone/>
            </a:pPr>
            <a:r>
              <a:rPr lang="en-US" sz="1100" dirty="0">
                <a:solidFill>
                  <a:srgbClr val="445C64"/>
                </a:solidFill>
                <a:latin typeface="Calibri" pitchFamily="34" charset="0"/>
                <a:ea typeface="Calibri" pitchFamily="34" charset="-122"/>
                <a:cs typeface="Calibri" pitchFamily="34" charset="-120"/>
              </a:rPr>
              <a:t>Environment variables only. Nothing secret has ever been committed.</a:t>
            </a:r>
            <a:endParaRPr lang="en-US" sz="1100" dirty="0"/>
          </a:p>
        </p:txBody>
      </p:sp>
      <p:sp>
        <p:nvSpPr>
          <p:cNvPr id="36" name="Text 34"/>
          <p:cNvSpPr/>
          <p:nvPr/>
        </p:nvSpPr>
        <p:spPr>
          <a:xfrm>
            <a:off x="566928" y="6345936"/>
            <a:ext cx="7315200" cy="219456"/>
          </a:xfrm>
          <a:prstGeom prst="rect">
            <a:avLst/>
          </a:prstGeom>
          <a:noFill/>
          <a:ln/>
        </p:spPr>
        <p:txBody>
          <a:bodyPr wrap="square" lIns="0" tIns="0" rIns="0" bIns="0" rtlCol="0" anchor="ctr"/>
          <a:lstStyle/>
          <a:p>
            <a:pPr indent="0" marL="0">
              <a:buNone/>
            </a:pPr>
            <a:r>
              <a:rPr lang="en-US" sz="900" dirty="0">
                <a:solidFill>
                  <a:srgbClr val="7C939B"/>
                </a:solidFill>
                <a:latin typeface="Calibri" pitchFamily="34" charset="0"/>
                <a:ea typeface="Calibri" pitchFamily="34" charset="-122"/>
                <a:cs typeface="Calibri" pitchFamily="34" charset="-120"/>
              </a:rPr>
              <a:t>ServiceDesk AI  ·  BCSE408L Cloud Computing  ·  Review 2 &amp; Final Demonstration</a:t>
            </a:r>
            <a:endParaRPr lang="en-US" sz="900" dirty="0"/>
          </a:p>
        </p:txBody>
      </p:sp>
      <p:sp>
        <p:nvSpPr>
          <p:cNvPr id="37" name="Text 35"/>
          <p:cNvSpPr/>
          <p:nvPr/>
        </p:nvSpPr>
        <p:spPr>
          <a:xfrm>
            <a:off x="10680192" y="6345936"/>
            <a:ext cx="914400" cy="219456"/>
          </a:xfrm>
          <a:prstGeom prst="rect">
            <a:avLst/>
          </a:prstGeom>
          <a:noFill/>
          <a:ln/>
        </p:spPr>
        <p:txBody>
          <a:bodyPr wrap="square" lIns="0" tIns="0" rIns="0" bIns="0" rtlCol="0" anchor="ctr"/>
          <a:lstStyle/>
          <a:p>
            <a:pPr algn="r" indent="0" marL="0">
              <a:buNone/>
            </a:pPr>
            <a:r>
              <a:rPr lang="en-US" sz="900" dirty="0">
                <a:solidFill>
                  <a:srgbClr val="7C939B"/>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27664" cy="237744"/>
          </a:xfrm>
          <a:prstGeom prst="rect">
            <a:avLst/>
          </a:prstGeom>
          <a:noFill/>
          <a:ln/>
        </p:spPr>
        <p:txBody>
          <a:bodyPr wrap="square" lIns="0" tIns="0" rIns="0" bIns="0" rtlCol="0" anchor="ctr"/>
          <a:lstStyle/>
          <a:p>
            <a:pPr indent="0" marL="0">
              <a:buNone/>
            </a:pPr>
            <a:r>
              <a:rPr lang="en-US" sz="1100" b="1" spc="220" kern="0" dirty="0">
                <a:solidFill>
                  <a:srgbClr val="028090"/>
                </a:solidFill>
                <a:latin typeface="Calibri" pitchFamily="34" charset="0"/>
                <a:ea typeface="Calibri" pitchFamily="34" charset="-122"/>
                <a:cs typeface="Calibri" pitchFamily="34" charset="-120"/>
              </a:rPr>
              <a:t>DESIGN DECISION</a:t>
            </a:r>
            <a:endParaRPr lang="en-US" sz="1100" dirty="0"/>
          </a:p>
        </p:txBody>
      </p:sp>
      <p:sp>
        <p:nvSpPr>
          <p:cNvPr id="3" name="Text 1"/>
          <p:cNvSpPr/>
          <p:nvPr/>
        </p:nvSpPr>
        <p:spPr>
          <a:xfrm>
            <a:off x="566928" y="621792"/>
            <a:ext cx="11027664" cy="621792"/>
          </a:xfrm>
          <a:prstGeom prst="rect">
            <a:avLst/>
          </a:prstGeom>
          <a:noFill/>
          <a:ln/>
        </p:spPr>
        <p:txBody>
          <a:bodyPr wrap="square" lIns="0" tIns="0" rIns="0" bIns="0" rtlCol="0" anchor="t"/>
          <a:lstStyle/>
          <a:p>
            <a:pPr indent="0" marL="0">
              <a:buNone/>
            </a:pPr>
            <a:r>
              <a:rPr lang="en-US" sz="3000" b="1" dirty="0">
                <a:solidFill>
                  <a:srgbClr val="0A2E36"/>
                </a:solidFill>
                <a:latin typeface="Cambria" pitchFamily="34" charset="0"/>
                <a:ea typeface="Cambria" pitchFamily="34" charset="-122"/>
                <a:cs typeface="Cambria" pitchFamily="34" charset="-120"/>
              </a:rPr>
              <a:t>AI Assistance — and Why It Cannot Break Anything</a:t>
            </a:r>
            <a:endParaRPr lang="en-US" sz="3000" dirty="0"/>
          </a:p>
        </p:txBody>
      </p:sp>
      <p:sp>
        <p:nvSpPr>
          <p:cNvPr id="4" name="Shape 2"/>
          <p:cNvSpPr/>
          <p:nvPr/>
        </p:nvSpPr>
        <p:spPr>
          <a:xfrm>
            <a:off x="566928" y="1316736"/>
            <a:ext cx="11027664" cy="658368"/>
          </a:xfrm>
          <a:prstGeom prst="roundRect">
            <a:avLst>
              <a:gd name="adj" fmla="val 13889"/>
            </a:avLst>
          </a:prstGeom>
          <a:solidFill>
            <a:srgbClr val="FBF7EF"/>
          </a:solidFill>
          <a:ln w="9525">
            <a:solidFill>
              <a:srgbClr val="EBDFC8"/>
            </a:solidFill>
            <a:prstDash val="solid"/>
          </a:ln>
          <a:effectLst>
            <a:outerShdw sx="100000" sy="100000" kx="0" ky="0" algn="bl" rotWithShape="0" blurRad="127000" dist="25400" dir="5400000">
              <a:srgbClr val="0A2E36">
                <a:alpha val="10000"/>
              </a:srgbClr>
            </a:outerShdw>
          </a:effectLst>
        </p:spPr>
      </p:sp>
      <p:sp>
        <p:nvSpPr>
          <p:cNvPr id="5" name="Text 3"/>
          <p:cNvSpPr/>
          <p:nvPr/>
        </p:nvSpPr>
        <p:spPr>
          <a:xfrm>
            <a:off x="877824" y="1316736"/>
            <a:ext cx="10405872" cy="658368"/>
          </a:xfrm>
          <a:prstGeom prst="rect">
            <a:avLst/>
          </a:prstGeom>
          <a:noFill/>
          <a:ln/>
        </p:spPr>
        <p:txBody>
          <a:bodyPr wrap="square" lIns="0" tIns="0" rIns="0" bIns="0" rtlCol="0" anchor="ctr"/>
          <a:lstStyle/>
          <a:p>
            <a:pPr indent="0" marL="0">
              <a:lnSpc>
                <a:spcPts val="1500"/>
              </a:lnSpc>
              <a:buNone/>
            </a:pPr>
            <a:r>
              <a:rPr lang="en-US" sz="1200" dirty="0">
                <a:solidFill>
                  <a:srgbClr val="6B4E10"/>
                </a:solidFill>
                <a:latin typeface="Calibri" pitchFamily="34" charset="0"/>
                <a:ea typeface="Calibri" pitchFamily="34" charset="-122"/>
                <a:cs typeface="Calibri" pitchFamily="34" charset="-120"/>
              </a:rPr>
              <a:t>The Project 19 specification does not require AI — only the title contains it. Every capability here is our own addition, so we designed it so that no mandatory requirement depends on it.</a:t>
            </a:r>
            <a:endParaRPr lang="en-US" sz="1200" dirty="0"/>
          </a:p>
        </p:txBody>
      </p:sp>
      <p:sp>
        <p:nvSpPr>
          <p:cNvPr id="6" name="Shape 4"/>
          <p:cNvSpPr/>
          <p:nvPr/>
        </p:nvSpPr>
        <p:spPr>
          <a:xfrm>
            <a:off x="566928" y="2139696"/>
            <a:ext cx="2578608" cy="1645920"/>
          </a:xfrm>
          <a:prstGeom prst="roundRect">
            <a:avLst>
              <a:gd name="adj" fmla="val 5556"/>
            </a:avLst>
          </a:prstGeom>
          <a:solidFill>
            <a:srgbClr val="EEF6F7"/>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7" name="Text 5"/>
          <p:cNvSpPr/>
          <p:nvPr/>
        </p:nvSpPr>
        <p:spPr>
          <a:xfrm>
            <a:off x="786384" y="2286000"/>
            <a:ext cx="2139696" cy="256032"/>
          </a:xfrm>
          <a:prstGeom prst="rect">
            <a:avLst/>
          </a:prstGeom>
          <a:noFill/>
          <a:ln/>
        </p:spPr>
        <p:txBody>
          <a:bodyPr wrap="square" lIns="0" tIns="0" rIns="0" bIns="0" rtlCol="0" anchor="ctr"/>
          <a:lstStyle/>
          <a:p>
            <a:pPr indent="0" marL="0">
              <a:buNone/>
            </a:pPr>
            <a:r>
              <a:rPr lang="en-US" sz="1350" b="1" dirty="0">
                <a:solidFill>
                  <a:srgbClr val="0A2E36"/>
                </a:solidFill>
                <a:latin typeface="Cambria" pitchFamily="34" charset="0"/>
                <a:ea typeface="Cambria" pitchFamily="34" charset="-122"/>
                <a:cs typeface="Cambria" pitchFamily="34" charset="-120"/>
              </a:rPr>
              <a:t>Classification</a:t>
            </a:r>
            <a:endParaRPr lang="en-US" sz="1350" dirty="0"/>
          </a:p>
        </p:txBody>
      </p:sp>
      <p:sp>
        <p:nvSpPr>
          <p:cNvPr id="8" name="Text 6"/>
          <p:cNvSpPr/>
          <p:nvPr/>
        </p:nvSpPr>
        <p:spPr>
          <a:xfrm>
            <a:off x="786384" y="2560320"/>
            <a:ext cx="2139696" cy="603504"/>
          </a:xfrm>
          <a:prstGeom prst="rect">
            <a:avLst/>
          </a:prstGeom>
          <a:noFill/>
          <a:ln/>
        </p:spPr>
        <p:txBody>
          <a:bodyPr wrap="square" lIns="0" tIns="0" rIns="0" bIns="0" rtlCol="0" anchor="t"/>
          <a:lstStyle/>
          <a:p>
            <a:pPr indent="0" marL="0">
              <a:lnSpc>
                <a:spcPts val="1300"/>
              </a:lnSpc>
              <a:buNone/>
            </a:pPr>
            <a:r>
              <a:rPr lang="en-US" sz="1100" dirty="0">
                <a:solidFill>
                  <a:srgbClr val="445C64"/>
                </a:solidFill>
                <a:latin typeface="Calibri" pitchFamily="34" charset="0"/>
                <a:ea typeface="Calibri" pitchFamily="34" charset="-122"/>
                <a:cs typeface="Calibri" pitchFamily="34" charset="-120"/>
              </a:rPr>
              <a:t>Category, priority, sentiment and a one-line summary on submission</a:t>
            </a:r>
            <a:endParaRPr lang="en-US" sz="1100" dirty="0"/>
          </a:p>
        </p:txBody>
      </p:sp>
      <p:sp>
        <p:nvSpPr>
          <p:cNvPr id="9" name="Text 7"/>
          <p:cNvSpPr/>
          <p:nvPr/>
        </p:nvSpPr>
        <p:spPr>
          <a:xfrm>
            <a:off x="786384" y="3182112"/>
            <a:ext cx="2139696" cy="457200"/>
          </a:xfrm>
          <a:prstGeom prst="rect">
            <a:avLst/>
          </a:prstGeom>
          <a:noFill/>
          <a:ln/>
        </p:spPr>
        <p:txBody>
          <a:bodyPr wrap="square" lIns="0" tIns="0" rIns="0" bIns="0" rtlCol="0" anchor="t"/>
          <a:lstStyle/>
          <a:p>
            <a:pPr indent="0" marL="0">
              <a:lnSpc>
                <a:spcPts val="1300"/>
              </a:lnSpc>
              <a:buNone/>
            </a:pPr>
            <a:r>
              <a:rPr lang="en-US" sz="1050" b="1" dirty="0">
                <a:solidFill>
                  <a:srgbClr val="028090"/>
                </a:solidFill>
                <a:latin typeface="Calibri" pitchFamily="34" charset="0"/>
                <a:ea typeface="Calibri" pitchFamily="34" charset="-122"/>
                <a:cs typeface="Calibri" pitchFamily="34" charset="-120"/>
              </a:rPr>
              <a:t>Human control: Agent overrides any field</a:t>
            </a:r>
            <a:endParaRPr lang="en-US" sz="1050" dirty="0"/>
          </a:p>
        </p:txBody>
      </p:sp>
      <p:sp>
        <p:nvSpPr>
          <p:cNvPr id="10" name="Shape 8"/>
          <p:cNvSpPr/>
          <p:nvPr/>
        </p:nvSpPr>
        <p:spPr>
          <a:xfrm>
            <a:off x="3383280" y="2139696"/>
            <a:ext cx="2578608" cy="1645920"/>
          </a:xfrm>
          <a:prstGeom prst="roundRect">
            <a:avLst>
              <a:gd name="adj" fmla="val 5556"/>
            </a:avLst>
          </a:prstGeom>
          <a:solidFill>
            <a:srgbClr val="EEF6F7"/>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11" name="Text 9"/>
          <p:cNvSpPr/>
          <p:nvPr/>
        </p:nvSpPr>
        <p:spPr>
          <a:xfrm>
            <a:off x="3602736" y="2286000"/>
            <a:ext cx="2139696" cy="256032"/>
          </a:xfrm>
          <a:prstGeom prst="rect">
            <a:avLst/>
          </a:prstGeom>
          <a:noFill/>
          <a:ln/>
        </p:spPr>
        <p:txBody>
          <a:bodyPr wrap="square" lIns="0" tIns="0" rIns="0" bIns="0" rtlCol="0" anchor="ctr"/>
          <a:lstStyle/>
          <a:p>
            <a:pPr indent="0" marL="0">
              <a:buNone/>
            </a:pPr>
            <a:r>
              <a:rPr lang="en-US" sz="1350" b="1" dirty="0">
                <a:solidFill>
                  <a:srgbClr val="0A2E36"/>
                </a:solidFill>
                <a:latin typeface="Cambria" pitchFamily="34" charset="0"/>
                <a:ea typeface="Cambria" pitchFamily="34" charset="-122"/>
                <a:cs typeface="Cambria" pitchFamily="34" charset="-120"/>
              </a:rPr>
              <a:t>Draft reply</a:t>
            </a:r>
            <a:endParaRPr lang="en-US" sz="1350" dirty="0"/>
          </a:p>
        </p:txBody>
      </p:sp>
      <p:sp>
        <p:nvSpPr>
          <p:cNvPr id="12" name="Text 10"/>
          <p:cNvSpPr/>
          <p:nvPr/>
        </p:nvSpPr>
        <p:spPr>
          <a:xfrm>
            <a:off x="3602736" y="2560320"/>
            <a:ext cx="2139696" cy="603504"/>
          </a:xfrm>
          <a:prstGeom prst="rect">
            <a:avLst/>
          </a:prstGeom>
          <a:noFill/>
          <a:ln/>
        </p:spPr>
        <p:txBody>
          <a:bodyPr wrap="square" lIns="0" tIns="0" rIns="0" bIns="0" rtlCol="0" anchor="t"/>
          <a:lstStyle/>
          <a:p>
            <a:pPr indent="0" marL="0">
              <a:lnSpc>
                <a:spcPts val="1300"/>
              </a:lnSpc>
              <a:buNone/>
            </a:pPr>
            <a:r>
              <a:rPr lang="en-US" sz="1100" dirty="0">
                <a:solidFill>
                  <a:srgbClr val="445C64"/>
                </a:solidFill>
                <a:latin typeface="Calibri" pitchFamily="34" charset="0"/>
                <a:ea typeface="Calibri" pitchFamily="34" charset="-122"/>
                <a:cs typeface="Calibri" pitchFamily="34" charset="-120"/>
              </a:rPr>
              <a:t>Generated for the agent to work from</a:t>
            </a:r>
            <a:endParaRPr lang="en-US" sz="1100" dirty="0"/>
          </a:p>
        </p:txBody>
      </p:sp>
      <p:sp>
        <p:nvSpPr>
          <p:cNvPr id="13" name="Text 11"/>
          <p:cNvSpPr/>
          <p:nvPr/>
        </p:nvSpPr>
        <p:spPr>
          <a:xfrm>
            <a:off x="3602736" y="3182112"/>
            <a:ext cx="2139696" cy="457200"/>
          </a:xfrm>
          <a:prstGeom prst="rect">
            <a:avLst/>
          </a:prstGeom>
          <a:noFill/>
          <a:ln/>
        </p:spPr>
        <p:txBody>
          <a:bodyPr wrap="square" lIns="0" tIns="0" rIns="0" bIns="0" rtlCol="0" anchor="t"/>
          <a:lstStyle/>
          <a:p>
            <a:pPr indent="0" marL="0">
              <a:lnSpc>
                <a:spcPts val="1300"/>
              </a:lnSpc>
              <a:buNone/>
            </a:pPr>
            <a:r>
              <a:rPr lang="en-US" sz="1050" b="1" dirty="0">
                <a:solidFill>
                  <a:srgbClr val="028090"/>
                </a:solidFill>
                <a:latin typeface="Calibri" pitchFamily="34" charset="0"/>
                <a:ea typeface="Calibri" pitchFamily="34" charset="-122"/>
                <a:cs typeface="Calibri" pitchFamily="34" charset="-120"/>
              </a:rPr>
              <a:t>Human control: Agent must insert, edit and send</a:t>
            </a:r>
            <a:endParaRPr lang="en-US" sz="1050" dirty="0"/>
          </a:p>
        </p:txBody>
      </p:sp>
      <p:sp>
        <p:nvSpPr>
          <p:cNvPr id="14" name="Shape 12"/>
          <p:cNvSpPr/>
          <p:nvPr/>
        </p:nvSpPr>
        <p:spPr>
          <a:xfrm>
            <a:off x="6199632" y="2139696"/>
            <a:ext cx="2578608" cy="1645920"/>
          </a:xfrm>
          <a:prstGeom prst="roundRect">
            <a:avLst>
              <a:gd name="adj" fmla="val 5556"/>
            </a:avLst>
          </a:prstGeom>
          <a:solidFill>
            <a:srgbClr val="EEF6F7"/>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15" name="Text 13"/>
          <p:cNvSpPr/>
          <p:nvPr/>
        </p:nvSpPr>
        <p:spPr>
          <a:xfrm>
            <a:off x="6419088" y="2286000"/>
            <a:ext cx="2139696" cy="256032"/>
          </a:xfrm>
          <a:prstGeom prst="rect">
            <a:avLst/>
          </a:prstGeom>
          <a:noFill/>
          <a:ln/>
        </p:spPr>
        <p:txBody>
          <a:bodyPr wrap="square" lIns="0" tIns="0" rIns="0" bIns="0" rtlCol="0" anchor="ctr"/>
          <a:lstStyle/>
          <a:p>
            <a:pPr indent="0" marL="0">
              <a:buNone/>
            </a:pPr>
            <a:r>
              <a:rPr lang="en-US" sz="1350" b="1" dirty="0">
                <a:solidFill>
                  <a:srgbClr val="0A2E36"/>
                </a:solidFill>
                <a:latin typeface="Cambria" pitchFamily="34" charset="0"/>
                <a:ea typeface="Cambria" pitchFamily="34" charset="-122"/>
                <a:cs typeface="Cambria" pitchFamily="34" charset="-120"/>
              </a:rPr>
              <a:t>Summarisation</a:t>
            </a:r>
            <a:endParaRPr lang="en-US" sz="1350" dirty="0"/>
          </a:p>
        </p:txBody>
      </p:sp>
      <p:sp>
        <p:nvSpPr>
          <p:cNvPr id="16" name="Text 14"/>
          <p:cNvSpPr/>
          <p:nvPr/>
        </p:nvSpPr>
        <p:spPr>
          <a:xfrm>
            <a:off x="6419088" y="2560320"/>
            <a:ext cx="2139696" cy="603504"/>
          </a:xfrm>
          <a:prstGeom prst="rect">
            <a:avLst/>
          </a:prstGeom>
          <a:noFill/>
          <a:ln/>
        </p:spPr>
        <p:txBody>
          <a:bodyPr wrap="square" lIns="0" tIns="0" rIns="0" bIns="0" rtlCol="0" anchor="t"/>
          <a:lstStyle/>
          <a:p>
            <a:pPr indent="0" marL="0">
              <a:lnSpc>
                <a:spcPts val="1300"/>
              </a:lnSpc>
              <a:buNone/>
            </a:pPr>
            <a:r>
              <a:rPr lang="en-US" sz="1100" dirty="0">
                <a:solidFill>
                  <a:srgbClr val="445C64"/>
                </a:solidFill>
                <a:latin typeface="Calibri" pitchFamily="34" charset="0"/>
                <a:ea typeface="Calibri" pitchFamily="34" charset="-122"/>
                <a:cs typeface="Calibri" pitchFamily="34" charset="-120"/>
              </a:rPr>
              <a:t>Condenses a long thread for an agent picking it up cold</a:t>
            </a:r>
            <a:endParaRPr lang="en-US" sz="1100" dirty="0"/>
          </a:p>
        </p:txBody>
      </p:sp>
      <p:sp>
        <p:nvSpPr>
          <p:cNvPr id="17" name="Text 15"/>
          <p:cNvSpPr/>
          <p:nvPr/>
        </p:nvSpPr>
        <p:spPr>
          <a:xfrm>
            <a:off x="6419088" y="3182112"/>
            <a:ext cx="2139696" cy="457200"/>
          </a:xfrm>
          <a:prstGeom prst="rect">
            <a:avLst/>
          </a:prstGeom>
          <a:noFill/>
          <a:ln/>
        </p:spPr>
        <p:txBody>
          <a:bodyPr wrap="square" lIns="0" tIns="0" rIns="0" bIns="0" rtlCol="0" anchor="t"/>
          <a:lstStyle/>
          <a:p>
            <a:pPr indent="0" marL="0">
              <a:lnSpc>
                <a:spcPts val="1300"/>
              </a:lnSpc>
              <a:buNone/>
            </a:pPr>
            <a:r>
              <a:rPr lang="en-US" sz="1050" b="1" dirty="0">
                <a:solidFill>
                  <a:srgbClr val="028090"/>
                </a:solidFill>
                <a:latin typeface="Calibri" pitchFamily="34" charset="0"/>
                <a:ea typeface="Calibri" pitchFamily="34" charset="-122"/>
                <a:cs typeface="Calibri" pitchFamily="34" charset="-120"/>
              </a:rPr>
              <a:t>Human control: Advisory only</a:t>
            </a:r>
            <a:endParaRPr lang="en-US" sz="1050" dirty="0"/>
          </a:p>
        </p:txBody>
      </p:sp>
      <p:sp>
        <p:nvSpPr>
          <p:cNvPr id="18" name="Shape 16"/>
          <p:cNvSpPr/>
          <p:nvPr/>
        </p:nvSpPr>
        <p:spPr>
          <a:xfrm>
            <a:off x="9015984" y="2139696"/>
            <a:ext cx="2578608" cy="1645920"/>
          </a:xfrm>
          <a:prstGeom prst="roundRect">
            <a:avLst>
              <a:gd name="adj" fmla="val 5556"/>
            </a:avLst>
          </a:prstGeom>
          <a:solidFill>
            <a:srgbClr val="EEF6F7"/>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19" name="Text 17"/>
          <p:cNvSpPr/>
          <p:nvPr/>
        </p:nvSpPr>
        <p:spPr>
          <a:xfrm>
            <a:off x="9235440" y="2286000"/>
            <a:ext cx="2139696" cy="256032"/>
          </a:xfrm>
          <a:prstGeom prst="rect">
            <a:avLst/>
          </a:prstGeom>
          <a:noFill/>
          <a:ln/>
        </p:spPr>
        <p:txBody>
          <a:bodyPr wrap="square" lIns="0" tIns="0" rIns="0" bIns="0" rtlCol="0" anchor="ctr"/>
          <a:lstStyle/>
          <a:p>
            <a:pPr indent="0" marL="0">
              <a:buNone/>
            </a:pPr>
            <a:r>
              <a:rPr lang="en-US" sz="1350" b="1" dirty="0">
                <a:solidFill>
                  <a:srgbClr val="0A2E36"/>
                </a:solidFill>
                <a:latin typeface="Cambria" pitchFamily="34" charset="0"/>
                <a:ea typeface="Cambria" pitchFamily="34" charset="-122"/>
                <a:cs typeface="Cambria" pitchFamily="34" charset="-120"/>
              </a:rPr>
              <a:t>Resolution steps</a:t>
            </a:r>
            <a:endParaRPr lang="en-US" sz="1350" dirty="0"/>
          </a:p>
        </p:txBody>
      </p:sp>
      <p:sp>
        <p:nvSpPr>
          <p:cNvPr id="20" name="Text 18"/>
          <p:cNvSpPr/>
          <p:nvPr/>
        </p:nvSpPr>
        <p:spPr>
          <a:xfrm>
            <a:off x="9235440" y="2560320"/>
            <a:ext cx="2139696" cy="603504"/>
          </a:xfrm>
          <a:prstGeom prst="rect">
            <a:avLst/>
          </a:prstGeom>
          <a:noFill/>
          <a:ln/>
        </p:spPr>
        <p:txBody>
          <a:bodyPr wrap="square" lIns="0" tIns="0" rIns="0" bIns="0" rtlCol="0" anchor="t"/>
          <a:lstStyle/>
          <a:p>
            <a:pPr indent="0" marL="0">
              <a:lnSpc>
                <a:spcPts val="1300"/>
              </a:lnSpc>
              <a:buNone/>
            </a:pPr>
            <a:r>
              <a:rPr lang="en-US" sz="1100" dirty="0">
                <a:solidFill>
                  <a:srgbClr val="445C64"/>
                </a:solidFill>
                <a:latin typeface="Calibri" pitchFamily="34" charset="0"/>
                <a:ea typeface="Calibri" pitchFamily="34" charset="-122"/>
                <a:cs typeface="Calibri" pitchFamily="34" charset="-120"/>
              </a:rPr>
              <a:t>Suggests troubleshooting steps by category</a:t>
            </a:r>
            <a:endParaRPr lang="en-US" sz="1100" dirty="0"/>
          </a:p>
        </p:txBody>
      </p:sp>
      <p:sp>
        <p:nvSpPr>
          <p:cNvPr id="21" name="Text 19"/>
          <p:cNvSpPr/>
          <p:nvPr/>
        </p:nvSpPr>
        <p:spPr>
          <a:xfrm>
            <a:off x="9235440" y="3182112"/>
            <a:ext cx="2139696" cy="457200"/>
          </a:xfrm>
          <a:prstGeom prst="rect">
            <a:avLst/>
          </a:prstGeom>
          <a:noFill/>
          <a:ln/>
        </p:spPr>
        <p:txBody>
          <a:bodyPr wrap="square" lIns="0" tIns="0" rIns="0" bIns="0" rtlCol="0" anchor="t"/>
          <a:lstStyle/>
          <a:p>
            <a:pPr indent="0" marL="0">
              <a:lnSpc>
                <a:spcPts val="1300"/>
              </a:lnSpc>
              <a:buNone/>
            </a:pPr>
            <a:r>
              <a:rPr lang="en-US" sz="1050" b="1" dirty="0">
                <a:solidFill>
                  <a:srgbClr val="028090"/>
                </a:solidFill>
                <a:latin typeface="Calibri" pitchFamily="34" charset="0"/>
                <a:ea typeface="Calibri" pitchFamily="34" charset="-122"/>
                <a:cs typeface="Calibri" pitchFamily="34" charset="-120"/>
              </a:rPr>
              <a:t>Human control: Advisory only</a:t>
            </a:r>
            <a:endParaRPr lang="en-US" sz="1050" dirty="0"/>
          </a:p>
        </p:txBody>
      </p:sp>
      <p:sp>
        <p:nvSpPr>
          <p:cNvPr id="22" name="Text 20"/>
          <p:cNvSpPr/>
          <p:nvPr/>
        </p:nvSpPr>
        <p:spPr>
          <a:xfrm>
            <a:off x="566928" y="3950208"/>
            <a:ext cx="11027664" cy="292608"/>
          </a:xfrm>
          <a:prstGeom prst="rect">
            <a:avLst/>
          </a:prstGeom>
          <a:noFill/>
          <a:ln/>
        </p:spPr>
        <p:txBody>
          <a:bodyPr wrap="square" lIns="0" tIns="0" rIns="0" bIns="0" rtlCol="0" anchor="ctr"/>
          <a:lstStyle/>
          <a:p>
            <a:pPr indent="0" marL="0">
              <a:buNone/>
            </a:pPr>
            <a:r>
              <a:rPr lang="en-US" sz="1500" b="1" dirty="0">
                <a:solidFill>
                  <a:srgbClr val="0A2E36"/>
                </a:solidFill>
                <a:latin typeface="Cambria" pitchFamily="34" charset="0"/>
                <a:ea typeface="Cambria" pitchFamily="34" charset="-122"/>
                <a:cs typeface="Cambria" pitchFamily="34" charset="-120"/>
              </a:rPr>
              <a:t>Three properties that make it safe</a:t>
            </a:r>
            <a:endParaRPr lang="en-US" sz="1500" dirty="0"/>
          </a:p>
        </p:txBody>
      </p:sp>
      <p:sp>
        <p:nvSpPr>
          <p:cNvPr id="23" name="Shape 21"/>
          <p:cNvSpPr/>
          <p:nvPr/>
        </p:nvSpPr>
        <p:spPr>
          <a:xfrm>
            <a:off x="566928" y="4315968"/>
            <a:ext cx="3517392" cy="1572768"/>
          </a:xfrm>
          <a:prstGeom prst="roundRect">
            <a:avLst>
              <a:gd name="adj" fmla="val 5814"/>
            </a:avLst>
          </a:prstGeom>
          <a:solidFill>
            <a:srgbClr val="EEF6F7"/>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24" name="Text 22"/>
          <p:cNvSpPr/>
          <p:nvPr/>
        </p:nvSpPr>
        <p:spPr>
          <a:xfrm>
            <a:off x="804672" y="4462272"/>
            <a:ext cx="3041904" cy="256032"/>
          </a:xfrm>
          <a:prstGeom prst="rect">
            <a:avLst/>
          </a:prstGeom>
          <a:noFill/>
          <a:ln/>
        </p:spPr>
        <p:txBody>
          <a:bodyPr wrap="square" lIns="0" tIns="0" rIns="0" bIns="0" rtlCol="0" anchor="ctr"/>
          <a:lstStyle/>
          <a:p>
            <a:pPr indent="0" marL="0">
              <a:buNone/>
            </a:pPr>
            <a:r>
              <a:rPr lang="en-US" sz="1300" b="1" dirty="0">
                <a:solidFill>
                  <a:srgbClr val="0A2E36"/>
                </a:solidFill>
                <a:latin typeface="Cambria" pitchFamily="34" charset="0"/>
                <a:ea typeface="Cambria" pitchFamily="34" charset="-122"/>
                <a:cs typeface="Cambria" pitchFamily="34" charset="-120"/>
              </a:rPr>
              <a:t>Off the critical path</a:t>
            </a:r>
            <a:endParaRPr lang="en-US" sz="1300" dirty="0"/>
          </a:p>
        </p:txBody>
      </p:sp>
      <p:sp>
        <p:nvSpPr>
          <p:cNvPr id="25" name="Text 23"/>
          <p:cNvSpPr/>
          <p:nvPr/>
        </p:nvSpPr>
        <p:spPr>
          <a:xfrm>
            <a:off x="804672" y="4736592"/>
            <a:ext cx="3041904" cy="786384"/>
          </a:xfrm>
          <a:prstGeom prst="rect">
            <a:avLst/>
          </a:prstGeom>
          <a:noFill/>
          <a:ln/>
        </p:spPr>
        <p:txBody>
          <a:bodyPr wrap="square" lIns="0" tIns="0" rIns="0" bIns="0" rtlCol="0" anchor="t"/>
          <a:lstStyle/>
          <a:p>
            <a:pPr indent="0" marL="0">
              <a:lnSpc>
                <a:spcPts val="1300"/>
              </a:lnSpc>
              <a:buNone/>
            </a:pPr>
            <a:r>
              <a:rPr lang="en-US" sz="1100" dirty="0">
                <a:solidFill>
                  <a:srgbClr val="445C64"/>
                </a:solidFill>
                <a:latin typeface="Calibri" pitchFamily="34" charset="0"/>
                <a:ea typeface="Calibri" pitchFamily="34" charset="-122"/>
                <a:cs typeface="Calibri" pitchFamily="34" charset="-120"/>
              </a:rPr>
              <a:t>Classification runs after the ticket row is committed and is never awaited. Ticket creation cannot fail because the AI is down.</a:t>
            </a:r>
            <a:endParaRPr lang="en-US" sz="1100" dirty="0"/>
          </a:p>
        </p:txBody>
      </p:sp>
      <p:sp>
        <p:nvSpPr>
          <p:cNvPr id="26" name="Shape 24"/>
          <p:cNvSpPr/>
          <p:nvPr/>
        </p:nvSpPr>
        <p:spPr>
          <a:xfrm>
            <a:off x="804672" y="5504688"/>
            <a:ext cx="1371600" cy="237744"/>
          </a:xfrm>
          <a:prstGeom prst="roundRect">
            <a:avLst>
              <a:gd name="adj" fmla="val 19231"/>
            </a:avLst>
          </a:prstGeom>
          <a:solidFill>
            <a:srgbClr val="028090"/>
          </a:solidFill>
          <a:ln/>
        </p:spPr>
      </p:sp>
      <p:sp>
        <p:nvSpPr>
          <p:cNvPr id="27" name="Text 25"/>
          <p:cNvSpPr/>
          <p:nvPr/>
        </p:nvSpPr>
        <p:spPr>
          <a:xfrm>
            <a:off x="804672" y="5504688"/>
            <a:ext cx="137160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Test AI-11</a:t>
            </a:r>
            <a:endParaRPr lang="en-US" sz="950" dirty="0"/>
          </a:p>
        </p:txBody>
      </p:sp>
      <p:sp>
        <p:nvSpPr>
          <p:cNvPr id="28" name="Shape 26"/>
          <p:cNvSpPr/>
          <p:nvPr/>
        </p:nvSpPr>
        <p:spPr>
          <a:xfrm>
            <a:off x="4322064" y="4315968"/>
            <a:ext cx="3517392" cy="1572768"/>
          </a:xfrm>
          <a:prstGeom prst="roundRect">
            <a:avLst>
              <a:gd name="adj" fmla="val 5814"/>
            </a:avLst>
          </a:prstGeom>
          <a:solidFill>
            <a:srgbClr val="EEF6F7"/>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29" name="Text 27"/>
          <p:cNvSpPr/>
          <p:nvPr/>
        </p:nvSpPr>
        <p:spPr>
          <a:xfrm>
            <a:off x="4559808" y="4462272"/>
            <a:ext cx="3041904" cy="256032"/>
          </a:xfrm>
          <a:prstGeom prst="rect">
            <a:avLst/>
          </a:prstGeom>
          <a:noFill/>
          <a:ln/>
        </p:spPr>
        <p:txBody>
          <a:bodyPr wrap="square" lIns="0" tIns="0" rIns="0" bIns="0" rtlCol="0" anchor="ctr"/>
          <a:lstStyle/>
          <a:p>
            <a:pPr indent="0" marL="0">
              <a:buNone/>
            </a:pPr>
            <a:r>
              <a:rPr lang="en-US" sz="1300" b="1" dirty="0">
                <a:solidFill>
                  <a:srgbClr val="0A2E36"/>
                </a:solidFill>
                <a:latin typeface="Cambria" pitchFamily="34" charset="0"/>
                <a:ea typeface="Cambria" pitchFamily="34" charset="-122"/>
                <a:cs typeface="Cambria" pitchFamily="34" charset="-120"/>
              </a:rPr>
              <a:t>A real fallback, not a stub</a:t>
            </a:r>
            <a:endParaRPr lang="en-US" sz="1300" dirty="0"/>
          </a:p>
        </p:txBody>
      </p:sp>
      <p:sp>
        <p:nvSpPr>
          <p:cNvPr id="30" name="Text 28"/>
          <p:cNvSpPr/>
          <p:nvPr/>
        </p:nvSpPr>
        <p:spPr>
          <a:xfrm>
            <a:off x="4559808" y="4736592"/>
            <a:ext cx="3041904" cy="786384"/>
          </a:xfrm>
          <a:prstGeom prst="rect">
            <a:avLst/>
          </a:prstGeom>
          <a:noFill/>
          <a:ln/>
        </p:spPr>
        <p:txBody>
          <a:bodyPr wrap="square" lIns="0" tIns="0" rIns="0" bIns="0" rtlCol="0" anchor="t"/>
          <a:lstStyle/>
          <a:p>
            <a:pPr indent="0" marL="0">
              <a:lnSpc>
                <a:spcPts val="1300"/>
              </a:lnSpc>
              <a:buNone/>
            </a:pPr>
            <a:r>
              <a:rPr lang="en-US" sz="1100" dirty="0">
                <a:solidFill>
                  <a:srgbClr val="445C64"/>
                </a:solidFill>
                <a:latin typeface="Calibri" pitchFamily="34" charset="0"/>
                <a:ea typeface="Calibri" pitchFamily="34" charset="-122"/>
                <a:cs typeface="Calibri" pitchFamily="34" charset="-120"/>
              </a:rPr>
              <a:t>A deterministic keyword classifier with category playbooks. The whole system is demonstrable with no API key at all.</a:t>
            </a:r>
            <a:endParaRPr lang="en-US" sz="1100" dirty="0"/>
          </a:p>
        </p:txBody>
      </p:sp>
      <p:sp>
        <p:nvSpPr>
          <p:cNvPr id="31" name="Shape 29"/>
          <p:cNvSpPr/>
          <p:nvPr/>
        </p:nvSpPr>
        <p:spPr>
          <a:xfrm>
            <a:off x="4559808" y="5504688"/>
            <a:ext cx="1371600" cy="237744"/>
          </a:xfrm>
          <a:prstGeom prst="roundRect">
            <a:avLst>
              <a:gd name="adj" fmla="val 19231"/>
            </a:avLst>
          </a:prstGeom>
          <a:solidFill>
            <a:srgbClr val="028090"/>
          </a:solidFill>
          <a:ln/>
        </p:spPr>
      </p:sp>
      <p:sp>
        <p:nvSpPr>
          <p:cNvPr id="32" name="Text 30"/>
          <p:cNvSpPr/>
          <p:nvPr/>
        </p:nvSpPr>
        <p:spPr>
          <a:xfrm>
            <a:off x="4559808" y="5504688"/>
            <a:ext cx="137160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Tests AI-01 to AI-07</a:t>
            </a:r>
            <a:endParaRPr lang="en-US" sz="950" dirty="0"/>
          </a:p>
        </p:txBody>
      </p:sp>
      <p:sp>
        <p:nvSpPr>
          <p:cNvPr id="33" name="Shape 31"/>
          <p:cNvSpPr/>
          <p:nvPr/>
        </p:nvSpPr>
        <p:spPr>
          <a:xfrm>
            <a:off x="8077200" y="4315968"/>
            <a:ext cx="3517392" cy="1572768"/>
          </a:xfrm>
          <a:prstGeom prst="roundRect">
            <a:avLst>
              <a:gd name="adj" fmla="val 5814"/>
            </a:avLst>
          </a:prstGeom>
          <a:solidFill>
            <a:srgbClr val="EEF6F7"/>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34" name="Text 32"/>
          <p:cNvSpPr/>
          <p:nvPr/>
        </p:nvSpPr>
        <p:spPr>
          <a:xfrm>
            <a:off x="8314944" y="4462272"/>
            <a:ext cx="3041904" cy="256032"/>
          </a:xfrm>
          <a:prstGeom prst="rect">
            <a:avLst/>
          </a:prstGeom>
          <a:noFill/>
          <a:ln/>
        </p:spPr>
        <p:txBody>
          <a:bodyPr wrap="square" lIns="0" tIns="0" rIns="0" bIns="0" rtlCol="0" anchor="ctr"/>
          <a:lstStyle/>
          <a:p>
            <a:pPr indent="0" marL="0">
              <a:buNone/>
            </a:pPr>
            <a:r>
              <a:rPr lang="en-US" sz="1300" b="1" dirty="0">
                <a:solidFill>
                  <a:srgbClr val="0A2E36"/>
                </a:solidFill>
                <a:latin typeface="Cambria" pitchFamily="34" charset="0"/>
                <a:ea typeface="Cambria" pitchFamily="34" charset="-122"/>
                <a:cs typeface="Cambria" pitchFamily="34" charset="-120"/>
              </a:rPr>
              <a:t>No path to the customer</a:t>
            </a:r>
            <a:endParaRPr lang="en-US" sz="1300" dirty="0"/>
          </a:p>
        </p:txBody>
      </p:sp>
      <p:sp>
        <p:nvSpPr>
          <p:cNvPr id="35" name="Text 33"/>
          <p:cNvSpPr/>
          <p:nvPr/>
        </p:nvSpPr>
        <p:spPr>
          <a:xfrm>
            <a:off x="8314944" y="4736592"/>
            <a:ext cx="3041904" cy="786384"/>
          </a:xfrm>
          <a:prstGeom prst="rect">
            <a:avLst/>
          </a:prstGeom>
          <a:noFill/>
          <a:ln/>
        </p:spPr>
        <p:txBody>
          <a:bodyPr wrap="square" lIns="0" tIns="0" rIns="0" bIns="0" rtlCol="0" anchor="t"/>
          <a:lstStyle/>
          <a:p>
            <a:pPr indent="0" marL="0">
              <a:lnSpc>
                <a:spcPts val="1300"/>
              </a:lnSpc>
              <a:buNone/>
            </a:pPr>
            <a:r>
              <a:rPr lang="en-US" sz="1100" dirty="0">
                <a:solidFill>
                  <a:srgbClr val="445C64"/>
                </a:solidFill>
                <a:latin typeface="Calibri" pitchFamily="34" charset="0"/>
                <a:ea typeface="Calibri" pitchFamily="34" charset="-122"/>
                <a:cs typeface="Calibri" pitchFamily="34" charset="-120"/>
              </a:rPr>
              <a:t>Generating a draft creates zero customer-visible messages. Only an agent pressing send does that.</a:t>
            </a:r>
            <a:endParaRPr lang="en-US" sz="1100" dirty="0"/>
          </a:p>
        </p:txBody>
      </p:sp>
      <p:sp>
        <p:nvSpPr>
          <p:cNvPr id="36" name="Shape 34"/>
          <p:cNvSpPr/>
          <p:nvPr/>
        </p:nvSpPr>
        <p:spPr>
          <a:xfrm>
            <a:off x="8314944" y="5504688"/>
            <a:ext cx="1371600" cy="237744"/>
          </a:xfrm>
          <a:prstGeom prst="roundRect">
            <a:avLst>
              <a:gd name="adj" fmla="val 19231"/>
            </a:avLst>
          </a:prstGeom>
          <a:solidFill>
            <a:srgbClr val="028090"/>
          </a:solidFill>
          <a:ln/>
        </p:spPr>
      </p:sp>
      <p:sp>
        <p:nvSpPr>
          <p:cNvPr id="37" name="Text 35"/>
          <p:cNvSpPr/>
          <p:nvPr/>
        </p:nvSpPr>
        <p:spPr>
          <a:xfrm>
            <a:off x="8314944" y="5504688"/>
            <a:ext cx="137160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Test AI-12</a:t>
            </a:r>
            <a:endParaRPr lang="en-US" sz="950" dirty="0"/>
          </a:p>
        </p:txBody>
      </p:sp>
      <p:sp>
        <p:nvSpPr>
          <p:cNvPr id="38" name="Text 36"/>
          <p:cNvSpPr/>
          <p:nvPr/>
        </p:nvSpPr>
        <p:spPr>
          <a:xfrm>
            <a:off x="566928" y="5980176"/>
            <a:ext cx="11027664" cy="274320"/>
          </a:xfrm>
          <a:prstGeom prst="rect">
            <a:avLst/>
          </a:prstGeom>
          <a:noFill/>
          <a:ln/>
        </p:spPr>
        <p:txBody>
          <a:bodyPr wrap="square" lIns="0" tIns="0" rIns="0" bIns="0" rtlCol="0" anchor="ctr"/>
          <a:lstStyle/>
          <a:p>
            <a:pPr indent="0" marL="0">
              <a:buNone/>
            </a:pPr>
            <a:r>
              <a:rPr lang="en-US" sz="1150" i="1" dirty="0">
                <a:solidFill>
                  <a:srgbClr val="028090"/>
                </a:solidFill>
                <a:latin typeface="Calibri" pitchFamily="34" charset="0"/>
                <a:ea typeface="Calibri" pitchFamily="34" charset="-122"/>
                <a:cs typeface="Calibri" pitchFamily="34" charset="-120"/>
              </a:rPr>
              <a:t>Why review is mandatory: a model can be confidently wrong about this customer's order, and a human should own what the business says.</a:t>
            </a:r>
            <a:endParaRPr lang="en-US" sz="1150" dirty="0"/>
          </a:p>
        </p:txBody>
      </p:sp>
      <p:sp>
        <p:nvSpPr>
          <p:cNvPr id="39" name="Text 37"/>
          <p:cNvSpPr/>
          <p:nvPr/>
        </p:nvSpPr>
        <p:spPr>
          <a:xfrm>
            <a:off x="566928" y="6345936"/>
            <a:ext cx="7315200" cy="219456"/>
          </a:xfrm>
          <a:prstGeom prst="rect">
            <a:avLst/>
          </a:prstGeom>
          <a:noFill/>
          <a:ln/>
        </p:spPr>
        <p:txBody>
          <a:bodyPr wrap="square" lIns="0" tIns="0" rIns="0" bIns="0" rtlCol="0" anchor="ctr"/>
          <a:lstStyle/>
          <a:p>
            <a:pPr indent="0" marL="0">
              <a:buNone/>
            </a:pPr>
            <a:r>
              <a:rPr lang="en-US" sz="900" dirty="0">
                <a:solidFill>
                  <a:srgbClr val="7C939B"/>
                </a:solidFill>
                <a:latin typeface="Calibri" pitchFamily="34" charset="0"/>
                <a:ea typeface="Calibri" pitchFamily="34" charset="-122"/>
                <a:cs typeface="Calibri" pitchFamily="34" charset="-120"/>
              </a:rPr>
              <a:t>ServiceDesk AI  ·  BCSE408L Cloud Computing  ·  Review 2 &amp; Final Demonstration</a:t>
            </a:r>
            <a:endParaRPr lang="en-US" sz="900" dirty="0"/>
          </a:p>
        </p:txBody>
      </p:sp>
      <p:sp>
        <p:nvSpPr>
          <p:cNvPr id="40" name="Text 38"/>
          <p:cNvSpPr/>
          <p:nvPr/>
        </p:nvSpPr>
        <p:spPr>
          <a:xfrm>
            <a:off x="10680192" y="6345936"/>
            <a:ext cx="914400" cy="219456"/>
          </a:xfrm>
          <a:prstGeom prst="rect">
            <a:avLst/>
          </a:prstGeom>
          <a:noFill/>
          <a:ln/>
        </p:spPr>
        <p:txBody>
          <a:bodyPr wrap="square" lIns="0" tIns="0" rIns="0" bIns="0" rtlCol="0" anchor="ctr"/>
          <a:lstStyle/>
          <a:p>
            <a:pPr algn="r" indent="0" marL="0">
              <a:buNone/>
            </a:pPr>
            <a:r>
              <a:rPr lang="en-US" sz="900" dirty="0">
                <a:solidFill>
                  <a:srgbClr val="7C939B"/>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27664" cy="237744"/>
          </a:xfrm>
          <a:prstGeom prst="rect">
            <a:avLst/>
          </a:prstGeom>
          <a:noFill/>
          <a:ln/>
        </p:spPr>
        <p:txBody>
          <a:bodyPr wrap="square" lIns="0" tIns="0" rIns="0" bIns="0" rtlCol="0" anchor="ctr"/>
          <a:lstStyle/>
          <a:p>
            <a:pPr indent="0" marL="0">
              <a:buNone/>
            </a:pPr>
            <a:r>
              <a:rPr lang="en-US" sz="1100" b="1" spc="220" kern="0" dirty="0">
                <a:solidFill>
                  <a:srgbClr val="028090"/>
                </a:solidFill>
                <a:latin typeface="Calibri" pitchFamily="34" charset="0"/>
                <a:ea typeface="Calibri" pitchFamily="34" charset="-122"/>
                <a:cs typeface="Calibri" pitchFamily="34" charset="-120"/>
              </a:rPr>
              <a:t>EVIDENCE</a:t>
            </a:r>
            <a:endParaRPr lang="en-US" sz="1100" dirty="0"/>
          </a:p>
        </p:txBody>
      </p:sp>
      <p:sp>
        <p:nvSpPr>
          <p:cNvPr id="3" name="Text 1"/>
          <p:cNvSpPr/>
          <p:nvPr/>
        </p:nvSpPr>
        <p:spPr>
          <a:xfrm>
            <a:off x="566928" y="621792"/>
            <a:ext cx="11027664" cy="621792"/>
          </a:xfrm>
          <a:prstGeom prst="rect">
            <a:avLst/>
          </a:prstGeom>
          <a:noFill/>
          <a:ln/>
        </p:spPr>
        <p:txBody>
          <a:bodyPr wrap="square" lIns="0" tIns="0" rIns="0" bIns="0" rtlCol="0" anchor="t"/>
          <a:lstStyle/>
          <a:p>
            <a:pPr indent="0" marL="0">
              <a:buNone/>
            </a:pPr>
            <a:r>
              <a:rPr lang="en-US" sz="3000" b="1" dirty="0">
                <a:solidFill>
                  <a:srgbClr val="0A2E36"/>
                </a:solidFill>
                <a:latin typeface="Cambria" pitchFamily="34" charset="0"/>
                <a:ea typeface="Cambria" pitchFamily="34" charset="-122"/>
                <a:cs typeface="Cambria" pitchFamily="34" charset="-120"/>
              </a:rPr>
              <a:t>Testing</a:t>
            </a:r>
            <a:endParaRPr lang="en-US" sz="3000" dirty="0"/>
          </a:p>
        </p:txBody>
      </p:sp>
      <p:sp>
        <p:nvSpPr>
          <p:cNvPr id="4" name="Text 2"/>
          <p:cNvSpPr/>
          <p:nvPr/>
        </p:nvSpPr>
        <p:spPr>
          <a:xfrm>
            <a:off x="566928" y="1316736"/>
            <a:ext cx="10424160" cy="420624"/>
          </a:xfrm>
          <a:prstGeom prst="rect">
            <a:avLst/>
          </a:prstGeom>
          <a:noFill/>
          <a:ln/>
        </p:spPr>
        <p:txBody>
          <a:bodyPr wrap="square" lIns="0" tIns="0" rIns="0" bIns="0" rtlCol="0" anchor="t"/>
          <a:lstStyle/>
          <a:p>
            <a:pPr indent="0" marL="0">
              <a:lnSpc>
                <a:spcPts val="1700"/>
              </a:lnSpc>
              <a:buNone/>
            </a:pPr>
            <a:r>
              <a:rPr lang="en-US" sz="1250" dirty="0">
                <a:solidFill>
                  <a:srgbClr val="445C64"/>
                </a:solidFill>
                <a:latin typeface="Calibri" pitchFamily="34" charset="0"/>
                <a:ea typeface="Calibri" pitchFamily="34" charset="-122"/>
                <a:cs typeface="Calibri" pitchFamily="34" charset="-120"/>
              </a:rPr>
              <a:t>161 automated tests against a real PostgreSQL database, using the same migration files as production — not mocks. They run in CI on every push.</a:t>
            </a:r>
            <a:endParaRPr lang="en-US" sz="1250" dirty="0"/>
          </a:p>
        </p:txBody>
      </p:sp>
      <p:sp>
        <p:nvSpPr>
          <p:cNvPr id="5" name="Shape 3"/>
          <p:cNvSpPr/>
          <p:nvPr/>
        </p:nvSpPr>
        <p:spPr>
          <a:xfrm>
            <a:off x="566928" y="1883664"/>
            <a:ext cx="2578608" cy="1481328"/>
          </a:xfrm>
          <a:prstGeom prst="roundRect">
            <a:avLst>
              <a:gd name="adj" fmla="val 6173"/>
            </a:avLst>
          </a:prstGeom>
          <a:solidFill>
            <a:srgbClr val="EEF6F7"/>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6" name="Text 4"/>
          <p:cNvSpPr/>
          <p:nvPr/>
        </p:nvSpPr>
        <p:spPr>
          <a:xfrm>
            <a:off x="804672" y="2011680"/>
            <a:ext cx="2103120" cy="493776"/>
          </a:xfrm>
          <a:prstGeom prst="rect">
            <a:avLst/>
          </a:prstGeom>
          <a:noFill/>
          <a:ln/>
        </p:spPr>
        <p:txBody>
          <a:bodyPr wrap="square" lIns="0" tIns="0" rIns="0" bIns="0" rtlCol="0" anchor="ctr"/>
          <a:lstStyle/>
          <a:p>
            <a:pPr indent="0" marL="0">
              <a:buNone/>
            </a:pPr>
            <a:r>
              <a:rPr lang="en-US" sz="3000" b="1" dirty="0">
                <a:solidFill>
                  <a:srgbClr val="028090"/>
                </a:solidFill>
                <a:latin typeface="Cambria" pitchFamily="34" charset="0"/>
                <a:ea typeface="Cambria" pitchFamily="34" charset="-122"/>
                <a:cs typeface="Cambria" pitchFamily="34" charset="-120"/>
              </a:rPr>
              <a:t>13</a:t>
            </a:r>
            <a:endParaRPr lang="en-US" sz="3000" dirty="0"/>
          </a:p>
        </p:txBody>
      </p:sp>
      <p:sp>
        <p:nvSpPr>
          <p:cNvPr id="7" name="Text 5"/>
          <p:cNvSpPr/>
          <p:nvPr/>
        </p:nvSpPr>
        <p:spPr>
          <a:xfrm>
            <a:off x="804672" y="2542032"/>
            <a:ext cx="2103120" cy="256032"/>
          </a:xfrm>
          <a:prstGeom prst="rect">
            <a:avLst/>
          </a:prstGeom>
          <a:noFill/>
          <a:ln/>
        </p:spPr>
        <p:txBody>
          <a:bodyPr wrap="square" lIns="0" tIns="0" rIns="0" bIns="0" rtlCol="0" anchor="ctr"/>
          <a:lstStyle/>
          <a:p>
            <a:pPr indent="0" marL="0">
              <a:buNone/>
            </a:pPr>
            <a:r>
              <a:rPr lang="en-US" sz="1300" b="1" dirty="0">
                <a:solidFill>
                  <a:srgbClr val="0A2E36"/>
                </a:solidFill>
                <a:latin typeface="Calibri" pitchFamily="34" charset="0"/>
                <a:ea typeface="Calibri" pitchFamily="34" charset="-122"/>
                <a:cs typeface="Calibri" pitchFamily="34" charset="-120"/>
              </a:rPr>
              <a:t>Authentication</a:t>
            </a:r>
            <a:endParaRPr lang="en-US" sz="1300" dirty="0"/>
          </a:p>
        </p:txBody>
      </p:sp>
      <p:sp>
        <p:nvSpPr>
          <p:cNvPr id="8" name="Text 6"/>
          <p:cNvSpPr/>
          <p:nvPr/>
        </p:nvSpPr>
        <p:spPr>
          <a:xfrm>
            <a:off x="804672" y="2798064"/>
            <a:ext cx="2103120" cy="493776"/>
          </a:xfrm>
          <a:prstGeom prst="rect">
            <a:avLst/>
          </a:prstGeom>
          <a:noFill/>
          <a:ln/>
        </p:spPr>
        <p:txBody>
          <a:bodyPr wrap="square" lIns="0" tIns="0" rIns="0" bIns="0" rtlCol="0" anchor="t"/>
          <a:lstStyle/>
          <a:p>
            <a:pPr indent="0" marL="0">
              <a:lnSpc>
                <a:spcPts val="1300"/>
              </a:lnSpc>
              <a:buNone/>
            </a:pPr>
            <a:r>
              <a:rPr lang="en-US" sz="1050" dirty="0">
                <a:solidFill>
                  <a:srgbClr val="445C64"/>
                </a:solidFill>
                <a:latin typeface="Calibri" pitchFamily="34" charset="0"/>
                <a:ea typeface="Calibri" pitchFamily="34" charset="-122"/>
                <a:cs typeface="Calibri" pitchFamily="34" charset="-120"/>
              </a:rPr>
              <a:t>Registration, sign-in, password storage, tokens, deactivation</a:t>
            </a:r>
            <a:endParaRPr lang="en-US" sz="1050" dirty="0"/>
          </a:p>
        </p:txBody>
      </p:sp>
      <p:sp>
        <p:nvSpPr>
          <p:cNvPr id="9" name="Shape 7"/>
          <p:cNvSpPr/>
          <p:nvPr/>
        </p:nvSpPr>
        <p:spPr>
          <a:xfrm>
            <a:off x="3383280" y="1883664"/>
            <a:ext cx="2578608" cy="1481328"/>
          </a:xfrm>
          <a:prstGeom prst="roundRect">
            <a:avLst>
              <a:gd name="adj" fmla="val 6173"/>
            </a:avLst>
          </a:prstGeom>
          <a:solidFill>
            <a:srgbClr val="EEF6F7"/>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10" name="Text 8"/>
          <p:cNvSpPr/>
          <p:nvPr/>
        </p:nvSpPr>
        <p:spPr>
          <a:xfrm>
            <a:off x="3621024" y="2011680"/>
            <a:ext cx="2103120" cy="493776"/>
          </a:xfrm>
          <a:prstGeom prst="rect">
            <a:avLst/>
          </a:prstGeom>
          <a:noFill/>
          <a:ln/>
        </p:spPr>
        <p:txBody>
          <a:bodyPr wrap="square" lIns="0" tIns="0" rIns="0" bIns="0" rtlCol="0" anchor="ctr"/>
          <a:lstStyle/>
          <a:p>
            <a:pPr indent="0" marL="0">
              <a:buNone/>
            </a:pPr>
            <a:r>
              <a:rPr lang="en-US" sz="3000" b="1" dirty="0">
                <a:solidFill>
                  <a:srgbClr val="028090"/>
                </a:solidFill>
                <a:latin typeface="Cambria" pitchFamily="34" charset="0"/>
                <a:ea typeface="Cambria" pitchFamily="34" charset="-122"/>
                <a:cs typeface="Cambria" pitchFamily="34" charset="-120"/>
              </a:rPr>
              <a:t>26</a:t>
            </a:r>
            <a:endParaRPr lang="en-US" sz="3000" dirty="0"/>
          </a:p>
        </p:txBody>
      </p:sp>
      <p:sp>
        <p:nvSpPr>
          <p:cNvPr id="11" name="Text 9"/>
          <p:cNvSpPr/>
          <p:nvPr/>
        </p:nvSpPr>
        <p:spPr>
          <a:xfrm>
            <a:off x="3621024" y="2542032"/>
            <a:ext cx="2103120" cy="256032"/>
          </a:xfrm>
          <a:prstGeom prst="rect">
            <a:avLst/>
          </a:prstGeom>
          <a:noFill/>
          <a:ln/>
        </p:spPr>
        <p:txBody>
          <a:bodyPr wrap="square" lIns="0" tIns="0" rIns="0" bIns="0" rtlCol="0" anchor="ctr"/>
          <a:lstStyle/>
          <a:p>
            <a:pPr indent="0" marL="0">
              <a:buNone/>
            </a:pPr>
            <a:r>
              <a:rPr lang="en-US" sz="1300" b="1" dirty="0">
                <a:solidFill>
                  <a:srgbClr val="0A2E36"/>
                </a:solidFill>
                <a:latin typeface="Calibri" pitchFamily="34" charset="0"/>
                <a:ea typeface="Calibri" pitchFamily="34" charset="-122"/>
                <a:cs typeface="Calibri" pitchFamily="34" charset="-120"/>
              </a:rPr>
              <a:t>Authorisation</a:t>
            </a:r>
            <a:endParaRPr lang="en-US" sz="1300" dirty="0"/>
          </a:p>
        </p:txBody>
      </p:sp>
      <p:sp>
        <p:nvSpPr>
          <p:cNvPr id="12" name="Text 10"/>
          <p:cNvSpPr/>
          <p:nvPr/>
        </p:nvSpPr>
        <p:spPr>
          <a:xfrm>
            <a:off x="3621024" y="2798064"/>
            <a:ext cx="2103120" cy="493776"/>
          </a:xfrm>
          <a:prstGeom prst="rect">
            <a:avLst/>
          </a:prstGeom>
          <a:noFill/>
          <a:ln/>
        </p:spPr>
        <p:txBody>
          <a:bodyPr wrap="square" lIns="0" tIns="0" rIns="0" bIns="0" rtlCol="0" anchor="t"/>
          <a:lstStyle/>
          <a:p>
            <a:pPr indent="0" marL="0">
              <a:lnSpc>
                <a:spcPts val="1300"/>
              </a:lnSpc>
              <a:buNone/>
            </a:pPr>
            <a:r>
              <a:rPr lang="en-US" sz="1050" dirty="0">
                <a:solidFill>
                  <a:srgbClr val="445C64"/>
                </a:solidFill>
                <a:latin typeface="Calibri" pitchFamily="34" charset="0"/>
                <a:ea typeface="Calibri" pitchFamily="34" charset="-122"/>
                <a:cs typeface="Calibri" pitchFamily="34" charset="-120"/>
              </a:rPr>
              <a:t>Every role boundary, called directly against the API</a:t>
            </a:r>
            <a:endParaRPr lang="en-US" sz="1050" dirty="0"/>
          </a:p>
        </p:txBody>
      </p:sp>
      <p:sp>
        <p:nvSpPr>
          <p:cNvPr id="13" name="Shape 11"/>
          <p:cNvSpPr/>
          <p:nvPr/>
        </p:nvSpPr>
        <p:spPr>
          <a:xfrm>
            <a:off x="6199632" y="1883664"/>
            <a:ext cx="2578608" cy="1481328"/>
          </a:xfrm>
          <a:prstGeom prst="roundRect">
            <a:avLst>
              <a:gd name="adj" fmla="val 6173"/>
            </a:avLst>
          </a:prstGeom>
          <a:solidFill>
            <a:srgbClr val="EEF6F7"/>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14" name="Text 12"/>
          <p:cNvSpPr/>
          <p:nvPr/>
        </p:nvSpPr>
        <p:spPr>
          <a:xfrm>
            <a:off x="6437376" y="2011680"/>
            <a:ext cx="2103120" cy="493776"/>
          </a:xfrm>
          <a:prstGeom prst="rect">
            <a:avLst/>
          </a:prstGeom>
          <a:noFill/>
          <a:ln/>
        </p:spPr>
        <p:txBody>
          <a:bodyPr wrap="square" lIns="0" tIns="0" rIns="0" bIns="0" rtlCol="0" anchor="ctr"/>
          <a:lstStyle/>
          <a:p>
            <a:pPr indent="0" marL="0">
              <a:buNone/>
            </a:pPr>
            <a:r>
              <a:rPr lang="en-US" sz="3000" b="1" dirty="0">
                <a:solidFill>
                  <a:srgbClr val="028090"/>
                </a:solidFill>
                <a:latin typeface="Cambria" pitchFamily="34" charset="0"/>
                <a:ea typeface="Cambria" pitchFamily="34" charset="-122"/>
                <a:cs typeface="Cambria" pitchFamily="34" charset="-120"/>
              </a:rPr>
              <a:t>33</a:t>
            </a:r>
            <a:endParaRPr lang="en-US" sz="3000" dirty="0"/>
          </a:p>
        </p:txBody>
      </p:sp>
      <p:sp>
        <p:nvSpPr>
          <p:cNvPr id="15" name="Text 13"/>
          <p:cNvSpPr/>
          <p:nvPr/>
        </p:nvSpPr>
        <p:spPr>
          <a:xfrm>
            <a:off x="6437376" y="2542032"/>
            <a:ext cx="2103120" cy="256032"/>
          </a:xfrm>
          <a:prstGeom prst="rect">
            <a:avLst/>
          </a:prstGeom>
          <a:noFill/>
          <a:ln/>
        </p:spPr>
        <p:txBody>
          <a:bodyPr wrap="square" lIns="0" tIns="0" rIns="0" bIns="0" rtlCol="0" anchor="ctr"/>
          <a:lstStyle/>
          <a:p>
            <a:pPr indent="0" marL="0">
              <a:buNone/>
            </a:pPr>
            <a:r>
              <a:rPr lang="en-US" sz="1300" b="1" dirty="0">
                <a:solidFill>
                  <a:srgbClr val="0A2E36"/>
                </a:solidFill>
                <a:latin typeface="Calibri" pitchFamily="34" charset="0"/>
                <a:ea typeface="Calibri" pitchFamily="34" charset="-122"/>
                <a:cs typeface="Calibri" pitchFamily="34" charset="-120"/>
              </a:rPr>
              <a:t>Tickets</a:t>
            </a:r>
            <a:endParaRPr lang="en-US" sz="1300" dirty="0"/>
          </a:p>
        </p:txBody>
      </p:sp>
      <p:sp>
        <p:nvSpPr>
          <p:cNvPr id="16" name="Text 14"/>
          <p:cNvSpPr/>
          <p:nvPr/>
        </p:nvSpPr>
        <p:spPr>
          <a:xfrm>
            <a:off x="6437376" y="2798064"/>
            <a:ext cx="2103120" cy="493776"/>
          </a:xfrm>
          <a:prstGeom prst="rect">
            <a:avLst/>
          </a:prstGeom>
          <a:noFill/>
          <a:ln/>
        </p:spPr>
        <p:txBody>
          <a:bodyPr wrap="square" lIns="0" tIns="0" rIns="0" bIns="0" rtlCol="0" anchor="t"/>
          <a:lstStyle/>
          <a:p>
            <a:pPr indent="0" marL="0">
              <a:lnSpc>
                <a:spcPts val="1300"/>
              </a:lnSpc>
              <a:buNone/>
            </a:pPr>
            <a:r>
              <a:rPr lang="en-US" sz="1050" dirty="0">
                <a:solidFill>
                  <a:srgbClr val="445C64"/>
                </a:solidFill>
                <a:latin typeface="Calibri" pitchFamily="34" charset="0"/>
                <a:ea typeface="Calibri" pitchFamily="34" charset="-122"/>
                <a:cs typeface="Calibri" pitchFamily="34" charset="-120"/>
              </a:rPr>
              <a:t>CRUD, assignment, lifecycle, messages, search, pagination</a:t>
            </a:r>
            <a:endParaRPr lang="en-US" sz="1050" dirty="0"/>
          </a:p>
        </p:txBody>
      </p:sp>
      <p:sp>
        <p:nvSpPr>
          <p:cNvPr id="17" name="Shape 15"/>
          <p:cNvSpPr/>
          <p:nvPr/>
        </p:nvSpPr>
        <p:spPr>
          <a:xfrm>
            <a:off x="9015984" y="1883664"/>
            <a:ext cx="2578608" cy="1481328"/>
          </a:xfrm>
          <a:prstGeom prst="roundRect">
            <a:avLst>
              <a:gd name="adj" fmla="val 6173"/>
            </a:avLst>
          </a:prstGeom>
          <a:solidFill>
            <a:srgbClr val="EEF6F7"/>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18" name="Text 16"/>
          <p:cNvSpPr/>
          <p:nvPr/>
        </p:nvSpPr>
        <p:spPr>
          <a:xfrm>
            <a:off x="9253728" y="2011680"/>
            <a:ext cx="2103120" cy="493776"/>
          </a:xfrm>
          <a:prstGeom prst="rect">
            <a:avLst/>
          </a:prstGeom>
          <a:noFill/>
          <a:ln/>
        </p:spPr>
        <p:txBody>
          <a:bodyPr wrap="square" lIns="0" tIns="0" rIns="0" bIns="0" rtlCol="0" anchor="ctr"/>
          <a:lstStyle/>
          <a:p>
            <a:pPr indent="0" marL="0">
              <a:buNone/>
            </a:pPr>
            <a:r>
              <a:rPr lang="en-US" sz="3000" b="1" dirty="0">
                <a:solidFill>
                  <a:srgbClr val="028090"/>
                </a:solidFill>
                <a:latin typeface="Cambria" pitchFamily="34" charset="0"/>
                <a:ea typeface="Cambria" pitchFamily="34" charset="-122"/>
                <a:cs typeface="Cambria" pitchFamily="34" charset="-120"/>
              </a:rPr>
              <a:t>20</a:t>
            </a:r>
            <a:endParaRPr lang="en-US" sz="3000" dirty="0"/>
          </a:p>
        </p:txBody>
      </p:sp>
      <p:sp>
        <p:nvSpPr>
          <p:cNvPr id="19" name="Text 17"/>
          <p:cNvSpPr/>
          <p:nvPr/>
        </p:nvSpPr>
        <p:spPr>
          <a:xfrm>
            <a:off x="9253728" y="2542032"/>
            <a:ext cx="2103120" cy="256032"/>
          </a:xfrm>
          <a:prstGeom prst="rect">
            <a:avLst/>
          </a:prstGeom>
          <a:noFill/>
          <a:ln/>
        </p:spPr>
        <p:txBody>
          <a:bodyPr wrap="square" lIns="0" tIns="0" rIns="0" bIns="0" rtlCol="0" anchor="ctr"/>
          <a:lstStyle/>
          <a:p>
            <a:pPr indent="0" marL="0">
              <a:buNone/>
            </a:pPr>
            <a:r>
              <a:rPr lang="en-US" sz="1300" b="1" dirty="0">
                <a:solidFill>
                  <a:srgbClr val="0A2E36"/>
                </a:solidFill>
                <a:latin typeface="Calibri" pitchFamily="34" charset="0"/>
                <a:ea typeface="Calibri" pitchFamily="34" charset="-122"/>
                <a:cs typeface="Calibri" pitchFamily="34" charset="-120"/>
              </a:rPr>
              <a:t>Lifecycle &amp; AI</a:t>
            </a:r>
            <a:endParaRPr lang="en-US" sz="1300" dirty="0"/>
          </a:p>
        </p:txBody>
      </p:sp>
      <p:sp>
        <p:nvSpPr>
          <p:cNvPr id="20" name="Text 18"/>
          <p:cNvSpPr/>
          <p:nvPr/>
        </p:nvSpPr>
        <p:spPr>
          <a:xfrm>
            <a:off x="9253728" y="2798064"/>
            <a:ext cx="2103120" cy="493776"/>
          </a:xfrm>
          <a:prstGeom prst="rect">
            <a:avLst/>
          </a:prstGeom>
          <a:noFill/>
          <a:ln/>
        </p:spPr>
        <p:txBody>
          <a:bodyPr wrap="square" lIns="0" tIns="0" rIns="0" bIns="0" rtlCol="0" anchor="t"/>
          <a:lstStyle/>
          <a:p>
            <a:pPr indent="0" marL="0">
              <a:lnSpc>
                <a:spcPts val="1300"/>
              </a:lnSpc>
              <a:buNone/>
            </a:pPr>
            <a:r>
              <a:rPr lang="en-US" sz="1050" dirty="0">
                <a:solidFill>
                  <a:srgbClr val="445C64"/>
                </a:solidFill>
                <a:latin typeface="Calibri" pitchFamily="34" charset="0"/>
                <a:ea typeface="Calibri" pitchFamily="34" charset="-122"/>
                <a:cs typeface="Calibri" pitchFamily="34" charset="-120"/>
              </a:rPr>
              <a:t>Transition rules, fallback classifier, failure handling  ·  plus 31 knowledge-base and 38 WhatsApp tests</a:t>
            </a:r>
            <a:endParaRPr lang="en-US" sz="1050" dirty="0"/>
          </a:p>
        </p:txBody>
      </p:sp>
      <p:sp>
        <p:nvSpPr>
          <p:cNvPr id="21" name="Shape 19"/>
          <p:cNvSpPr/>
          <p:nvPr/>
        </p:nvSpPr>
        <p:spPr>
          <a:xfrm>
            <a:off x="566928" y="3584448"/>
            <a:ext cx="5120640" cy="658368"/>
          </a:xfrm>
          <a:prstGeom prst="roundRect">
            <a:avLst>
              <a:gd name="adj" fmla="val 13889"/>
            </a:avLst>
          </a:prstGeom>
          <a:solidFill>
            <a:srgbClr val="0A2E36"/>
          </a:solidFill>
          <a:ln/>
          <a:effectLst>
            <a:outerShdw sx="100000" sy="100000" kx="0" ky="0" algn="bl" rotWithShape="0" blurRad="127000" dist="25400" dir="5400000">
              <a:srgbClr val="0A2E36">
                <a:alpha val="10000"/>
              </a:srgbClr>
            </a:outerShdw>
          </a:effectLst>
        </p:spPr>
      </p:sp>
      <p:sp>
        <p:nvSpPr>
          <p:cNvPr id="22" name="Text 20"/>
          <p:cNvSpPr/>
          <p:nvPr/>
        </p:nvSpPr>
        <p:spPr>
          <a:xfrm>
            <a:off x="877824" y="3584448"/>
            <a:ext cx="4809744" cy="658368"/>
          </a:xfrm>
          <a:prstGeom prst="rect">
            <a:avLst/>
          </a:prstGeom>
          <a:noFill/>
          <a:ln/>
        </p:spPr>
        <p:txBody>
          <a:bodyPr wrap="square" lIns="0" tIns="0" rIns="0" bIns="0" rtlCol="0" anchor="ctr"/>
          <a:lstStyle/>
          <a:p>
            <a:pPr indent="0" marL="0">
              <a:buNone/>
            </a:pPr>
            <a:r>
              <a:rPr lang="en-US" sz="1600" b="1" dirty="0">
                <a:solidFill>
                  <a:srgbClr val="02C39A"/>
                </a:solidFill>
                <a:latin typeface="Calibri" pitchFamily="34" charset="0"/>
                <a:ea typeface="Calibri" pitchFamily="34" charset="-122"/>
                <a:cs typeface="Calibri" pitchFamily="34" charset="-120"/>
              </a:rPr>
              <a:t>161 passed  ·  0 failed  ·  6 files  ·  166 s  ·  19 September 2026</a:t>
            </a:r>
            <a:endParaRPr lang="en-US" sz="1600" dirty="0"/>
          </a:p>
        </p:txBody>
      </p:sp>
      <p:sp>
        <p:nvSpPr>
          <p:cNvPr id="23" name="Shape 21"/>
          <p:cNvSpPr/>
          <p:nvPr/>
        </p:nvSpPr>
        <p:spPr>
          <a:xfrm>
            <a:off x="5961888" y="3584448"/>
            <a:ext cx="5632704" cy="658368"/>
          </a:xfrm>
          <a:prstGeom prst="roundRect">
            <a:avLst>
              <a:gd name="adj" fmla="val 13889"/>
            </a:avLst>
          </a:prstGeom>
          <a:solidFill>
            <a:srgbClr val="EEF6F7"/>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24" name="Text 22"/>
          <p:cNvSpPr/>
          <p:nvPr/>
        </p:nvSpPr>
        <p:spPr>
          <a:xfrm>
            <a:off x="6236208" y="3584448"/>
            <a:ext cx="5084064" cy="658368"/>
          </a:xfrm>
          <a:prstGeom prst="rect">
            <a:avLst/>
          </a:prstGeom>
          <a:noFill/>
          <a:ln/>
        </p:spPr>
        <p:txBody>
          <a:bodyPr wrap="square" lIns="0" tIns="0" rIns="0" bIns="0" rtlCol="0" anchor="ctr"/>
          <a:lstStyle/>
          <a:p>
            <a:pPr indent="0" marL="0">
              <a:lnSpc>
                <a:spcPts val="1400"/>
              </a:lnSpc>
              <a:buNone/>
            </a:pPr>
            <a:r>
              <a:rPr lang="en-US" sz="1150" dirty="0">
                <a:solidFill>
                  <a:srgbClr val="445C64"/>
                </a:solidFill>
                <a:latin typeface="Calibri" pitchFamily="34" charset="0"/>
                <a:ea typeface="Calibri" pitchFamily="34" charset="-122"/>
                <a:cs typeface="Calibri" pitchFamily="34" charset="-120"/>
              </a:rPr>
              <a:t>Two results matter most: a total AI failure still creates the ticket, and generating a draft sends nothing.</a:t>
            </a:r>
            <a:endParaRPr lang="en-US" sz="1150" dirty="0"/>
          </a:p>
        </p:txBody>
      </p:sp>
      <p:sp>
        <p:nvSpPr>
          <p:cNvPr id="25" name="Text 23"/>
          <p:cNvSpPr/>
          <p:nvPr/>
        </p:nvSpPr>
        <p:spPr>
          <a:xfrm>
            <a:off x="566928" y="4443984"/>
            <a:ext cx="11027664" cy="292608"/>
          </a:xfrm>
          <a:prstGeom prst="rect">
            <a:avLst/>
          </a:prstGeom>
          <a:noFill/>
          <a:ln/>
        </p:spPr>
        <p:txBody>
          <a:bodyPr wrap="square" lIns="0" tIns="0" rIns="0" bIns="0" rtlCol="0" anchor="ctr"/>
          <a:lstStyle/>
          <a:p>
            <a:pPr indent="0" marL="0">
              <a:buNone/>
            </a:pPr>
            <a:r>
              <a:rPr lang="en-US" sz="1500" b="1" dirty="0">
                <a:solidFill>
                  <a:srgbClr val="0A2E36"/>
                </a:solidFill>
                <a:latin typeface="Cambria" pitchFamily="34" charset="0"/>
                <a:ea typeface="Cambria" pitchFamily="34" charset="-122"/>
                <a:cs typeface="Cambria" pitchFamily="34" charset="-120"/>
              </a:rPr>
              <a:t>Defects found and fixed — before submission, not during it</a:t>
            </a:r>
            <a:endParaRPr lang="en-US" sz="1500" dirty="0"/>
          </a:p>
        </p:txBody>
      </p:sp>
      <p:sp>
        <p:nvSpPr>
          <p:cNvPr id="26" name="Shape 24"/>
          <p:cNvSpPr/>
          <p:nvPr/>
        </p:nvSpPr>
        <p:spPr>
          <a:xfrm>
            <a:off x="566928" y="4809744"/>
            <a:ext cx="3517392" cy="1188720"/>
          </a:xfrm>
          <a:prstGeom prst="roundRect">
            <a:avLst>
              <a:gd name="adj" fmla="val 7692"/>
            </a:avLst>
          </a:prstGeom>
          <a:solidFill>
            <a:srgbClr val="F7FBFB"/>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27" name="Text 25"/>
          <p:cNvSpPr/>
          <p:nvPr/>
        </p:nvSpPr>
        <p:spPr>
          <a:xfrm>
            <a:off x="786384" y="4937760"/>
            <a:ext cx="3078480" cy="237744"/>
          </a:xfrm>
          <a:prstGeom prst="rect">
            <a:avLst/>
          </a:prstGeom>
          <a:noFill/>
          <a:ln/>
        </p:spPr>
        <p:txBody>
          <a:bodyPr wrap="square" lIns="0" tIns="0" rIns="0" bIns="0" rtlCol="0" anchor="ctr"/>
          <a:lstStyle/>
          <a:p>
            <a:pPr indent="0" marL="0">
              <a:buNone/>
            </a:pPr>
            <a:r>
              <a:rPr lang="en-US" sz="1250" b="1" dirty="0">
                <a:solidFill>
                  <a:srgbClr val="0A2E36"/>
                </a:solidFill>
                <a:latin typeface="Calibri" pitchFamily="34" charset="0"/>
                <a:ea typeface="Calibri" pitchFamily="34" charset="-122"/>
                <a:cs typeface="Calibri" pitchFamily="34" charset="-120"/>
              </a:rPr>
              <a:t>Rate limiter throttled the suite</a:t>
            </a:r>
            <a:endParaRPr lang="en-US" sz="1250" dirty="0"/>
          </a:p>
        </p:txBody>
      </p:sp>
      <p:sp>
        <p:nvSpPr>
          <p:cNvPr id="28" name="Text 26"/>
          <p:cNvSpPr/>
          <p:nvPr/>
        </p:nvSpPr>
        <p:spPr>
          <a:xfrm>
            <a:off x="786384" y="5175504"/>
            <a:ext cx="3078480" cy="201168"/>
          </a:xfrm>
          <a:prstGeom prst="rect">
            <a:avLst/>
          </a:prstGeom>
          <a:noFill/>
          <a:ln/>
        </p:spPr>
        <p:txBody>
          <a:bodyPr wrap="square" lIns="0" tIns="0" rIns="0" bIns="0" rtlCol="0" anchor="ctr"/>
          <a:lstStyle/>
          <a:p>
            <a:pPr indent="0" marL="0">
              <a:buNone/>
            </a:pPr>
            <a:r>
              <a:rPr lang="en-US" sz="1000" b="1" dirty="0">
                <a:solidFill>
                  <a:srgbClr val="028090"/>
                </a:solidFill>
                <a:latin typeface="Calibri" pitchFamily="34" charset="0"/>
                <a:ea typeface="Calibri" pitchFamily="34" charset="-122"/>
                <a:cs typeface="Calibri" pitchFamily="34" charset="-120"/>
              </a:rPr>
              <a:t>Found by running the tests</a:t>
            </a:r>
            <a:endParaRPr lang="en-US" sz="1000" dirty="0"/>
          </a:p>
        </p:txBody>
      </p:sp>
      <p:sp>
        <p:nvSpPr>
          <p:cNvPr id="29" name="Text 27"/>
          <p:cNvSpPr/>
          <p:nvPr/>
        </p:nvSpPr>
        <p:spPr>
          <a:xfrm>
            <a:off x="786384" y="5394960"/>
            <a:ext cx="3078480" cy="512064"/>
          </a:xfrm>
          <a:prstGeom prst="rect">
            <a:avLst/>
          </a:prstGeom>
          <a:noFill/>
          <a:ln/>
        </p:spPr>
        <p:txBody>
          <a:bodyPr wrap="square" lIns="0" tIns="0" rIns="0" bIns="0" rtlCol="0" anchor="t"/>
          <a:lstStyle/>
          <a:p>
            <a:pPr indent="0" marL="0">
              <a:lnSpc>
                <a:spcPts val="1300"/>
              </a:lnSpc>
              <a:buNone/>
            </a:pPr>
            <a:r>
              <a:rPr lang="en-US" sz="1050" dirty="0">
                <a:solidFill>
                  <a:srgbClr val="445C64"/>
                </a:solidFill>
                <a:latin typeface="Calibri" pitchFamily="34" charset="0"/>
                <a:ea typeface="Calibri" pitchFamily="34" charset="-122"/>
                <a:cs typeface="Calibri" pitchFamily="34" charset="-120"/>
              </a:rPr>
              <a:t>51 failures. The limiter is correct for production; it now skips in test.</a:t>
            </a:r>
            <a:endParaRPr lang="en-US" sz="1050" dirty="0"/>
          </a:p>
        </p:txBody>
      </p:sp>
      <p:sp>
        <p:nvSpPr>
          <p:cNvPr id="30" name="Shape 28"/>
          <p:cNvSpPr/>
          <p:nvPr/>
        </p:nvSpPr>
        <p:spPr>
          <a:xfrm>
            <a:off x="4322064" y="4809744"/>
            <a:ext cx="3517392" cy="1188720"/>
          </a:xfrm>
          <a:prstGeom prst="roundRect">
            <a:avLst>
              <a:gd name="adj" fmla="val 7692"/>
            </a:avLst>
          </a:prstGeom>
          <a:solidFill>
            <a:srgbClr val="F7FBFB"/>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31" name="Text 29"/>
          <p:cNvSpPr/>
          <p:nvPr/>
        </p:nvSpPr>
        <p:spPr>
          <a:xfrm>
            <a:off x="4541520" y="4937760"/>
            <a:ext cx="3078480" cy="237744"/>
          </a:xfrm>
          <a:prstGeom prst="rect">
            <a:avLst/>
          </a:prstGeom>
          <a:noFill/>
          <a:ln/>
        </p:spPr>
        <p:txBody>
          <a:bodyPr wrap="square" lIns="0" tIns="0" rIns="0" bIns="0" rtlCol="0" anchor="ctr"/>
          <a:lstStyle/>
          <a:p>
            <a:pPr indent="0" marL="0">
              <a:buNone/>
            </a:pPr>
            <a:r>
              <a:rPr lang="en-US" sz="1250" b="1" dirty="0">
                <a:solidFill>
                  <a:srgbClr val="0A2E36"/>
                </a:solidFill>
                <a:latin typeface="Calibri" pitchFamily="34" charset="0"/>
                <a:ea typeface="Calibri" pitchFamily="34" charset="-122"/>
                <a:cs typeface="Calibri" pitchFamily="34" charset="-120"/>
              </a:rPr>
              <a:t>A test depended on timing</a:t>
            </a:r>
            <a:endParaRPr lang="en-US" sz="1250" dirty="0"/>
          </a:p>
        </p:txBody>
      </p:sp>
      <p:sp>
        <p:nvSpPr>
          <p:cNvPr id="32" name="Text 30"/>
          <p:cNvSpPr/>
          <p:nvPr/>
        </p:nvSpPr>
        <p:spPr>
          <a:xfrm>
            <a:off x="4541520" y="5175504"/>
            <a:ext cx="3078480" cy="201168"/>
          </a:xfrm>
          <a:prstGeom prst="rect">
            <a:avLst/>
          </a:prstGeom>
          <a:noFill/>
          <a:ln/>
        </p:spPr>
        <p:txBody>
          <a:bodyPr wrap="square" lIns="0" tIns="0" rIns="0" bIns="0" rtlCol="0" anchor="ctr"/>
          <a:lstStyle/>
          <a:p>
            <a:pPr indent="0" marL="0">
              <a:buNone/>
            </a:pPr>
            <a:r>
              <a:rPr lang="en-US" sz="1000" b="1" dirty="0">
                <a:solidFill>
                  <a:srgbClr val="028090"/>
                </a:solidFill>
                <a:latin typeface="Calibri" pitchFamily="34" charset="0"/>
                <a:ea typeface="Calibri" pitchFamily="34" charset="-122"/>
                <a:cs typeface="Calibri" pitchFamily="34" charset="-120"/>
              </a:rPr>
              <a:t>Found by running the tests</a:t>
            </a:r>
            <a:endParaRPr lang="en-US" sz="1000" dirty="0"/>
          </a:p>
        </p:txBody>
      </p:sp>
      <p:sp>
        <p:nvSpPr>
          <p:cNvPr id="33" name="Text 31"/>
          <p:cNvSpPr/>
          <p:nvPr/>
        </p:nvSpPr>
        <p:spPr>
          <a:xfrm>
            <a:off x="4541520" y="5394960"/>
            <a:ext cx="3078480" cy="512064"/>
          </a:xfrm>
          <a:prstGeom prst="rect">
            <a:avLst/>
          </a:prstGeom>
          <a:noFill/>
          <a:ln/>
        </p:spPr>
        <p:txBody>
          <a:bodyPr wrap="square" lIns="0" tIns="0" rIns="0" bIns="0" rtlCol="0" anchor="t"/>
          <a:lstStyle/>
          <a:p>
            <a:pPr indent="0" marL="0">
              <a:lnSpc>
                <a:spcPts val="1300"/>
              </a:lnSpc>
              <a:buNone/>
            </a:pPr>
            <a:r>
              <a:rPr lang="en-US" sz="1050" dirty="0">
                <a:solidFill>
                  <a:srgbClr val="445C64"/>
                </a:solidFill>
                <a:latin typeface="Calibri" pitchFamily="34" charset="0"/>
                <a:ea typeface="Calibri" pitchFamily="34" charset="-122"/>
                <a:cs typeface="Calibri" pitchFamily="34" charset="-120"/>
              </a:rPr>
              <a:t>Asserted an exact suggestion count while classification runs in background.</a:t>
            </a:r>
            <a:endParaRPr lang="en-US" sz="1050" dirty="0"/>
          </a:p>
        </p:txBody>
      </p:sp>
      <p:sp>
        <p:nvSpPr>
          <p:cNvPr id="34" name="Shape 32"/>
          <p:cNvSpPr/>
          <p:nvPr/>
        </p:nvSpPr>
        <p:spPr>
          <a:xfrm>
            <a:off x="8077200" y="4809744"/>
            <a:ext cx="3517392" cy="1188720"/>
          </a:xfrm>
          <a:prstGeom prst="roundRect">
            <a:avLst>
              <a:gd name="adj" fmla="val 7692"/>
            </a:avLst>
          </a:prstGeom>
          <a:solidFill>
            <a:srgbClr val="FBF7EF"/>
          </a:solidFill>
          <a:ln w="9525">
            <a:solidFill>
              <a:srgbClr val="EBDFC8"/>
            </a:solidFill>
            <a:prstDash val="solid"/>
          </a:ln>
          <a:effectLst>
            <a:outerShdw sx="100000" sy="100000" kx="0" ky="0" algn="bl" rotWithShape="0" blurRad="127000" dist="25400" dir="5400000">
              <a:srgbClr val="0A2E36">
                <a:alpha val="10000"/>
              </a:srgbClr>
            </a:outerShdw>
          </a:effectLst>
        </p:spPr>
      </p:sp>
      <p:sp>
        <p:nvSpPr>
          <p:cNvPr id="35" name="Text 33"/>
          <p:cNvSpPr/>
          <p:nvPr/>
        </p:nvSpPr>
        <p:spPr>
          <a:xfrm>
            <a:off x="8296656" y="4937760"/>
            <a:ext cx="3078480" cy="237744"/>
          </a:xfrm>
          <a:prstGeom prst="rect">
            <a:avLst/>
          </a:prstGeom>
          <a:noFill/>
          <a:ln/>
        </p:spPr>
        <p:txBody>
          <a:bodyPr wrap="square" lIns="0" tIns="0" rIns="0" bIns="0" rtlCol="0" anchor="ctr"/>
          <a:lstStyle/>
          <a:p>
            <a:pPr indent="0" marL="0">
              <a:buNone/>
            </a:pPr>
            <a:r>
              <a:rPr lang="en-US" sz="1250" b="1" dirty="0">
                <a:solidFill>
                  <a:srgbClr val="0A2E36"/>
                </a:solidFill>
                <a:latin typeface="Calibri" pitchFamily="34" charset="0"/>
                <a:ea typeface="Calibri" pitchFamily="34" charset="-122"/>
                <a:cs typeface="Calibri" pitchFamily="34" charset="-120"/>
              </a:rPr>
              <a:t>A vector index returned one row where four matched</a:t>
            </a:r>
            <a:endParaRPr lang="en-US" sz="1250" dirty="0"/>
          </a:p>
        </p:txBody>
      </p:sp>
      <p:sp>
        <p:nvSpPr>
          <p:cNvPr id="36" name="Text 34"/>
          <p:cNvSpPr/>
          <p:nvPr/>
        </p:nvSpPr>
        <p:spPr>
          <a:xfrm>
            <a:off x="8296656" y="5175504"/>
            <a:ext cx="3078480" cy="201168"/>
          </a:xfrm>
          <a:prstGeom prst="rect">
            <a:avLst/>
          </a:prstGeom>
          <a:noFill/>
          <a:ln/>
        </p:spPr>
        <p:txBody>
          <a:bodyPr wrap="square" lIns="0" tIns="0" rIns="0" bIns="0" rtlCol="0" anchor="ctr"/>
          <a:lstStyle/>
          <a:p>
            <a:pPr indent="0" marL="0">
              <a:buNone/>
            </a:pPr>
            <a:r>
              <a:rPr lang="en-US" sz="1000" b="1" dirty="0">
                <a:solidFill>
                  <a:srgbClr val="C77800"/>
                </a:solidFill>
                <a:latin typeface="Calibri" pitchFamily="34" charset="0"/>
                <a:ea typeface="Calibri" pitchFamily="34" charset="-122"/>
                <a:cs typeface="Calibri" pitchFamily="34" charset="-120"/>
              </a:rPr>
              <a:t>Found by an integration test</a:t>
            </a:r>
            <a:endParaRPr lang="en-US" sz="1000" dirty="0"/>
          </a:p>
        </p:txBody>
      </p:sp>
      <p:sp>
        <p:nvSpPr>
          <p:cNvPr id="37" name="Text 35"/>
          <p:cNvSpPr/>
          <p:nvPr/>
        </p:nvSpPr>
        <p:spPr>
          <a:xfrm>
            <a:off x="8296656" y="5394960"/>
            <a:ext cx="3078480" cy="512064"/>
          </a:xfrm>
          <a:prstGeom prst="rect">
            <a:avLst/>
          </a:prstGeom>
          <a:noFill/>
          <a:ln/>
        </p:spPr>
        <p:txBody>
          <a:bodyPr wrap="square" lIns="0" tIns="0" rIns="0" bIns="0" rtlCol="0" anchor="t"/>
          <a:lstStyle/>
          <a:p>
            <a:pPr indent="0" marL="0">
              <a:lnSpc>
                <a:spcPts val="1300"/>
              </a:lnSpc>
              <a:buNone/>
            </a:pPr>
            <a:r>
              <a:rPr lang="en-US" sz="1050" dirty="0">
                <a:solidFill>
                  <a:srgbClr val="445C64"/>
                </a:solidFill>
                <a:latin typeface="Calibri" pitchFamily="34" charset="0"/>
                <a:ea typeface="Calibri" pitchFamily="34" charset="-122"/>
                <a:cs typeface="Calibri" pitchFamily="34" charset="-120"/>
              </a:rPr>
              <a:t>IVFFlat on a near-empty table silently under-returned. Replaced with HNSW; regression test pinned.</a:t>
            </a:r>
            <a:endParaRPr lang="en-US" sz="1050" dirty="0"/>
          </a:p>
        </p:txBody>
      </p:sp>
      <p:sp>
        <p:nvSpPr>
          <p:cNvPr id="38" name="Text 36"/>
          <p:cNvSpPr/>
          <p:nvPr/>
        </p:nvSpPr>
        <p:spPr>
          <a:xfrm>
            <a:off x="566928" y="6053328"/>
            <a:ext cx="11027664" cy="256032"/>
          </a:xfrm>
          <a:prstGeom prst="rect">
            <a:avLst/>
          </a:prstGeom>
          <a:noFill/>
          <a:ln/>
        </p:spPr>
        <p:txBody>
          <a:bodyPr wrap="square" lIns="0" tIns="0" rIns="0" bIns="0" rtlCol="0" anchor="ctr"/>
          <a:lstStyle/>
          <a:p>
            <a:pPr indent="0" marL="0">
              <a:buNone/>
            </a:pPr>
            <a:r>
              <a:rPr lang="en-US" sz="1150" i="1" dirty="0">
                <a:solidFill>
                  <a:srgbClr val="028090"/>
                </a:solidFill>
                <a:latin typeface="Calibri" pitchFamily="34" charset="0"/>
                <a:ea typeface="Calibri" pitchFamily="34" charset="-122"/>
                <a:cs typeface="Calibri" pitchFamily="34" charset="-120"/>
              </a:rPr>
              <a:t>The lesson: tests against a real database catch what mocks and green builds cannot.</a:t>
            </a:r>
            <a:endParaRPr lang="en-US" sz="1150" dirty="0"/>
          </a:p>
        </p:txBody>
      </p:sp>
      <p:sp>
        <p:nvSpPr>
          <p:cNvPr id="39" name="Text 37"/>
          <p:cNvSpPr/>
          <p:nvPr/>
        </p:nvSpPr>
        <p:spPr>
          <a:xfrm>
            <a:off x="566928" y="6345936"/>
            <a:ext cx="7315200" cy="219456"/>
          </a:xfrm>
          <a:prstGeom prst="rect">
            <a:avLst/>
          </a:prstGeom>
          <a:noFill/>
          <a:ln/>
        </p:spPr>
        <p:txBody>
          <a:bodyPr wrap="square" lIns="0" tIns="0" rIns="0" bIns="0" rtlCol="0" anchor="ctr"/>
          <a:lstStyle/>
          <a:p>
            <a:pPr indent="0" marL="0">
              <a:buNone/>
            </a:pPr>
            <a:r>
              <a:rPr lang="en-US" sz="900" dirty="0">
                <a:solidFill>
                  <a:srgbClr val="7C939B"/>
                </a:solidFill>
                <a:latin typeface="Calibri" pitchFamily="34" charset="0"/>
                <a:ea typeface="Calibri" pitchFamily="34" charset="-122"/>
                <a:cs typeface="Calibri" pitchFamily="34" charset="-120"/>
              </a:rPr>
              <a:t>ServiceDesk AI  ·  BCSE408L Cloud Computing  ·  Review 2 &amp; Final Demonstration</a:t>
            </a:r>
            <a:endParaRPr lang="en-US" sz="900" dirty="0"/>
          </a:p>
        </p:txBody>
      </p:sp>
      <p:sp>
        <p:nvSpPr>
          <p:cNvPr id="40" name="Text 38"/>
          <p:cNvSpPr/>
          <p:nvPr/>
        </p:nvSpPr>
        <p:spPr>
          <a:xfrm>
            <a:off x="10680192" y="6345936"/>
            <a:ext cx="914400" cy="219456"/>
          </a:xfrm>
          <a:prstGeom prst="rect">
            <a:avLst/>
          </a:prstGeom>
          <a:noFill/>
          <a:ln/>
        </p:spPr>
        <p:txBody>
          <a:bodyPr wrap="square" lIns="0" tIns="0" rIns="0" bIns="0" rtlCol="0" anchor="ctr"/>
          <a:lstStyle/>
          <a:p>
            <a:pPr algn="r" indent="0" marL="0">
              <a:buNone/>
            </a:pPr>
            <a:r>
              <a:rPr lang="en-US" sz="900" dirty="0">
                <a:solidFill>
                  <a:srgbClr val="7C939B"/>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27664" cy="237744"/>
          </a:xfrm>
          <a:prstGeom prst="rect">
            <a:avLst/>
          </a:prstGeom>
          <a:noFill/>
          <a:ln/>
        </p:spPr>
        <p:txBody>
          <a:bodyPr wrap="square" lIns="0" tIns="0" rIns="0" bIns="0" rtlCol="0" anchor="ctr"/>
          <a:lstStyle/>
          <a:p>
            <a:pPr indent="0" marL="0">
              <a:buNone/>
            </a:pPr>
            <a:r>
              <a:rPr lang="en-US" sz="1100" b="1" spc="220" kern="0" dirty="0">
                <a:solidFill>
                  <a:srgbClr val="028090"/>
                </a:solidFill>
                <a:latin typeface="Calibri" pitchFamily="34" charset="0"/>
                <a:ea typeface="Calibri" pitchFamily="34" charset="-122"/>
                <a:cs typeface="Calibri" pitchFamily="34" charset="-120"/>
              </a:rPr>
              <a:t>HONEST STATUS</a:t>
            </a:r>
            <a:endParaRPr lang="en-US" sz="1100" dirty="0"/>
          </a:p>
        </p:txBody>
      </p:sp>
      <p:sp>
        <p:nvSpPr>
          <p:cNvPr id="3" name="Text 1"/>
          <p:cNvSpPr/>
          <p:nvPr/>
        </p:nvSpPr>
        <p:spPr>
          <a:xfrm>
            <a:off x="566928" y="621792"/>
            <a:ext cx="11027664" cy="621792"/>
          </a:xfrm>
          <a:prstGeom prst="rect">
            <a:avLst/>
          </a:prstGeom>
          <a:noFill/>
          <a:ln/>
        </p:spPr>
        <p:txBody>
          <a:bodyPr wrap="square" lIns="0" tIns="0" rIns="0" bIns="0" rtlCol="0" anchor="t"/>
          <a:lstStyle/>
          <a:p>
            <a:pPr indent="0" marL="0">
              <a:buNone/>
            </a:pPr>
            <a:r>
              <a:rPr lang="en-US" sz="3000" b="1" dirty="0">
                <a:solidFill>
                  <a:srgbClr val="0A2E36"/>
                </a:solidFill>
                <a:latin typeface="Cambria" pitchFamily="34" charset="0"/>
                <a:ea typeface="Cambria" pitchFamily="34" charset="-122"/>
                <a:cs typeface="Cambria" pitchFamily="34" charset="-120"/>
              </a:rPr>
              <a:t>Compliance — Including What Is Not Done</a:t>
            </a:r>
            <a:endParaRPr lang="en-US" sz="3000" dirty="0"/>
          </a:p>
        </p:txBody>
      </p:sp>
      <p:sp>
        <p:nvSpPr>
          <p:cNvPr id="4" name="Shape 2"/>
          <p:cNvSpPr/>
          <p:nvPr/>
        </p:nvSpPr>
        <p:spPr>
          <a:xfrm>
            <a:off x="566928" y="1353312"/>
            <a:ext cx="6675120" cy="3968496"/>
          </a:xfrm>
          <a:prstGeom prst="roundRect">
            <a:avLst>
              <a:gd name="adj" fmla="val 2304"/>
            </a:avLst>
          </a:prstGeom>
          <a:solidFill>
            <a:srgbClr val="EEF6F7"/>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5" name="Shape 3"/>
          <p:cNvSpPr/>
          <p:nvPr/>
        </p:nvSpPr>
        <p:spPr>
          <a:xfrm>
            <a:off x="859536" y="1609344"/>
            <a:ext cx="420624" cy="420624"/>
          </a:xfrm>
          <a:prstGeom prst="ellipse">
            <a:avLst/>
          </a:prstGeom>
          <a:solidFill>
            <a:srgbClr val="028090"/>
          </a:solidFill>
          <a:ln/>
        </p:spPr>
      </p:sp>
      <p:sp>
        <p:nvSpPr>
          <p:cNvPr id="6" name="Text 4"/>
          <p:cNvSpPr/>
          <p:nvPr/>
        </p:nvSpPr>
        <p:spPr>
          <a:xfrm>
            <a:off x="859536" y="1609344"/>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7" name="Text 5"/>
          <p:cNvSpPr/>
          <p:nvPr/>
        </p:nvSpPr>
        <p:spPr>
          <a:xfrm>
            <a:off x="1426464" y="1609344"/>
            <a:ext cx="3840480" cy="420624"/>
          </a:xfrm>
          <a:prstGeom prst="rect">
            <a:avLst/>
          </a:prstGeom>
          <a:noFill/>
          <a:ln/>
        </p:spPr>
        <p:txBody>
          <a:bodyPr wrap="square" lIns="0" tIns="0" rIns="0" bIns="0" rtlCol="0" anchor="ctr"/>
          <a:lstStyle/>
          <a:p>
            <a:pPr indent="0" marL="0">
              <a:buNone/>
            </a:pPr>
            <a:r>
              <a:rPr lang="en-US" sz="1500" b="1" dirty="0">
                <a:solidFill>
                  <a:srgbClr val="0A2E36"/>
                </a:solidFill>
                <a:latin typeface="Cambria" pitchFamily="34" charset="0"/>
                <a:ea typeface="Cambria" pitchFamily="34" charset="-122"/>
                <a:cs typeface="Cambria" pitchFamily="34" charset="-120"/>
              </a:rPr>
              <a:t>Complete and verified</a:t>
            </a:r>
            <a:endParaRPr lang="en-US" sz="1500" dirty="0"/>
          </a:p>
        </p:txBody>
      </p:sp>
      <p:sp>
        <p:nvSpPr>
          <p:cNvPr id="8" name="Text 6"/>
          <p:cNvSpPr/>
          <p:nvPr/>
        </p:nvSpPr>
        <p:spPr>
          <a:xfrm>
            <a:off x="1426464" y="2011680"/>
            <a:ext cx="5486400" cy="237744"/>
          </a:xfrm>
          <a:prstGeom prst="rect">
            <a:avLst/>
          </a:prstGeom>
          <a:noFill/>
          <a:ln/>
        </p:spPr>
        <p:txBody>
          <a:bodyPr wrap="square" lIns="0" tIns="0" rIns="0" bIns="0" rtlCol="0" anchor="ctr"/>
          <a:lstStyle/>
          <a:p>
            <a:pPr indent="0" marL="0">
              <a:buNone/>
            </a:pPr>
            <a:r>
              <a:rPr lang="en-US" sz="1100" dirty="0">
                <a:solidFill>
                  <a:srgbClr val="028090"/>
                </a:solidFill>
                <a:latin typeface="Calibri" pitchFamily="34" charset="0"/>
                <a:ea typeface="Calibri" pitchFamily="34" charset="-122"/>
                <a:cs typeface="Calibri" pitchFamily="34" charset="-120"/>
              </a:rPr>
              <a:t>Checked by running it, not by assuming</a:t>
            </a:r>
            <a:endParaRPr lang="en-US" sz="1100" dirty="0"/>
          </a:p>
        </p:txBody>
      </p:sp>
      <p:sp>
        <p:nvSpPr>
          <p:cNvPr id="9" name="Text 7"/>
          <p:cNvSpPr/>
          <p:nvPr/>
        </p:nvSpPr>
        <p:spPr>
          <a:xfrm>
            <a:off x="877824" y="2395728"/>
            <a:ext cx="6126480" cy="2798064"/>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45C64"/>
                </a:solidFill>
                <a:latin typeface="Calibri" pitchFamily="34" charset="0"/>
                <a:ea typeface="Calibri" pitchFamily="34" charset="-122"/>
                <a:cs typeface="Calibri" pitchFamily="34" charset="-120"/>
              </a:rPr>
              <a:t>Registration and login — 13 tests</a:t>
            </a:r>
            <a:endParaRPr lang="en-US" sz="1200" dirty="0"/>
          </a:p>
          <a:p>
            <a:pPr marL="342900" indent="-342900">
              <a:spcAft>
                <a:spcPts val="600"/>
              </a:spcAft>
              <a:buSzPct val="100000"/>
              <a:buChar char="•"/>
            </a:pPr>
            <a:r>
              <a:rPr lang="en-US" sz="1200" dirty="0">
                <a:solidFill>
                  <a:srgbClr val="445C64"/>
                </a:solidFill>
                <a:latin typeface="Calibri" pitchFamily="34" charset="0"/>
                <a:ea typeface="Calibri" pitchFamily="34" charset="-122"/>
                <a:cs typeface="Calibri" pitchFamily="34" charset="-120"/>
              </a:rPr>
              <a:t>Role-based access — 26 tests bypassing the interface</a:t>
            </a:r>
            <a:endParaRPr lang="en-US" sz="1200" dirty="0"/>
          </a:p>
          <a:p>
            <a:pPr marL="342900" indent="-342900">
              <a:spcAft>
                <a:spcPts val="600"/>
              </a:spcAft>
              <a:buSzPct val="100000"/>
              <a:buChar char="•"/>
            </a:pPr>
            <a:r>
              <a:rPr lang="en-US" sz="1200" dirty="0">
                <a:solidFill>
                  <a:srgbClr val="445C64"/>
                </a:solidFill>
                <a:latin typeface="Calibri" pitchFamily="34" charset="0"/>
                <a:ea typeface="Calibri" pitchFamily="34" charset="-122"/>
                <a:cs typeface="Calibri" pitchFamily="34" charset="-120"/>
              </a:rPr>
              <a:t>CRUD and the guarded lifecycle — 33 tests</a:t>
            </a:r>
            <a:endParaRPr lang="en-US" sz="1200" dirty="0"/>
          </a:p>
          <a:p>
            <a:pPr marL="342900" indent="-342900">
              <a:spcAft>
                <a:spcPts val="600"/>
              </a:spcAft>
              <a:buSzPct val="100000"/>
              <a:buChar char="•"/>
            </a:pPr>
            <a:r>
              <a:rPr lang="en-US" sz="1200" dirty="0">
                <a:solidFill>
                  <a:srgbClr val="445C64"/>
                </a:solidFill>
                <a:latin typeface="Calibri" pitchFamily="34" charset="0"/>
                <a:ea typeface="Calibri" pitchFamily="34" charset="-122"/>
                <a:cs typeface="Calibri" pitchFamily="34" charset="-120"/>
              </a:rPr>
              <a:t>Dashboards and 7 reports on live data</a:t>
            </a:r>
            <a:endParaRPr lang="en-US" sz="1200" dirty="0"/>
          </a:p>
          <a:p>
            <a:pPr marL="342900" indent="-342900">
              <a:spcAft>
                <a:spcPts val="600"/>
              </a:spcAft>
              <a:buSzPct val="100000"/>
              <a:buChar char="•"/>
            </a:pPr>
            <a:r>
              <a:rPr lang="en-US" sz="1200" dirty="0">
                <a:solidFill>
                  <a:srgbClr val="445C64"/>
                </a:solidFill>
                <a:latin typeface="Calibri" pitchFamily="34" charset="0"/>
                <a:ea typeface="Calibri" pitchFamily="34" charset="-122"/>
                <a:cs typeface="Calibri" pitchFamily="34" charset="-120"/>
              </a:rPr>
              <a:t>REST API — ~64 endpoints across 11 groups, Swagger UI at /api/docs</a:t>
            </a:r>
            <a:endParaRPr lang="en-US" sz="1200" dirty="0"/>
          </a:p>
          <a:p>
            <a:pPr marL="342900" indent="-342900">
              <a:spcAft>
                <a:spcPts val="600"/>
              </a:spcAft>
              <a:buSzPct val="100000"/>
              <a:buChar char="•"/>
            </a:pPr>
            <a:r>
              <a:rPr lang="en-US" sz="1200" dirty="0">
                <a:solidFill>
                  <a:srgbClr val="445C64"/>
                </a:solidFill>
                <a:latin typeface="Calibri" pitchFamily="34" charset="0"/>
                <a:ea typeface="Calibri" pitchFamily="34" charset="-122"/>
                <a:cs typeface="Calibri" pitchFamily="34" charset="-120"/>
              </a:rPr>
              <a:t>Responsive UI verified at 390, 768 and 1366 px</a:t>
            </a:r>
            <a:endParaRPr lang="en-US" sz="1200" dirty="0"/>
          </a:p>
          <a:p>
            <a:pPr marL="342900" indent="-342900">
              <a:spcAft>
                <a:spcPts val="600"/>
              </a:spcAft>
              <a:buSzPct val="100000"/>
              <a:buChar char="•"/>
            </a:pPr>
            <a:r>
              <a:rPr lang="en-US" sz="1200" dirty="0">
                <a:solidFill>
                  <a:srgbClr val="445C64"/>
                </a:solidFill>
                <a:latin typeface="Calibri" pitchFamily="34" charset="0"/>
                <a:ea typeface="Calibri" pitchFamily="34" charset="-122"/>
                <a:cs typeface="Calibri" pitchFamily="34" charset="-120"/>
              </a:rPr>
              <a:t>GitHub repository with a documented history</a:t>
            </a:r>
            <a:endParaRPr lang="en-US" sz="1200" dirty="0"/>
          </a:p>
          <a:p>
            <a:pPr marL="342900" indent="-342900">
              <a:spcAft>
                <a:spcPts val="600"/>
              </a:spcAft>
              <a:buSzPct val="100000"/>
              <a:buChar char="•"/>
            </a:pPr>
            <a:r>
              <a:rPr lang="en-US" sz="1200" dirty="0">
                <a:solidFill>
                  <a:srgbClr val="445C64"/>
                </a:solidFill>
                <a:latin typeface="Calibri" pitchFamily="34" charset="0"/>
                <a:ea typeface="Calibri" pitchFamily="34" charset="-122"/>
                <a:cs typeface="Calibri" pitchFamily="34" charset="-120"/>
              </a:rPr>
              <a:t>Live on Vercel + Render with managed PostgreSQL; CI green on every push</a:t>
            </a:r>
            <a:endParaRPr lang="en-US" sz="1200" dirty="0"/>
          </a:p>
          <a:p>
            <a:pPr marL="342900" indent="-342900">
              <a:spcAft>
                <a:spcPts val="600"/>
              </a:spcAft>
              <a:buSzPct val="100000"/>
              <a:buChar char="•"/>
            </a:pPr>
            <a:r>
              <a:rPr lang="en-US" sz="1200" dirty="0">
                <a:solidFill>
                  <a:srgbClr val="445C64"/>
                </a:solidFill>
                <a:latin typeface="Calibri" pitchFamily="34" charset="0"/>
                <a:ea typeface="Calibri" pitchFamily="34" charset="-122"/>
                <a:cs typeface="Calibri" pitchFamily="34" charset="-120"/>
              </a:rPr>
              <a:t>WhatsApp two-way channel live through Meta’s Cloud API</a:t>
            </a:r>
            <a:endParaRPr lang="en-US" sz="1200" dirty="0"/>
          </a:p>
          <a:p>
            <a:pPr marL="342900" indent="-342900">
              <a:spcAft>
                <a:spcPts val="600"/>
              </a:spcAft>
              <a:buSzPct val="100000"/>
              <a:buChar char="•"/>
            </a:pPr>
            <a:r>
              <a:rPr lang="en-US" sz="1200" dirty="0">
                <a:solidFill>
                  <a:srgbClr val="445C64"/>
                </a:solidFill>
                <a:latin typeface="Calibri" pitchFamily="34" charset="0"/>
                <a:ea typeface="Calibri" pitchFamily="34" charset="-122"/>
                <a:cs typeface="Calibri" pitchFamily="34" charset="-120"/>
              </a:rPr>
              <a:t>All three roles exercised end to end on the live system and from a phone</a:t>
            </a:r>
            <a:endParaRPr lang="en-US" sz="1200" dirty="0"/>
          </a:p>
        </p:txBody>
      </p:sp>
      <p:sp>
        <p:nvSpPr>
          <p:cNvPr id="10" name="Shape 8"/>
          <p:cNvSpPr/>
          <p:nvPr/>
        </p:nvSpPr>
        <p:spPr>
          <a:xfrm>
            <a:off x="7534656" y="1353312"/>
            <a:ext cx="4059936" cy="3968496"/>
          </a:xfrm>
          <a:prstGeom prst="roundRect">
            <a:avLst>
              <a:gd name="adj" fmla="val 2304"/>
            </a:avLst>
          </a:prstGeom>
          <a:solidFill>
            <a:srgbClr val="FBF7EF"/>
          </a:solidFill>
          <a:ln w="9525">
            <a:solidFill>
              <a:srgbClr val="EBDFC8"/>
            </a:solidFill>
            <a:prstDash val="solid"/>
          </a:ln>
          <a:effectLst>
            <a:outerShdw sx="100000" sy="100000" kx="0" ky="0" algn="bl" rotWithShape="0" blurRad="127000" dist="25400" dir="5400000">
              <a:srgbClr val="0A2E36">
                <a:alpha val="10000"/>
              </a:srgbClr>
            </a:outerShdw>
          </a:effectLst>
        </p:spPr>
      </p:sp>
      <p:sp>
        <p:nvSpPr>
          <p:cNvPr id="11" name="Shape 9"/>
          <p:cNvSpPr/>
          <p:nvPr/>
        </p:nvSpPr>
        <p:spPr>
          <a:xfrm>
            <a:off x="7827264" y="1609344"/>
            <a:ext cx="420624" cy="420624"/>
          </a:xfrm>
          <a:prstGeom prst="ellipse">
            <a:avLst/>
          </a:prstGeom>
          <a:solidFill>
            <a:srgbClr val="C77800"/>
          </a:solidFill>
          <a:ln/>
        </p:spPr>
      </p:sp>
      <p:sp>
        <p:nvSpPr>
          <p:cNvPr id="12" name="Text 10"/>
          <p:cNvSpPr/>
          <p:nvPr/>
        </p:nvSpPr>
        <p:spPr>
          <a:xfrm>
            <a:off x="7827264" y="1609344"/>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3" name="Text 11"/>
          <p:cNvSpPr/>
          <p:nvPr/>
        </p:nvSpPr>
        <p:spPr>
          <a:xfrm>
            <a:off x="8394192" y="1609344"/>
            <a:ext cx="2926080" cy="420624"/>
          </a:xfrm>
          <a:prstGeom prst="rect">
            <a:avLst/>
          </a:prstGeom>
          <a:noFill/>
          <a:ln/>
        </p:spPr>
        <p:txBody>
          <a:bodyPr wrap="square" lIns="0" tIns="0" rIns="0" bIns="0" rtlCol="0" anchor="ctr"/>
          <a:lstStyle/>
          <a:p>
            <a:pPr indent="0" marL="0">
              <a:buNone/>
            </a:pPr>
            <a:r>
              <a:rPr lang="en-US" sz="1500" b="1" dirty="0">
                <a:solidFill>
                  <a:srgbClr val="0A2E36"/>
                </a:solidFill>
                <a:latin typeface="Cambria" pitchFamily="34" charset="0"/>
                <a:ea typeface="Cambria" pitchFamily="34" charset="-122"/>
                <a:cs typeface="Cambria" pitchFamily="34" charset="-120"/>
              </a:rPr>
              <a:t>Not done</a:t>
            </a:r>
            <a:endParaRPr lang="en-US" sz="1500" dirty="0"/>
          </a:p>
        </p:txBody>
      </p:sp>
      <p:sp>
        <p:nvSpPr>
          <p:cNvPr id="14" name="Text 12"/>
          <p:cNvSpPr/>
          <p:nvPr/>
        </p:nvSpPr>
        <p:spPr>
          <a:xfrm>
            <a:off x="8394192" y="2011680"/>
            <a:ext cx="2926080" cy="237744"/>
          </a:xfrm>
          <a:prstGeom prst="rect">
            <a:avLst/>
          </a:prstGeom>
          <a:noFill/>
          <a:ln/>
        </p:spPr>
        <p:txBody>
          <a:bodyPr wrap="square" lIns="0" tIns="0" rIns="0" bIns="0" rtlCol="0" anchor="ctr"/>
          <a:lstStyle/>
          <a:p>
            <a:pPr indent="0" marL="0">
              <a:buNone/>
            </a:pPr>
            <a:r>
              <a:rPr lang="en-US" sz="1100" dirty="0">
                <a:solidFill>
                  <a:srgbClr val="C77800"/>
                </a:solidFill>
                <a:latin typeface="Calibri" pitchFamily="34" charset="0"/>
                <a:ea typeface="Calibri" pitchFamily="34" charset="-122"/>
                <a:cs typeface="Calibri" pitchFamily="34" charset="-120"/>
              </a:rPr>
              <a:t>Stated plainly, not buried</a:t>
            </a:r>
            <a:endParaRPr lang="en-US" sz="1100" dirty="0"/>
          </a:p>
        </p:txBody>
      </p:sp>
      <p:sp>
        <p:nvSpPr>
          <p:cNvPr id="15" name="Text 13"/>
          <p:cNvSpPr/>
          <p:nvPr/>
        </p:nvSpPr>
        <p:spPr>
          <a:xfrm>
            <a:off x="7827264" y="2395728"/>
            <a:ext cx="3529584" cy="274320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445C64"/>
                </a:solidFill>
                <a:latin typeface="Calibri" pitchFamily="34" charset="0"/>
                <a:ea typeface="Calibri" pitchFamily="34" charset="-122"/>
                <a:cs typeface="Calibri" pitchFamily="34" charset="-120"/>
              </a:rPr>
              <a:t>No automated frontend tests — verified manually across roles and viewports</a:t>
            </a:r>
            <a:endParaRPr lang="en-US" sz="1200" dirty="0"/>
          </a:p>
          <a:p>
            <a:pPr marL="342900" indent="-342900">
              <a:spcAft>
                <a:spcPts val="800"/>
              </a:spcAft>
              <a:buSzPct val="100000"/>
              <a:buChar char="•"/>
            </a:pPr>
            <a:r>
              <a:rPr lang="en-US" sz="1200" dirty="0">
                <a:solidFill>
                  <a:srgbClr val="445C64"/>
                </a:solidFill>
                <a:latin typeface="Calibri" pitchFamily="34" charset="0"/>
                <a:ea typeface="Calibri" pitchFamily="34" charset="-122"/>
                <a:cs typeface="Calibri" pitchFamily="34" charset="-120"/>
              </a:rPr>
              <a:t>Refresh tokens not individually revocable — deactivation is the mitigation</a:t>
            </a:r>
            <a:endParaRPr lang="en-US" sz="1200" dirty="0"/>
          </a:p>
          <a:p>
            <a:pPr marL="342900" indent="-342900">
              <a:spcAft>
                <a:spcPts val="800"/>
              </a:spcAft>
              <a:buSzPct val="100000"/>
              <a:buChar char="•"/>
            </a:pPr>
            <a:r>
              <a:rPr lang="en-US" sz="1200" dirty="0">
                <a:solidFill>
                  <a:srgbClr val="445C64"/>
                </a:solidFill>
                <a:latin typeface="Calibri" pitchFamily="34" charset="0"/>
                <a:ea typeface="Calibri" pitchFamily="34" charset="-122"/>
                <a:cs typeface="Calibri" pitchFamily="34" charset="-120"/>
              </a:rPr>
              <a:t>File attachments not implemented, so the cloud-storage clause is unmet</a:t>
            </a:r>
            <a:endParaRPr lang="en-US" sz="1200" dirty="0"/>
          </a:p>
          <a:p>
            <a:pPr marL="342900" indent="-342900">
              <a:spcAft>
                <a:spcPts val="800"/>
              </a:spcAft>
              <a:buSzPct val="100000"/>
              <a:buChar char="•"/>
            </a:pPr>
            <a:r>
              <a:rPr lang="en-US" sz="1200" dirty="0">
                <a:solidFill>
                  <a:srgbClr val="445C64"/>
                </a:solidFill>
                <a:latin typeface="Calibri" pitchFamily="34" charset="0"/>
                <a:ea typeface="Calibri" pitchFamily="34" charset="-122"/>
                <a:cs typeface="Calibri" pitchFamily="34" charset="-120"/>
              </a:rPr>
              <a:t>Live LLM path not in the automated suite; its failure handling is</a:t>
            </a:r>
            <a:endParaRPr lang="en-US" sz="1200" dirty="0"/>
          </a:p>
          <a:p>
            <a:pPr marL="342900" indent="-342900">
              <a:spcAft>
                <a:spcPts val="800"/>
              </a:spcAft>
              <a:buSzPct val="100000"/>
              <a:buChar char="•"/>
            </a:pPr>
            <a:r>
              <a:rPr lang="en-US" sz="1200" dirty="0">
                <a:solidFill>
                  <a:srgbClr val="445C64"/>
                </a:solidFill>
                <a:latin typeface="Calibri" pitchFamily="34" charset="0"/>
                <a:ea typeface="Calibri" pitchFamily="34" charset="-122"/>
                <a:cs typeface="Calibri" pitchFamily="34" charset="-120"/>
              </a:rPr>
              <a:t>Meta test number limited to five verified phones until business verification</a:t>
            </a:r>
            <a:endParaRPr lang="en-US" sz="1200" dirty="0"/>
          </a:p>
        </p:txBody>
      </p:sp>
      <p:sp>
        <p:nvSpPr>
          <p:cNvPr id="16" name="Shape 14"/>
          <p:cNvSpPr/>
          <p:nvPr/>
        </p:nvSpPr>
        <p:spPr>
          <a:xfrm>
            <a:off x="566928" y="5468112"/>
            <a:ext cx="11027664" cy="713232"/>
          </a:xfrm>
          <a:prstGeom prst="roundRect">
            <a:avLst>
              <a:gd name="adj" fmla="val 12821"/>
            </a:avLst>
          </a:prstGeom>
          <a:solidFill>
            <a:srgbClr val="0A2E36"/>
          </a:solidFill>
          <a:ln/>
          <a:effectLst>
            <a:outerShdw sx="100000" sy="100000" kx="0" ky="0" algn="bl" rotWithShape="0" blurRad="127000" dist="25400" dir="5400000">
              <a:srgbClr val="0A2E36">
                <a:alpha val="10000"/>
              </a:srgbClr>
            </a:outerShdw>
          </a:effectLst>
        </p:spPr>
      </p:sp>
      <p:sp>
        <p:nvSpPr>
          <p:cNvPr id="17" name="Text 15"/>
          <p:cNvSpPr/>
          <p:nvPr/>
        </p:nvSpPr>
        <p:spPr>
          <a:xfrm>
            <a:off x="877824" y="5468112"/>
            <a:ext cx="10405872" cy="713232"/>
          </a:xfrm>
          <a:prstGeom prst="rect">
            <a:avLst/>
          </a:prstGeom>
          <a:noFill/>
          <a:ln/>
        </p:spPr>
        <p:txBody>
          <a:bodyPr wrap="square" lIns="0" tIns="0" rIns="0" bIns="0" rtlCol="0" anchor="ctr"/>
          <a:lstStyle/>
          <a:p>
            <a:pPr indent="0" marL="0">
              <a:lnSpc>
                <a:spcPts val="1400"/>
              </a:lnSpc>
              <a:buNone/>
            </a:pPr>
            <a:r>
              <a:rPr lang="en-US" sz="1200" dirty="0">
                <a:solidFill>
                  <a:srgbClr val="FFFFFF"/>
                </a:solidFill>
                <a:latin typeface="Calibri" pitchFamily="34" charset="0"/>
                <a:ea typeface="Calibri" pitchFamily="34" charset="-122"/>
                <a:cs typeface="Calibri" pitchFamily="34" charset="-120"/>
              </a:rPr>
              <a:t>Every mandatory requirement is complete and verified on the live system. The items on the right are limitations we chose to state rather than hide.</a:t>
            </a:r>
            <a:endParaRPr lang="en-US" sz="1200" dirty="0"/>
          </a:p>
        </p:txBody>
      </p:sp>
      <p:sp>
        <p:nvSpPr>
          <p:cNvPr id="18" name="Text 16"/>
          <p:cNvSpPr/>
          <p:nvPr/>
        </p:nvSpPr>
        <p:spPr>
          <a:xfrm>
            <a:off x="566928" y="6345936"/>
            <a:ext cx="7315200" cy="219456"/>
          </a:xfrm>
          <a:prstGeom prst="rect">
            <a:avLst/>
          </a:prstGeom>
          <a:noFill/>
          <a:ln/>
        </p:spPr>
        <p:txBody>
          <a:bodyPr wrap="square" lIns="0" tIns="0" rIns="0" bIns="0" rtlCol="0" anchor="ctr"/>
          <a:lstStyle/>
          <a:p>
            <a:pPr indent="0" marL="0">
              <a:buNone/>
            </a:pPr>
            <a:r>
              <a:rPr lang="en-US" sz="900" dirty="0">
                <a:solidFill>
                  <a:srgbClr val="7C939B"/>
                </a:solidFill>
                <a:latin typeface="Calibri" pitchFamily="34" charset="0"/>
                <a:ea typeface="Calibri" pitchFamily="34" charset="-122"/>
                <a:cs typeface="Calibri" pitchFamily="34" charset="-120"/>
              </a:rPr>
              <a:t>ServiceDesk AI  ·  BCSE408L Cloud Computing  ·  Review 2 &amp; Final Demonstration</a:t>
            </a:r>
            <a:endParaRPr lang="en-US" sz="900" dirty="0"/>
          </a:p>
        </p:txBody>
      </p:sp>
      <p:sp>
        <p:nvSpPr>
          <p:cNvPr id="19" name="Text 17"/>
          <p:cNvSpPr/>
          <p:nvPr/>
        </p:nvSpPr>
        <p:spPr>
          <a:xfrm>
            <a:off x="10680192" y="6345936"/>
            <a:ext cx="914400" cy="219456"/>
          </a:xfrm>
          <a:prstGeom prst="rect">
            <a:avLst/>
          </a:prstGeom>
          <a:noFill/>
          <a:ln/>
        </p:spPr>
        <p:txBody>
          <a:bodyPr wrap="square" lIns="0" tIns="0" rIns="0" bIns="0" rtlCol="0" anchor="ctr"/>
          <a:lstStyle/>
          <a:p>
            <a:pPr algn="r" indent="0" marL="0">
              <a:buNone/>
            </a:pPr>
            <a:r>
              <a:rPr lang="en-US" sz="900" dirty="0">
                <a:solidFill>
                  <a:srgbClr val="7C939B"/>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27664" cy="237744"/>
          </a:xfrm>
          <a:prstGeom prst="rect">
            <a:avLst/>
          </a:prstGeom>
          <a:noFill/>
          <a:ln/>
        </p:spPr>
        <p:txBody>
          <a:bodyPr wrap="square" lIns="0" tIns="0" rIns="0" bIns="0" rtlCol="0" anchor="ctr"/>
          <a:lstStyle/>
          <a:p>
            <a:pPr indent="0" marL="0">
              <a:buNone/>
            </a:pPr>
            <a:r>
              <a:rPr lang="en-US" sz="1100" b="1" spc="220" kern="0" dirty="0">
                <a:solidFill>
                  <a:srgbClr val="028090"/>
                </a:solidFill>
                <a:latin typeface="Calibri" pitchFamily="34" charset="0"/>
                <a:ea typeface="Calibri" pitchFamily="34" charset="-122"/>
                <a:cs typeface="Calibri" pitchFamily="34" charset="-120"/>
              </a:rPr>
              <a:t>AS DEPLOYED</a:t>
            </a:r>
            <a:endParaRPr lang="en-US" sz="1100" dirty="0"/>
          </a:p>
        </p:txBody>
      </p:sp>
      <p:sp>
        <p:nvSpPr>
          <p:cNvPr id="3" name="Text 1"/>
          <p:cNvSpPr/>
          <p:nvPr/>
        </p:nvSpPr>
        <p:spPr>
          <a:xfrm>
            <a:off x="566928" y="621792"/>
            <a:ext cx="11027664" cy="621792"/>
          </a:xfrm>
          <a:prstGeom prst="rect">
            <a:avLst/>
          </a:prstGeom>
          <a:noFill/>
          <a:ln/>
        </p:spPr>
        <p:txBody>
          <a:bodyPr wrap="square" lIns="0" tIns="0" rIns="0" bIns="0" rtlCol="0" anchor="t"/>
          <a:lstStyle/>
          <a:p>
            <a:pPr indent="0" marL="0">
              <a:buNone/>
            </a:pPr>
            <a:r>
              <a:rPr lang="en-US" sz="3000" b="1" dirty="0">
                <a:solidFill>
                  <a:srgbClr val="0A2E36"/>
                </a:solidFill>
                <a:latin typeface="Cambria" pitchFamily="34" charset="0"/>
                <a:ea typeface="Cambria" pitchFamily="34" charset="-122"/>
                <a:cs typeface="Cambria" pitchFamily="34" charset="-120"/>
              </a:rPr>
              <a:t>Deployment</a:t>
            </a:r>
            <a:endParaRPr lang="en-US" sz="3000" dirty="0"/>
          </a:p>
        </p:txBody>
      </p:sp>
      <p:sp>
        <p:nvSpPr>
          <p:cNvPr id="4" name="Text 2"/>
          <p:cNvSpPr/>
          <p:nvPr/>
        </p:nvSpPr>
        <p:spPr>
          <a:xfrm>
            <a:off x="566928" y="1316736"/>
            <a:ext cx="10424160" cy="402336"/>
          </a:xfrm>
          <a:prstGeom prst="rect">
            <a:avLst/>
          </a:prstGeom>
          <a:noFill/>
          <a:ln/>
        </p:spPr>
        <p:txBody>
          <a:bodyPr wrap="square" lIns="0" tIns="0" rIns="0" bIns="0" rtlCol="0" anchor="t"/>
          <a:lstStyle/>
          <a:p>
            <a:pPr indent="0" marL="0">
              <a:lnSpc>
                <a:spcPts val="1700"/>
              </a:lnSpc>
              <a:buNone/>
            </a:pPr>
            <a:r>
              <a:rPr lang="en-US" sz="1250" dirty="0">
                <a:solidFill>
                  <a:srgbClr val="445C64"/>
                </a:solidFill>
                <a:latin typeface="Calibri" pitchFamily="34" charset="0"/>
                <a:ea typeface="Calibri" pitchFamily="34" charset="-122"/>
                <a:cs typeface="Calibri" pitchFamily="34" charset="-120"/>
              </a:rPr>
              <a:t>Three tiers plus messaging, deployed from a version-controlled Blueprint. Every step below was performed and verified; the problems met are in the report.</a:t>
            </a:r>
            <a:endParaRPr lang="en-US" sz="1250" dirty="0"/>
          </a:p>
        </p:txBody>
      </p:sp>
      <p:sp>
        <p:nvSpPr>
          <p:cNvPr id="5" name="Shape 3"/>
          <p:cNvSpPr/>
          <p:nvPr/>
        </p:nvSpPr>
        <p:spPr>
          <a:xfrm>
            <a:off x="566928" y="1847088"/>
            <a:ext cx="2592324" cy="1920240"/>
          </a:xfrm>
          <a:prstGeom prst="roundRect">
            <a:avLst>
              <a:gd name="adj" fmla="val 4762"/>
            </a:avLst>
          </a:prstGeom>
          <a:solidFill>
            <a:srgbClr val="EEF6F7"/>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6" name="Shape 4"/>
          <p:cNvSpPr/>
          <p:nvPr/>
        </p:nvSpPr>
        <p:spPr>
          <a:xfrm>
            <a:off x="804672" y="2048256"/>
            <a:ext cx="438912" cy="438912"/>
          </a:xfrm>
          <a:prstGeom prst="ellipse">
            <a:avLst/>
          </a:prstGeom>
          <a:solidFill>
            <a:srgbClr val="028090"/>
          </a:solidFill>
          <a:ln/>
        </p:spPr>
      </p:sp>
      <p:sp>
        <p:nvSpPr>
          <p:cNvPr id="7" name="Text 5"/>
          <p:cNvSpPr/>
          <p:nvPr/>
        </p:nvSpPr>
        <p:spPr>
          <a:xfrm>
            <a:off x="804672" y="2048256"/>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p:nvPr/>
        </p:nvSpPr>
        <p:spPr>
          <a:xfrm>
            <a:off x="1353312" y="2029968"/>
            <a:ext cx="1586484" cy="256032"/>
          </a:xfrm>
          <a:prstGeom prst="rect">
            <a:avLst/>
          </a:prstGeom>
          <a:noFill/>
          <a:ln/>
        </p:spPr>
        <p:txBody>
          <a:bodyPr wrap="square" lIns="0" tIns="0" rIns="0" bIns="0" rtlCol="0" anchor="ctr"/>
          <a:lstStyle/>
          <a:p>
            <a:pPr indent="0" marL="0">
              <a:buNone/>
            </a:pPr>
            <a:r>
              <a:rPr lang="en-US" sz="1450" b="1" dirty="0">
                <a:solidFill>
                  <a:srgbClr val="0A2E36"/>
                </a:solidFill>
                <a:latin typeface="Cambria" pitchFamily="34" charset="0"/>
                <a:ea typeface="Cambria" pitchFamily="34" charset="-122"/>
                <a:cs typeface="Cambria" pitchFamily="34" charset="-120"/>
              </a:rPr>
              <a:t>Database</a:t>
            </a:r>
            <a:endParaRPr lang="en-US" sz="1450" dirty="0"/>
          </a:p>
        </p:txBody>
      </p:sp>
      <p:sp>
        <p:nvSpPr>
          <p:cNvPr id="9" name="Text 7"/>
          <p:cNvSpPr/>
          <p:nvPr/>
        </p:nvSpPr>
        <p:spPr>
          <a:xfrm>
            <a:off x="1353312" y="2286000"/>
            <a:ext cx="1586484" cy="219456"/>
          </a:xfrm>
          <a:prstGeom prst="rect">
            <a:avLst/>
          </a:prstGeom>
          <a:noFill/>
          <a:ln/>
        </p:spPr>
        <p:txBody>
          <a:bodyPr wrap="square" lIns="0" tIns="0" rIns="0" bIns="0" rtlCol="0" anchor="ctr"/>
          <a:lstStyle/>
          <a:p>
            <a:pPr indent="0" marL="0">
              <a:buNone/>
            </a:pPr>
            <a:r>
              <a:rPr lang="en-US" sz="1050" b="1" dirty="0">
                <a:solidFill>
                  <a:srgbClr val="028090"/>
                </a:solidFill>
                <a:latin typeface="Calibri" pitchFamily="34" charset="0"/>
                <a:ea typeface="Calibri" pitchFamily="34" charset="-122"/>
                <a:cs typeface="Calibri" pitchFamily="34" charset="-120"/>
              </a:rPr>
              <a:t>Render PostgreSQL 16</a:t>
            </a:r>
            <a:endParaRPr lang="en-US" sz="1050" dirty="0"/>
          </a:p>
        </p:txBody>
      </p:sp>
      <p:sp>
        <p:nvSpPr>
          <p:cNvPr id="10" name="Text 8"/>
          <p:cNvSpPr/>
          <p:nvPr/>
        </p:nvSpPr>
        <p:spPr>
          <a:xfrm>
            <a:off x="804672" y="2633472"/>
            <a:ext cx="2116836" cy="786384"/>
          </a:xfrm>
          <a:prstGeom prst="rect">
            <a:avLst/>
          </a:prstGeom>
          <a:noFill/>
          <a:ln/>
        </p:spPr>
        <p:txBody>
          <a:bodyPr wrap="square" lIns="0" tIns="0" rIns="0" bIns="0" rtlCol="0" anchor="t"/>
          <a:lstStyle/>
          <a:p>
            <a:pPr indent="0" marL="0">
              <a:lnSpc>
                <a:spcPts val="1300"/>
              </a:lnSpc>
              <a:buNone/>
            </a:pPr>
            <a:r>
              <a:rPr lang="en-US" sz="1050" dirty="0">
                <a:solidFill>
                  <a:srgbClr val="445C64"/>
                </a:solidFill>
                <a:latin typeface="Calibri" pitchFamily="34" charset="0"/>
                <a:ea typeface="Calibri" pitchFamily="34" charset="-122"/>
                <a:cs typeface="Calibri" pitchFamily="34" charset="-120"/>
              </a:rPr>
              <a:t>Provisioned by render.yaml in Singapore with pgvector; migrations run on every start; seeded once</a:t>
            </a:r>
            <a:endParaRPr lang="en-US" sz="1050" dirty="0"/>
          </a:p>
        </p:txBody>
      </p:sp>
      <p:sp>
        <p:nvSpPr>
          <p:cNvPr id="11" name="Text 9"/>
          <p:cNvSpPr/>
          <p:nvPr/>
        </p:nvSpPr>
        <p:spPr>
          <a:xfrm>
            <a:off x="804672" y="3456432"/>
            <a:ext cx="2116836" cy="219456"/>
          </a:xfrm>
          <a:prstGeom prst="rect">
            <a:avLst/>
          </a:prstGeom>
          <a:noFill/>
          <a:ln/>
        </p:spPr>
        <p:txBody>
          <a:bodyPr wrap="square" lIns="0" tIns="0" rIns="0" bIns="0" rtlCol="0" anchor="ctr"/>
          <a:lstStyle/>
          <a:p>
            <a:pPr indent="0" marL="0">
              <a:buNone/>
            </a:pPr>
            <a:r>
              <a:rPr lang="en-US" sz="1050" b="1" dirty="0">
                <a:solidFill>
                  <a:srgbClr val="7C939B"/>
                </a:solidFill>
                <a:latin typeface="Calibri" pitchFamily="34" charset="0"/>
                <a:ea typeface="Calibri" pitchFamily="34" charset="-122"/>
                <a:cs typeface="Calibri" pitchFamily="34" charset="-120"/>
              </a:rPr>
              <a:t>done</a:t>
            </a:r>
            <a:endParaRPr lang="en-US" sz="1050" dirty="0"/>
          </a:p>
        </p:txBody>
      </p:sp>
      <p:sp>
        <p:nvSpPr>
          <p:cNvPr id="12" name="Shape 10"/>
          <p:cNvSpPr/>
          <p:nvPr/>
        </p:nvSpPr>
        <p:spPr>
          <a:xfrm>
            <a:off x="3378708" y="1847088"/>
            <a:ext cx="2592324" cy="1920240"/>
          </a:xfrm>
          <a:prstGeom prst="roundRect">
            <a:avLst>
              <a:gd name="adj" fmla="val 4762"/>
            </a:avLst>
          </a:prstGeom>
          <a:solidFill>
            <a:srgbClr val="EEF6F7"/>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13" name="Shape 11"/>
          <p:cNvSpPr/>
          <p:nvPr/>
        </p:nvSpPr>
        <p:spPr>
          <a:xfrm>
            <a:off x="3616452" y="2048256"/>
            <a:ext cx="438912" cy="438912"/>
          </a:xfrm>
          <a:prstGeom prst="ellipse">
            <a:avLst/>
          </a:prstGeom>
          <a:solidFill>
            <a:srgbClr val="028090"/>
          </a:solidFill>
          <a:ln/>
        </p:spPr>
      </p:sp>
      <p:sp>
        <p:nvSpPr>
          <p:cNvPr id="14" name="Text 12"/>
          <p:cNvSpPr/>
          <p:nvPr/>
        </p:nvSpPr>
        <p:spPr>
          <a:xfrm>
            <a:off x="3616452" y="2048256"/>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5" name="Text 13"/>
          <p:cNvSpPr/>
          <p:nvPr/>
        </p:nvSpPr>
        <p:spPr>
          <a:xfrm>
            <a:off x="4165092" y="2029968"/>
            <a:ext cx="1586484" cy="256032"/>
          </a:xfrm>
          <a:prstGeom prst="rect">
            <a:avLst/>
          </a:prstGeom>
          <a:noFill/>
          <a:ln/>
        </p:spPr>
        <p:txBody>
          <a:bodyPr wrap="square" lIns="0" tIns="0" rIns="0" bIns="0" rtlCol="0" anchor="ctr"/>
          <a:lstStyle/>
          <a:p>
            <a:pPr indent="0" marL="0">
              <a:buNone/>
            </a:pPr>
            <a:r>
              <a:rPr lang="en-US" sz="1450" b="1" dirty="0">
                <a:solidFill>
                  <a:srgbClr val="0A2E36"/>
                </a:solidFill>
                <a:latin typeface="Cambria" pitchFamily="34" charset="0"/>
                <a:ea typeface="Cambria" pitchFamily="34" charset="-122"/>
                <a:cs typeface="Cambria" pitchFamily="34" charset="-120"/>
              </a:rPr>
              <a:t>API</a:t>
            </a:r>
            <a:endParaRPr lang="en-US" sz="1450" dirty="0"/>
          </a:p>
        </p:txBody>
      </p:sp>
      <p:sp>
        <p:nvSpPr>
          <p:cNvPr id="16" name="Text 14"/>
          <p:cNvSpPr/>
          <p:nvPr/>
        </p:nvSpPr>
        <p:spPr>
          <a:xfrm>
            <a:off x="4165092" y="2286000"/>
            <a:ext cx="1586484" cy="219456"/>
          </a:xfrm>
          <a:prstGeom prst="rect">
            <a:avLst/>
          </a:prstGeom>
          <a:noFill/>
          <a:ln/>
        </p:spPr>
        <p:txBody>
          <a:bodyPr wrap="square" lIns="0" tIns="0" rIns="0" bIns="0" rtlCol="0" anchor="ctr"/>
          <a:lstStyle/>
          <a:p>
            <a:pPr indent="0" marL="0">
              <a:buNone/>
            </a:pPr>
            <a:r>
              <a:rPr lang="en-US" sz="1050" b="1" dirty="0">
                <a:solidFill>
                  <a:srgbClr val="028090"/>
                </a:solidFill>
                <a:latin typeface="Calibri" pitchFamily="34" charset="0"/>
                <a:ea typeface="Calibri" pitchFamily="34" charset="-122"/>
                <a:cs typeface="Calibri" pitchFamily="34" charset="-120"/>
              </a:rPr>
              <a:t>Render</a:t>
            </a:r>
            <a:endParaRPr lang="en-US" sz="1050" dirty="0"/>
          </a:p>
        </p:txBody>
      </p:sp>
      <p:sp>
        <p:nvSpPr>
          <p:cNvPr id="17" name="Text 15"/>
          <p:cNvSpPr/>
          <p:nvPr/>
        </p:nvSpPr>
        <p:spPr>
          <a:xfrm>
            <a:off x="3616452" y="2633472"/>
            <a:ext cx="2116836" cy="786384"/>
          </a:xfrm>
          <a:prstGeom prst="rect">
            <a:avLst/>
          </a:prstGeom>
          <a:noFill/>
          <a:ln/>
        </p:spPr>
        <p:txBody>
          <a:bodyPr wrap="square" lIns="0" tIns="0" rIns="0" bIns="0" rtlCol="0" anchor="t"/>
          <a:lstStyle/>
          <a:p>
            <a:pPr indent="0" marL="0">
              <a:lnSpc>
                <a:spcPts val="1300"/>
              </a:lnSpc>
              <a:buNone/>
            </a:pPr>
            <a:r>
              <a:rPr lang="en-US" sz="1050" dirty="0">
                <a:solidFill>
                  <a:srgbClr val="445C64"/>
                </a:solidFill>
                <a:latin typeface="Calibri" pitchFamily="34" charset="0"/>
                <a:ea typeface="Calibri" pitchFamily="34" charset="-122"/>
                <a:cs typeface="Calibri" pitchFamily="34" charset="-120"/>
              </a:rPr>
              <a:t>Web service from the same Blueprint: npm ci --include=dev, migrate &amp;&amp; start, /api/health, generated JWT secrets</a:t>
            </a:r>
            <a:endParaRPr lang="en-US" sz="1050" dirty="0"/>
          </a:p>
        </p:txBody>
      </p:sp>
      <p:sp>
        <p:nvSpPr>
          <p:cNvPr id="18" name="Text 16"/>
          <p:cNvSpPr/>
          <p:nvPr/>
        </p:nvSpPr>
        <p:spPr>
          <a:xfrm>
            <a:off x="3616452" y="3456432"/>
            <a:ext cx="2116836" cy="219456"/>
          </a:xfrm>
          <a:prstGeom prst="rect">
            <a:avLst/>
          </a:prstGeom>
          <a:noFill/>
          <a:ln/>
        </p:spPr>
        <p:txBody>
          <a:bodyPr wrap="square" lIns="0" tIns="0" rIns="0" bIns="0" rtlCol="0" anchor="ctr"/>
          <a:lstStyle/>
          <a:p>
            <a:pPr indent="0" marL="0">
              <a:buNone/>
            </a:pPr>
            <a:r>
              <a:rPr lang="en-US" sz="1050" b="1" dirty="0">
                <a:solidFill>
                  <a:srgbClr val="7C939B"/>
                </a:solidFill>
                <a:latin typeface="Calibri" pitchFamily="34" charset="0"/>
                <a:ea typeface="Calibri" pitchFamily="34" charset="-122"/>
                <a:cs typeface="Calibri" pitchFamily="34" charset="-120"/>
              </a:rPr>
              <a:t>done</a:t>
            </a:r>
            <a:endParaRPr lang="en-US" sz="1050" dirty="0"/>
          </a:p>
        </p:txBody>
      </p:sp>
      <p:sp>
        <p:nvSpPr>
          <p:cNvPr id="19" name="Shape 17"/>
          <p:cNvSpPr/>
          <p:nvPr/>
        </p:nvSpPr>
        <p:spPr>
          <a:xfrm>
            <a:off x="6190488" y="1847088"/>
            <a:ext cx="2592324" cy="1920240"/>
          </a:xfrm>
          <a:prstGeom prst="roundRect">
            <a:avLst>
              <a:gd name="adj" fmla="val 4762"/>
            </a:avLst>
          </a:prstGeom>
          <a:solidFill>
            <a:srgbClr val="EEF6F7"/>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20" name="Shape 18"/>
          <p:cNvSpPr/>
          <p:nvPr/>
        </p:nvSpPr>
        <p:spPr>
          <a:xfrm>
            <a:off x="6428232" y="2048256"/>
            <a:ext cx="438912" cy="438912"/>
          </a:xfrm>
          <a:prstGeom prst="ellipse">
            <a:avLst/>
          </a:prstGeom>
          <a:solidFill>
            <a:srgbClr val="028090"/>
          </a:solidFill>
          <a:ln/>
        </p:spPr>
      </p:sp>
      <p:sp>
        <p:nvSpPr>
          <p:cNvPr id="21" name="Text 19"/>
          <p:cNvSpPr/>
          <p:nvPr/>
        </p:nvSpPr>
        <p:spPr>
          <a:xfrm>
            <a:off x="6428232" y="2048256"/>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2" name="Text 20"/>
          <p:cNvSpPr/>
          <p:nvPr/>
        </p:nvSpPr>
        <p:spPr>
          <a:xfrm>
            <a:off x="6976872" y="2029968"/>
            <a:ext cx="1586484" cy="256032"/>
          </a:xfrm>
          <a:prstGeom prst="rect">
            <a:avLst/>
          </a:prstGeom>
          <a:noFill/>
          <a:ln/>
        </p:spPr>
        <p:txBody>
          <a:bodyPr wrap="square" lIns="0" tIns="0" rIns="0" bIns="0" rtlCol="0" anchor="ctr"/>
          <a:lstStyle/>
          <a:p>
            <a:pPr indent="0" marL="0">
              <a:buNone/>
            </a:pPr>
            <a:r>
              <a:rPr lang="en-US" sz="1450" b="1" dirty="0">
                <a:solidFill>
                  <a:srgbClr val="0A2E36"/>
                </a:solidFill>
                <a:latin typeface="Cambria" pitchFamily="34" charset="0"/>
                <a:ea typeface="Cambria" pitchFamily="34" charset="-122"/>
                <a:cs typeface="Cambria" pitchFamily="34" charset="-120"/>
              </a:rPr>
              <a:t>Frontend</a:t>
            </a:r>
            <a:endParaRPr lang="en-US" sz="1450" dirty="0"/>
          </a:p>
        </p:txBody>
      </p:sp>
      <p:sp>
        <p:nvSpPr>
          <p:cNvPr id="23" name="Text 21"/>
          <p:cNvSpPr/>
          <p:nvPr/>
        </p:nvSpPr>
        <p:spPr>
          <a:xfrm>
            <a:off x="6976872" y="2286000"/>
            <a:ext cx="1586484" cy="219456"/>
          </a:xfrm>
          <a:prstGeom prst="rect">
            <a:avLst/>
          </a:prstGeom>
          <a:noFill/>
          <a:ln/>
        </p:spPr>
        <p:txBody>
          <a:bodyPr wrap="square" lIns="0" tIns="0" rIns="0" bIns="0" rtlCol="0" anchor="ctr"/>
          <a:lstStyle/>
          <a:p>
            <a:pPr indent="0" marL="0">
              <a:buNone/>
            </a:pPr>
            <a:r>
              <a:rPr lang="en-US" sz="1050" b="1" dirty="0">
                <a:solidFill>
                  <a:srgbClr val="028090"/>
                </a:solidFill>
                <a:latin typeface="Calibri" pitchFamily="34" charset="0"/>
                <a:ea typeface="Calibri" pitchFamily="34" charset="-122"/>
                <a:cs typeface="Calibri" pitchFamily="34" charset="-120"/>
              </a:rPr>
              <a:t>Vercel</a:t>
            </a:r>
            <a:endParaRPr lang="en-US" sz="1050" dirty="0"/>
          </a:p>
        </p:txBody>
      </p:sp>
      <p:sp>
        <p:nvSpPr>
          <p:cNvPr id="24" name="Text 22"/>
          <p:cNvSpPr/>
          <p:nvPr/>
        </p:nvSpPr>
        <p:spPr>
          <a:xfrm>
            <a:off x="6428232" y="2633472"/>
            <a:ext cx="2116836" cy="786384"/>
          </a:xfrm>
          <a:prstGeom prst="rect">
            <a:avLst/>
          </a:prstGeom>
          <a:noFill/>
          <a:ln/>
        </p:spPr>
        <p:txBody>
          <a:bodyPr wrap="square" lIns="0" tIns="0" rIns="0" bIns="0" rtlCol="0" anchor="t"/>
          <a:lstStyle/>
          <a:p>
            <a:pPr indent="0" marL="0">
              <a:lnSpc>
                <a:spcPts val="1300"/>
              </a:lnSpc>
              <a:buNone/>
            </a:pPr>
            <a:r>
              <a:rPr lang="en-US" sz="1050" dirty="0">
                <a:solidFill>
                  <a:srgbClr val="445C64"/>
                </a:solidFill>
                <a:latin typeface="Calibri" pitchFamily="34" charset="0"/>
                <a:ea typeface="Calibri" pitchFamily="34" charset="-122"/>
                <a:cs typeface="Calibri" pitchFamily="34" charset="-120"/>
              </a:rPr>
              <a:t>servicedesk-ai-two.vercel.app — root frontend, Vite preset, one public variable: the API base URL</a:t>
            </a:r>
            <a:endParaRPr lang="en-US" sz="1050" dirty="0"/>
          </a:p>
        </p:txBody>
      </p:sp>
      <p:sp>
        <p:nvSpPr>
          <p:cNvPr id="25" name="Text 23"/>
          <p:cNvSpPr/>
          <p:nvPr/>
        </p:nvSpPr>
        <p:spPr>
          <a:xfrm>
            <a:off x="6428232" y="3456432"/>
            <a:ext cx="2116836" cy="219456"/>
          </a:xfrm>
          <a:prstGeom prst="rect">
            <a:avLst/>
          </a:prstGeom>
          <a:noFill/>
          <a:ln/>
        </p:spPr>
        <p:txBody>
          <a:bodyPr wrap="square" lIns="0" tIns="0" rIns="0" bIns="0" rtlCol="0" anchor="ctr"/>
          <a:lstStyle/>
          <a:p>
            <a:pPr indent="0" marL="0">
              <a:buNone/>
            </a:pPr>
            <a:r>
              <a:rPr lang="en-US" sz="1050" b="1" dirty="0">
                <a:solidFill>
                  <a:srgbClr val="7C939B"/>
                </a:solidFill>
                <a:latin typeface="Calibri" pitchFamily="34" charset="0"/>
                <a:ea typeface="Calibri" pitchFamily="34" charset="-122"/>
                <a:cs typeface="Calibri" pitchFamily="34" charset="-120"/>
              </a:rPr>
              <a:t>done</a:t>
            </a:r>
            <a:endParaRPr lang="en-US" sz="1050" dirty="0"/>
          </a:p>
        </p:txBody>
      </p:sp>
      <p:sp>
        <p:nvSpPr>
          <p:cNvPr id="26" name="Shape 24"/>
          <p:cNvSpPr/>
          <p:nvPr/>
        </p:nvSpPr>
        <p:spPr>
          <a:xfrm>
            <a:off x="9002268" y="1847088"/>
            <a:ext cx="2592324" cy="1920240"/>
          </a:xfrm>
          <a:prstGeom prst="roundRect">
            <a:avLst>
              <a:gd name="adj" fmla="val 4762"/>
            </a:avLst>
          </a:prstGeom>
          <a:solidFill>
            <a:srgbClr val="EEF6F7"/>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27" name="Shape 25"/>
          <p:cNvSpPr/>
          <p:nvPr/>
        </p:nvSpPr>
        <p:spPr>
          <a:xfrm>
            <a:off x="9240012" y="2048256"/>
            <a:ext cx="438912" cy="438912"/>
          </a:xfrm>
          <a:prstGeom prst="ellipse">
            <a:avLst/>
          </a:prstGeom>
          <a:solidFill>
            <a:srgbClr val="028090"/>
          </a:solidFill>
          <a:ln/>
        </p:spPr>
      </p:sp>
      <p:sp>
        <p:nvSpPr>
          <p:cNvPr id="28" name="Text 26"/>
          <p:cNvSpPr/>
          <p:nvPr/>
        </p:nvSpPr>
        <p:spPr>
          <a:xfrm>
            <a:off x="9240012" y="2048256"/>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9" name="Text 27"/>
          <p:cNvSpPr/>
          <p:nvPr/>
        </p:nvSpPr>
        <p:spPr>
          <a:xfrm>
            <a:off x="9788652" y="2029968"/>
            <a:ext cx="1586484" cy="256032"/>
          </a:xfrm>
          <a:prstGeom prst="rect">
            <a:avLst/>
          </a:prstGeom>
          <a:noFill/>
          <a:ln/>
        </p:spPr>
        <p:txBody>
          <a:bodyPr wrap="square" lIns="0" tIns="0" rIns="0" bIns="0" rtlCol="0" anchor="ctr"/>
          <a:lstStyle/>
          <a:p>
            <a:pPr indent="0" marL="0">
              <a:buNone/>
            </a:pPr>
            <a:r>
              <a:rPr lang="en-US" sz="1450" b="1" dirty="0">
                <a:solidFill>
                  <a:srgbClr val="0A2E36"/>
                </a:solidFill>
                <a:latin typeface="Cambria" pitchFamily="34" charset="0"/>
                <a:ea typeface="Cambria" pitchFamily="34" charset="-122"/>
                <a:cs typeface="Cambria" pitchFamily="34" charset="-120"/>
              </a:rPr>
              <a:t>WhatsApp</a:t>
            </a:r>
            <a:endParaRPr lang="en-US" sz="1450" dirty="0"/>
          </a:p>
        </p:txBody>
      </p:sp>
      <p:sp>
        <p:nvSpPr>
          <p:cNvPr id="30" name="Text 28"/>
          <p:cNvSpPr/>
          <p:nvPr/>
        </p:nvSpPr>
        <p:spPr>
          <a:xfrm>
            <a:off x="9788652" y="2286000"/>
            <a:ext cx="1586484" cy="219456"/>
          </a:xfrm>
          <a:prstGeom prst="rect">
            <a:avLst/>
          </a:prstGeom>
          <a:noFill/>
          <a:ln/>
        </p:spPr>
        <p:txBody>
          <a:bodyPr wrap="square" lIns="0" tIns="0" rIns="0" bIns="0" rtlCol="0" anchor="ctr"/>
          <a:lstStyle/>
          <a:p>
            <a:pPr indent="0" marL="0">
              <a:buNone/>
            </a:pPr>
            <a:r>
              <a:rPr lang="en-US" sz="1050" b="1" dirty="0">
                <a:solidFill>
                  <a:srgbClr val="028090"/>
                </a:solidFill>
                <a:latin typeface="Calibri" pitchFamily="34" charset="0"/>
                <a:ea typeface="Calibri" pitchFamily="34" charset="-122"/>
                <a:cs typeface="Calibri" pitchFamily="34" charset="-120"/>
              </a:rPr>
              <a:t>Render</a:t>
            </a:r>
            <a:endParaRPr lang="en-US" sz="1050" dirty="0"/>
          </a:p>
        </p:txBody>
      </p:sp>
      <p:sp>
        <p:nvSpPr>
          <p:cNvPr id="31" name="Text 29"/>
          <p:cNvSpPr/>
          <p:nvPr/>
        </p:nvSpPr>
        <p:spPr>
          <a:xfrm>
            <a:off x="9240012" y="2633472"/>
            <a:ext cx="2116836" cy="786384"/>
          </a:xfrm>
          <a:prstGeom prst="rect">
            <a:avLst/>
          </a:prstGeom>
          <a:noFill/>
          <a:ln/>
        </p:spPr>
        <p:txBody>
          <a:bodyPr wrap="square" lIns="0" tIns="0" rIns="0" bIns="0" rtlCol="0" anchor="t"/>
          <a:lstStyle/>
          <a:p>
            <a:pPr indent="0" marL="0">
              <a:lnSpc>
                <a:spcPts val="1300"/>
              </a:lnSpc>
              <a:buNone/>
            </a:pPr>
            <a:r>
              <a:rPr lang="en-US" sz="1050" dirty="0">
                <a:solidFill>
                  <a:srgbClr val="445C64"/>
                </a:solidFill>
                <a:latin typeface="Calibri" pitchFamily="34" charset="0"/>
                <a:ea typeface="Calibri" pitchFamily="34" charset="-122"/>
                <a:cs typeface="Calibri" pitchFamily="34" charset="-120"/>
              </a:rPr>
              <a:t>Meta WhatsApp Cloud API: signed webhook to /api/whatsapp/webhook, app subscribed to the business account</a:t>
            </a:r>
            <a:endParaRPr lang="en-US" sz="1050" dirty="0"/>
          </a:p>
        </p:txBody>
      </p:sp>
      <p:sp>
        <p:nvSpPr>
          <p:cNvPr id="32" name="Text 30"/>
          <p:cNvSpPr/>
          <p:nvPr/>
        </p:nvSpPr>
        <p:spPr>
          <a:xfrm>
            <a:off x="9240012" y="3456432"/>
            <a:ext cx="2116836" cy="219456"/>
          </a:xfrm>
          <a:prstGeom prst="rect">
            <a:avLst/>
          </a:prstGeom>
          <a:noFill/>
          <a:ln/>
        </p:spPr>
        <p:txBody>
          <a:bodyPr wrap="square" lIns="0" tIns="0" rIns="0" bIns="0" rtlCol="0" anchor="ctr"/>
          <a:lstStyle/>
          <a:p>
            <a:pPr indent="0" marL="0">
              <a:buNone/>
            </a:pPr>
            <a:r>
              <a:rPr lang="en-US" sz="1050" b="1" dirty="0">
                <a:solidFill>
                  <a:srgbClr val="7C939B"/>
                </a:solidFill>
                <a:latin typeface="Calibri" pitchFamily="34" charset="0"/>
                <a:ea typeface="Calibri" pitchFamily="34" charset="-122"/>
                <a:cs typeface="Calibri" pitchFamily="34" charset="-120"/>
              </a:rPr>
              <a:t>done</a:t>
            </a:r>
            <a:endParaRPr lang="en-US" sz="1050" dirty="0"/>
          </a:p>
        </p:txBody>
      </p:sp>
      <p:sp>
        <p:nvSpPr>
          <p:cNvPr id="33" name="Shape 31"/>
          <p:cNvSpPr/>
          <p:nvPr/>
        </p:nvSpPr>
        <p:spPr>
          <a:xfrm>
            <a:off x="566928" y="3968496"/>
            <a:ext cx="5376672" cy="1243584"/>
          </a:xfrm>
          <a:prstGeom prst="roundRect">
            <a:avLst>
              <a:gd name="adj" fmla="val 7353"/>
            </a:avLst>
          </a:prstGeom>
          <a:solidFill>
            <a:srgbClr val="F7FBFB"/>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34" name="Text 32"/>
          <p:cNvSpPr/>
          <p:nvPr/>
        </p:nvSpPr>
        <p:spPr>
          <a:xfrm>
            <a:off x="804672" y="4114800"/>
            <a:ext cx="4901184" cy="256032"/>
          </a:xfrm>
          <a:prstGeom prst="rect">
            <a:avLst/>
          </a:prstGeom>
          <a:noFill/>
          <a:ln/>
        </p:spPr>
        <p:txBody>
          <a:bodyPr wrap="square" lIns="0" tIns="0" rIns="0" bIns="0" rtlCol="0" anchor="ctr"/>
          <a:lstStyle/>
          <a:p>
            <a:pPr indent="0" marL="0">
              <a:buNone/>
            </a:pPr>
            <a:r>
              <a:rPr lang="en-US" sz="1300" b="1" dirty="0">
                <a:solidFill>
                  <a:srgbClr val="028090"/>
                </a:solidFill>
                <a:latin typeface="Calibri" pitchFamily="34" charset="0"/>
                <a:ea typeface="Calibri" pitchFamily="34" charset="-122"/>
                <a:cs typeface="Calibri" pitchFamily="34" charset="-120"/>
              </a:rPr>
              <a:t>Free-tier reality</a:t>
            </a:r>
            <a:endParaRPr lang="en-US" sz="1300" dirty="0"/>
          </a:p>
        </p:txBody>
      </p:sp>
      <p:sp>
        <p:nvSpPr>
          <p:cNvPr id="35" name="Text 33"/>
          <p:cNvSpPr/>
          <p:nvPr/>
        </p:nvSpPr>
        <p:spPr>
          <a:xfrm>
            <a:off x="804672" y="4389120"/>
            <a:ext cx="4901184" cy="731520"/>
          </a:xfrm>
          <a:prstGeom prst="rect">
            <a:avLst/>
          </a:prstGeom>
          <a:noFill/>
          <a:ln/>
        </p:spPr>
        <p:txBody>
          <a:bodyPr wrap="square" lIns="0" tIns="0" rIns="0" bIns="0" rtlCol="0" anchor="t"/>
          <a:lstStyle/>
          <a:p>
            <a:pPr indent="0" marL="0">
              <a:lnSpc>
                <a:spcPts val="1400"/>
              </a:lnSpc>
              <a:buNone/>
            </a:pPr>
            <a:r>
              <a:rPr lang="en-US" sz="1100" dirty="0">
                <a:solidFill>
                  <a:srgbClr val="445C64"/>
                </a:solidFill>
                <a:latin typeface="Calibri" pitchFamily="34" charset="0"/>
                <a:ea typeface="Calibri" pitchFamily="34" charset="-122"/>
                <a:cs typeface="Calibri" pitchFamily="34" charset="-120"/>
              </a:rPr>
              <a:t>The free API instance sleeps after 15 minutes idle. An UptimeRobot ping to /api/health every 5 minutes keeps it awake for the demonstration.</a:t>
            </a:r>
            <a:endParaRPr lang="en-US" sz="1100" dirty="0"/>
          </a:p>
        </p:txBody>
      </p:sp>
      <p:sp>
        <p:nvSpPr>
          <p:cNvPr id="36" name="Shape 34"/>
          <p:cNvSpPr/>
          <p:nvPr/>
        </p:nvSpPr>
        <p:spPr>
          <a:xfrm>
            <a:off x="6217920" y="3968496"/>
            <a:ext cx="5376672" cy="1243584"/>
          </a:xfrm>
          <a:prstGeom prst="roundRect">
            <a:avLst>
              <a:gd name="adj" fmla="val 7353"/>
            </a:avLst>
          </a:prstGeom>
          <a:solidFill>
            <a:srgbClr val="F7FBFB"/>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37" name="Text 35"/>
          <p:cNvSpPr/>
          <p:nvPr/>
        </p:nvSpPr>
        <p:spPr>
          <a:xfrm>
            <a:off x="6455664" y="4114800"/>
            <a:ext cx="4901184" cy="256032"/>
          </a:xfrm>
          <a:prstGeom prst="rect">
            <a:avLst/>
          </a:prstGeom>
          <a:noFill/>
          <a:ln/>
        </p:spPr>
        <p:txBody>
          <a:bodyPr wrap="square" lIns="0" tIns="0" rIns="0" bIns="0" rtlCol="0" anchor="ctr"/>
          <a:lstStyle/>
          <a:p>
            <a:pPr indent="0" marL="0">
              <a:buNone/>
            </a:pPr>
            <a:r>
              <a:rPr lang="en-US" sz="1300" b="1" dirty="0">
                <a:solidFill>
                  <a:srgbClr val="028090"/>
                </a:solidFill>
                <a:latin typeface="Calibri" pitchFamily="34" charset="0"/>
                <a:ea typeface="Calibri" pitchFamily="34" charset="-122"/>
                <a:cs typeface="Calibri" pitchFamily="34" charset="-120"/>
              </a:rPr>
              <a:t>The credential check</a:t>
            </a:r>
            <a:endParaRPr lang="en-US" sz="1300" dirty="0"/>
          </a:p>
        </p:txBody>
      </p:sp>
      <p:sp>
        <p:nvSpPr>
          <p:cNvPr id="38" name="Text 36"/>
          <p:cNvSpPr/>
          <p:nvPr/>
        </p:nvSpPr>
        <p:spPr>
          <a:xfrm>
            <a:off x="6455664" y="4389120"/>
            <a:ext cx="4901184" cy="731520"/>
          </a:xfrm>
          <a:prstGeom prst="rect">
            <a:avLst/>
          </a:prstGeom>
          <a:noFill/>
          <a:ln/>
        </p:spPr>
        <p:txBody>
          <a:bodyPr wrap="square" lIns="0" tIns="0" rIns="0" bIns="0" rtlCol="0" anchor="t"/>
          <a:lstStyle/>
          <a:p>
            <a:pPr indent="0" marL="0">
              <a:lnSpc>
                <a:spcPts val="1400"/>
              </a:lnSpc>
              <a:buNone/>
            </a:pPr>
            <a:r>
              <a:rPr lang="en-US" sz="1100" dirty="0">
                <a:solidFill>
                  <a:srgbClr val="445C64"/>
                </a:solidFill>
                <a:latin typeface="Calibri" pitchFamily="34" charset="0"/>
                <a:ea typeface="Calibri" pitchFamily="34" charset="-122"/>
                <a:cs typeface="Calibri" pitchFamily="34" charset="-120"/>
              </a:rPr>
              <a:t>The Vercel project holds exactly one variable, the API base URL. No AI key, WhatsApp token or database credential ever reaches the browser.</a:t>
            </a:r>
            <a:endParaRPr lang="en-US" sz="1100" dirty="0"/>
          </a:p>
        </p:txBody>
      </p:sp>
      <p:sp>
        <p:nvSpPr>
          <p:cNvPr id="39" name="Shape 37"/>
          <p:cNvSpPr/>
          <p:nvPr/>
        </p:nvSpPr>
        <p:spPr>
          <a:xfrm>
            <a:off x="566928" y="5394960"/>
            <a:ext cx="11027664" cy="768096"/>
          </a:xfrm>
          <a:prstGeom prst="roundRect">
            <a:avLst>
              <a:gd name="adj" fmla="val 11905"/>
            </a:avLst>
          </a:prstGeom>
          <a:solidFill>
            <a:srgbClr val="EEF6F7"/>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40" name="Text 38"/>
          <p:cNvSpPr/>
          <p:nvPr/>
        </p:nvSpPr>
        <p:spPr>
          <a:xfrm>
            <a:off x="877824" y="5394960"/>
            <a:ext cx="10405872" cy="768096"/>
          </a:xfrm>
          <a:prstGeom prst="rect">
            <a:avLst/>
          </a:prstGeom>
          <a:noFill/>
          <a:ln/>
        </p:spPr>
        <p:txBody>
          <a:bodyPr wrap="square" lIns="0" tIns="0" rIns="0" bIns="0" rtlCol="0" anchor="ctr"/>
          <a:lstStyle/>
          <a:p>
            <a:pPr indent="0" marL="0">
              <a:lnSpc>
                <a:spcPts val="1400"/>
              </a:lnSpc>
              <a:buNone/>
            </a:pPr>
            <a:r>
              <a:rPr lang="en-US" sz="1200" dirty="0">
                <a:solidFill>
                  <a:srgbClr val="445C64"/>
                </a:solidFill>
                <a:latin typeface="Calibri" pitchFamily="34" charset="0"/>
                <a:ea typeface="Calibri" pitchFamily="34" charset="-122"/>
                <a:cs typeface="Calibri" pitchFamily="34" charset="-120"/>
              </a:rPr>
              <a:t>Verified live: health, registration, cookie behaviour, ticket creation, AI draft, dashboards, Swagger, mobile layout, and a WhatsApp round trip from a phone in about one second.</a:t>
            </a:r>
            <a:endParaRPr lang="en-US" sz="1200" dirty="0"/>
          </a:p>
        </p:txBody>
      </p:sp>
      <p:sp>
        <p:nvSpPr>
          <p:cNvPr id="41" name="Text 39"/>
          <p:cNvSpPr/>
          <p:nvPr/>
        </p:nvSpPr>
        <p:spPr>
          <a:xfrm>
            <a:off x="566928" y="6345936"/>
            <a:ext cx="7315200" cy="219456"/>
          </a:xfrm>
          <a:prstGeom prst="rect">
            <a:avLst/>
          </a:prstGeom>
          <a:noFill/>
          <a:ln/>
        </p:spPr>
        <p:txBody>
          <a:bodyPr wrap="square" lIns="0" tIns="0" rIns="0" bIns="0" rtlCol="0" anchor="ctr"/>
          <a:lstStyle/>
          <a:p>
            <a:pPr indent="0" marL="0">
              <a:buNone/>
            </a:pPr>
            <a:r>
              <a:rPr lang="en-US" sz="900" dirty="0">
                <a:solidFill>
                  <a:srgbClr val="7C939B"/>
                </a:solidFill>
                <a:latin typeface="Calibri" pitchFamily="34" charset="0"/>
                <a:ea typeface="Calibri" pitchFamily="34" charset="-122"/>
                <a:cs typeface="Calibri" pitchFamily="34" charset="-120"/>
              </a:rPr>
              <a:t>ServiceDesk AI  ·  BCSE408L Cloud Computing  ·  Review 2 &amp; Final Demonstration</a:t>
            </a:r>
            <a:endParaRPr lang="en-US" sz="900" dirty="0"/>
          </a:p>
        </p:txBody>
      </p:sp>
      <p:sp>
        <p:nvSpPr>
          <p:cNvPr id="42" name="Text 40"/>
          <p:cNvSpPr/>
          <p:nvPr/>
        </p:nvSpPr>
        <p:spPr>
          <a:xfrm>
            <a:off x="10680192" y="6345936"/>
            <a:ext cx="914400" cy="219456"/>
          </a:xfrm>
          <a:prstGeom prst="rect">
            <a:avLst/>
          </a:prstGeom>
          <a:noFill/>
          <a:ln/>
        </p:spPr>
        <p:txBody>
          <a:bodyPr wrap="square" lIns="0" tIns="0" rIns="0" bIns="0" rtlCol="0" anchor="ctr"/>
          <a:lstStyle/>
          <a:p>
            <a:pPr algn="r" indent="0" marL="0">
              <a:buNone/>
            </a:pPr>
            <a:r>
              <a:rPr lang="en-US" sz="900" dirty="0">
                <a:solidFill>
                  <a:srgbClr val="7C939B"/>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27664" cy="237744"/>
          </a:xfrm>
          <a:prstGeom prst="rect">
            <a:avLst/>
          </a:prstGeom>
          <a:noFill/>
          <a:ln/>
        </p:spPr>
        <p:txBody>
          <a:bodyPr wrap="square" lIns="0" tIns="0" rIns="0" bIns="0" rtlCol="0" anchor="ctr"/>
          <a:lstStyle/>
          <a:p>
            <a:pPr indent="0" marL="0">
              <a:buNone/>
            </a:pPr>
            <a:r>
              <a:rPr lang="en-US" sz="1100" b="1" spc="220" kern="0" dirty="0">
                <a:solidFill>
                  <a:srgbClr val="028090"/>
                </a:solidFill>
                <a:latin typeface="Calibri" pitchFamily="34" charset="0"/>
                <a:ea typeface="Calibri" pitchFamily="34" charset="-122"/>
                <a:cs typeface="Calibri" pitchFamily="34" charset="-120"/>
              </a:rPr>
              <a:t>NEXT VERSION</a:t>
            </a:r>
            <a:endParaRPr lang="en-US" sz="1100" dirty="0"/>
          </a:p>
        </p:txBody>
      </p:sp>
      <p:sp>
        <p:nvSpPr>
          <p:cNvPr id="3" name="Text 1"/>
          <p:cNvSpPr/>
          <p:nvPr/>
        </p:nvSpPr>
        <p:spPr>
          <a:xfrm>
            <a:off x="566928" y="621792"/>
            <a:ext cx="11027664" cy="621792"/>
          </a:xfrm>
          <a:prstGeom prst="rect">
            <a:avLst/>
          </a:prstGeom>
          <a:noFill/>
          <a:ln/>
        </p:spPr>
        <p:txBody>
          <a:bodyPr wrap="square" lIns="0" tIns="0" rIns="0" bIns="0" rtlCol="0" anchor="t"/>
          <a:lstStyle/>
          <a:p>
            <a:pPr indent="0" marL="0">
              <a:buNone/>
            </a:pPr>
            <a:r>
              <a:rPr lang="en-US" sz="3000" b="1" dirty="0">
                <a:solidFill>
                  <a:srgbClr val="0A2E36"/>
                </a:solidFill>
                <a:latin typeface="Cambria" pitchFamily="34" charset="0"/>
                <a:ea typeface="Cambria" pitchFamily="34" charset="-122"/>
                <a:cs typeface="Cambria" pitchFamily="34" charset="-120"/>
              </a:rPr>
              <a:t>Future Enhancements</a:t>
            </a:r>
            <a:endParaRPr lang="en-US" sz="3000" dirty="0"/>
          </a:p>
        </p:txBody>
      </p:sp>
      <p:sp>
        <p:nvSpPr>
          <p:cNvPr id="4" name="Shape 2"/>
          <p:cNvSpPr/>
          <p:nvPr/>
        </p:nvSpPr>
        <p:spPr>
          <a:xfrm>
            <a:off x="566928" y="1426464"/>
            <a:ext cx="3517392" cy="2011680"/>
          </a:xfrm>
          <a:prstGeom prst="roundRect">
            <a:avLst>
              <a:gd name="adj" fmla="val 4545"/>
            </a:avLst>
          </a:prstGeom>
          <a:solidFill>
            <a:srgbClr val="EEF6F7"/>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5" name="Text 3"/>
          <p:cNvSpPr/>
          <p:nvPr/>
        </p:nvSpPr>
        <p:spPr>
          <a:xfrm>
            <a:off x="804672" y="1609344"/>
            <a:ext cx="3041904" cy="512064"/>
          </a:xfrm>
          <a:prstGeom prst="rect">
            <a:avLst/>
          </a:prstGeom>
          <a:noFill/>
          <a:ln/>
        </p:spPr>
        <p:txBody>
          <a:bodyPr wrap="square" lIns="0" tIns="0" rIns="0" bIns="0" rtlCol="0" anchor="t"/>
          <a:lstStyle/>
          <a:p>
            <a:pPr indent="0" marL="0">
              <a:lnSpc>
                <a:spcPts val="1800"/>
              </a:lnSpc>
              <a:buNone/>
            </a:pPr>
            <a:r>
              <a:rPr lang="en-US" sz="1500" b="1" dirty="0">
                <a:solidFill>
                  <a:srgbClr val="0A2E36"/>
                </a:solidFill>
                <a:latin typeface="Cambria" pitchFamily="34" charset="0"/>
                <a:ea typeface="Cambria" pitchFamily="34" charset="-122"/>
                <a:cs typeface="Cambria" pitchFamily="34" charset="-120"/>
              </a:rPr>
              <a:t>Production WhatsApp number</a:t>
            </a:r>
            <a:endParaRPr lang="en-US" sz="1500" dirty="0"/>
          </a:p>
        </p:txBody>
      </p:sp>
      <p:sp>
        <p:nvSpPr>
          <p:cNvPr id="6" name="Text 4"/>
          <p:cNvSpPr/>
          <p:nvPr/>
        </p:nvSpPr>
        <p:spPr>
          <a:xfrm>
            <a:off x="804672" y="2176272"/>
            <a:ext cx="3041904" cy="914400"/>
          </a:xfrm>
          <a:prstGeom prst="rect">
            <a:avLst/>
          </a:prstGeom>
          <a:noFill/>
          <a:ln/>
        </p:spPr>
        <p:txBody>
          <a:bodyPr wrap="square" lIns="0" tIns="0" rIns="0" bIns="0" rtlCol="0" anchor="t"/>
          <a:lstStyle/>
          <a:p>
            <a:pPr indent="0" marL="0">
              <a:lnSpc>
                <a:spcPts val="1400"/>
              </a:lnSpc>
              <a:buNone/>
            </a:pPr>
            <a:r>
              <a:rPr lang="en-US" sz="1150" dirty="0">
                <a:solidFill>
                  <a:srgbClr val="445C64"/>
                </a:solidFill>
                <a:latin typeface="Calibri" pitchFamily="34" charset="0"/>
                <a:ea typeface="Calibri" pitchFamily="34" charset="-122"/>
                <a:cs typeface="Calibri" pitchFamily="34" charset="-120"/>
              </a:rPr>
              <a:t>Meta business verification lifts the five-recipient limit of the test number and enables templates outside the 24-hour window</a:t>
            </a:r>
            <a:endParaRPr lang="en-US" sz="1150" dirty="0"/>
          </a:p>
        </p:txBody>
      </p:sp>
      <p:sp>
        <p:nvSpPr>
          <p:cNvPr id="7" name="Shape 5"/>
          <p:cNvSpPr/>
          <p:nvPr/>
        </p:nvSpPr>
        <p:spPr>
          <a:xfrm>
            <a:off x="804672" y="3090672"/>
            <a:ext cx="1371600" cy="237744"/>
          </a:xfrm>
          <a:prstGeom prst="roundRect">
            <a:avLst>
              <a:gd name="adj" fmla="val 19231"/>
            </a:avLst>
          </a:prstGeom>
          <a:solidFill>
            <a:srgbClr val="FFFFFF"/>
          </a:solidFill>
          <a:ln w="9525">
            <a:solidFill>
              <a:srgbClr val="00A896"/>
            </a:solidFill>
            <a:prstDash val="solid"/>
          </a:ln>
        </p:spPr>
      </p:sp>
      <p:sp>
        <p:nvSpPr>
          <p:cNvPr id="8" name="Text 6"/>
          <p:cNvSpPr/>
          <p:nvPr/>
        </p:nvSpPr>
        <p:spPr>
          <a:xfrm>
            <a:off x="804672" y="3090672"/>
            <a:ext cx="1371600" cy="237744"/>
          </a:xfrm>
          <a:prstGeom prst="rect">
            <a:avLst/>
          </a:prstGeom>
          <a:noFill/>
          <a:ln/>
        </p:spPr>
        <p:txBody>
          <a:bodyPr wrap="square" lIns="0" tIns="0" rIns="0" bIns="0" rtlCol="0" anchor="ctr"/>
          <a:lstStyle/>
          <a:p>
            <a:pPr algn="ctr" indent="0" marL="0">
              <a:buNone/>
            </a:pPr>
            <a:r>
              <a:rPr lang="en-US" sz="950" b="1" dirty="0">
                <a:solidFill>
                  <a:srgbClr val="028090"/>
                </a:solidFill>
                <a:latin typeface="Calibri" pitchFamily="34" charset="0"/>
                <a:ea typeface="Calibri" pitchFamily="34" charset="-122"/>
                <a:cs typeface="Calibri" pitchFamily="34" charset="-120"/>
              </a:rPr>
              <a:t>Low</a:t>
            </a:r>
            <a:endParaRPr lang="en-US" sz="950" dirty="0"/>
          </a:p>
        </p:txBody>
      </p:sp>
      <p:sp>
        <p:nvSpPr>
          <p:cNvPr id="9" name="Shape 7"/>
          <p:cNvSpPr/>
          <p:nvPr/>
        </p:nvSpPr>
        <p:spPr>
          <a:xfrm>
            <a:off x="4322064" y="1426464"/>
            <a:ext cx="3517392" cy="2011680"/>
          </a:xfrm>
          <a:prstGeom prst="roundRect">
            <a:avLst>
              <a:gd name="adj" fmla="val 4545"/>
            </a:avLst>
          </a:prstGeom>
          <a:solidFill>
            <a:srgbClr val="EEF6F7"/>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10" name="Text 8"/>
          <p:cNvSpPr/>
          <p:nvPr/>
        </p:nvSpPr>
        <p:spPr>
          <a:xfrm>
            <a:off x="4559808" y="1609344"/>
            <a:ext cx="3041904" cy="512064"/>
          </a:xfrm>
          <a:prstGeom prst="rect">
            <a:avLst/>
          </a:prstGeom>
          <a:noFill/>
          <a:ln/>
        </p:spPr>
        <p:txBody>
          <a:bodyPr wrap="square" lIns="0" tIns="0" rIns="0" bIns="0" rtlCol="0" anchor="t"/>
          <a:lstStyle/>
          <a:p>
            <a:pPr indent="0" marL="0">
              <a:lnSpc>
                <a:spcPts val="1800"/>
              </a:lnSpc>
              <a:buNone/>
            </a:pPr>
            <a:r>
              <a:rPr lang="en-US" sz="1500" b="1" dirty="0">
                <a:solidFill>
                  <a:srgbClr val="0A2E36"/>
                </a:solidFill>
                <a:latin typeface="Cambria" pitchFamily="34" charset="0"/>
                <a:ea typeface="Cambria" pitchFamily="34" charset="-122"/>
                <a:cs typeface="Cambria" pitchFamily="34" charset="-120"/>
              </a:rPr>
              <a:t>File attachments</a:t>
            </a:r>
            <a:endParaRPr lang="en-US" sz="1500" dirty="0"/>
          </a:p>
        </p:txBody>
      </p:sp>
      <p:sp>
        <p:nvSpPr>
          <p:cNvPr id="11" name="Text 9"/>
          <p:cNvSpPr/>
          <p:nvPr/>
        </p:nvSpPr>
        <p:spPr>
          <a:xfrm>
            <a:off x="4559808" y="2176272"/>
            <a:ext cx="3041904" cy="914400"/>
          </a:xfrm>
          <a:prstGeom prst="rect">
            <a:avLst/>
          </a:prstGeom>
          <a:noFill/>
          <a:ln/>
        </p:spPr>
        <p:txBody>
          <a:bodyPr wrap="square" lIns="0" tIns="0" rIns="0" bIns="0" rtlCol="0" anchor="t"/>
          <a:lstStyle/>
          <a:p>
            <a:pPr indent="0" marL="0">
              <a:lnSpc>
                <a:spcPts val="1400"/>
              </a:lnSpc>
              <a:buNone/>
            </a:pPr>
            <a:r>
              <a:rPr lang="en-US" sz="1150" dirty="0">
                <a:solidFill>
                  <a:srgbClr val="445C64"/>
                </a:solidFill>
                <a:latin typeface="Calibri" pitchFamily="34" charset="0"/>
                <a:ea typeface="Calibri" pitchFamily="34" charset="-122"/>
                <a:cs typeface="Calibri" pitchFamily="34" charset="-120"/>
              </a:rPr>
              <a:t>Screenshots make technical issues far faster to diagnose; also satisfies the cloud-storage clause</a:t>
            </a:r>
            <a:endParaRPr lang="en-US" sz="1150" dirty="0"/>
          </a:p>
        </p:txBody>
      </p:sp>
      <p:sp>
        <p:nvSpPr>
          <p:cNvPr id="12" name="Shape 10"/>
          <p:cNvSpPr/>
          <p:nvPr/>
        </p:nvSpPr>
        <p:spPr>
          <a:xfrm>
            <a:off x="4559808" y="3090672"/>
            <a:ext cx="1371600" cy="237744"/>
          </a:xfrm>
          <a:prstGeom prst="roundRect">
            <a:avLst>
              <a:gd name="adj" fmla="val 19231"/>
            </a:avLst>
          </a:prstGeom>
          <a:solidFill>
            <a:srgbClr val="FFFFFF"/>
          </a:solidFill>
          <a:ln w="9525">
            <a:solidFill>
              <a:srgbClr val="00A896"/>
            </a:solidFill>
            <a:prstDash val="solid"/>
          </a:ln>
        </p:spPr>
      </p:sp>
      <p:sp>
        <p:nvSpPr>
          <p:cNvPr id="13" name="Text 11"/>
          <p:cNvSpPr/>
          <p:nvPr/>
        </p:nvSpPr>
        <p:spPr>
          <a:xfrm>
            <a:off x="4559808" y="3090672"/>
            <a:ext cx="1371600" cy="237744"/>
          </a:xfrm>
          <a:prstGeom prst="rect">
            <a:avLst/>
          </a:prstGeom>
          <a:noFill/>
          <a:ln/>
        </p:spPr>
        <p:txBody>
          <a:bodyPr wrap="square" lIns="0" tIns="0" rIns="0" bIns="0" rtlCol="0" anchor="ctr"/>
          <a:lstStyle/>
          <a:p>
            <a:pPr algn="ctr" indent="0" marL="0">
              <a:buNone/>
            </a:pPr>
            <a:r>
              <a:rPr lang="en-US" sz="950" b="1" dirty="0">
                <a:solidFill>
                  <a:srgbClr val="028090"/>
                </a:solidFill>
                <a:latin typeface="Calibri" pitchFamily="34" charset="0"/>
                <a:ea typeface="Calibri" pitchFamily="34" charset="-122"/>
                <a:cs typeface="Calibri" pitchFamily="34" charset="-120"/>
              </a:rPr>
              <a:t>Low–moderate</a:t>
            </a:r>
            <a:endParaRPr lang="en-US" sz="950" dirty="0"/>
          </a:p>
        </p:txBody>
      </p:sp>
      <p:sp>
        <p:nvSpPr>
          <p:cNvPr id="14" name="Shape 12"/>
          <p:cNvSpPr/>
          <p:nvPr/>
        </p:nvSpPr>
        <p:spPr>
          <a:xfrm>
            <a:off x="8077200" y="1426464"/>
            <a:ext cx="3517392" cy="2011680"/>
          </a:xfrm>
          <a:prstGeom prst="roundRect">
            <a:avLst>
              <a:gd name="adj" fmla="val 4545"/>
            </a:avLst>
          </a:prstGeom>
          <a:solidFill>
            <a:srgbClr val="EEF6F7"/>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15" name="Text 13"/>
          <p:cNvSpPr/>
          <p:nvPr/>
        </p:nvSpPr>
        <p:spPr>
          <a:xfrm>
            <a:off x="8314944" y="1609344"/>
            <a:ext cx="3041904" cy="512064"/>
          </a:xfrm>
          <a:prstGeom prst="rect">
            <a:avLst/>
          </a:prstGeom>
          <a:noFill/>
          <a:ln/>
        </p:spPr>
        <p:txBody>
          <a:bodyPr wrap="square" lIns="0" tIns="0" rIns="0" bIns="0" rtlCol="0" anchor="t"/>
          <a:lstStyle/>
          <a:p>
            <a:pPr indent="0" marL="0">
              <a:lnSpc>
                <a:spcPts val="1800"/>
              </a:lnSpc>
              <a:buNone/>
            </a:pPr>
            <a:r>
              <a:rPr lang="en-US" sz="1500" b="1" dirty="0">
                <a:solidFill>
                  <a:srgbClr val="0A2E36"/>
                </a:solidFill>
                <a:latin typeface="Cambria" pitchFamily="34" charset="0"/>
                <a:ea typeface="Cambria" pitchFamily="34" charset="-122"/>
                <a:cs typeface="Cambria" pitchFamily="34" charset="-120"/>
              </a:rPr>
              <a:t>SLA targets &amp; escalation</a:t>
            </a:r>
            <a:endParaRPr lang="en-US" sz="1500" dirty="0"/>
          </a:p>
        </p:txBody>
      </p:sp>
      <p:sp>
        <p:nvSpPr>
          <p:cNvPr id="16" name="Text 14"/>
          <p:cNvSpPr/>
          <p:nvPr/>
        </p:nvSpPr>
        <p:spPr>
          <a:xfrm>
            <a:off x="8314944" y="2176272"/>
            <a:ext cx="3041904" cy="914400"/>
          </a:xfrm>
          <a:prstGeom prst="rect">
            <a:avLst/>
          </a:prstGeom>
          <a:noFill/>
          <a:ln/>
        </p:spPr>
        <p:txBody>
          <a:bodyPr wrap="square" lIns="0" tIns="0" rIns="0" bIns="0" rtlCol="0" anchor="t"/>
          <a:lstStyle/>
          <a:p>
            <a:pPr indent="0" marL="0">
              <a:lnSpc>
                <a:spcPts val="1400"/>
              </a:lnSpc>
              <a:buNone/>
            </a:pPr>
            <a:r>
              <a:rPr lang="en-US" sz="1150" dirty="0">
                <a:solidFill>
                  <a:srgbClr val="445C64"/>
                </a:solidFill>
                <a:latin typeface="Calibri" pitchFamily="34" charset="0"/>
                <a:ea typeface="Calibri" pitchFamily="34" charset="-122"/>
                <a:cs typeface="Calibri" pitchFamily="34" charset="-120"/>
              </a:rPr>
              <a:t>We measure response and resolution time but do not act on it. This turns measurement into management</a:t>
            </a:r>
            <a:endParaRPr lang="en-US" sz="1150" dirty="0"/>
          </a:p>
        </p:txBody>
      </p:sp>
      <p:sp>
        <p:nvSpPr>
          <p:cNvPr id="17" name="Shape 15"/>
          <p:cNvSpPr/>
          <p:nvPr/>
        </p:nvSpPr>
        <p:spPr>
          <a:xfrm>
            <a:off x="8314944" y="3090672"/>
            <a:ext cx="1371600" cy="237744"/>
          </a:xfrm>
          <a:prstGeom prst="roundRect">
            <a:avLst>
              <a:gd name="adj" fmla="val 19231"/>
            </a:avLst>
          </a:prstGeom>
          <a:solidFill>
            <a:srgbClr val="FFFFFF"/>
          </a:solidFill>
          <a:ln w="9525">
            <a:solidFill>
              <a:srgbClr val="00A896"/>
            </a:solidFill>
            <a:prstDash val="solid"/>
          </a:ln>
        </p:spPr>
      </p:sp>
      <p:sp>
        <p:nvSpPr>
          <p:cNvPr id="18" name="Text 16"/>
          <p:cNvSpPr/>
          <p:nvPr/>
        </p:nvSpPr>
        <p:spPr>
          <a:xfrm>
            <a:off x="8314944" y="3090672"/>
            <a:ext cx="1371600" cy="237744"/>
          </a:xfrm>
          <a:prstGeom prst="rect">
            <a:avLst/>
          </a:prstGeom>
          <a:noFill/>
          <a:ln/>
        </p:spPr>
        <p:txBody>
          <a:bodyPr wrap="square" lIns="0" tIns="0" rIns="0" bIns="0" rtlCol="0" anchor="ctr"/>
          <a:lstStyle/>
          <a:p>
            <a:pPr algn="ctr" indent="0" marL="0">
              <a:buNone/>
            </a:pPr>
            <a:r>
              <a:rPr lang="en-US" sz="950" b="1" dirty="0">
                <a:solidFill>
                  <a:srgbClr val="028090"/>
                </a:solidFill>
                <a:latin typeface="Calibri" pitchFamily="34" charset="0"/>
                <a:ea typeface="Calibri" pitchFamily="34" charset="-122"/>
                <a:cs typeface="Calibri" pitchFamily="34" charset="-120"/>
              </a:rPr>
              <a:t>Moderate</a:t>
            </a:r>
            <a:endParaRPr lang="en-US" sz="950" dirty="0"/>
          </a:p>
        </p:txBody>
      </p:sp>
      <p:sp>
        <p:nvSpPr>
          <p:cNvPr id="19" name="Shape 17"/>
          <p:cNvSpPr/>
          <p:nvPr/>
        </p:nvSpPr>
        <p:spPr>
          <a:xfrm>
            <a:off x="566928" y="3639312"/>
            <a:ext cx="3517392" cy="2011680"/>
          </a:xfrm>
          <a:prstGeom prst="roundRect">
            <a:avLst>
              <a:gd name="adj" fmla="val 4545"/>
            </a:avLst>
          </a:prstGeom>
          <a:solidFill>
            <a:srgbClr val="EEF6F7"/>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20" name="Text 18"/>
          <p:cNvSpPr/>
          <p:nvPr/>
        </p:nvSpPr>
        <p:spPr>
          <a:xfrm>
            <a:off x="804672" y="3822192"/>
            <a:ext cx="3041904" cy="512064"/>
          </a:xfrm>
          <a:prstGeom prst="rect">
            <a:avLst/>
          </a:prstGeom>
          <a:noFill/>
          <a:ln/>
        </p:spPr>
        <p:txBody>
          <a:bodyPr wrap="square" lIns="0" tIns="0" rIns="0" bIns="0" rtlCol="0" anchor="t"/>
          <a:lstStyle/>
          <a:p>
            <a:pPr indent="0" marL="0">
              <a:lnSpc>
                <a:spcPts val="1800"/>
              </a:lnSpc>
              <a:buNone/>
            </a:pPr>
            <a:r>
              <a:rPr lang="en-US" sz="1500" b="1" dirty="0">
                <a:solidFill>
                  <a:srgbClr val="0A2E36"/>
                </a:solidFill>
                <a:latin typeface="Cambria" pitchFamily="34" charset="0"/>
                <a:ea typeface="Cambria" pitchFamily="34" charset="-122"/>
                <a:cs typeface="Cambria" pitchFamily="34" charset="-120"/>
              </a:rPr>
              <a:t>Semantic embeddings</a:t>
            </a:r>
            <a:endParaRPr lang="en-US" sz="1500" dirty="0"/>
          </a:p>
        </p:txBody>
      </p:sp>
      <p:sp>
        <p:nvSpPr>
          <p:cNvPr id="21" name="Text 19"/>
          <p:cNvSpPr/>
          <p:nvPr/>
        </p:nvSpPr>
        <p:spPr>
          <a:xfrm>
            <a:off x="804672" y="4389120"/>
            <a:ext cx="3041904" cy="914400"/>
          </a:xfrm>
          <a:prstGeom prst="rect">
            <a:avLst/>
          </a:prstGeom>
          <a:noFill/>
          <a:ln/>
        </p:spPr>
        <p:txBody>
          <a:bodyPr wrap="square" lIns="0" tIns="0" rIns="0" bIns="0" rtlCol="0" anchor="t"/>
          <a:lstStyle/>
          <a:p>
            <a:pPr indent="0" marL="0">
              <a:lnSpc>
                <a:spcPts val="1400"/>
              </a:lnSpc>
              <a:buNone/>
            </a:pPr>
            <a:r>
              <a:rPr lang="en-US" sz="1150" dirty="0">
                <a:solidFill>
                  <a:srgbClr val="445C64"/>
                </a:solidFill>
                <a:latin typeface="Calibri" pitchFamily="34" charset="0"/>
                <a:ea typeface="Calibri" pitchFamily="34" charset="-122"/>
                <a:cs typeface="Calibri" pitchFamily="34" charset="-120"/>
              </a:rPr>
              <a:t>The knowledge base ships with a lexical fallback embedding; semantic embeddings by default would lift retrieval hit@3 above today’s 61.5%</a:t>
            </a:r>
            <a:endParaRPr lang="en-US" sz="1150" dirty="0"/>
          </a:p>
        </p:txBody>
      </p:sp>
      <p:sp>
        <p:nvSpPr>
          <p:cNvPr id="22" name="Shape 20"/>
          <p:cNvSpPr/>
          <p:nvPr/>
        </p:nvSpPr>
        <p:spPr>
          <a:xfrm>
            <a:off x="804672" y="5303520"/>
            <a:ext cx="1371600" cy="237744"/>
          </a:xfrm>
          <a:prstGeom prst="roundRect">
            <a:avLst>
              <a:gd name="adj" fmla="val 19231"/>
            </a:avLst>
          </a:prstGeom>
          <a:solidFill>
            <a:srgbClr val="FFFFFF"/>
          </a:solidFill>
          <a:ln w="9525">
            <a:solidFill>
              <a:srgbClr val="00A896"/>
            </a:solidFill>
            <a:prstDash val="solid"/>
          </a:ln>
        </p:spPr>
      </p:sp>
      <p:sp>
        <p:nvSpPr>
          <p:cNvPr id="23" name="Text 21"/>
          <p:cNvSpPr/>
          <p:nvPr/>
        </p:nvSpPr>
        <p:spPr>
          <a:xfrm>
            <a:off x="804672" y="5303520"/>
            <a:ext cx="1371600" cy="237744"/>
          </a:xfrm>
          <a:prstGeom prst="rect">
            <a:avLst/>
          </a:prstGeom>
          <a:noFill/>
          <a:ln/>
        </p:spPr>
        <p:txBody>
          <a:bodyPr wrap="square" lIns="0" tIns="0" rIns="0" bIns="0" rtlCol="0" anchor="ctr"/>
          <a:lstStyle/>
          <a:p>
            <a:pPr algn="ctr" indent="0" marL="0">
              <a:buNone/>
            </a:pPr>
            <a:r>
              <a:rPr lang="en-US" sz="950" b="1" dirty="0">
                <a:solidFill>
                  <a:srgbClr val="028090"/>
                </a:solidFill>
                <a:latin typeface="Calibri" pitchFamily="34" charset="0"/>
                <a:ea typeface="Calibri" pitchFamily="34" charset="-122"/>
                <a:cs typeface="Calibri" pitchFamily="34" charset="-120"/>
              </a:rPr>
              <a:t>Moderate</a:t>
            </a:r>
            <a:endParaRPr lang="en-US" sz="950" dirty="0"/>
          </a:p>
        </p:txBody>
      </p:sp>
      <p:sp>
        <p:nvSpPr>
          <p:cNvPr id="24" name="Shape 22"/>
          <p:cNvSpPr/>
          <p:nvPr/>
        </p:nvSpPr>
        <p:spPr>
          <a:xfrm>
            <a:off x="4322064" y="3639312"/>
            <a:ext cx="3517392" cy="2011680"/>
          </a:xfrm>
          <a:prstGeom prst="roundRect">
            <a:avLst>
              <a:gd name="adj" fmla="val 4545"/>
            </a:avLst>
          </a:prstGeom>
          <a:solidFill>
            <a:srgbClr val="EEF6F7"/>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25" name="Text 23"/>
          <p:cNvSpPr/>
          <p:nvPr/>
        </p:nvSpPr>
        <p:spPr>
          <a:xfrm>
            <a:off x="4559808" y="3822192"/>
            <a:ext cx="3041904" cy="512064"/>
          </a:xfrm>
          <a:prstGeom prst="rect">
            <a:avLst/>
          </a:prstGeom>
          <a:noFill/>
          <a:ln/>
        </p:spPr>
        <p:txBody>
          <a:bodyPr wrap="square" lIns="0" tIns="0" rIns="0" bIns="0" rtlCol="0" anchor="t"/>
          <a:lstStyle/>
          <a:p>
            <a:pPr indent="0" marL="0">
              <a:lnSpc>
                <a:spcPts val="1800"/>
              </a:lnSpc>
              <a:buNone/>
            </a:pPr>
            <a:r>
              <a:rPr lang="en-US" sz="1500" b="1" dirty="0">
                <a:solidFill>
                  <a:srgbClr val="0A2E36"/>
                </a:solidFill>
                <a:latin typeface="Cambria" pitchFamily="34" charset="0"/>
                <a:ea typeface="Cambria" pitchFamily="34" charset="-122"/>
                <a:cs typeface="Cambria" pitchFamily="34" charset="-120"/>
              </a:rPr>
              <a:t>Real-time updates</a:t>
            </a:r>
            <a:endParaRPr lang="en-US" sz="1500" dirty="0"/>
          </a:p>
        </p:txBody>
      </p:sp>
      <p:sp>
        <p:nvSpPr>
          <p:cNvPr id="26" name="Text 24"/>
          <p:cNvSpPr/>
          <p:nvPr/>
        </p:nvSpPr>
        <p:spPr>
          <a:xfrm>
            <a:off x="4559808" y="4389120"/>
            <a:ext cx="3041904" cy="914400"/>
          </a:xfrm>
          <a:prstGeom prst="rect">
            <a:avLst/>
          </a:prstGeom>
          <a:noFill/>
          <a:ln/>
        </p:spPr>
        <p:txBody>
          <a:bodyPr wrap="square" lIns="0" tIns="0" rIns="0" bIns="0" rtlCol="0" anchor="t"/>
          <a:lstStyle/>
          <a:p>
            <a:pPr indent="0" marL="0">
              <a:lnSpc>
                <a:spcPts val="1400"/>
              </a:lnSpc>
              <a:buNone/>
            </a:pPr>
            <a:r>
              <a:rPr lang="en-US" sz="1150" dirty="0">
                <a:solidFill>
                  <a:srgbClr val="445C64"/>
                </a:solidFill>
                <a:latin typeface="Calibri" pitchFamily="34" charset="0"/>
                <a:ea typeface="Calibri" pitchFamily="34" charset="-122"/>
                <a:cs typeface="Calibri" pitchFamily="34" charset="-120"/>
              </a:rPr>
              <a:t>Replaces the 30-second polling and removes the window where two agents act on stale state</a:t>
            </a:r>
            <a:endParaRPr lang="en-US" sz="1150" dirty="0"/>
          </a:p>
        </p:txBody>
      </p:sp>
      <p:sp>
        <p:nvSpPr>
          <p:cNvPr id="27" name="Shape 25"/>
          <p:cNvSpPr/>
          <p:nvPr/>
        </p:nvSpPr>
        <p:spPr>
          <a:xfrm>
            <a:off x="4559808" y="5303520"/>
            <a:ext cx="1371600" cy="237744"/>
          </a:xfrm>
          <a:prstGeom prst="roundRect">
            <a:avLst>
              <a:gd name="adj" fmla="val 19231"/>
            </a:avLst>
          </a:prstGeom>
          <a:solidFill>
            <a:srgbClr val="FFFFFF"/>
          </a:solidFill>
          <a:ln w="9525">
            <a:solidFill>
              <a:srgbClr val="00A896"/>
            </a:solidFill>
            <a:prstDash val="solid"/>
          </a:ln>
        </p:spPr>
      </p:sp>
      <p:sp>
        <p:nvSpPr>
          <p:cNvPr id="28" name="Text 26"/>
          <p:cNvSpPr/>
          <p:nvPr/>
        </p:nvSpPr>
        <p:spPr>
          <a:xfrm>
            <a:off x="4559808" y="5303520"/>
            <a:ext cx="1371600" cy="237744"/>
          </a:xfrm>
          <a:prstGeom prst="rect">
            <a:avLst/>
          </a:prstGeom>
          <a:noFill/>
          <a:ln/>
        </p:spPr>
        <p:txBody>
          <a:bodyPr wrap="square" lIns="0" tIns="0" rIns="0" bIns="0" rtlCol="0" anchor="ctr"/>
          <a:lstStyle/>
          <a:p>
            <a:pPr algn="ctr" indent="0" marL="0">
              <a:buNone/>
            </a:pPr>
            <a:r>
              <a:rPr lang="en-US" sz="950" b="1" dirty="0">
                <a:solidFill>
                  <a:srgbClr val="028090"/>
                </a:solidFill>
                <a:latin typeface="Calibri" pitchFamily="34" charset="0"/>
                <a:ea typeface="Calibri" pitchFamily="34" charset="-122"/>
                <a:cs typeface="Calibri" pitchFamily="34" charset="-120"/>
              </a:rPr>
              <a:t>Moderate</a:t>
            </a:r>
            <a:endParaRPr lang="en-US" sz="950" dirty="0"/>
          </a:p>
        </p:txBody>
      </p:sp>
      <p:sp>
        <p:nvSpPr>
          <p:cNvPr id="29" name="Shape 27"/>
          <p:cNvSpPr/>
          <p:nvPr/>
        </p:nvSpPr>
        <p:spPr>
          <a:xfrm>
            <a:off x="8077200" y="3639312"/>
            <a:ext cx="3517392" cy="2011680"/>
          </a:xfrm>
          <a:prstGeom prst="roundRect">
            <a:avLst>
              <a:gd name="adj" fmla="val 4545"/>
            </a:avLst>
          </a:prstGeom>
          <a:solidFill>
            <a:srgbClr val="EEF6F7"/>
          </a:solidFill>
          <a:ln w="9525">
            <a:solidFill>
              <a:srgbClr val="D3E3E6"/>
            </a:solidFill>
            <a:prstDash val="solid"/>
          </a:ln>
          <a:effectLst>
            <a:outerShdw sx="100000" sy="100000" kx="0" ky="0" algn="bl" rotWithShape="0" blurRad="127000" dist="25400" dir="5400000">
              <a:srgbClr val="0A2E36">
                <a:alpha val="10000"/>
              </a:srgbClr>
            </a:outerShdw>
          </a:effectLst>
        </p:spPr>
      </p:sp>
      <p:sp>
        <p:nvSpPr>
          <p:cNvPr id="30" name="Text 28"/>
          <p:cNvSpPr/>
          <p:nvPr/>
        </p:nvSpPr>
        <p:spPr>
          <a:xfrm>
            <a:off x="8314944" y="3822192"/>
            <a:ext cx="3041904" cy="512064"/>
          </a:xfrm>
          <a:prstGeom prst="rect">
            <a:avLst/>
          </a:prstGeom>
          <a:noFill/>
          <a:ln/>
        </p:spPr>
        <p:txBody>
          <a:bodyPr wrap="square" lIns="0" tIns="0" rIns="0" bIns="0" rtlCol="0" anchor="t"/>
          <a:lstStyle/>
          <a:p>
            <a:pPr indent="0" marL="0">
              <a:lnSpc>
                <a:spcPts val="1800"/>
              </a:lnSpc>
              <a:buNone/>
            </a:pPr>
            <a:r>
              <a:rPr lang="en-US" sz="1500" b="1" dirty="0">
                <a:solidFill>
                  <a:srgbClr val="0A2E36"/>
                </a:solidFill>
                <a:latin typeface="Cambria" pitchFamily="34" charset="0"/>
                <a:ea typeface="Cambria" pitchFamily="34" charset="-122"/>
                <a:cs typeface="Cambria" pitchFamily="34" charset="-120"/>
              </a:rPr>
              <a:t>Multi-tenancy</a:t>
            </a:r>
            <a:endParaRPr lang="en-US" sz="1500" dirty="0"/>
          </a:p>
        </p:txBody>
      </p:sp>
      <p:sp>
        <p:nvSpPr>
          <p:cNvPr id="31" name="Text 29"/>
          <p:cNvSpPr/>
          <p:nvPr/>
        </p:nvSpPr>
        <p:spPr>
          <a:xfrm>
            <a:off x="8314944" y="4389120"/>
            <a:ext cx="3041904" cy="914400"/>
          </a:xfrm>
          <a:prstGeom prst="rect">
            <a:avLst/>
          </a:prstGeom>
          <a:noFill/>
          <a:ln/>
        </p:spPr>
        <p:txBody>
          <a:bodyPr wrap="square" lIns="0" tIns="0" rIns="0" bIns="0" rtlCol="0" anchor="t"/>
          <a:lstStyle/>
          <a:p>
            <a:pPr indent="0" marL="0">
              <a:lnSpc>
                <a:spcPts val="1400"/>
              </a:lnSpc>
              <a:buNone/>
            </a:pPr>
            <a:r>
              <a:rPr lang="en-US" sz="1150" dirty="0">
                <a:solidFill>
                  <a:srgbClr val="445C64"/>
                </a:solidFill>
                <a:latin typeface="Calibri" pitchFamily="34" charset="0"/>
                <a:ea typeface="Calibri" pitchFamily="34" charset="-122"/>
                <a:cs typeface="Calibri" pitchFamily="34" charset="-120"/>
              </a:rPr>
              <a:t>One deployment serving many businesses. Would extend the same query-scoping mechanism we already use for roles</a:t>
            </a:r>
            <a:endParaRPr lang="en-US" sz="1150" dirty="0"/>
          </a:p>
        </p:txBody>
      </p:sp>
      <p:sp>
        <p:nvSpPr>
          <p:cNvPr id="32" name="Shape 30"/>
          <p:cNvSpPr/>
          <p:nvPr/>
        </p:nvSpPr>
        <p:spPr>
          <a:xfrm>
            <a:off x="8314944" y="5303520"/>
            <a:ext cx="1371600" cy="237744"/>
          </a:xfrm>
          <a:prstGeom prst="roundRect">
            <a:avLst>
              <a:gd name="adj" fmla="val 19231"/>
            </a:avLst>
          </a:prstGeom>
          <a:solidFill>
            <a:srgbClr val="FFFFFF"/>
          </a:solidFill>
          <a:ln w="9525">
            <a:solidFill>
              <a:srgbClr val="00A896"/>
            </a:solidFill>
            <a:prstDash val="solid"/>
          </a:ln>
        </p:spPr>
      </p:sp>
      <p:sp>
        <p:nvSpPr>
          <p:cNvPr id="33" name="Text 31"/>
          <p:cNvSpPr/>
          <p:nvPr/>
        </p:nvSpPr>
        <p:spPr>
          <a:xfrm>
            <a:off x="8314944" y="5303520"/>
            <a:ext cx="1371600" cy="237744"/>
          </a:xfrm>
          <a:prstGeom prst="rect">
            <a:avLst/>
          </a:prstGeom>
          <a:noFill/>
          <a:ln/>
        </p:spPr>
        <p:txBody>
          <a:bodyPr wrap="square" lIns="0" tIns="0" rIns="0" bIns="0" rtlCol="0" anchor="ctr"/>
          <a:lstStyle/>
          <a:p>
            <a:pPr algn="ctr" indent="0" marL="0">
              <a:buNone/>
            </a:pPr>
            <a:r>
              <a:rPr lang="en-US" sz="950" b="1" dirty="0">
                <a:solidFill>
                  <a:srgbClr val="028090"/>
                </a:solidFill>
                <a:latin typeface="Calibri" pitchFamily="34" charset="0"/>
                <a:ea typeface="Calibri" pitchFamily="34" charset="-122"/>
                <a:cs typeface="Calibri" pitchFamily="34" charset="-120"/>
              </a:rPr>
              <a:t>High</a:t>
            </a:r>
            <a:endParaRPr lang="en-US" sz="950" dirty="0"/>
          </a:p>
        </p:txBody>
      </p:sp>
      <p:sp>
        <p:nvSpPr>
          <p:cNvPr id="34" name="Text 32"/>
          <p:cNvSpPr/>
          <p:nvPr/>
        </p:nvSpPr>
        <p:spPr>
          <a:xfrm>
            <a:off x="566928" y="5870448"/>
            <a:ext cx="11027664" cy="310896"/>
          </a:xfrm>
          <a:prstGeom prst="rect">
            <a:avLst/>
          </a:prstGeom>
          <a:noFill/>
          <a:ln/>
        </p:spPr>
        <p:txBody>
          <a:bodyPr wrap="square" lIns="0" tIns="0" rIns="0" bIns="0" rtlCol="0" anchor="ctr"/>
          <a:lstStyle/>
          <a:p>
            <a:pPr indent="0" marL="0">
              <a:buNone/>
            </a:pPr>
            <a:r>
              <a:rPr lang="en-US" sz="1150" i="1" dirty="0">
                <a:solidFill>
                  <a:srgbClr val="028090"/>
                </a:solidFill>
                <a:latin typeface="Calibri" pitchFamily="34" charset="0"/>
                <a:ea typeface="Calibri" pitchFamily="34" charset="-122"/>
                <a:cs typeface="Calibri" pitchFamily="34" charset="-120"/>
              </a:rPr>
              <a:t>Multi-tenancy is largest — but the shared query builder that scopes by role today is exactly where a tenant filter would go.</a:t>
            </a:r>
            <a:endParaRPr lang="en-US" sz="1150" dirty="0"/>
          </a:p>
        </p:txBody>
      </p:sp>
      <p:sp>
        <p:nvSpPr>
          <p:cNvPr id="35" name="Text 33"/>
          <p:cNvSpPr/>
          <p:nvPr/>
        </p:nvSpPr>
        <p:spPr>
          <a:xfrm>
            <a:off x="566928" y="6345936"/>
            <a:ext cx="7315200" cy="219456"/>
          </a:xfrm>
          <a:prstGeom prst="rect">
            <a:avLst/>
          </a:prstGeom>
          <a:noFill/>
          <a:ln/>
        </p:spPr>
        <p:txBody>
          <a:bodyPr wrap="square" lIns="0" tIns="0" rIns="0" bIns="0" rtlCol="0" anchor="ctr"/>
          <a:lstStyle/>
          <a:p>
            <a:pPr indent="0" marL="0">
              <a:buNone/>
            </a:pPr>
            <a:r>
              <a:rPr lang="en-US" sz="900" dirty="0">
                <a:solidFill>
                  <a:srgbClr val="7C939B"/>
                </a:solidFill>
                <a:latin typeface="Calibri" pitchFamily="34" charset="0"/>
                <a:ea typeface="Calibri" pitchFamily="34" charset="-122"/>
                <a:cs typeface="Calibri" pitchFamily="34" charset="-120"/>
              </a:rPr>
              <a:t>ServiceDesk AI  ·  BCSE408L Cloud Computing  ·  Review 2 &amp; Final Demonstration</a:t>
            </a:r>
            <a:endParaRPr lang="en-US" sz="900" dirty="0"/>
          </a:p>
        </p:txBody>
      </p:sp>
      <p:sp>
        <p:nvSpPr>
          <p:cNvPr id="36" name="Text 34"/>
          <p:cNvSpPr/>
          <p:nvPr/>
        </p:nvSpPr>
        <p:spPr>
          <a:xfrm>
            <a:off x="10680192" y="6345936"/>
            <a:ext cx="914400" cy="219456"/>
          </a:xfrm>
          <a:prstGeom prst="rect">
            <a:avLst/>
          </a:prstGeom>
          <a:noFill/>
          <a:ln/>
        </p:spPr>
        <p:txBody>
          <a:bodyPr wrap="square" lIns="0" tIns="0" rIns="0" bIns="0" rtlCol="0" anchor="ctr"/>
          <a:lstStyle/>
          <a:p>
            <a:pPr algn="r" indent="0" marL="0">
              <a:buNone/>
            </a:pPr>
            <a:r>
              <a:rPr lang="en-US" sz="900" dirty="0">
                <a:solidFill>
                  <a:srgbClr val="7C939B"/>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2E36"/>
        </a:solidFill>
      </p:bgPr>
    </p:bg>
    <p:spTree>
      <p:nvGrpSpPr>
        <p:cNvPr id="1" name=""/>
        <p:cNvGrpSpPr/>
        <p:nvPr/>
      </p:nvGrpSpPr>
      <p:grpSpPr>
        <a:xfrm>
          <a:off x="0" y="0"/>
          <a:ext cx="0" cy="0"/>
          <a:chOff x="0" y="0"/>
          <a:chExt cx="0" cy="0"/>
        </a:xfrm>
      </p:grpSpPr>
      <p:sp>
        <p:nvSpPr>
          <p:cNvPr id="2" name="Shape 0"/>
          <p:cNvSpPr/>
          <p:nvPr/>
        </p:nvSpPr>
        <p:spPr>
          <a:xfrm>
            <a:off x="-1371600" y="4023360"/>
            <a:ext cx="4754880" cy="4754880"/>
          </a:xfrm>
          <a:prstGeom prst="ellipse">
            <a:avLst/>
          </a:prstGeom>
          <a:ln w="15240">
            <a:solidFill>
              <a:srgbClr val="14454F"/>
            </a:solidFill>
            <a:prstDash val="solid"/>
          </a:ln>
        </p:spPr>
      </p:sp>
      <p:sp>
        <p:nvSpPr>
          <p:cNvPr id="3" name="Shape 1"/>
          <p:cNvSpPr/>
          <p:nvPr/>
        </p:nvSpPr>
        <p:spPr>
          <a:xfrm>
            <a:off x="9692640" y="-1463040"/>
            <a:ext cx="4023360" cy="4023360"/>
          </a:xfrm>
          <a:prstGeom prst="ellipse">
            <a:avLst/>
          </a:prstGeom>
          <a:ln w="15240">
            <a:solidFill>
              <a:srgbClr val="14454F"/>
            </a:solidFill>
            <a:prstDash val="solid"/>
          </a:ln>
        </p:spPr>
      </p:sp>
      <p:sp>
        <p:nvSpPr>
          <p:cNvPr id="4" name="Text 2"/>
          <p:cNvSpPr/>
          <p:nvPr/>
        </p:nvSpPr>
        <p:spPr>
          <a:xfrm>
            <a:off x="566928" y="1737360"/>
            <a:ext cx="7315200" cy="91440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Thank you</a:t>
            </a:r>
            <a:endParaRPr lang="en-US" sz="5000" dirty="0"/>
          </a:p>
        </p:txBody>
      </p:sp>
      <p:sp>
        <p:nvSpPr>
          <p:cNvPr id="5" name="Text 3"/>
          <p:cNvSpPr/>
          <p:nvPr/>
        </p:nvSpPr>
        <p:spPr>
          <a:xfrm>
            <a:off x="566928" y="2706624"/>
            <a:ext cx="8229600" cy="365760"/>
          </a:xfrm>
          <a:prstGeom prst="rect">
            <a:avLst/>
          </a:prstGeom>
          <a:noFill/>
          <a:ln/>
        </p:spPr>
        <p:txBody>
          <a:bodyPr wrap="square" lIns="0" tIns="0" rIns="0" bIns="0" rtlCol="0" anchor="ctr"/>
          <a:lstStyle/>
          <a:p>
            <a:pPr indent="0" marL="0">
              <a:buNone/>
            </a:pPr>
            <a:r>
              <a:rPr lang="en-US" sz="1500" dirty="0">
                <a:solidFill>
                  <a:srgbClr val="BCD4D8"/>
                </a:solidFill>
                <a:latin typeface="Cambria" pitchFamily="34" charset="0"/>
                <a:ea typeface="Cambria" pitchFamily="34" charset="-122"/>
                <a:cs typeface="Cambria" pitchFamily="34" charset="-120"/>
              </a:rPr>
              <a:t>Questions are welcome — both of us are prepared to answer, and to modify the code.</a:t>
            </a:r>
            <a:endParaRPr lang="en-US" sz="1500" dirty="0"/>
          </a:p>
        </p:txBody>
      </p:sp>
      <p:sp>
        <p:nvSpPr>
          <p:cNvPr id="6" name="Text 4"/>
          <p:cNvSpPr/>
          <p:nvPr/>
        </p:nvSpPr>
        <p:spPr>
          <a:xfrm>
            <a:off x="566928" y="3401568"/>
            <a:ext cx="1828800" cy="274320"/>
          </a:xfrm>
          <a:prstGeom prst="rect">
            <a:avLst/>
          </a:prstGeom>
          <a:noFill/>
          <a:ln/>
        </p:spPr>
        <p:txBody>
          <a:bodyPr wrap="square" lIns="0" tIns="0" rIns="0" bIns="0" rtlCol="0" anchor="ctr"/>
          <a:lstStyle/>
          <a:p>
            <a:pPr indent="0" marL="0">
              <a:buNone/>
            </a:pPr>
            <a:r>
              <a:rPr lang="en-US" sz="1100" b="1" spc="120" kern="0" dirty="0">
                <a:solidFill>
                  <a:srgbClr val="02C39A"/>
                </a:solidFill>
                <a:latin typeface="Calibri" pitchFamily="34" charset="0"/>
                <a:ea typeface="Calibri" pitchFamily="34" charset="-122"/>
                <a:cs typeface="Calibri" pitchFamily="34" charset="-120"/>
              </a:rPr>
              <a:t>Project 19</a:t>
            </a:r>
            <a:endParaRPr lang="en-US" sz="1100" dirty="0"/>
          </a:p>
        </p:txBody>
      </p:sp>
      <p:sp>
        <p:nvSpPr>
          <p:cNvPr id="7" name="Text 5"/>
          <p:cNvSpPr/>
          <p:nvPr/>
        </p:nvSpPr>
        <p:spPr>
          <a:xfrm>
            <a:off x="2487168" y="3401568"/>
            <a:ext cx="8229600" cy="27432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ServiceDesk AI · Customer Support SaaS</a:t>
            </a:r>
            <a:endParaRPr lang="en-US" sz="1250" dirty="0"/>
          </a:p>
        </p:txBody>
      </p:sp>
      <p:sp>
        <p:nvSpPr>
          <p:cNvPr id="8" name="Text 6"/>
          <p:cNvSpPr/>
          <p:nvPr/>
        </p:nvSpPr>
        <p:spPr>
          <a:xfrm>
            <a:off x="566928" y="3803904"/>
            <a:ext cx="1828800" cy="274320"/>
          </a:xfrm>
          <a:prstGeom prst="rect">
            <a:avLst/>
          </a:prstGeom>
          <a:noFill/>
          <a:ln/>
        </p:spPr>
        <p:txBody>
          <a:bodyPr wrap="square" lIns="0" tIns="0" rIns="0" bIns="0" rtlCol="0" anchor="ctr"/>
          <a:lstStyle/>
          <a:p>
            <a:pPr indent="0" marL="0">
              <a:buNone/>
            </a:pPr>
            <a:r>
              <a:rPr lang="en-US" sz="1100" b="1" spc="120" kern="0" dirty="0">
                <a:solidFill>
                  <a:srgbClr val="02C39A"/>
                </a:solidFill>
                <a:latin typeface="Calibri" pitchFamily="34" charset="0"/>
                <a:ea typeface="Calibri" pitchFamily="34" charset="-122"/>
                <a:cs typeface="Calibri" pitchFamily="34" charset="-120"/>
              </a:rPr>
              <a:t>Team</a:t>
            </a:r>
            <a:endParaRPr lang="en-US" sz="1100" dirty="0"/>
          </a:p>
        </p:txBody>
      </p:sp>
      <p:sp>
        <p:nvSpPr>
          <p:cNvPr id="9" name="Text 7"/>
          <p:cNvSpPr/>
          <p:nvPr/>
        </p:nvSpPr>
        <p:spPr>
          <a:xfrm>
            <a:off x="2487168" y="3803904"/>
            <a:ext cx="8229600" cy="27432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Aarush Jagannathan 23BLC1211 · Gomatheswar M 23BLC1195</a:t>
            </a:r>
            <a:endParaRPr lang="en-US" sz="1250" dirty="0"/>
          </a:p>
        </p:txBody>
      </p:sp>
      <p:sp>
        <p:nvSpPr>
          <p:cNvPr id="10" name="Text 8"/>
          <p:cNvSpPr/>
          <p:nvPr/>
        </p:nvSpPr>
        <p:spPr>
          <a:xfrm>
            <a:off x="566928" y="4206240"/>
            <a:ext cx="1828800" cy="274320"/>
          </a:xfrm>
          <a:prstGeom prst="rect">
            <a:avLst/>
          </a:prstGeom>
          <a:noFill/>
          <a:ln/>
        </p:spPr>
        <p:txBody>
          <a:bodyPr wrap="square" lIns="0" tIns="0" rIns="0" bIns="0" rtlCol="0" anchor="ctr"/>
          <a:lstStyle/>
          <a:p>
            <a:pPr indent="0" marL="0">
              <a:buNone/>
            </a:pPr>
            <a:r>
              <a:rPr lang="en-US" sz="1100" b="1" spc="120" kern="0" dirty="0">
                <a:solidFill>
                  <a:srgbClr val="02C39A"/>
                </a:solidFill>
                <a:latin typeface="Calibri" pitchFamily="34" charset="0"/>
                <a:ea typeface="Calibri" pitchFamily="34" charset="-122"/>
                <a:cs typeface="Calibri" pitchFamily="34" charset="-120"/>
              </a:rPr>
              <a:t>Guide</a:t>
            </a:r>
            <a:endParaRPr lang="en-US" sz="1100" dirty="0"/>
          </a:p>
        </p:txBody>
      </p:sp>
      <p:sp>
        <p:nvSpPr>
          <p:cNvPr id="11" name="Text 9"/>
          <p:cNvSpPr/>
          <p:nvPr/>
        </p:nvSpPr>
        <p:spPr>
          <a:xfrm>
            <a:off x="2487168" y="4206240"/>
            <a:ext cx="8229600" cy="27432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Dr. M Dinakaran</a:t>
            </a:r>
            <a:endParaRPr lang="en-US" sz="1250" dirty="0"/>
          </a:p>
        </p:txBody>
      </p:sp>
      <p:sp>
        <p:nvSpPr>
          <p:cNvPr id="12" name="Text 10"/>
          <p:cNvSpPr/>
          <p:nvPr/>
        </p:nvSpPr>
        <p:spPr>
          <a:xfrm>
            <a:off x="566928" y="4608576"/>
            <a:ext cx="1828800" cy="274320"/>
          </a:xfrm>
          <a:prstGeom prst="rect">
            <a:avLst/>
          </a:prstGeom>
          <a:noFill/>
          <a:ln/>
        </p:spPr>
        <p:txBody>
          <a:bodyPr wrap="square" lIns="0" tIns="0" rIns="0" bIns="0" rtlCol="0" anchor="ctr"/>
          <a:lstStyle/>
          <a:p>
            <a:pPr indent="0" marL="0">
              <a:buNone/>
            </a:pPr>
            <a:r>
              <a:rPr lang="en-US" sz="1100" b="1" spc="120" kern="0" dirty="0">
                <a:solidFill>
                  <a:srgbClr val="02C39A"/>
                </a:solidFill>
                <a:latin typeface="Calibri" pitchFamily="34" charset="0"/>
                <a:ea typeface="Calibri" pitchFamily="34" charset="-122"/>
                <a:cs typeface="Calibri" pitchFamily="34" charset="-120"/>
              </a:rPr>
              <a:t>Repository</a:t>
            </a:r>
            <a:endParaRPr lang="en-US" sz="1100" dirty="0"/>
          </a:p>
        </p:txBody>
      </p:sp>
      <p:sp>
        <p:nvSpPr>
          <p:cNvPr id="13" name="Text 11"/>
          <p:cNvSpPr/>
          <p:nvPr/>
        </p:nvSpPr>
        <p:spPr>
          <a:xfrm>
            <a:off x="2487168" y="4608576"/>
            <a:ext cx="8229600" cy="27432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github.com/ItzGOLLY/servicedesk-ai</a:t>
            </a:r>
            <a:endParaRPr lang="en-US" sz="1250" dirty="0"/>
          </a:p>
        </p:txBody>
      </p:sp>
      <p:sp>
        <p:nvSpPr>
          <p:cNvPr id="14" name="Text 12"/>
          <p:cNvSpPr/>
          <p:nvPr/>
        </p:nvSpPr>
        <p:spPr>
          <a:xfrm>
            <a:off x="566928" y="5010912"/>
            <a:ext cx="1828800" cy="274320"/>
          </a:xfrm>
          <a:prstGeom prst="rect">
            <a:avLst/>
          </a:prstGeom>
          <a:noFill/>
          <a:ln/>
        </p:spPr>
        <p:txBody>
          <a:bodyPr wrap="square" lIns="0" tIns="0" rIns="0" bIns="0" rtlCol="0" anchor="ctr"/>
          <a:lstStyle/>
          <a:p>
            <a:pPr indent="0" marL="0">
              <a:buNone/>
            </a:pPr>
            <a:r>
              <a:rPr lang="en-US" sz="1100" b="1" spc="120" kern="0" dirty="0">
                <a:solidFill>
                  <a:srgbClr val="02C39A"/>
                </a:solidFill>
                <a:latin typeface="Calibri" pitchFamily="34" charset="0"/>
                <a:ea typeface="Calibri" pitchFamily="34" charset="-122"/>
                <a:cs typeface="Calibri" pitchFamily="34" charset="-120"/>
              </a:rPr>
              <a:t>Tests</a:t>
            </a:r>
            <a:endParaRPr lang="en-US" sz="1100" dirty="0"/>
          </a:p>
        </p:txBody>
      </p:sp>
      <p:sp>
        <p:nvSpPr>
          <p:cNvPr id="15" name="Text 13"/>
          <p:cNvSpPr/>
          <p:nvPr/>
        </p:nvSpPr>
        <p:spPr>
          <a:xfrm>
            <a:off x="2487168" y="5010912"/>
            <a:ext cx="8229600" cy="27432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161 passed · 0 failed · against real PostgreSQL · CI green</a:t>
            </a:r>
            <a:endParaRPr lang="en-US" sz="1250" dirty="0"/>
          </a:p>
        </p:txBody>
      </p:sp>
      <p:sp>
        <p:nvSpPr>
          <p:cNvPr id="16" name="Text 14"/>
          <p:cNvSpPr/>
          <p:nvPr/>
        </p:nvSpPr>
        <p:spPr>
          <a:xfrm>
            <a:off x="566928" y="5413248"/>
            <a:ext cx="1828800" cy="274320"/>
          </a:xfrm>
          <a:prstGeom prst="rect">
            <a:avLst/>
          </a:prstGeom>
          <a:noFill/>
          <a:ln/>
        </p:spPr>
        <p:txBody>
          <a:bodyPr wrap="square" lIns="0" tIns="0" rIns="0" bIns="0" rtlCol="0" anchor="ctr"/>
          <a:lstStyle/>
          <a:p>
            <a:pPr indent="0" marL="0">
              <a:buNone/>
            </a:pPr>
            <a:r>
              <a:rPr lang="en-US" sz="1100" b="1" spc="120" kern="0" dirty="0">
                <a:solidFill>
                  <a:srgbClr val="02C39A"/>
                </a:solidFill>
                <a:latin typeface="Calibri" pitchFamily="34" charset="0"/>
                <a:ea typeface="Calibri" pitchFamily="34" charset="-122"/>
                <a:cs typeface="Calibri" pitchFamily="34" charset="-120"/>
              </a:rPr>
              <a:t>Live URL</a:t>
            </a:r>
            <a:endParaRPr lang="en-US" sz="1100" dirty="0"/>
          </a:p>
        </p:txBody>
      </p:sp>
      <p:sp>
        <p:nvSpPr>
          <p:cNvPr id="17" name="Text 15"/>
          <p:cNvSpPr/>
          <p:nvPr/>
        </p:nvSpPr>
        <p:spPr>
          <a:xfrm>
            <a:off x="2487168" y="5413248"/>
            <a:ext cx="8229600" cy="274320"/>
          </a:xfrm>
          <a:prstGeom prst="rect">
            <a:avLst/>
          </a:prstGeom>
          <a:noFill/>
          <a:ln/>
        </p:spPr>
        <p:txBody>
          <a:bodyPr wrap="square" lIns="0" tIns="0" rIns="0" bIns="0" rtlCol="0" anchor="ctr"/>
          <a:lstStyle/>
          <a:p>
            <a:pPr indent="0" marL="0">
              <a:buNone/>
            </a:pPr>
            <a:r>
              <a:rPr lang="en-US" sz="1250" i="1" dirty="0">
                <a:solidFill>
                  <a:srgbClr val="8FAAB1"/>
                </a:solidFill>
                <a:latin typeface="Calibri" pitchFamily="34" charset="0"/>
                <a:ea typeface="Calibri" pitchFamily="34" charset="-122"/>
                <a:cs typeface="Calibri" pitchFamily="34" charset="-120"/>
              </a:rPr>
              <a:t>servicedesk-ai-two.vercel.app  ·  API servicedesk-api-ss2d.onrender.com/api</a:t>
            </a:r>
            <a:endParaRPr lang="en-US" sz="1250" dirty="0"/>
          </a:p>
        </p:txBody>
      </p:sp>
      <p:sp>
        <p:nvSpPr>
          <p:cNvPr id="18" name="Text 16"/>
          <p:cNvSpPr/>
          <p:nvPr/>
        </p:nvSpPr>
        <p:spPr>
          <a:xfrm>
            <a:off x="566928" y="5925312"/>
            <a:ext cx="10424160" cy="274320"/>
          </a:xfrm>
          <a:prstGeom prst="rect">
            <a:avLst/>
          </a:prstGeom>
          <a:noFill/>
          <a:ln/>
        </p:spPr>
        <p:txBody>
          <a:bodyPr wrap="square" lIns="0" tIns="0" rIns="0" bIns="0" rtlCol="0" anchor="ctr"/>
          <a:lstStyle/>
          <a:p>
            <a:pPr indent="0" marL="0">
              <a:buNone/>
            </a:pPr>
            <a:r>
              <a:rPr lang="en-US" sz="1050" dirty="0">
                <a:solidFill>
                  <a:srgbClr val="5E7D85"/>
                </a:solidFill>
                <a:latin typeface="Calibri" pitchFamily="34" charset="0"/>
                <a:ea typeface="Calibri" pitchFamily="34" charset="-122"/>
                <a:cs typeface="Calibri" pitchFamily="34" charset="-120"/>
              </a:rPr>
              <a:t>BCSE408L — Cloud Computing  ·  School of Computer Science Engineering and Information Systems  ·  VIT Chennai</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VIT Chennai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ServiceDesk AI — Final Demonstration</dc:title>
  <dc:subject>PptxGenJS Presentation</dc:subject>
  <dc:creator>Aarush Jagannathan, Gomatheswar M</dc:creator>
  <cp:lastModifiedBy>Aarush Jagannathan, Gomatheswar M</cp:lastModifiedBy>
  <cp:revision>1</cp:revision>
  <dcterms:created xsi:type="dcterms:W3CDTF">2026-08-18T10:48:35Z</dcterms:created>
  <dcterms:modified xsi:type="dcterms:W3CDTF">2026-08-18T10:48:35Z</dcterms:modified>
</cp:coreProperties>
</file>