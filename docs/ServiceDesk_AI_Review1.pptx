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Aarush and Gomatheswar. Our project is ServiceDesk AI, Project 19 from the Customer Support SaaS category. The official problem statement is: manage customer complaints and automate ticket handling. This is our Review 1 presentation covering requirements and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official problem statement is one line, so we did a requirement analysis to understand what it means in practice for a small business. Four concrete failures: no single intake point, no ownership, no visible status or history, and no measurement. Each of these maps to a feature in our proposed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studied three existing approaches. A shared inbox has no ticket identity, ownership or reporting. A spreadsheet goes stale immediately and gives the customer nothing. Commercial helpdesks solve the problem properly but are priced per agent per month and assume a dedicated support team. The gap we target is the small business that needs the structure but not the price or complexity.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proposed system turns every complaint into a tracked ticket. Five steps: the customer raises it, the system classifies it, it enters an agent queue, the agent resolves it with AI assistance, and the business measures everything through dashboards. The bottom row is why this is a cloud project and not just a web project — managed database, stateless API, CDN frontend, and a public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objectives are quoted directly from the project specification. Under each one we have written how our design satisfies it, so the mapping from requirement to implementation is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defined scope in both directions. The left column is everything we commit to delivering by 15 October. The right column is what we deliberately excluded, and the last exclusion is the important one — the AI never sends a reply without an agent approving it. We would rather deliver a complete system than a broad unfinished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taken from the specification. The italic box under each lists what that role explicitly cannot do — those become our authorisation test cases. The key point at the bottom: we enforce this in the backend. A customer who crafts a request for another customer's ticket gets a 403 regardless of what the interface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ten functional requirements are quoted from the specification, not invented by us. Every one is mapped to a backend module, and we deliberately named our folders after the Suggested Modules in the same document so the mapping is visible in the repository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non-functional requirements, again from the specification. We did not just list the words — each card states the specific mechanism. For example scalability is achieved by keeping the API stateless, which is only possible because all state lives in the managed database and our sessions are JWT rather than server-side.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use case model, laid out by actor so it is readable on a slide. Twenty-two use cases across three actors. Every use case here corresponds to a real screen and a real API endpoint in our design — we did not draw anything we do not intend to build. The formal UML version with include and extend relationships is in the SRS.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states. The main path runs left to right; WAITING_FOR_CUSTOMER is the branch used when the agent needs more information. A resolved ticket can be reopened if the customer says the problem persists. Every transition is validated server-side and written to a ticket_events audit row, which is also how we compute resolution time for the dashboards.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customer screens. Login is deliberately plain. The dashboard shows live counts and the customer's own tickets — note the reference number format SD-1024, which is what a customer quotes on the phone. On the create form, category is optional because the AI proposes one; the customer is never blocked waiting for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left, the agent queue — one prioritised list with server-side filters and search. On the right, the ticket detail with the AI assistance panel. This is the screen we will spend the most time on in the final demo. The important design decision: the AI writes into a draft that the agent must insert and edit. There is no path where AI text reaches a customer without a human pressing send.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admin dashboard. Four KPI tiles, tickets by category, sentiment distribution and a thirty-day volume trend. We want to be explicit about one thing: every figure here is computed from the database at request time. There are no hard-coded dashboard numbers anywhere in the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direction for Review 2. Three tiers, each deployed separately: React on Vercel, Express on Render, PostgreSQL on Supabase. The arrows show the protocols. The API key for the AI provider lives only in the application tier — it is never sent to the browser. Seven entities planned, and we will generate the ER diagram from the actual migration SQL so it can never drift from the real schema.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want to be honest here: AI is not in the specification for Project 19 — only the title has it. So we added it deliberately, and we designed it so that nothing mandatory depends on it. Four capabilities, and under each one what the human still controls. Note the worked example matches the classification exactly. On the right is the failure path: AI runs after the ticket is saved, so ticket creation can never fail because the AI is down.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plan across the three reviews. R1 today is requirements and design. R2 on 17 September is authentication, database, ticket CRUD, REST APIs and a first public deployment. R3 on 15 October is the complete system with dashboards, AI, testing and the final report. The note at the bottom matters for evaluation: we rotate module ownership so both of us can explain and modify any part of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To be clear about status: the repository is live, and the application is not yet deployed — the public URL is a Review 2 deliverable and we will not claim it before it exists. We are both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9281160" y="3246120"/>
            <a:ext cx="3931920" cy="3931920"/>
          </a:xfrm>
          <a:prstGeom prst="ellipse">
            <a:avLst/>
          </a:prstGeom>
          <a:ln w="13970">
            <a:solidFill>
              <a:srgbClr val="028090"/>
            </a:solidFill>
            <a:prstDash val="solid"/>
          </a:ln>
        </p:spPr>
      </p:sp>
      <p:sp>
        <p:nvSpPr>
          <p:cNvPr id="3" name="Shape 1"/>
          <p:cNvSpPr/>
          <p:nvPr/>
        </p:nvSpPr>
        <p:spPr>
          <a:xfrm>
            <a:off x="10104120" y="4069080"/>
            <a:ext cx="2286000" cy="2286000"/>
          </a:xfrm>
          <a:prstGeom prst="ellipse">
            <a:avLst/>
          </a:prstGeom>
          <a:ln w="13970">
            <a:solidFill>
              <a:srgbClr val="00A896"/>
            </a:solidFill>
            <a:prstDash val="solid"/>
          </a:ln>
        </p:spPr>
      </p:sp>
      <p:sp>
        <p:nvSpPr>
          <p:cNvPr id="4" name="Shape 2"/>
          <p:cNvSpPr/>
          <p:nvPr/>
        </p:nvSpPr>
        <p:spPr>
          <a:xfrm>
            <a:off x="10744200" y="4709160"/>
            <a:ext cx="1005840" cy="1005840"/>
          </a:xfrm>
          <a:prstGeom prst="ellipse">
            <a:avLst/>
          </a:prstGeom>
          <a:solidFill>
            <a:srgbClr val="02C39A"/>
          </a:solidFill>
          <a:ln/>
        </p:spPr>
      </p:sp>
      <p:sp>
        <p:nvSpPr>
          <p:cNvPr id="5" name="Text 3"/>
          <p:cNvSpPr/>
          <p:nvPr/>
        </p:nvSpPr>
        <p:spPr>
          <a:xfrm>
            <a:off x="566928" y="731520"/>
            <a:ext cx="8686800" cy="256032"/>
          </a:xfrm>
          <a:prstGeom prst="rect">
            <a:avLst/>
          </a:prstGeom>
          <a:noFill/>
          <a:ln/>
        </p:spPr>
        <p:txBody>
          <a:bodyPr wrap="square" lIns="0" tIns="0" rIns="0" bIns="0" rtlCol="0" anchor="ctr"/>
          <a:lstStyle/>
          <a:p>
            <a:pPr indent="0" marL="0">
              <a:buNone/>
            </a:pPr>
            <a:r>
              <a:rPr lang="en-US" sz="1100" b="1" spc="200" kern="0" dirty="0">
                <a:solidFill>
                  <a:srgbClr val="02C39A"/>
                </a:solidFill>
                <a:latin typeface="Calibri" pitchFamily="34" charset="0"/>
                <a:ea typeface="Calibri" pitchFamily="34" charset="-122"/>
                <a:cs typeface="Calibri" pitchFamily="34" charset="-120"/>
              </a:rPr>
              <a:t>VELLORE INSTITUTE OF TECHNOLOGY, CHENNAI</a:t>
            </a:r>
            <a:endParaRPr lang="en-US" sz="1100" dirty="0"/>
          </a:p>
        </p:txBody>
      </p:sp>
      <p:sp>
        <p:nvSpPr>
          <p:cNvPr id="6" name="Text 4"/>
          <p:cNvSpPr/>
          <p:nvPr/>
        </p:nvSpPr>
        <p:spPr>
          <a:xfrm>
            <a:off x="566928" y="987552"/>
            <a:ext cx="8686800" cy="256032"/>
          </a:xfrm>
          <a:prstGeom prst="rect">
            <a:avLst/>
          </a:prstGeom>
          <a:noFill/>
          <a:ln/>
        </p:spPr>
        <p:txBody>
          <a:bodyPr wrap="square" lIns="0" tIns="0" rIns="0" bIns="0" rtlCol="0" anchor="ctr"/>
          <a:lstStyle/>
          <a:p>
            <a:pPr indent="0" marL="0">
              <a:buNone/>
            </a:pPr>
            <a:r>
              <a:rPr lang="en-US" sz="1100" dirty="0">
                <a:solidFill>
                  <a:srgbClr val="9DB6BC"/>
                </a:solidFill>
                <a:latin typeface="Calibri" pitchFamily="34" charset="0"/>
                <a:ea typeface="Calibri" pitchFamily="34" charset="-122"/>
                <a:cs typeface="Calibri" pitchFamily="34" charset="-120"/>
              </a:rPr>
              <a:t>School of Computer Science Engineering and Information Systems</a:t>
            </a:r>
            <a:endParaRPr lang="en-US" sz="1100" dirty="0"/>
          </a:p>
        </p:txBody>
      </p:sp>
      <p:sp>
        <p:nvSpPr>
          <p:cNvPr id="7" name="Text 5"/>
          <p:cNvSpPr/>
          <p:nvPr/>
        </p:nvSpPr>
        <p:spPr>
          <a:xfrm>
            <a:off x="566928" y="1874520"/>
            <a:ext cx="8778240" cy="105156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ServiceDesk AI</a:t>
            </a:r>
            <a:endParaRPr lang="en-US" sz="6000" dirty="0"/>
          </a:p>
        </p:txBody>
      </p:sp>
      <p:sp>
        <p:nvSpPr>
          <p:cNvPr id="8" name="Text 6"/>
          <p:cNvSpPr/>
          <p:nvPr/>
        </p:nvSpPr>
        <p:spPr>
          <a:xfrm>
            <a:off x="566928" y="2944368"/>
            <a:ext cx="8412480" cy="457200"/>
          </a:xfrm>
          <a:prstGeom prst="rect">
            <a:avLst/>
          </a:prstGeom>
          <a:noFill/>
          <a:ln/>
        </p:spPr>
        <p:txBody>
          <a:bodyPr wrap="square" lIns="0" tIns="0" rIns="0" bIns="0" rtlCol="0" anchor="ctr"/>
          <a:lstStyle/>
          <a:p>
            <a:pPr indent="0" marL="0">
              <a:buNone/>
            </a:pPr>
            <a:r>
              <a:rPr lang="en-US" sz="1700" dirty="0">
                <a:solidFill>
                  <a:srgbClr val="BCD4D8"/>
                </a:solidFill>
                <a:latin typeface="Cambria" pitchFamily="34" charset="0"/>
                <a:ea typeface="Cambria" pitchFamily="34" charset="-122"/>
                <a:cs typeface="Cambria" pitchFamily="34" charset="-120"/>
              </a:rPr>
              <a:t>A cloud-native customer support SaaS platform for small businesses</a:t>
            </a:r>
            <a:endParaRPr lang="en-US" sz="1700" dirty="0"/>
          </a:p>
        </p:txBody>
      </p:sp>
      <p:sp>
        <p:nvSpPr>
          <p:cNvPr id="9" name="Text 7"/>
          <p:cNvSpPr/>
          <p:nvPr/>
        </p:nvSpPr>
        <p:spPr>
          <a:xfrm>
            <a:off x="566928" y="3611880"/>
            <a:ext cx="8778240" cy="274320"/>
          </a:xfrm>
          <a:prstGeom prst="rect">
            <a:avLst/>
          </a:prstGeom>
          <a:noFill/>
          <a:ln/>
        </p:spPr>
        <p:txBody>
          <a:bodyPr wrap="square" lIns="0" tIns="0" rIns="0" bIns="0" rtlCol="0" anchor="ctr"/>
          <a:lstStyle/>
          <a:p>
            <a:pPr indent="0" marL="0">
              <a:buNone/>
            </a:pPr>
            <a:r>
              <a:rPr lang="en-US" sz="1200" b="1" dirty="0">
                <a:solidFill>
                  <a:srgbClr val="00A896"/>
                </a:solidFill>
                <a:latin typeface="Calibri" pitchFamily="34" charset="0"/>
                <a:ea typeface="Calibri" pitchFamily="34" charset="-122"/>
                <a:cs typeface="Calibri" pitchFamily="34" charset="-120"/>
              </a:rPr>
              <a:t>Project 19  ·  Customer Support SaaS  ·  Review 1  ·  20 August 2026</a:t>
            </a:r>
            <a:endParaRPr lang="en-US" sz="1200" dirty="0"/>
          </a:p>
        </p:txBody>
      </p:sp>
      <p:sp>
        <p:nvSpPr>
          <p:cNvPr id="10" name="Shape 8"/>
          <p:cNvSpPr/>
          <p:nvPr/>
        </p:nvSpPr>
        <p:spPr>
          <a:xfrm>
            <a:off x="566928" y="4343400"/>
            <a:ext cx="3063240" cy="896112"/>
          </a:xfrm>
          <a:prstGeom prst="roundRect">
            <a:avLst>
              <a:gd name="adj" fmla="val 10204"/>
            </a:avLst>
          </a:prstGeom>
          <a:solidFill>
            <a:srgbClr val="12414C"/>
          </a:solidFill>
          <a:ln w="9525">
            <a:solidFill>
              <a:srgbClr val="1D5361"/>
            </a:solidFill>
            <a:prstDash val="solid"/>
          </a:ln>
        </p:spPr>
      </p:sp>
      <p:sp>
        <p:nvSpPr>
          <p:cNvPr id="11" name="Text 9"/>
          <p:cNvSpPr/>
          <p:nvPr/>
        </p:nvSpPr>
        <p:spPr>
          <a:xfrm>
            <a:off x="804672" y="4489704"/>
            <a:ext cx="26060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Aarush Jagannathan</a:t>
            </a:r>
            <a:endParaRPr lang="en-US" sz="1400" dirty="0"/>
          </a:p>
        </p:txBody>
      </p:sp>
      <p:sp>
        <p:nvSpPr>
          <p:cNvPr id="12" name="Text 10"/>
          <p:cNvSpPr/>
          <p:nvPr/>
        </p:nvSpPr>
        <p:spPr>
          <a:xfrm>
            <a:off x="804672" y="4818888"/>
            <a:ext cx="2606040" cy="256032"/>
          </a:xfrm>
          <a:prstGeom prst="rect">
            <a:avLst/>
          </a:prstGeom>
          <a:noFill/>
          <a:ln/>
        </p:spPr>
        <p:txBody>
          <a:bodyPr wrap="square" lIns="0" tIns="0" rIns="0" bIns="0" rtlCol="0" anchor="ctr"/>
          <a:lstStyle/>
          <a:p>
            <a:pPr indent="0" marL="0">
              <a:buNone/>
            </a:pPr>
            <a:r>
              <a:rPr lang="en-US" sz="1200" dirty="0">
                <a:solidFill>
                  <a:srgbClr val="02C39A"/>
                </a:solidFill>
                <a:latin typeface="Calibri" pitchFamily="34" charset="0"/>
                <a:ea typeface="Calibri" pitchFamily="34" charset="-122"/>
                <a:cs typeface="Calibri" pitchFamily="34" charset="-120"/>
              </a:rPr>
              <a:t>23BLC1211</a:t>
            </a:r>
            <a:endParaRPr lang="en-US" sz="1200" dirty="0"/>
          </a:p>
        </p:txBody>
      </p:sp>
      <p:sp>
        <p:nvSpPr>
          <p:cNvPr id="13" name="Shape 11"/>
          <p:cNvSpPr/>
          <p:nvPr/>
        </p:nvSpPr>
        <p:spPr>
          <a:xfrm>
            <a:off x="3886200" y="4343400"/>
            <a:ext cx="3063240" cy="896112"/>
          </a:xfrm>
          <a:prstGeom prst="roundRect">
            <a:avLst>
              <a:gd name="adj" fmla="val 10204"/>
            </a:avLst>
          </a:prstGeom>
          <a:solidFill>
            <a:srgbClr val="12414C"/>
          </a:solidFill>
          <a:ln w="9525">
            <a:solidFill>
              <a:srgbClr val="1D5361"/>
            </a:solidFill>
            <a:prstDash val="solid"/>
          </a:ln>
        </p:spPr>
      </p:sp>
      <p:sp>
        <p:nvSpPr>
          <p:cNvPr id="14" name="Text 12"/>
          <p:cNvSpPr/>
          <p:nvPr/>
        </p:nvSpPr>
        <p:spPr>
          <a:xfrm>
            <a:off x="4123944" y="4489704"/>
            <a:ext cx="2606040" cy="292608"/>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Gomatheswar M</a:t>
            </a:r>
            <a:endParaRPr lang="en-US" sz="1400" dirty="0"/>
          </a:p>
        </p:txBody>
      </p:sp>
      <p:sp>
        <p:nvSpPr>
          <p:cNvPr id="15" name="Text 13"/>
          <p:cNvSpPr/>
          <p:nvPr/>
        </p:nvSpPr>
        <p:spPr>
          <a:xfrm>
            <a:off x="4123944" y="4818888"/>
            <a:ext cx="2606040" cy="256032"/>
          </a:xfrm>
          <a:prstGeom prst="rect">
            <a:avLst/>
          </a:prstGeom>
          <a:noFill/>
          <a:ln/>
        </p:spPr>
        <p:txBody>
          <a:bodyPr wrap="square" lIns="0" tIns="0" rIns="0" bIns="0" rtlCol="0" anchor="ctr"/>
          <a:lstStyle/>
          <a:p>
            <a:pPr indent="0" marL="0">
              <a:buNone/>
            </a:pPr>
            <a:r>
              <a:rPr lang="en-US" sz="1200" dirty="0">
                <a:solidFill>
                  <a:srgbClr val="02C39A"/>
                </a:solidFill>
                <a:latin typeface="Calibri" pitchFamily="34" charset="0"/>
                <a:ea typeface="Calibri" pitchFamily="34" charset="-122"/>
                <a:cs typeface="Calibri" pitchFamily="34" charset="-120"/>
              </a:rPr>
              <a:t>23BLC1195</a:t>
            </a:r>
            <a:endParaRPr lang="en-US" sz="1200" dirty="0"/>
          </a:p>
        </p:txBody>
      </p:sp>
      <p:sp>
        <p:nvSpPr>
          <p:cNvPr id="16" name="Text 14"/>
          <p:cNvSpPr/>
          <p:nvPr/>
        </p:nvSpPr>
        <p:spPr>
          <a:xfrm>
            <a:off x="566928" y="5760720"/>
            <a:ext cx="8778240" cy="274320"/>
          </a:xfrm>
          <a:prstGeom prst="rect">
            <a:avLst/>
          </a:prstGeom>
          <a:noFill/>
          <a:ln/>
        </p:spPr>
        <p:txBody>
          <a:bodyPr wrap="square" lIns="0" tIns="0" rIns="0" bIns="0" rtlCol="0" anchor="ctr"/>
          <a:lstStyle/>
          <a:p>
            <a:pPr indent="0" marL="0">
              <a:buNone/>
            </a:pPr>
            <a:r>
              <a:rPr lang="en-US" sz="1100" dirty="0">
                <a:solidFill>
                  <a:srgbClr val="6E8C94"/>
                </a:solidFill>
                <a:latin typeface="Calibri" pitchFamily="34" charset="0"/>
                <a:ea typeface="Calibri" pitchFamily="34" charset="-122"/>
                <a:cs typeface="Calibri" pitchFamily="34" charset="-120"/>
              </a:rPr>
              <a:t>BCSE408L — Cloud Computing   |   Academic Year 2026–2027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1</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Problem Statement</a:t>
            </a:r>
            <a:endParaRPr lang="en-US" sz="3000" dirty="0"/>
          </a:p>
        </p:txBody>
      </p:sp>
      <p:sp>
        <p:nvSpPr>
          <p:cNvPr id="4" name="Shape 2"/>
          <p:cNvSpPr/>
          <p:nvPr/>
        </p:nvSpPr>
        <p:spPr>
          <a:xfrm>
            <a:off x="566928" y="1389888"/>
            <a:ext cx="11027664" cy="1024128"/>
          </a:xfrm>
          <a:prstGeom prst="roundRect">
            <a:avLst>
              <a:gd name="adj" fmla="val 8929"/>
            </a:avLst>
          </a:prstGeom>
          <a:solidFill>
            <a:srgbClr val="0A2E36"/>
          </a:solidFill>
          <a:ln/>
          <a:effectLst>
            <a:outerShdw sx="100000" sy="100000" kx="0" ky="0" algn="bl" rotWithShape="0" blurRad="127000" dist="25400" dir="5400000">
              <a:srgbClr val="0A2E36">
                <a:alpha val="10000"/>
              </a:srgbClr>
            </a:outerShdw>
          </a:effectLst>
        </p:spPr>
      </p:sp>
      <p:sp>
        <p:nvSpPr>
          <p:cNvPr id="5" name="Text 3"/>
          <p:cNvSpPr/>
          <p:nvPr/>
        </p:nvSpPr>
        <p:spPr>
          <a:xfrm>
            <a:off x="950976" y="1517904"/>
            <a:ext cx="10259568" cy="402336"/>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“Manage customer complaints and automate ticket handling.”</a:t>
            </a:r>
            <a:endParaRPr lang="en-US" sz="2000" dirty="0"/>
          </a:p>
        </p:txBody>
      </p:sp>
      <p:sp>
        <p:nvSpPr>
          <p:cNvPr id="6" name="Text 4"/>
          <p:cNvSpPr/>
          <p:nvPr/>
        </p:nvSpPr>
        <p:spPr>
          <a:xfrm>
            <a:off x="950976" y="1956816"/>
            <a:ext cx="10259568" cy="274320"/>
          </a:xfrm>
          <a:prstGeom prst="rect">
            <a:avLst/>
          </a:prstGeom>
          <a:noFill/>
          <a:ln/>
        </p:spPr>
        <p:txBody>
          <a:bodyPr wrap="square" lIns="0" tIns="0" rIns="0" bIns="0" rtlCol="0" anchor="ctr"/>
          <a:lstStyle/>
          <a:p>
            <a:pPr indent="0" marL="0">
              <a:buNone/>
            </a:pPr>
            <a:r>
              <a:rPr lang="en-US" sz="1100" dirty="0">
                <a:solidFill>
                  <a:srgbClr val="02C39A"/>
                </a:solidFill>
                <a:latin typeface="Calibri" pitchFamily="34" charset="0"/>
                <a:ea typeface="Calibri" pitchFamily="34" charset="-122"/>
                <a:cs typeface="Calibri" pitchFamily="34" charset="-120"/>
              </a:rPr>
              <a:t>Official problem statement — BCSE408L Project List, Project 19</a:t>
            </a:r>
            <a:endParaRPr lang="en-US" sz="1100" dirty="0"/>
          </a:p>
        </p:txBody>
      </p:sp>
      <p:sp>
        <p:nvSpPr>
          <p:cNvPr id="7" name="Text 5"/>
          <p:cNvSpPr/>
          <p:nvPr/>
        </p:nvSpPr>
        <p:spPr>
          <a:xfrm>
            <a:off x="566928" y="2670048"/>
            <a:ext cx="11027664" cy="310896"/>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What actually happens in a small business today</a:t>
            </a:r>
            <a:endParaRPr lang="en-US" sz="1500" dirty="0"/>
          </a:p>
        </p:txBody>
      </p:sp>
      <p:sp>
        <p:nvSpPr>
          <p:cNvPr id="8" name="Shape 6"/>
          <p:cNvSpPr/>
          <p:nvPr/>
        </p:nvSpPr>
        <p:spPr>
          <a:xfrm>
            <a:off x="566928" y="3090672"/>
            <a:ext cx="2551176" cy="2212848"/>
          </a:xfrm>
          <a:prstGeom prst="roundRect">
            <a:avLst>
              <a:gd name="adj" fmla="val 413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9" name="Shape 7"/>
          <p:cNvSpPr/>
          <p:nvPr/>
        </p:nvSpPr>
        <p:spPr>
          <a:xfrm>
            <a:off x="822960" y="3346704"/>
            <a:ext cx="475488" cy="475488"/>
          </a:xfrm>
          <a:prstGeom prst="ellipse">
            <a:avLst/>
          </a:prstGeom>
          <a:solidFill>
            <a:srgbClr val="028090"/>
          </a:solidFill>
          <a:ln/>
        </p:spPr>
      </p:sp>
      <p:sp>
        <p:nvSpPr>
          <p:cNvPr id="10" name="Text 8"/>
          <p:cNvSpPr/>
          <p:nvPr/>
        </p:nvSpPr>
        <p:spPr>
          <a:xfrm>
            <a:off x="822960" y="334670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1" name="Text 9"/>
          <p:cNvSpPr/>
          <p:nvPr/>
        </p:nvSpPr>
        <p:spPr>
          <a:xfrm>
            <a:off x="822960" y="3950208"/>
            <a:ext cx="2039112" cy="566928"/>
          </a:xfrm>
          <a:prstGeom prst="rect">
            <a:avLst/>
          </a:prstGeom>
          <a:noFill/>
          <a:ln/>
        </p:spPr>
        <p:txBody>
          <a:bodyPr wrap="square" lIns="0" tIns="0" rIns="0" bIns="0" rtlCol="0" anchor="t"/>
          <a:lstStyle/>
          <a:p>
            <a:pPr indent="0" marL="0">
              <a:lnSpc>
                <a:spcPts val="1700"/>
              </a:lnSpc>
              <a:buNone/>
            </a:pPr>
            <a:r>
              <a:rPr lang="en-US" sz="1400" b="1" dirty="0">
                <a:solidFill>
                  <a:srgbClr val="0A2E36"/>
                </a:solidFill>
                <a:latin typeface="Calibri" pitchFamily="34" charset="0"/>
                <a:ea typeface="Calibri" pitchFamily="34" charset="-122"/>
                <a:cs typeface="Calibri" pitchFamily="34" charset="-120"/>
              </a:rPr>
              <a:t>Requests arrive everywhere</a:t>
            </a:r>
            <a:endParaRPr lang="en-US" sz="1400" dirty="0"/>
          </a:p>
        </p:txBody>
      </p:sp>
      <p:sp>
        <p:nvSpPr>
          <p:cNvPr id="12" name="Text 10"/>
          <p:cNvSpPr/>
          <p:nvPr/>
        </p:nvSpPr>
        <p:spPr>
          <a:xfrm>
            <a:off x="822960" y="4535424"/>
            <a:ext cx="2039112" cy="658368"/>
          </a:xfrm>
          <a:prstGeom prst="rect">
            <a:avLst/>
          </a:prstGeom>
          <a:noFill/>
          <a:ln/>
        </p:spPr>
        <p:txBody>
          <a:bodyPr wrap="square" lIns="0" tIns="0" rIns="0" bIns="0" rtlCol="0" anchor="t"/>
          <a:lstStyle/>
          <a:p>
            <a:pPr indent="0" marL="0">
              <a:lnSpc>
                <a:spcPts val="1500"/>
              </a:lnSpc>
              <a:buNone/>
            </a:pPr>
            <a:r>
              <a:rPr lang="en-US" sz="1150" dirty="0">
                <a:solidFill>
                  <a:srgbClr val="445C64"/>
                </a:solidFill>
                <a:latin typeface="Calibri" pitchFamily="34" charset="0"/>
                <a:ea typeface="Calibri" pitchFamily="34" charset="-122"/>
                <a:cs typeface="Calibri" pitchFamily="34" charset="-120"/>
              </a:rPr>
              <a:t>Email, WhatsApp and phone calls. There is no single place where a complaint is recorded.</a:t>
            </a:r>
            <a:endParaRPr lang="en-US" sz="1150" dirty="0"/>
          </a:p>
        </p:txBody>
      </p:sp>
      <p:sp>
        <p:nvSpPr>
          <p:cNvPr id="13" name="Shape 11"/>
          <p:cNvSpPr/>
          <p:nvPr/>
        </p:nvSpPr>
        <p:spPr>
          <a:xfrm>
            <a:off x="3392424" y="3090672"/>
            <a:ext cx="2551176" cy="2212848"/>
          </a:xfrm>
          <a:prstGeom prst="roundRect">
            <a:avLst>
              <a:gd name="adj" fmla="val 413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4" name="Shape 12"/>
          <p:cNvSpPr/>
          <p:nvPr/>
        </p:nvSpPr>
        <p:spPr>
          <a:xfrm>
            <a:off x="3648456" y="3346704"/>
            <a:ext cx="475488" cy="475488"/>
          </a:xfrm>
          <a:prstGeom prst="ellipse">
            <a:avLst/>
          </a:prstGeom>
          <a:solidFill>
            <a:srgbClr val="028090"/>
          </a:solidFill>
          <a:ln/>
        </p:spPr>
      </p:sp>
      <p:sp>
        <p:nvSpPr>
          <p:cNvPr id="15" name="Text 13"/>
          <p:cNvSpPr/>
          <p:nvPr/>
        </p:nvSpPr>
        <p:spPr>
          <a:xfrm>
            <a:off x="3648456" y="334670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16" name="Text 14"/>
          <p:cNvSpPr/>
          <p:nvPr/>
        </p:nvSpPr>
        <p:spPr>
          <a:xfrm>
            <a:off x="3648456" y="3950208"/>
            <a:ext cx="2039112" cy="566928"/>
          </a:xfrm>
          <a:prstGeom prst="rect">
            <a:avLst/>
          </a:prstGeom>
          <a:noFill/>
          <a:ln/>
        </p:spPr>
        <p:txBody>
          <a:bodyPr wrap="square" lIns="0" tIns="0" rIns="0" bIns="0" rtlCol="0" anchor="t"/>
          <a:lstStyle/>
          <a:p>
            <a:pPr indent="0" marL="0">
              <a:lnSpc>
                <a:spcPts val="1700"/>
              </a:lnSpc>
              <a:buNone/>
            </a:pPr>
            <a:r>
              <a:rPr lang="en-US" sz="1400" b="1" dirty="0">
                <a:solidFill>
                  <a:srgbClr val="0A2E36"/>
                </a:solidFill>
                <a:latin typeface="Calibri" pitchFamily="34" charset="0"/>
                <a:ea typeface="Calibri" pitchFamily="34" charset="-122"/>
                <a:cs typeface="Calibri" pitchFamily="34" charset="-120"/>
              </a:rPr>
              <a:t>Nobody owns the request</a:t>
            </a:r>
            <a:endParaRPr lang="en-US" sz="1400" dirty="0"/>
          </a:p>
        </p:txBody>
      </p:sp>
      <p:sp>
        <p:nvSpPr>
          <p:cNvPr id="17" name="Text 15"/>
          <p:cNvSpPr/>
          <p:nvPr/>
        </p:nvSpPr>
        <p:spPr>
          <a:xfrm>
            <a:off x="3648456" y="4535424"/>
            <a:ext cx="2039112" cy="658368"/>
          </a:xfrm>
          <a:prstGeom prst="rect">
            <a:avLst/>
          </a:prstGeom>
          <a:noFill/>
          <a:ln/>
        </p:spPr>
        <p:txBody>
          <a:bodyPr wrap="square" lIns="0" tIns="0" rIns="0" bIns="0" rtlCol="0" anchor="t"/>
          <a:lstStyle/>
          <a:p>
            <a:pPr indent="0" marL="0">
              <a:lnSpc>
                <a:spcPts val="1500"/>
              </a:lnSpc>
              <a:buNone/>
            </a:pPr>
            <a:r>
              <a:rPr lang="en-US" sz="1150" dirty="0">
                <a:solidFill>
                  <a:srgbClr val="445C64"/>
                </a:solidFill>
                <a:latin typeface="Calibri" pitchFamily="34" charset="0"/>
                <a:ea typeface="Calibri" pitchFamily="34" charset="-122"/>
                <a:cs typeface="Calibri" pitchFamily="34" charset="-120"/>
              </a:rPr>
              <a:t>Without an assigned owner, complaints are answered twice or not at all.</a:t>
            </a:r>
            <a:endParaRPr lang="en-US" sz="1150" dirty="0"/>
          </a:p>
        </p:txBody>
      </p:sp>
      <p:sp>
        <p:nvSpPr>
          <p:cNvPr id="18" name="Shape 16"/>
          <p:cNvSpPr/>
          <p:nvPr/>
        </p:nvSpPr>
        <p:spPr>
          <a:xfrm>
            <a:off x="6217920" y="3090672"/>
            <a:ext cx="2551176" cy="2212848"/>
          </a:xfrm>
          <a:prstGeom prst="roundRect">
            <a:avLst>
              <a:gd name="adj" fmla="val 413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9" name="Shape 17"/>
          <p:cNvSpPr/>
          <p:nvPr/>
        </p:nvSpPr>
        <p:spPr>
          <a:xfrm>
            <a:off x="6473952" y="3346704"/>
            <a:ext cx="475488" cy="475488"/>
          </a:xfrm>
          <a:prstGeom prst="ellipse">
            <a:avLst/>
          </a:prstGeom>
          <a:solidFill>
            <a:srgbClr val="028090"/>
          </a:solidFill>
          <a:ln/>
        </p:spPr>
      </p:sp>
      <p:sp>
        <p:nvSpPr>
          <p:cNvPr id="20" name="Text 18"/>
          <p:cNvSpPr/>
          <p:nvPr/>
        </p:nvSpPr>
        <p:spPr>
          <a:xfrm>
            <a:off x="6473952" y="334670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1" name="Text 19"/>
          <p:cNvSpPr/>
          <p:nvPr/>
        </p:nvSpPr>
        <p:spPr>
          <a:xfrm>
            <a:off x="6473952" y="3950208"/>
            <a:ext cx="2039112" cy="566928"/>
          </a:xfrm>
          <a:prstGeom prst="rect">
            <a:avLst/>
          </a:prstGeom>
          <a:noFill/>
          <a:ln/>
        </p:spPr>
        <p:txBody>
          <a:bodyPr wrap="square" lIns="0" tIns="0" rIns="0" bIns="0" rtlCol="0" anchor="t"/>
          <a:lstStyle/>
          <a:p>
            <a:pPr indent="0" marL="0">
              <a:lnSpc>
                <a:spcPts val="1700"/>
              </a:lnSpc>
              <a:buNone/>
            </a:pPr>
            <a:r>
              <a:rPr lang="en-US" sz="1400" b="1" dirty="0">
                <a:solidFill>
                  <a:srgbClr val="0A2E36"/>
                </a:solidFill>
                <a:latin typeface="Calibri" pitchFamily="34" charset="0"/>
                <a:ea typeface="Calibri" pitchFamily="34" charset="-122"/>
                <a:cs typeface="Calibri" pitchFamily="34" charset="-120"/>
              </a:rPr>
              <a:t>No status, no history</a:t>
            </a:r>
            <a:endParaRPr lang="en-US" sz="1400" dirty="0"/>
          </a:p>
        </p:txBody>
      </p:sp>
      <p:sp>
        <p:nvSpPr>
          <p:cNvPr id="22" name="Text 20"/>
          <p:cNvSpPr/>
          <p:nvPr/>
        </p:nvSpPr>
        <p:spPr>
          <a:xfrm>
            <a:off x="6473952" y="4535424"/>
            <a:ext cx="2039112" cy="658368"/>
          </a:xfrm>
          <a:prstGeom prst="rect">
            <a:avLst/>
          </a:prstGeom>
          <a:noFill/>
          <a:ln/>
        </p:spPr>
        <p:txBody>
          <a:bodyPr wrap="square" lIns="0" tIns="0" rIns="0" bIns="0" rtlCol="0" anchor="t"/>
          <a:lstStyle/>
          <a:p>
            <a:pPr indent="0" marL="0">
              <a:lnSpc>
                <a:spcPts val="1500"/>
              </a:lnSpc>
              <a:buNone/>
            </a:pPr>
            <a:r>
              <a:rPr lang="en-US" sz="1150" dirty="0">
                <a:solidFill>
                  <a:srgbClr val="445C64"/>
                </a:solidFill>
                <a:latin typeface="Calibri" pitchFamily="34" charset="0"/>
                <a:ea typeface="Calibri" pitchFamily="34" charset="-122"/>
                <a:cs typeface="Calibri" pitchFamily="34" charset="-120"/>
              </a:rPr>
              <a:t>The customer has no way to check progress, so they call again — creating more work.</a:t>
            </a:r>
            <a:endParaRPr lang="en-US" sz="1150" dirty="0"/>
          </a:p>
        </p:txBody>
      </p:sp>
      <p:sp>
        <p:nvSpPr>
          <p:cNvPr id="23" name="Shape 21"/>
          <p:cNvSpPr/>
          <p:nvPr/>
        </p:nvSpPr>
        <p:spPr>
          <a:xfrm>
            <a:off x="9043416" y="3090672"/>
            <a:ext cx="2551176" cy="2212848"/>
          </a:xfrm>
          <a:prstGeom prst="roundRect">
            <a:avLst>
              <a:gd name="adj" fmla="val 413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4" name="Shape 22"/>
          <p:cNvSpPr/>
          <p:nvPr/>
        </p:nvSpPr>
        <p:spPr>
          <a:xfrm>
            <a:off x="9299448" y="3346704"/>
            <a:ext cx="475488" cy="475488"/>
          </a:xfrm>
          <a:prstGeom prst="ellipse">
            <a:avLst/>
          </a:prstGeom>
          <a:solidFill>
            <a:srgbClr val="028090"/>
          </a:solidFill>
          <a:ln/>
        </p:spPr>
      </p:sp>
      <p:sp>
        <p:nvSpPr>
          <p:cNvPr id="25" name="Text 23"/>
          <p:cNvSpPr/>
          <p:nvPr/>
        </p:nvSpPr>
        <p:spPr>
          <a:xfrm>
            <a:off x="9299448" y="3346704"/>
            <a:ext cx="475488" cy="475488"/>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a:t>
            </a:r>
            <a:endParaRPr lang="en-US" sz="1700" dirty="0"/>
          </a:p>
        </p:txBody>
      </p:sp>
      <p:sp>
        <p:nvSpPr>
          <p:cNvPr id="26" name="Text 24"/>
          <p:cNvSpPr/>
          <p:nvPr/>
        </p:nvSpPr>
        <p:spPr>
          <a:xfrm>
            <a:off x="9299448" y="3950208"/>
            <a:ext cx="2039112" cy="566928"/>
          </a:xfrm>
          <a:prstGeom prst="rect">
            <a:avLst/>
          </a:prstGeom>
          <a:noFill/>
          <a:ln/>
        </p:spPr>
        <p:txBody>
          <a:bodyPr wrap="square" lIns="0" tIns="0" rIns="0" bIns="0" rtlCol="0" anchor="t"/>
          <a:lstStyle/>
          <a:p>
            <a:pPr indent="0" marL="0">
              <a:lnSpc>
                <a:spcPts val="1700"/>
              </a:lnSpc>
              <a:buNone/>
            </a:pPr>
            <a:r>
              <a:rPr lang="en-US" sz="1400" b="1" dirty="0">
                <a:solidFill>
                  <a:srgbClr val="0A2E36"/>
                </a:solidFill>
                <a:latin typeface="Calibri" pitchFamily="34" charset="0"/>
                <a:ea typeface="Calibri" pitchFamily="34" charset="-122"/>
                <a:cs typeface="Calibri" pitchFamily="34" charset="-120"/>
              </a:rPr>
              <a:t>No measurement</a:t>
            </a:r>
            <a:endParaRPr lang="en-US" sz="1400" dirty="0"/>
          </a:p>
        </p:txBody>
      </p:sp>
      <p:sp>
        <p:nvSpPr>
          <p:cNvPr id="27" name="Text 25"/>
          <p:cNvSpPr/>
          <p:nvPr/>
        </p:nvSpPr>
        <p:spPr>
          <a:xfrm>
            <a:off x="9299448" y="4535424"/>
            <a:ext cx="2039112" cy="658368"/>
          </a:xfrm>
          <a:prstGeom prst="rect">
            <a:avLst/>
          </a:prstGeom>
          <a:noFill/>
          <a:ln/>
        </p:spPr>
        <p:txBody>
          <a:bodyPr wrap="square" lIns="0" tIns="0" rIns="0" bIns="0" rtlCol="0" anchor="t"/>
          <a:lstStyle/>
          <a:p>
            <a:pPr indent="0" marL="0">
              <a:lnSpc>
                <a:spcPts val="1500"/>
              </a:lnSpc>
              <a:buNone/>
            </a:pPr>
            <a:r>
              <a:rPr lang="en-US" sz="1150" dirty="0">
                <a:solidFill>
                  <a:srgbClr val="445C64"/>
                </a:solidFill>
                <a:latin typeface="Calibri" pitchFamily="34" charset="0"/>
                <a:ea typeface="Calibri" pitchFamily="34" charset="-122"/>
                <a:cs typeface="Calibri" pitchFamily="34" charset="-120"/>
              </a:rPr>
              <a:t>The business cannot answer how many issues came in, or how long they took to resolve.</a:t>
            </a:r>
            <a:endParaRPr lang="en-US" sz="1150" dirty="0"/>
          </a:p>
        </p:txBody>
      </p:sp>
      <p:sp>
        <p:nvSpPr>
          <p:cNvPr id="28" name="Text 26"/>
          <p:cNvSpPr/>
          <p:nvPr/>
        </p:nvSpPr>
        <p:spPr>
          <a:xfrm>
            <a:off x="566928" y="5504688"/>
            <a:ext cx="11027664" cy="329184"/>
          </a:xfrm>
          <a:prstGeom prst="rect">
            <a:avLst/>
          </a:prstGeom>
          <a:noFill/>
          <a:ln/>
        </p:spPr>
        <p:txBody>
          <a:bodyPr wrap="square" lIns="0" tIns="0" rIns="0" bIns="0" rtlCol="0" anchor="ctr"/>
          <a:lstStyle/>
          <a:p>
            <a:pPr indent="0" marL="0">
              <a:buNone/>
            </a:pPr>
            <a:r>
              <a:rPr lang="en-US" sz="1300" i="1" dirty="0">
                <a:solidFill>
                  <a:srgbClr val="028090"/>
                </a:solidFill>
                <a:latin typeface="Cambria" pitchFamily="34" charset="0"/>
                <a:ea typeface="Cambria" pitchFamily="34" charset="-122"/>
                <a:cs typeface="Cambria" pitchFamily="34" charset="-120"/>
              </a:rPr>
              <a:t>Result: complaints are lost, response times are unknown, and the business has no evidence of how it is performing.</a:t>
            </a:r>
            <a:endParaRPr lang="en-US" sz="1300" dirty="0"/>
          </a:p>
        </p:txBody>
      </p:sp>
      <p:sp>
        <p:nvSpPr>
          <p:cNvPr id="29" name="Text 27"/>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0" name="Text 28"/>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2</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Existing System</a:t>
            </a:r>
            <a:endParaRPr lang="en-US" sz="3000" dirty="0"/>
          </a:p>
        </p:txBody>
      </p:sp>
      <p:sp>
        <p:nvSpPr>
          <p:cNvPr id="4" name="Shape 2"/>
          <p:cNvSpPr/>
          <p:nvPr/>
        </p:nvSpPr>
        <p:spPr>
          <a:xfrm>
            <a:off x="566928" y="1426464"/>
            <a:ext cx="3468624" cy="3401568"/>
          </a:xfrm>
          <a:prstGeom prst="roundRect">
            <a:avLst>
              <a:gd name="adj" fmla="val 2688"/>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5" name="Text 3"/>
          <p:cNvSpPr/>
          <p:nvPr/>
        </p:nvSpPr>
        <p:spPr>
          <a:xfrm>
            <a:off x="841248" y="1645920"/>
            <a:ext cx="2919984" cy="310896"/>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Shared email inbox</a:t>
            </a:r>
            <a:endParaRPr lang="en-US" sz="1600" dirty="0"/>
          </a:p>
        </p:txBody>
      </p:sp>
      <p:sp>
        <p:nvSpPr>
          <p:cNvPr id="6" name="Text 4"/>
          <p:cNvSpPr/>
          <p:nvPr/>
        </p:nvSpPr>
        <p:spPr>
          <a:xfrm>
            <a:off x="841248" y="1956816"/>
            <a:ext cx="2919984" cy="256032"/>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The common approach</a:t>
            </a:r>
            <a:endParaRPr lang="en-US" sz="1100" dirty="0"/>
          </a:p>
        </p:txBody>
      </p:sp>
      <p:sp>
        <p:nvSpPr>
          <p:cNvPr id="7" name="Text 5"/>
          <p:cNvSpPr/>
          <p:nvPr/>
        </p:nvSpPr>
        <p:spPr>
          <a:xfrm>
            <a:off x="841248" y="2340864"/>
            <a:ext cx="2919984" cy="26517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ticket identity or reference number</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ownership — replies collide</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status beyond read / unread</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History scattered across threads</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reporting of any kind</a:t>
            </a:r>
            <a:endParaRPr lang="en-US" sz="1200" dirty="0"/>
          </a:p>
        </p:txBody>
      </p:sp>
      <p:sp>
        <p:nvSpPr>
          <p:cNvPr id="8" name="Shape 6"/>
          <p:cNvSpPr/>
          <p:nvPr/>
        </p:nvSpPr>
        <p:spPr>
          <a:xfrm>
            <a:off x="4346448" y="1426464"/>
            <a:ext cx="3468624" cy="3401568"/>
          </a:xfrm>
          <a:prstGeom prst="roundRect">
            <a:avLst>
              <a:gd name="adj" fmla="val 2688"/>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9" name="Text 7"/>
          <p:cNvSpPr/>
          <p:nvPr/>
        </p:nvSpPr>
        <p:spPr>
          <a:xfrm>
            <a:off x="4620768" y="1645920"/>
            <a:ext cx="2919984" cy="310896"/>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Spreadsheet tracker</a:t>
            </a:r>
            <a:endParaRPr lang="en-US" sz="1600" dirty="0"/>
          </a:p>
        </p:txBody>
      </p:sp>
      <p:sp>
        <p:nvSpPr>
          <p:cNvPr id="10" name="Text 8"/>
          <p:cNvSpPr/>
          <p:nvPr/>
        </p:nvSpPr>
        <p:spPr>
          <a:xfrm>
            <a:off x="4620768" y="1956816"/>
            <a:ext cx="2919984" cy="256032"/>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The manual workaround</a:t>
            </a:r>
            <a:endParaRPr lang="en-US" sz="1100" dirty="0"/>
          </a:p>
        </p:txBody>
      </p:sp>
      <p:sp>
        <p:nvSpPr>
          <p:cNvPr id="11" name="Text 9"/>
          <p:cNvSpPr/>
          <p:nvPr/>
        </p:nvSpPr>
        <p:spPr>
          <a:xfrm>
            <a:off x="4620768" y="2340864"/>
            <a:ext cx="2919984" cy="26517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Updated by hand, so it goes stale</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customer-facing view at all</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 access control — everyone edits everything</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Breaks down past a few dozen rows</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Not accessible outside the office</a:t>
            </a:r>
            <a:endParaRPr lang="en-US" sz="1200" dirty="0"/>
          </a:p>
        </p:txBody>
      </p:sp>
      <p:sp>
        <p:nvSpPr>
          <p:cNvPr id="12" name="Shape 10"/>
          <p:cNvSpPr/>
          <p:nvPr/>
        </p:nvSpPr>
        <p:spPr>
          <a:xfrm>
            <a:off x="8125968" y="1426464"/>
            <a:ext cx="3468624" cy="3401568"/>
          </a:xfrm>
          <a:prstGeom prst="roundRect">
            <a:avLst>
              <a:gd name="adj" fmla="val 2688"/>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3" name="Text 11"/>
          <p:cNvSpPr/>
          <p:nvPr/>
        </p:nvSpPr>
        <p:spPr>
          <a:xfrm>
            <a:off x="8400288" y="1645920"/>
            <a:ext cx="2919984" cy="310896"/>
          </a:xfrm>
          <a:prstGeom prst="rect">
            <a:avLst/>
          </a:prstGeom>
          <a:noFill/>
          <a:ln/>
        </p:spPr>
        <p:txBody>
          <a:bodyPr wrap="square" lIns="0" tIns="0" rIns="0" bIns="0" rtlCol="0" anchor="ctr"/>
          <a:lstStyle/>
          <a:p>
            <a:pPr indent="0" marL="0">
              <a:buNone/>
            </a:pPr>
            <a:r>
              <a:rPr lang="en-US" sz="1600" b="1" dirty="0">
                <a:solidFill>
                  <a:srgbClr val="0A2E36"/>
                </a:solidFill>
                <a:latin typeface="Cambria" pitchFamily="34" charset="0"/>
                <a:ea typeface="Cambria" pitchFamily="34" charset="-122"/>
                <a:cs typeface="Cambria" pitchFamily="34" charset="-120"/>
              </a:rPr>
              <a:t>Enterprise helpdesk</a:t>
            </a:r>
            <a:endParaRPr lang="en-US" sz="1600" dirty="0"/>
          </a:p>
        </p:txBody>
      </p:sp>
      <p:sp>
        <p:nvSpPr>
          <p:cNvPr id="14" name="Text 12"/>
          <p:cNvSpPr/>
          <p:nvPr/>
        </p:nvSpPr>
        <p:spPr>
          <a:xfrm>
            <a:off x="8400288" y="1956816"/>
            <a:ext cx="2919984" cy="256032"/>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Zendesk, Freshdesk, Jira SM</a:t>
            </a:r>
            <a:endParaRPr lang="en-US" sz="1100" dirty="0"/>
          </a:p>
        </p:txBody>
      </p:sp>
      <p:sp>
        <p:nvSpPr>
          <p:cNvPr id="15" name="Text 13"/>
          <p:cNvSpPr/>
          <p:nvPr/>
        </p:nvSpPr>
        <p:spPr>
          <a:xfrm>
            <a:off x="8400288" y="2340864"/>
            <a:ext cx="2919984" cy="265176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Priced per agent, per month</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Assumes a dedicated support team</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Long configuration before any value</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Far more features than a small team needs</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Cost scales faster than the business</a:t>
            </a:r>
            <a:endParaRPr lang="en-US" sz="1200" dirty="0"/>
          </a:p>
        </p:txBody>
      </p:sp>
      <p:sp>
        <p:nvSpPr>
          <p:cNvPr id="16" name="Shape 14"/>
          <p:cNvSpPr/>
          <p:nvPr/>
        </p:nvSpPr>
        <p:spPr>
          <a:xfrm>
            <a:off x="566928" y="5138928"/>
            <a:ext cx="11027664" cy="768096"/>
          </a:xfrm>
          <a:prstGeom prst="roundRect">
            <a:avLst>
              <a:gd name="adj" fmla="val 11905"/>
            </a:avLst>
          </a:prstGeom>
          <a:solidFill>
            <a:srgbClr val="0A2E36"/>
          </a:solidFill>
          <a:ln/>
          <a:effectLst>
            <a:outerShdw sx="100000" sy="100000" kx="0" ky="0" algn="bl" rotWithShape="0" blurRad="127000" dist="25400" dir="5400000">
              <a:srgbClr val="0A2E36">
                <a:alpha val="10000"/>
              </a:srgbClr>
            </a:outerShdw>
          </a:effectLst>
        </p:spPr>
      </p:sp>
      <p:sp>
        <p:nvSpPr>
          <p:cNvPr id="17" name="Text 15"/>
          <p:cNvSpPr/>
          <p:nvPr/>
        </p:nvSpPr>
        <p:spPr>
          <a:xfrm>
            <a:off x="896112" y="5138928"/>
            <a:ext cx="10369296" cy="768096"/>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The gap: a small business needs helpdesk structure without helpdesk pricing or helpdesk complexity.</a:t>
            </a:r>
            <a:endParaRPr lang="en-US" sz="1350" dirty="0"/>
          </a:p>
        </p:txBody>
      </p:sp>
      <p:sp>
        <p:nvSpPr>
          <p:cNvPr id="18" name="Text 16"/>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19" name="Text 17"/>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3</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Proposed System</a:t>
            </a:r>
            <a:endParaRPr lang="en-US" sz="3000" dirty="0"/>
          </a:p>
        </p:txBody>
      </p:sp>
      <p:sp>
        <p:nvSpPr>
          <p:cNvPr id="4" name="Text 2"/>
          <p:cNvSpPr/>
          <p:nvPr/>
        </p:nvSpPr>
        <p:spPr>
          <a:xfrm>
            <a:off x="566928" y="1371600"/>
            <a:ext cx="10058400" cy="566928"/>
          </a:xfrm>
          <a:prstGeom prst="rect">
            <a:avLst/>
          </a:prstGeom>
          <a:noFill/>
          <a:ln/>
        </p:spPr>
        <p:txBody>
          <a:bodyPr wrap="square" lIns="0" tIns="0" rIns="0" bIns="0" rtlCol="0" anchor="t"/>
          <a:lstStyle/>
          <a:p>
            <a:pPr indent="0" marL="0">
              <a:lnSpc>
                <a:spcPts val="1700"/>
              </a:lnSpc>
              <a:buNone/>
            </a:pPr>
            <a:r>
              <a:rPr lang="en-US" sz="1350" dirty="0">
                <a:solidFill>
                  <a:srgbClr val="445C64"/>
                </a:solidFill>
                <a:latin typeface="Calibri" pitchFamily="34" charset="0"/>
                <a:ea typeface="Calibri" pitchFamily="34" charset="-122"/>
                <a:cs typeface="Calibri" pitchFamily="34" charset="-120"/>
              </a:rPr>
              <a:t>ServiceDesk AI is a multi-user, cloud-hosted SaaS application. Every complaint becomes a ticket with an owner, a category, a priority and a tracked status — visible to the customer, actionable by the agent, and measurable by the admin.</a:t>
            </a:r>
            <a:endParaRPr lang="en-US" sz="1350" dirty="0"/>
          </a:p>
        </p:txBody>
      </p:sp>
      <p:sp>
        <p:nvSpPr>
          <p:cNvPr id="5" name="Shape 3"/>
          <p:cNvSpPr/>
          <p:nvPr/>
        </p:nvSpPr>
        <p:spPr>
          <a:xfrm>
            <a:off x="566928" y="2139696"/>
            <a:ext cx="202996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Shape 4"/>
          <p:cNvSpPr/>
          <p:nvPr/>
        </p:nvSpPr>
        <p:spPr>
          <a:xfrm>
            <a:off x="1362456" y="2359152"/>
            <a:ext cx="438912" cy="438912"/>
          </a:xfrm>
          <a:prstGeom prst="ellipse">
            <a:avLst/>
          </a:prstGeom>
          <a:solidFill>
            <a:srgbClr val="028090"/>
          </a:solidFill>
          <a:ln/>
        </p:spPr>
      </p:sp>
      <p:sp>
        <p:nvSpPr>
          <p:cNvPr id="7" name="Text 5"/>
          <p:cNvSpPr/>
          <p:nvPr/>
        </p:nvSpPr>
        <p:spPr>
          <a:xfrm>
            <a:off x="1362456" y="23591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8" name="Text 6"/>
          <p:cNvSpPr/>
          <p:nvPr/>
        </p:nvSpPr>
        <p:spPr>
          <a:xfrm>
            <a:off x="731520" y="2889504"/>
            <a:ext cx="1700784" cy="548640"/>
          </a:xfrm>
          <a:prstGeom prst="rect">
            <a:avLst/>
          </a:prstGeom>
          <a:noFill/>
          <a:ln/>
        </p:spPr>
        <p:txBody>
          <a:bodyPr wrap="square" lIns="0" tIns="0" rIns="0" bIns="0" rtlCol="0" anchor="t"/>
          <a:lstStyle/>
          <a:p>
            <a:pPr algn="ctr" indent="0" marL="0">
              <a:lnSpc>
                <a:spcPts val="1500"/>
              </a:lnSpc>
              <a:buNone/>
            </a:pPr>
            <a:r>
              <a:rPr lang="en-US" sz="1250" b="1" dirty="0">
                <a:solidFill>
                  <a:srgbClr val="0A2E36"/>
                </a:solidFill>
                <a:latin typeface="Calibri" pitchFamily="34" charset="0"/>
                <a:ea typeface="Calibri" pitchFamily="34" charset="-122"/>
                <a:cs typeface="Calibri" pitchFamily="34" charset="-120"/>
              </a:rPr>
              <a:t>Customer raises a ticket</a:t>
            </a:r>
            <a:endParaRPr lang="en-US" sz="1250" dirty="0"/>
          </a:p>
        </p:txBody>
      </p:sp>
      <p:sp>
        <p:nvSpPr>
          <p:cNvPr id="9" name="Text 7"/>
          <p:cNvSpPr/>
          <p:nvPr/>
        </p:nvSpPr>
        <p:spPr>
          <a:xfrm>
            <a:off x="731520" y="3438144"/>
            <a:ext cx="1700784" cy="566928"/>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Subject, description, optional attachment</a:t>
            </a:r>
            <a:endParaRPr lang="en-US" sz="1050" dirty="0"/>
          </a:p>
        </p:txBody>
      </p:sp>
      <p:sp>
        <p:nvSpPr>
          <p:cNvPr id="10" name="Text 8"/>
          <p:cNvSpPr/>
          <p:nvPr/>
        </p:nvSpPr>
        <p:spPr>
          <a:xfrm>
            <a:off x="2615184" y="2871216"/>
            <a:ext cx="182880" cy="310896"/>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2816352" y="2139696"/>
            <a:ext cx="202996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2" name="Shape 10"/>
          <p:cNvSpPr/>
          <p:nvPr/>
        </p:nvSpPr>
        <p:spPr>
          <a:xfrm>
            <a:off x="3611880" y="2359152"/>
            <a:ext cx="438912" cy="438912"/>
          </a:xfrm>
          <a:prstGeom prst="ellipse">
            <a:avLst/>
          </a:prstGeom>
          <a:solidFill>
            <a:srgbClr val="028090"/>
          </a:solidFill>
          <a:ln/>
        </p:spPr>
      </p:sp>
      <p:sp>
        <p:nvSpPr>
          <p:cNvPr id="13" name="Text 11"/>
          <p:cNvSpPr/>
          <p:nvPr/>
        </p:nvSpPr>
        <p:spPr>
          <a:xfrm>
            <a:off x="3611880" y="23591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4" name="Text 12"/>
          <p:cNvSpPr/>
          <p:nvPr/>
        </p:nvSpPr>
        <p:spPr>
          <a:xfrm>
            <a:off x="2980944" y="2889504"/>
            <a:ext cx="1700784" cy="548640"/>
          </a:xfrm>
          <a:prstGeom prst="rect">
            <a:avLst/>
          </a:prstGeom>
          <a:noFill/>
          <a:ln/>
        </p:spPr>
        <p:txBody>
          <a:bodyPr wrap="square" lIns="0" tIns="0" rIns="0" bIns="0" rtlCol="0" anchor="t"/>
          <a:lstStyle/>
          <a:p>
            <a:pPr algn="ctr" indent="0" marL="0">
              <a:lnSpc>
                <a:spcPts val="1500"/>
              </a:lnSpc>
              <a:buNone/>
            </a:pPr>
            <a:r>
              <a:rPr lang="en-US" sz="1250" b="1" dirty="0">
                <a:solidFill>
                  <a:srgbClr val="0A2E36"/>
                </a:solidFill>
                <a:latin typeface="Calibri" pitchFamily="34" charset="0"/>
                <a:ea typeface="Calibri" pitchFamily="34" charset="-122"/>
                <a:cs typeface="Calibri" pitchFamily="34" charset="-120"/>
              </a:rPr>
              <a:t>System classifies it</a:t>
            </a:r>
            <a:endParaRPr lang="en-US" sz="1250" dirty="0"/>
          </a:p>
        </p:txBody>
      </p:sp>
      <p:sp>
        <p:nvSpPr>
          <p:cNvPr id="15" name="Text 13"/>
          <p:cNvSpPr/>
          <p:nvPr/>
        </p:nvSpPr>
        <p:spPr>
          <a:xfrm>
            <a:off x="2980944" y="3438144"/>
            <a:ext cx="1700784" cy="566928"/>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Category, priority and sentiment proposed automatically</a:t>
            </a:r>
            <a:endParaRPr lang="en-US" sz="1050" dirty="0"/>
          </a:p>
        </p:txBody>
      </p:sp>
      <p:sp>
        <p:nvSpPr>
          <p:cNvPr id="16" name="Text 14"/>
          <p:cNvSpPr/>
          <p:nvPr/>
        </p:nvSpPr>
        <p:spPr>
          <a:xfrm>
            <a:off x="4864608" y="2871216"/>
            <a:ext cx="182880" cy="310896"/>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17" name="Shape 15"/>
          <p:cNvSpPr/>
          <p:nvPr/>
        </p:nvSpPr>
        <p:spPr>
          <a:xfrm>
            <a:off x="5065776" y="2139696"/>
            <a:ext cx="202996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8" name="Shape 16"/>
          <p:cNvSpPr/>
          <p:nvPr/>
        </p:nvSpPr>
        <p:spPr>
          <a:xfrm>
            <a:off x="5861304" y="2359152"/>
            <a:ext cx="438912" cy="438912"/>
          </a:xfrm>
          <a:prstGeom prst="ellipse">
            <a:avLst/>
          </a:prstGeom>
          <a:solidFill>
            <a:srgbClr val="028090"/>
          </a:solidFill>
          <a:ln/>
        </p:spPr>
      </p:sp>
      <p:sp>
        <p:nvSpPr>
          <p:cNvPr id="19" name="Text 17"/>
          <p:cNvSpPr/>
          <p:nvPr/>
        </p:nvSpPr>
        <p:spPr>
          <a:xfrm>
            <a:off x="5861304" y="23591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0" name="Text 18"/>
          <p:cNvSpPr/>
          <p:nvPr/>
        </p:nvSpPr>
        <p:spPr>
          <a:xfrm>
            <a:off x="5230368" y="2889504"/>
            <a:ext cx="1700784" cy="548640"/>
          </a:xfrm>
          <a:prstGeom prst="rect">
            <a:avLst/>
          </a:prstGeom>
          <a:noFill/>
          <a:ln/>
        </p:spPr>
        <p:txBody>
          <a:bodyPr wrap="square" lIns="0" tIns="0" rIns="0" bIns="0" rtlCol="0" anchor="t"/>
          <a:lstStyle/>
          <a:p>
            <a:pPr algn="ctr" indent="0" marL="0">
              <a:lnSpc>
                <a:spcPts val="1500"/>
              </a:lnSpc>
              <a:buNone/>
            </a:pPr>
            <a:r>
              <a:rPr lang="en-US" sz="1250" b="1" dirty="0">
                <a:solidFill>
                  <a:srgbClr val="0A2E36"/>
                </a:solidFill>
                <a:latin typeface="Calibri" pitchFamily="34" charset="0"/>
                <a:ea typeface="Calibri" pitchFamily="34" charset="-122"/>
                <a:cs typeface="Calibri" pitchFamily="34" charset="-120"/>
              </a:rPr>
              <a:t>Ticket enters the queue</a:t>
            </a:r>
            <a:endParaRPr lang="en-US" sz="1250" dirty="0"/>
          </a:p>
        </p:txBody>
      </p:sp>
      <p:sp>
        <p:nvSpPr>
          <p:cNvPr id="21" name="Text 19"/>
          <p:cNvSpPr/>
          <p:nvPr/>
        </p:nvSpPr>
        <p:spPr>
          <a:xfrm>
            <a:off x="5230368" y="3438144"/>
            <a:ext cx="1700784" cy="566928"/>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Assigned to an agent, prioritised, fully searchable</a:t>
            </a:r>
            <a:endParaRPr lang="en-US" sz="1050" dirty="0"/>
          </a:p>
        </p:txBody>
      </p:sp>
      <p:sp>
        <p:nvSpPr>
          <p:cNvPr id="22" name="Text 20"/>
          <p:cNvSpPr/>
          <p:nvPr/>
        </p:nvSpPr>
        <p:spPr>
          <a:xfrm>
            <a:off x="7114032" y="2871216"/>
            <a:ext cx="182880" cy="310896"/>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23" name="Shape 21"/>
          <p:cNvSpPr/>
          <p:nvPr/>
        </p:nvSpPr>
        <p:spPr>
          <a:xfrm>
            <a:off x="7315200" y="2139696"/>
            <a:ext cx="202996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4" name="Shape 22"/>
          <p:cNvSpPr/>
          <p:nvPr/>
        </p:nvSpPr>
        <p:spPr>
          <a:xfrm>
            <a:off x="8110728" y="2359152"/>
            <a:ext cx="438912" cy="438912"/>
          </a:xfrm>
          <a:prstGeom prst="ellipse">
            <a:avLst/>
          </a:prstGeom>
          <a:solidFill>
            <a:srgbClr val="028090"/>
          </a:solidFill>
          <a:ln/>
        </p:spPr>
      </p:sp>
      <p:sp>
        <p:nvSpPr>
          <p:cNvPr id="25" name="Text 23"/>
          <p:cNvSpPr/>
          <p:nvPr/>
        </p:nvSpPr>
        <p:spPr>
          <a:xfrm>
            <a:off x="8110728" y="23591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p:nvPr/>
        </p:nvSpPr>
        <p:spPr>
          <a:xfrm>
            <a:off x="7479792" y="2889504"/>
            <a:ext cx="1700784" cy="548640"/>
          </a:xfrm>
          <a:prstGeom prst="rect">
            <a:avLst/>
          </a:prstGeom>
          <a:noFill/>
          <a:ln/>
        </p:spPr>
        <p:txBody>
          <a:bodyPr wrap="square" lIns="0" tIns="0" rIns="0" bIns="0" rtlCol="0" anchor="t"/>
          <a:lstStyle/>
          <a:p>
            <a:pPr algn="ctr" indent="0" marL="0">
              <a:lnSpc>
                <a:spcPts val="1500"/>
              </a:lnSpc>
              <a:buNone/>
            </a:pPr>
            <a:r>
              <a:rPr lang="en-US" sz="1250" b="1" dirty="0">
                <a:solidFill>
                  <a:srgbClr val="0A2E36"/>
                </a:solidFill>
                <a:latin typeface="Calibri" pitchFamily="34" charset="0"/>
                <a:ea typeface="Calibri" pitchFamily="34" charset="-122"/>
                <a:cs typeface="Calibri" pitchFamily="34" charset="-120"/>
              </a:rPr>
              <a:t>Agent resolves it</a:t>
            </a:r>
            <a:endParaRPr lang="en-US" sz="1250" dirty="0"/>
          </a:p>
        </p:txBody>
      </p:sp>
      <p:sp>
        <p:nvSpPr>
          <p:cNvPr id="27" name="Text 25"/>
          <p:cNvSpPr/>
          <p:nvPr/>
        </p:nvSpPr>
        <p:spPr>
          <a:xfrm>
            <a:off x="7479792" y="3438144"/>
            <a:ext cx="1700784" cy="566928"/>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Replies with AI-drafted text they review and edit</a:t>
            </a:r>
            <a:endParaRPr lang="en-US" sz="1050" dirty="0"/>
          </a:p>
        </p:txBody>
      </p:sp>
      <p:sp>
        <p:nvSpPr>
          <p:cNvPr id="28" name="Text 26"/>
          <p:cNvSpPr/>
          <p:nvPr/>
        </p:nvSpPr>
        <p:spPr>
          <a:xfrm>
            <a:off x="9363456" y="2871216"/>
            <a:ext cx="182880" cy="310896"/>
          </a:xfrm>
          <a:prstGeom prst="rect">
            <a:avLst/>
          </a:prstGeom>
          <a:noFill/>
          <a:ln/>
        </p:spPr>
        <p:txBody>
          <a:bodyPr wrap="square" lIns="0" tIns="0" rIns="0" bIns="0" rtlCol="0" anchor="ctr"/>
          <a:lstStyle/>
          <a:p>
            <a:pPr algn="ctr" indent="0" marL="0">
              <a:buNone/>
            </a:pPr>
            <a:r>
              <a:rPr lang="en-US" sz="2000" b="1" dirty="0">
                <a:solidFill>
                  <a:srgbClr val="00A896"/>
                </a:solidFill>
                <a:latin typeface="Calibri" pitchFamily="34" charset="0"/>
                <a:ea typeface="Calibri" pitchFamily="34" charset="-122"/>
                <a:cs typeface="Calibri" pitchFamily="34" charset="-120"/>
              </a:rPr>
              <a:t>›</a:t>
            </a:r>
            <a:endParaRPr lang="en-US" sz="2000" dirty="0"/>
          </a:p>
        </p:txBody>
      </p:sp>
      <p:sp>
        <p:nvSpPr>
          <p:cNvPr id="29" name="Shape 27"/>
          <p:cNvSpPr/>
          <p:nvPr/>
        </p:nvSpPr>
        <p:spPr>
          <a:xfrm>
            <a:off x="9564624" y="2139696"/>
            <a:ext cx="202996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0" name="Shape 28"/>
          <p:cNvSpPr/>
          <p:nvPr/>
        </p:nvSpPr>
        <p:spPr>
          <a:xfrm>
            <a:off x="10360152" y="2359152"/>
            <a:ext cx="438912" cy="438912"/>
          </a:xfrm>
          <a:prstGeom prst="ellipse">
            <a:avLst/>
          </a:prstGeom>
          <a:solidFill>
            <a:srgbClr val="028090"/>
          </a:solidFill>
          <a:ln/>
        </p:spPr>
      </p:sp>
      <p:sp>
        <p:nvSpPr>
          <p:cNvPr id="31" name="Text 29"/>
          <p:cNvSpPr/>
          <p:nvPr/>
        </p:nvSpPr>
        <p:spPr>
          <a:xfrm>
            <a:off x="10360152" y="235915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2" name="Text 30"/>
          <p:cNvSpPr/>
          <p:nvPr/>
        </p:nvSpPr>
        <p:spPr>
          <a:xfrm>
            <a:off x="9729216" y="2889504"/>
            <a:ext cx="1700784" cy="548640"/>
          </a:xfrm>
          <a:prstGeom prst="rect">
            <a:avLst/>
          </a:prstGeom>
          <a:noFill/>
          <a:ln/>
        </p:spPr>
        <p:txBody>
          <a:bodyPr wrap="square" lIns="0" tIns="0" rIns="0" bIns="0" rtlCol="0" anchor="t"/>
          <a:lstStyle/>
          <a:p>
            <a:pPr algn="ctr" indent="0" marL="0">
              <a:lnSpc>
                <a:spcPts val="1500"/>
              </a:lnSpc>
              <a:buNone/>
            </a:pPr>
            <a:r>
              <a:rPr lang="en-US" sz="1250" b="1" dirty="0">
                <a:solidFill>
                  <a:srgbClr val="0A2E36"/>
                </a:solidFill>
                <a:latin typeface="Calibri" pitchFamily="34" charset="0"/>
                <a:ea typeface="Calibri" pitchFamily="34" charset="-122"/>
                <a:cs typeface="Calibri" pitchFamily="34" charset="-120"/>
              </a:rPr>
              <a:t>Business measures it</a:t>
            </a:r>
            <a:endParaRPr lang="en-US" sz="1250" dirty="0"/>
          </a:p>
        </p:txBody>
      </p:sp>
      <p:sp>
        <p:nvSpPr>
          <p:cNvPr id="33" name="Text 31"/>
          <p:cNvSpPr/>
          <p:nvPr/>
        </p:nvSpPr>
        <p:spPr>
          <a:xfrm>
            <a:off x="9729216" y="3438144"/>
            <a:ext cx="1700784" cy="566928"/>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Dashboards and reports built on real ticket data</a:t>
            </a:r>
            <a:endParaRPr lang="en-US" sz="1050" dirty="0"/>
          </a:p>
        </p:txBody>
      </p:sp>
      <p:sp>
        <p:nvSpPr>
          <p:cNvPr id="34" name="Text 32"/>
          <p:cNvSpPr/>
          <p:nvPr/>
        </p:nvSpPr>
        <p:spPr>
          <a:xfrm>
            <a:off x="566928" y="4370832"/>
            <a:ext cx="11027664" cy="292608"/>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What makes it cloud-native</a:t>
            </a:r>
            <a:endParaRPr lang="en-US" sz="1500" dirty="0"/>
          </a:p>
        </p:txBody>
      </p:sp>
      <p:sp>
        <p:nvSpPr>
          <p:cNvPr id="35" name="Shape 33"/>
          <p:cNvSpPr/>
          <p:nvPr/>
        </p:nvSpPr>
        <p:spPr>
          <a:xfrm>
            <a:off x="566928" y="4736592"/>
            <a:ext cx="2578608" cy="1042416"/>
          </a:xfrm>
          <a:prstGeom prst="roundRect">
            <a:avLst>
              <a:gd name="adj" fmla="val 8772"/>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6" name="Text 34"/>
          <p:cNvSpPr/>
          <p:nvPr/>
        </p:nvSpPr>
        <p:spPr>
          <a:xfrm>
            <a:off x="786384" y="4882896"/>
            <a:ext cx="2139696"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Managed database</a:t>
            </a:r>
            <a:endParaRPr lang="en-US" sz="1250" dirty="0"/>
          </a:p>
        </p:txBody>
      </p:sp>
      <p:sp>
        <p:nvSpPr>
          <p:cNvPr id="37" name="Text 35"/>
          <p:cNvSpPr/>
          <p:nvPr/>
        </p:nvSpPr>
        <p:spPr>
          <a:xfrm>
            <a:off x="786384" y="5157216"/>
            <a:ext cx="2139696" cy="51206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PostgreSQL on Supabase — no server we maintain</a:t>
            </a:r>
            <a:endParaRPr lang="en-US" sz="1100" dirty="0"/>
          </a:p>
        </p:txBody>
      </p:sp>
      <p:sp>
        <p:nvSpPr>
          <p:cNvPr id="38" name="Shape 36"/>
          <p:cNvSpPr/>
          <p:nvPr/>
        </p:nvSpPr>
        <p:spPr>
          <a:xfrm>
            <a:off x="3383280" y="4736592"/>
            <a:ext cx="2578608" cy="1042416"/>
          </a:xfrm>
          <a:prstGeom prst="roundRect">
            <a:avLst>
              <a:gd name="adj" fmla="val 8772"/>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9" name="Text 37"/>
          <p:cNvSpPr/>
          <p:nvPr/>
        </p:nvSpPr>
        <p:spPr>
          <a:xfrm>
            <a:off x="3602736" y="4882896"/>
            <a:ext cx="2139696"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Stateless REST API</a:t>
            </a:r>
            <a:endParaRPr lang="en-US" sz="1250" dirty="0"/>
          </a:p>
        </p:txBody>
      </p:sp>
      <p:sp>
        <p:nvSpPr>
          <p:cNvPr id="40" name="Text 38"/>
          <p:cNvSpPr/>
          <p:nvPr/>
        </p:nvSpPr>
        <p:spPr>
          <a:xfrm>
            <a:off x="3602736" y="5157216"/>
            <a:ext cx="2139696" cy="51206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All state in the database, so the API can scale out</a:t>
            </a:r>
            <a:endParaRPr lang="en-US" sz="1100" dirty="0"/>
          </a:p>
        </p:txBody>
      </p:sp>
      <p:sp>
        <p:nvSpPr>
          <p:cNvPr id="41" name="Shape 39"/>
          <p:cNvSpPr/>
          <p:nvPr/>
        </p:nvSpPr>
        <p:spPr>
          <a:xfrm>
            <a:off x="6199632" y="4736592"/>
            <a:ext cx="2578608" cy="1042416"/>
          </a:xfrm>
          <a:prstGeom prst="roundRect">
            <a:avLst>
              <a:gd name="adj" fmla="val 8772"/>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42" name="Text 40"/>
          <p:cNvSpPr/>
          <p:nvPr/>
        </p:nvSpPr>
        <p:spPr>
          <a:xfrm>
            <a:off x="6419088" y="4882896"/>
            <a:ext cx="2139696"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Global CDN frontend</a:t>
            </a:r>
            <a:endParaRPr lang="en-US" sz="1250" dirty="0"/>
          </a:p>
        </p:txBody>
      </p:sp>
      <p:sp>
        <p:nvSpPr>
          <p:cNvPr id="43" name="Text 41"/>
          <p:cNvSpPr/>
          <p:nvPr/>
        </p:nvSpPr>
        <p:spPr>
          <a:xfrm>
            <a:off x="6419088" y="5157216"/>
            <a:ext cx="2139696" cy="51206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Static build served near the user</a:t>
            </a:r>
            <a:endParaRPr lang="en-US" sz="1100" dirty="0"/>
          </a:p>
        </p:txBody>
      </p:sp>
      <p:sp>
        <p:nvSpPr>
          <p:cNvPr id="44" name="Shape 42"/>
          <p:cNvSpPr/>
          <p:nvPr/>
        </p:nvSpPr>
        <p:spPr>
          <a:xfrm>
            <a:off x="9015984" y="4736592"/>
            <a:ext cx="2578608" cy="1042416"/>
          </a:xfrm>
          <a:prstGeom prst="roundRect">
            <a:avLst>
              <a:gd name="adj" fmla="val 8772"/>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45" name="Text 43"/>
          <p:cNvSpPr/>
          <p:nvPr/>
        </p:nvSpPr>
        <p:spPr>
          <a:xfrm>
            <a:off x="9235440" y="4882896"/>
            <a:ext cx="2139696" cy="274320"/>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Public live URL</a:t>
            </a:r>
            <a:endParaRPr lang="en-US" sz="1250" dirty="0"/>
          </a:p>
        </p:txBody>
      </p:sp>
      <p:sp>
        <p:nvSpPr>
          <p:cNvPr id="46" name="Text 44"/>
          <p:cNvSpPr/>
          <p:nvPr/>
        </p:nvSpPr>
        <p:spPr>
          <a:xfrm>
            <a:off x="9235440" y="5157216"/>
            <a:ext cx="2139696" cy="512064"/>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Reachable from any browser — never localhost</a:t>
            </a:r>
            <a:endParaRPr lang="en-US" sz="1100" dirty="0"/>
          </a:p>
        </p:txBody>
      </p:sp>
      <p:sp>
        <p:nvSpPr>
          <p:cNvPr id="47" name="Text 45"/>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48" name="Text 46"/>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Objectives</a:t>
            </a:r>
            <a:endParaRPr lang="en-US" sz="3000" dirty="0"/>
          </a:p>
        </p:txBody>
      </p:sp>
      <p:sp>
        <p:nvSpPr>
          <p:cNvPr id="4" name="Text 2"/>
          <p:cNvSpPr/>
          <p:nvPr/>
        </p:nvSpPr>
        <p:spPr>
          <a:xfrm>
            <a:off x="566928" y="1371600"/>
            <a:ext cx="10058400" cy="292608"/>
          </a:xfrm>
          <a:prstGeom prst="rect">
            <a:avLst/>
          </a:prstGeom>
          <a:noFill/>
          <a:ln/>
        </p:spPr>
        <p:txBody>
          <a:bodyPr wrap="square" lIns="0" tIns="0" rIns="0" bIns="0" rtlCol="0" anchor="t"/>
          <a:lstStyle/>
          <a:p>
            <a:pPr indent="0" marL="0">
              <a:lnSpc>
                <a:spcPts val="1700"/>
              </a:lnSpc>
              <a:buNone/>
            </a:pPr>
            <a:r>
              <a:rPr lang="en-US" sz="1250" dirty="0">
                <a:solidFill>
                  <a:srgbClr val="7C939B"/>
                </a:solidFill>
                <a:latin typeface="Calibri" pitchFamily="34" charset="0"/>
                <a:ea typeface="Calibri" pitchFamily="34" charset="-122"/>
                <a:cs typeface="Calibri" pitchFamily="34" charset="-120"/>
              </a:rPr>
              <a:t>The five objectives below are taken verbatim from the official Project 19 specification.</a:t>
            </a:r>
            <a:endParaRPr lang="en-US" sz="1250" dirty="0"/>
          </a:p>
        </p:txBody>
      </p:sp>
      <p:sp>
        <p:nvSpPr>
          <p:cNvPr id="5" name="Shape 3"/>
          <p:cNvSpPr/>
          <p:nvPr/>
        </p:nvSpPr>
        <p:spPr>
          <a:xfrm>
            <a:off x="566928" y="1847088"/>
            <a:ext cx="11027664" cy="786384"/>
          </a:xfrm>
          <a:prstGeom prst="roundRect">
            <a:avLst>
              <a:gd name="adj" fmla="val 11628"/>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Shape 4"/>
          <p:cNvSpPr/>
          <p:nvPr/>
        </p:nvSpPr>
        <p:spPr>
          <a:xfrm>
            <a:off x="822960" y="2020824"/>
            <a:ext cx="438912" cy="438912"/>
          </a:xfrm>
          <a:prstGeom prst="ellipse">
            <a:avLst/>
          </a:prstGeom>
          <a:solidFill>
            <a:srgbClr val="028090"/>
          </a:solidFill>
          <a:ln/>
        </p:spPr>
      </p:sp>
      <p:sp>
        <p:nvSpPr>
          <p:cNvPr id="7" name="Text 5"/>
          <p:cNvSpPr/>
          <p:nvPr/>
        </p:nvSpPr>
        <p:spPr>
          <a:xfrm>
            <a:off x="822960" y="2020824"/>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8" name="Text 6"/>
          <p:cNvSpPr/>
          <p:nvPr/>
        </p:nvSpPr>
        <p:spPr>
          <a:xfrm>
            <a:off x="1444752" y="1975104"/>
            <a:ext cx="5029200" cy="292608"/>
          </a:xfrm>
          <a:prstGeom prst="rect">
            <a:avLst/>
          </a:prstGeom>
          <a:noFill/>
          <a:ln/>
        </p:spPr>
        <p:txBody>
          <a:bodyPr wrap="square" lIns="0" tIns="0" rIns="0" bIns="0" rtlCol="0" anchor="ctr"/>
          <a:lstStyle/>
          <a:p>
            <a:pPr indent="0" marL="0">
              <a:buNone/>
            </a:pPr>
            <a:r>
              <a:rPr lang="en-US" sz="1400" b="1" dirty="0">
                <a:solidFill>
                  <a:srgbClr val="0A2E36"/>
                </a:solidFill>
                <a:latin typeface="Calibri" pitchFamily="34" charset="0"/>
                <a:ea typeface="Calibri" pitchFamily="34" charset="-122"/>
                <a:cs typeface="Calibri" pitchFamily="34" charset="-120"/>
              </a:rPr>
              <a:t>Develop a scalable cloud-native SaaS application</a:t>
            </a:r>
            <a:endParaRPr lang="en-US" sz="1400" dirty="0"/>
          </a:p>
        </p:txBody>
      </p:sp>
      <p:sp>
        <p:nvSpPr>
          <p:cNvPr id="9" name="Text 7"/>
          <p:cNvSpPr/>
          <p:nvPr/>
        </p:nvSpPr>
        <p:spPr>
          <a:xfrm>
            <a:off x="1444752" y="2267712"/>
            <a:ext cx="9784080" cy="274320"/>
          </a:xfrm>
          <a:prstGeom prst="rect">
            <a:avLst/>
          </a:prstGeom>
          <a:noFill/>
          <a:ln/>
        </p:spPr>
        <p:txBody>
          <a:bodyPr wrap="square" lIns="0" tIns="0" rIns="0" bIns="0" rtlCol="0" anchor="t"/>
          <a:lstStyle/>
          <a:p>
            <a:pPr indent="0" marL="0">
              <a:lnSpc>
                <a:spcPts val="1700"/>
              </a:lnSpc>
              <a:buNone/>
            </a:pPr>
            <a:r>
              <a:rPr lang="en-US" sz="1150" dirty="0">
                <a:solidFill>
                  <a:srgbClr val="445C64"/>
                </a:solidFill>
                <a:latin typeface="Calibri" pitchFamily="34" charset="0"/>
                <a:ea typeface="Calibri" pitchFamily="34" charset="-122"/>
                <a:cs typeface="Calibri" pitchFamily="34" charset="-120"/>
              </a:rPr>
              <a:t>Three independently deployable tiers: React SPA, Express REST API, managed PostgreSQL.</a:t>
            </a:r>
            <a:endParaRPr lang="en-US" sz="1150" dirty="0"/>
          </a:p>
        </p:txBody>
      </p:sp>
      <p:sp>
        <p:nvSpPr>
          <p:cNvPr id="10" name="Shape 8"/>
          <p:cNvSpPr/>
          <p:nvPr/>
        </p:nvSpPr>
        <p:spPr>
          <a:xfrm>
            <a:off x="566928" y="2724912"/>
            <a:ext cx="11027664" cy="786384"/>
          </a:xfrm>
          <a:prstGeom prst="roundRect">
            <a:avLst>
              <a:gd name="adj" fmla="val 11628"/>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1" name="Shape 9"/>
          <p:cNvSpPr/>
          <p:nvPr/>
        </p:nvSpPr>
        <p:spPr>
          <a:xfrm>
            <a:off x="822960" y="2898648"/>
            <a:ext cx="438912" cy="438912"/>
          </a:xfrm>
          <a:prstGeom prst="ellipse">
            <a:avLst/>
          </a:prstGeom>
          <a:solidFill>
            <a:srgbClr val="028090"/>
          </a:solidFill>
          <a:ln/>
        </p:spPr>
      </p:sp>
      <p:sp>
        <p:nvSpPr>
          <p:cNvPr id="12" name="Text 10"/>
          <p:cNvSpPr/>
          <p:nvPr/>
        </p:nvSpPr>
        <p:spPr>
          <a:xfrm>
            <a:off x="822960" y="2898648"/>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1444752" y="2852928"/>
            <a:ext cx="5029200" cy="292608"/>
          </a:xfrm>
          <a:prstGeom prst="rect">
            <a:avLst/>
          </a:prstGeom>
          <a:noFill/>
          <a:ln/>
        </p:spPr>
        <p:txBody>
          <a:bodyPr wrap="square" lIns="0" tIns="0" rIns="0" bIns="0" rtlCol="0" anchor="ctr"/>
          <a:lstStyle/>
          <a:p>
            <a:pPr indent="0" marL="0">
              <a:buNone/>
            </a:pPr>
            <a:r>
              <a:rPr lang="en-US" sz="1400" b="1" dirty="0">
                <a:solidFill>
                  <a:srgbClr val="0A2E36"/>
                </a:solidFill>
                <a:latin typeface="Calibri" pitchFamily="34" charset="0"/>
                <a:ea typeface="Calibri" pitchFamily="34" charset="-122"/>
                <a:cs typeface="Calibri" pitchFamily="34" charset="-120"/>
              </a:rPr>
              <a:t>Implement secure role-based authentication</a:t>
            </a:r>
            <a:endParaRPr lang="en-US" sz="1400" dirty="0"/>
          </a:p>
        </p:txBody>
      </p:sp>
      <p:sp>
        <p:nvSpPr>
          <p:cNvPr id="14" name="Text 12"/>
          <p:cNvSpPr/>
          <p:nvPr/>
        </p:nvSpPr>
        <p:spPr>
          <a:xfrm>
            <a:off x="1444752" y="3145536"/>
            <a:ext cx="9784080" cy="274320"/>
          </a:xfrm>
          <a:prstGeom prst="rect">
            <a:avLst/>
          </a:prstGeom>
          <a:noFill/>
          <a:ln/>
        </p:spPr>
        <p:txBody>
          <a:bodyPr wrap="square" lIns="0" tIns="0" rIns="0" bIns="0" rtlCol="0" anchor="t"/>
          <a:lstStyle/>
          <a:p>
            <a:pPr indent="0" marL="0">
              <a:lnSpc>
                <a:spcPts val="1700"/>
              </a:lnSpc>
              <a:buNone/>
            </a:pPr>
            <a:r>
              <a:rPr lang="en-US" sz="1150" dirty="0">
                <a:solidFill>
                  <a:srgbClr val="445C64"/>
                </a:solidFill>
                <a:latin typeface="Calibri" pitchFamily="34" charset="0"/>
                <a:ea typeface="Calibri" pitchFamily="34" charset="-122"/>
                <a:cs typeface="Calibri" pitchFamily="34" charset="-120"/>
              </a:rPr>
              <a:t>JWT sessions with bcrypt-hashed passwords; roles enforced in the API, not the UI.</a:t>
            </a:r>
            <a:endParaRPr lang="en-US" sz="1150" dirty="0"/>
          </a:p>
        </p:txBody>
      </p:sp>
      <p:sp>
        <p:nvSpPr>
          <p:cNvPr id="15" name="Shape 13"/>
          <p:cNvSpPr/>
          <p:nvPr/>
        </p:nvSpPr>
        <p:spPr>
          <a:xfrm>
            <a:off x="566928" y="3602736"/>
            <a:ext cx="11027664" cy="786384"/>
          </a:xfrm>
          <a:prstGeom prst="roundRect">
            <a:avLst>
              <a:gd name="adj" fmla="val 11628"/>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6" name="Shape 14"/>
          <p:cNvSpPr/>
          <p:nvPr/>
        </p:nvSpPr>
        <p:spPr>
          <a:xfrm>
            <a:off x="822960" y="3776472"/>
            <a:ext cx="438912" cy="438912"/>
          </a:xfrm>
          <a:prstGeom prst="ellipse">
            <a:avLst/>
          </a:prstGeom>
          <a:solidFill>
            <a:srgbClr val="028090"/>
          </a:solidFill>
          <a:ln/>
        </p:spPr>
      </p:sp>
      <p:sp>
        <p:nvSpPr>
          <p:cNvPr id="17" name="Text 15"/>
          <p:cNvSpPr/>
          <p:nvPr/>
        </p:nvSpPr>
        <p:spPr>
          <a:xfrm>
            <a:off x="822960" y="3776472"/>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444752" y="3730752"/>
            <a:ext cx="5029200" cy="292608"/>
          </a:xfrm>
          <a:prstGeom prst="rect">
            <a:avLst/>
          </a:prstGeom>
          <a:noFill/>
          <a:ln/>
        </p:spPr>
        <p:txBody>
          <a:bodyPr wrap="square" lIns="0" tIns="0" rIns="0" bIns="0" rtlCol="0" anchor="ctr"/>
          <a:lstStyle/>
          <a:p>
            <a:pPr indent="0" marL="0">
              <a:buNone/>
            </a:pPr>
            <a:r>
              <a:rPr lang="en-US" sz="1400" b="1" dirty="0">
                <a:solidFill>
                  <a:srgbClr val="0A2E36"/>
                </a:solidFill>
                <a:latin typeface="Calibri" pitchFamily="34" charset="0"/>
                <a:ea typeface="Calibri" pitchFamily="34" charset="-122"/>
                <a:cs typeface="Calibri" pitchFamily="34" charset="-120"/>
              </a:rPr>
              <a:t>Provide dashboards and analytical reports</a:t>
            </a:r>
            <a:endParaRPr lang="en-US" sz="1400" dirty="0"/>
          </a:p>
        </p:txBody>
      </p:sp>
      <p:sp>
        <p:nvSpPr>
          <p:cNvPr id="19" name="Text 17"/>
          <p:cNvSpPr/>
          <p:nvPr/>
        </p:nvSpPr>
        <p:spPr>
          <a:xfrm>
            <a:off x="1444752" y="4023360"/>
            <a:ext cx="9784080" cy="274320"/>
          </a:xfrm>
          <a:prstGeom prst="rect">
            <a:avLst/>
          </a:prstGeom>
          <a:noFill/>
          <a:ln/>
        </p:spPr>
        <p:txBody>
          <a:bodyPr wrap="square" lIns="0" tIns="0" rIns="0" bIns="0" rtlCol="0" anchor="t"/>
          <a:lstStyle/>
          <a:p>
            <a:pPr indent="0" marL="0">
              <a:lnSpc>
                <a:spcPts val="1700"/>
              </a:lnSpc>
              <a:buNone/>
            </a:pPr>
            <a:r>
              <a:rPr lang="en-US" sz="1150" dirty="0">
                <a:solidFill>
                  <a:srgbClr val="445C64"/>
                </a:solidFill>
                <a:latin typeface="Calibri" pitchFamily="34" charset="0"/>
                <a:ea typeface="Calibri" pitchFamily="34" charset="-122"/>
                <a:cs typeface="Calibri" pitchFamily="34" charset="-120"/>
              </a:rPr>
              <a:t>Role-specific dashboards and exportable reports computed from live ticket data.</a:t>
            </a:r>
            <a:endParaRPr lang="en-US" sz="1150" dirty="0"/>
          </a:p>
        </p:txBody>
      </p:sp>
      <p:sp>
        <p:nvSpPr>
          <p:cNvPr id="20" name="Shape 18"/>
          <p:cNvSpPr/>
          <p:nvPr/>
        </p:nvSpPr>
        <p:spPr>
          <a:xfrm>
            <a:off x="566928" y="4480560"/>
            <a:ext cx="11027664" cy="786384"/>
          </a:xfrm>
          <a:prstGeom prst="roundRect">
            <a:avLst>
              <a:gd name="adj" fmla="val 11628"/>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1" name="Shape 19"/>
          <p:cNvSpPr/>
          <p:nvPr/>
        </p:nvSpPr>
        <p:spPr>
          <a:xfrm>
            <a:off x="822960" y="4654296"/>
            <a:ext cx="438912" cy="438912"/>
          </a:xfrm>
          <a:prstGeom prst="ellipse">
            <a:avLst/>
          </a:prstGeom>
          <a:solidFill>
            <a:srgbClr val="028090"/>
          </a:solidFill>
          <a:ln/>
        </p:spPr>
      </p:sp>
      <p:sp>
        <p:nvSpPr>
          <p:cNvPr id="22" name="Text 20"/>
          <p:cNvSpPr/>
          <p:nvPr/>
        </p:nvSpPr>
        <p:spPr>
          <a:xfrm>
            <a:off x="822960" y="4654296"/>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3" name="Text 21"/>
          <p:cNvSpPr/>
          <p:nvPr/>
        </p:nvSpPr>
        <p:spPr>
          <a:xfrm>
            <a:off x="1444752" y="4608576"/>
            <a:ext cx="5029200" cy="292608"/>
          </a:xfrm>
          <a:prstGeom prst="rect">
            <a:avLst/>
          </a:prstGeom>
          <a:noFill/>
          <a:ln/>
        </p:spPr>
        <p:txBody>
          <a:bodyPr wrap="square" lIns="0" tIns="0" rIns="0" bIns="0" rtlCol="0" anchor="ctr"/>
          <a:lstStyle/>
          <a:p>
            <a:pPr indent="0" marL="0">
              <a:buNone/>
            </a:pPr>
            <a:r>
              <a:rPr lang="en-US" sz="1400" b="1" dirty="0">
                <a:solidFill>
                  <a:srgbClr val="0A2E36"/>
                </a:solidFill>
                <a:latin typeface="Calibri" pitchFamily="34" charset="0"/>
                <a:ea typeface="Calibri" pitchFamily="34" charset="-122"/>
                <a:cs typeface="Calibri" pitchFamily="34" charset="-120"/>
              </a:rPr>
              <a:t>Deploy the application on a public cloud platform</a:t>
            </a:r>
            <a:endParaRPr lang="en-US" sz="1400" dirty="0"/>
          </a:p>
        </p:txBody>
      </p:sp>
      <p:sp>
        <p:nvSpPr>
          <p:cNvPr id="24" name="Text 22"/>
          <p:cNvSpPr/>
          <p:nvPr/>
        </p:nvSpPr>
        <p:spPr>
          <a:xfrm>
            <a:off x="1444752" y="4901184"/>
            <a:ext cx="9784080" cy="274320"/>
          </a:xfrm>
          <a:prstGeom prst="rect">
            <a:avLst/>
          </a:prstGeom>
          <a:noFill/>
          <a:ln/>
        </p:spPr>
        <p:txBody>
          <a:bodyPr wrap="square" lIns="0" tIns="0" rIns="0" bIns="0" rtlCol="0" anchor="t"/>
          <a:lstStyle/>
          <a:p>
            <a:pPr indent="0" marL="0">
              <a:lnSpc>
                <a:spcPts val="1700"/>
              </a:lnSpc>
              <a:buNone/>
            </a:pPr>
            <a:r>
              <a:rPr lang="en-US" sz="1150" dirty="0">
                <a:solidFill>
                  <a:srgbClr val="445C64"/>
                </a:solidFill>
                <a:latin typeface="Calibri" pitchFamily="34" charset="0"/>
                <a:ea typeface="Calibri" pitchFamily="34" charset="-122"/>
                <a:cs typeface="Calibri" pitchFamily="34" charset="-120"/>
              </a:rPr>
              <a:t>Vercel, Render and Supabase — a public URL, with no dependency on localhost.</a:t>
            </a:r>
            <a:endParaRPr lang="en-US" sz="1150" dirty="0"/>
          </a:p>
        </p:txBody>
      </p:sp>
      <p:sp>
        <p:nvSpPr>
          <p:cNvPr id="25" name="Shape 23"/>
          <p:cNvSpPr/>
          <p:nvPr/>
        </p:nvSpPr>
        <p:spPr>
          <a:xfrm>
            <a:off x="566928" y="5358384"/>
            <a:ext cx="11027664" cy="786384"/>
          </a:xfrm>
          <a:prstGeom prst="roundRect">
            <a:avLst>
              <a:gd name="adj" fmla="val 11628"/>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6" name="Shape 24"/>
          <p:cNvSpPr/>
          <p:nvPr/>
        </p:nvSpPr>
        <p:spPr>
          <a:xfrm>
            <a:off x="822960" y="5532120"/>
            <a:ext cx="438912" cy="438912"/>
          </a:xfrm>
          <a:prstGeom prst="ellipse">
            <a:avLst/>
          </a:prstGeom>
          <a:solidFill>
            <a:srgbClr val="028090"/>
          </a:solidFill>
          <a:ln/>
        </p:spPr>
      </p:sp>
      <p:sp>
        <p:nvSpPr>
          <p:cNvPr id="27" name="Text 25"/>
          <p:cNvSpPr/>
          <p:nvPr/>
        </p:nvSpPr>
        <p:spPr>
          <a:xfrm>
            <a:off x="822960" y="553212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28" name="Text 26"/>
          <p:cNvSpPr/>
          <p:nvPr/>
        </p:nvSpPr>
        <p:spPr>
          <a:xfrm>
            <a:off x="1444752" y="5486400"/>
            <a:ext cx="5029200" cy="292608"/>
          </a:xfrm>
          <a:prstGeom prst="rect">
            <a:avLst/>
          </a:prstGeom>
          <a:noFill/>
          <a:ln/>
        </p:spPr>
        <p:txBody>
          <a:bodyPr wrap="square" lIns="0" tIns="0" rIns="0" bIns="0" rtlCol="0" anchor="ctr"/>
          <a:lstStyle/>
          <a:p>
            <a:pPr indent="0" marL="0">
              <a:buNone/>
            </a:pPr>
            <a:r>
              <a:rPr lang="en-US" sz="1400" b="1" dirty="0">
                <a:solidFill>
                  <a:srgbClr val="0A2E36"/>
                </a:solidFill>
                <a:latin typeface="Calibri" pitchFamily="34" charset="0"/>
                <a:ea typeface="Calibri" pitchFamily="34" charset="-122"/>
                <a:cs typeface="Calibri" pitchFamily="34" charset="-120"/>
              </a:rPr>
              <a:t>Demonstrate collaborative software engineering practices</a:t>
            </a:r>
            <a:endParaRPr lang="en-US" sz="1400" dirty="0"/>
          </a:p>
        </p:txBody>
      </p:sp>
      <p:sp>
        <p:nvSpPr>
          <p:cNvPr id="29" name="Text 27"/>
          <p:cNvSpPr/>
          <p:nvPr/>
        </p:nvSpPr>
        <p:spPr>
          <a:xfrm>
            <a:off x="1444752" y="5779008"/>
            <a:ext cx="9784080" cy="274320"/>
          </a:xfrm>
          <a:prstGeom prst="rect">
            <a:avLst/>
          </a:prstGeom>
          <a:noFill/>
          <a:ln/>
        </p:spPr>
        <p:txBody>
          <a:bodyPr wrap="square" lIns="0" tIns="0" rIns="0" bIns="0" rtlCol="0" anchor="t"/>
          <a:lstStyle/>
          <a:p>
            <a:pPr indent="0" marL="0">
              <a:lnSpc>
                <a:spcPts val="1700"/>
              </a:lnSpc>
              <a:buNone/>
            </a:pPr>
            <a:r>
              <a:rPr lang="en-US" sz="1150" dirty="0">
                <a:solidFill>
                  <a:srgbClr val="445C64"/>
                </a:solidFill>
                <a:latin typeface="Calibri" pitchFamily="34" charset="0"/>
                <a:ea typeface="Calibri" pitchFamily="34" charset="-122"/>
                <a:cs typeface="Calibri" pitchFamily="34" charset="-120"/>
              </a:rPr>
              <a:t>One team repository, regular commits, documented design, and tests.</a:t>
            </a:r>
            <a:endParaRPr lang="en-US" sz="1150" dirty="0"/>
          </a:p>
        </p:txBody>
      </p:sp>
      <p:sp>
        <p:nvSpPr>
          <p:cNvPr id="30" name="Text 28"/>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1" name="Text 29"/>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6</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Scope</a:t>
            </a:r>
            <a:endParaRPr lang="en-US" sz="3000" dirty="0"/>
          </a:p>
        </p:txBody>
      </p:sp>
      <p:sp>
        <p:nvSpPr>
          <p:cNvPr id="4" name="Shape 2"/>
          <p:cNvSpPr/>
          <p:nvPr/>
        </p:nvSpPr>
        <p:spPr>
          <a:xfrm>
            <a:off x="566928" y="1389888"/>
            <a:ext cx="6675120" cy="4059936"/>
          </a:xfrm>
          <a:prstGeom prst="roundRect">
            <a:avLst>
              <a:gd name="adj" fmla="val 2252"/>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859536" y="1645920"/>
            <a:ext cx="420624" cy="420624"/>
          </a:xfrm>
          <a:prstGeom prst="ellipse">
            <a:avLst/>
          </a:prstGeom>
          <a:solidFill>
            <a:srgbClr val="028090"/>
          </a:solidFill>
          <a:ln/>
        </p:spPr>
      </p:sp>
      <p:sp>
        <p:nvSpPr>
          <p:cNvPr id="6" name="Text 4"/>
          <p:cNvSpPr/>
          <p:nvPr/>
        </p:nvSpPr>
        <p:spPr>
          <a:xfrm>
            <a:off x="859536" y="1645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7" name="Text 5"/>
          <p:cNvSpPr/>
          <p:nvPr/>
        </p:nvSpPr>
        <p:spPr>
          <a:xfrm>
            <a:off x="1426464" y="1645920"/>
            <a:ext cx="3657600" cy="420624"/>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In scope</a:t>
            </a:r>
            <a:endParaRPr lang="en-US" sz="1500" dirty="0"/>
          </a:p>
        </p:txBody>
      </p:sp>
      <p:sp>
        <p:nvSpPr>
          <p:cNvPr id="8" name="Text 6"/>
          <p:cNvSpPr/>
          <p:nvPr/>
        </p:nvSpPr>
        <p:spPr>
          <a:xfrm>
            <a:off x="1426464" y="2048256"/>
            <a:ext cx="5486400" cy="237744"/>
          </a:xfrm>
          <a:prstGeom prst="rect">
            <a:avLst/>
          </a:prstGeom>
          <a:noFill/>
          <a:ln/>
        </p:spPr>
        <p:txBody>
          <a:bodyPr wrap="square" lIns="0" tIns="0" rIns="0" bIns="0" rtlCol="0" anchor="ctr"/>
          <a:lstStyle/>
          <a:p>
            <a:pPr indent="0" marL="0">
              <a:buNone/>
            </a:pPr>
            <a:r>
              <a:rPr lang="en-US" sz="1100" dirty="0">
                <a:solidFill>
                  <a:srgbClr val="028090"/>
                </a:solidFill>
                <a:latin typeface="Calibri" pitchFamily="34" charset="0"/>
                <a:ea typeface="Calibri" pitchFamily="34" charset="-122"/>
                <a:cs typeface="Calibri" pitchFamily="34" charset="-120"/>
              </a:rPr>
              <a:t>Delivered by the final demonstration on 15 October</a:t>
            </a:r>
            <a:endParaRPr lang="en-US" sz="1100" dirty="0"/>
          </a:p>
        </p:txBody>
      </p:sp>
      <p:sp>
        <p:nvSpPr>
          <p:cNvPr id="9" name="Text 7"/>
          <p:cNvSpPr/>
          <p:nvPr/>
        </p:nvSpPr>
        <p:spPr>
          <a:xfrm>
            <a:off x="877824" y="2432304"/>
            <a:ext cx="6126480" cy="3255264"/>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Registration, login and profile management for three roles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Role-based access control enforced in the REST API</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Full ticket lifecycle: create, read, update, delete, assign, transition</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Threaded customer–agent conversation with internal agent notes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Search, filtering and pagination across all ticket fields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Role-specific dashboards and exportable analytical reports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Persistent in-app notifications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AI classification, summarisation and agent-reviewed draft replies</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Admin modules: users, agents, categories, audit log</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Responsive interface for desktop, tablet and mobile</a:t>
            </a:r>
            <a:endParaRPr lang="en-US" sz="1200" dirty="0"/>
          </a:p>
          <a:p>
            <a:pPr marL="342900" indent="-342900">
              <a:spcAft>
                <a:spcPts val="600"/>
              </a:spcAft>
              <a:buSzPct val="100000"/>
              <a:buChar char="•"/>
            </a:pPr>
            <a:r>
              <a:rPr lang="en-US" sz="1200" dirty="0">
                <a:solidFill>
                  <a:srgbClr val="445C64"/>
                </a:solidFill>
                <a:latin typeface="Calibri" pitchFamily="34" charset="0"/>
                <a:ea typeface="Calibri" pitchFamily="34" charset="-122"/>
                <a:cs typeface="Calibri" pitchFamily="34" charset="-120"/>
              </a:rPr>
              <a:t>Public cloud deployment with a live URL</a:t>
            </a:r>
            <a:endParaRPr lang="en-US" sz="1200" dirty="0"/>
          </a:p>
        </p:txBody>
      </p:sp>
      <p:sp>
        <p:nvSpPr>
          <p:cNvPr id="10" name="Shape 8"/>
          <p:cNvSpPr/>
          <p:nvPr/>
        </p:nvSpPr>
        <p:spPr>
          <a:xfrm>
            <a:off x="7534656" y="1389888"/>
            <a:ext cx="4059936" cy="4059936"/>
          </a:xfrm>
          <a:prstGeom prst="roundRect">
            <a:avLst>
              <a:gd name="adj" fmla="val 2252"/>
            </a:avLst>
          </a:prstGeom>
          <a:solidFill>
            <a:srgbClr val="FBF7EF"/>
          </a:solidFill>
          <a:ln w="9525">
            <a:solidFill>
              <a:srgbClr val="EBDFC8"/>
            </a:solidFill>
            <a:prstDash val="solid"/>
          </a:ln>
          <a:effectLst>
            <a:outerShdw sx="100000" sy="100000" kx="0" ky="0" algn="bl" rotWithShape="0" blurRad="127000" dist="25400" dir="5400000">
              <a:srgbClr val="0A2E36">
                <a:alpha val="10000"/>
              </a:srgbClr>
            </a:outerShdw>
          </a:effectLst>
        </p:spPr>
      </p:sp>
      <p:sp>
        <p:nvSpPr>
          <p:cNvPr id="11" name="Shape 9"/>
          <p:cNvSpPr/>
          <p:nvPr/>
        </p:nvSpPr>
        <p:spPr>
          <a:xfrm>
            <a:off x="7827264" y="1645920"/>
            <a:ext cx="420624" cy="420624"/>
          </a:xfrm>
          <a:prstGeom prst="ellipse">
            <a:avLst/>
          </a:prstGeom>
          <a:solidFill>
            <a:srgbClr val="C77800"/>
          </a:solidFill>
          <a:ln/>
        </p:spPr>
      </p:sp>
      <p:sp>
        <p:nvSpPr>
          <p:cNvPr id="12" name="Text 10"/>
          <p:cNvSpPr/>
          <p:nvPr/>
        </p:nvSpPr>
        <p:spPr>
          <a:xfrm>
            <a:off x="7827264" y="164592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3" name="Text 11"/>
          <p:cNvSpPr/>
          <p:nvPr/>
        </p:nvSpPr>
        <p:spPr>
          <a:xfrm>
            <a:off x="8394192" y="1645920"/>
            <a:ext cx="2926080" cy="420624"/>
          </a:xfrm>
          <a:prstGeom prst="rect">
            <a:avLst/>
          </a:prstGeom>
          <a:noFill/>
          <a:ln/>
        </p:spPr>
        <p:txBody>
          <a:bodyPr wrap="square" lIns="0" tIns="0" rIns="0" bIns="0" rtlCol="0" anchor="ctr"/>
          <a:lstStyle/>
          <a:p>
            <a:pPr indent="0" marL="0">
              <a:buNone/>
            </a:pPr>
            <a:r>
              <a:rPr lang="en-US" sz="1500" b="1" dirty="0">
                <a:solidFill>
                  <a:srgbClr val="0A2E36"/>
                </a:solidFill>
                <a:latin typeface="Cambria" pitchFamily="34" charset="0"/>
                <a:ea typeface="Cambria" pitchFamily="34" charset="-122"/>
                <a:cs typeface="Cambria" pitchFamily="34" charset="-120"/>
              </a:rPr>
              <a:t>Out of scope</a:t>
            </a:r>
            <a:endParaRPr lang="en-US" sz="1500" dirty="0"/>
          </a:p>
        </p:txBody>
      </p:sp>
      <p:sp>
        <p:nvSpPr>
          <p:cNvPr id="14" name="Text 12"/>
          <p:cNvSpPr/>
          <p:nvPr/>
        </p:nvSpPr>
        <p:spPr>
          <a:xfrm>
            <a:off x="8394192" y="2048256"/>
            <a:ext cx="2926080" cy="237744"/>
          </a:xfrm>
          <a:prstGeom prst="rect">
            <a:avLst/>
          </a:prstGeom>
          <a:noFill/>
          <a:ln/>
        </p:spPr>
        <p:txBody>
          <a:bodyPr wrap="square" lIns="0" tIns="0" rIns="0" bIns="0" rtlCol="0" anchor="ctr"/>
          <a:lstStyle/>
          <a:p>
            <a:pPr indent="0" marL="0">
              <a:buNone/>
            </a:pPr>
            <a:r>
              <a:rPr lang="en-US" sz="1100" dirty="0">
                <a:solidFill>
                  <a:srgbClr val="C77800"/>
                </a:solidFill>
                <a:latin typeface="Calibri" pitchFamily="34" charset="0"/>
                <a:ea typeface="Calibri" pitchFamily="34" charset="-122"/>
                <a:cs typeface="Calibri" pitchFamily="34" charset="-120"/>
              </a:rPr>
              <a:t>Deliberate exclusions</a:t>
            </a:r>
            <a:endParaRPr lang="en-US" sz="1100" dirty="0"/>
          </a:p>
        </p:txBody>
      </p:sp>
      <p:sp>
        <p:nvSpPr>
          <p:cNvPr id="15" name="Text 13"/>
          <p:cNvSpPr/>
          <p:nvPr/>
        </p:nvSpPr>
        <p:spPr>
          <a:xfrm>
            <a:off x="7827264" y="2432304"/>
            <a:ext cx="3529584" cy="28346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Payment or subscription billing</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Live chat and telephony integration</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Native mobile applications</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Multi-language support</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Third-party CRM integrations</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Automated SLA escalation engine</a:t>
            </a:r>
            <a:endParaRPr lang="en-US" sz="1200" dirty="0"/>
          </a:p>
          <a:p>
            <a:pPr marL="342900" indent="-342900">
              <a:spcAft>
                <a:spcPts val="800"/>
              </a:spcAft>
              <a:buSzPct val="100000"/>
              <a:buChar char="•"/>
            </a:pPr>
            <a:r>
              <a:rPr lang="en-US" sz="1200" dirty="0">
                <a:solidFill>
                  <a:srgbClr val="445C64"/>
                </a:solidFill>
                <a:latin typeface="Calibri" pitchFamily="34" charset="0"/>
                <a:ea typeface="Calibri" pitchFamily="34" charset="-122"/>
                <a:cs typeface="Calibri" pitchFamily="34" charset="-120"/>
              </a:rPr>
              <a:t>Fully autonomous AI replies sent without agent approval</a:t>
            </a:r>
            <a:endParaRPr lang="en-US" sz="1200" dirty="0"/>
          </a:p>
        </p:txBody>
      </p:sp>
      <p:sp>
        <p:nvSpPr>
          <p:cNvPr id="16" name="Text 14"/>
          <p:cNvSpPr/>
          <p:nvPr/>
        </p:nvSpPr>
        <p:spPr>
          <a:xfrm>
            <a:off x="566928" y="5669280"/>
            <a:ext cx="11027664" cy="310896"/>
          </a:xfrm>
          <a:prstGeom prst="rect">
            <a:avLst/>
          </a:prstGeom>
          <a:noFill/>
          <a:ln/>
        </p:spPr>
        <p:txBody>
          <a:bodyPr wrap="square" lIns="0" tIns="0" rIns="0" bIns="0" rtlCol="0" anchor="ctr"/>
          <a:lstStyle/>
          <a:p>
            <a:pPr indent="0" marL="0">
              <a:buNone/>
            </a:pPr>
            <a:r>
              <a:rPr lang="en-US" sz="1200" i="1" dirty="0">
                <a:solidFill>
                  <a:srgbClr val="7C939B"/>
                </a:solidFill>
                <a:latin typeface="Calibri" pitchFamily="34" charset="0"/>
                <a:ea typeface="Calibri" pitchFamily="34" charset="-122"/>
                <a:cs typeface="Calibri" pitchFamily="34" charset="-120"/>
              </a:rPr>
              <a:t>Excluded to keep the delivered system complete and reliable rather than broad and unfinished.</a:t>
            </a:r>
            <a:endParaRPr lang="en-US" sz="1200" dirty="0"/>
          </a:p>
        </p:txBody>
      </p:sp>
      <p:sp>
        <p:nvSpPr>
          <p:cNvPr id="17" name="Text 15"/>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18" name="Text 16"/>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Target Users and Access Control</a:t>
            </a:r>
            <a:endParaRPr lang="en-US" sz="3000" dirty="0"/>
          </a:p>
        </p:txBody>
      </p:sp>
      <p:sp>
        <p:nvSpPr>
          <p:cNvPr id="4" name="Shape 2"/>
          <p:cNvSpPr/>
          <p:nvPr/>
        </p:nvSpPr>
        <p:spPr>
          <a:xfrm>
            <a:off x="566928" y="1389888"/>
            <a:ext cx="3468624" cy="3986784"/>
          </a:xfrm>
          <a:prstGeom prst="roundRect">
            <a:avLst>
              <a:gd name="adj" fmla="val 2636"/>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841248" y="1645920"/>
            <a:ext cx="512064" cy="512064"/>
          </a:xfrm>
          <a:prstGeom prst="ellipse">
            <a:avLst/>
          </a:prstGeom>
          <a:solidFill>
            <a:srgbClr val="028090"/>
          </a:solidFill>
          <a:ln/>
        </p:spPr>
      </p:sp>
      <p:sp>
        <p:nvSpPr>
          <p:cNvPr id="6" name="Text 4"/>
          <p:cNvSpPr/>
          <p:nvPr/>
        </p:nvSpPr>
        <p:spPr>
          <a:xfrm>
            <a:off x="841248" y="16459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7" name="Text 5"/>
          <p:cNvSpPr/>
          <p:nvPr/>
        </p:nvSpPr>
        <p:spPr>
          <a:xfrm>
            <a:off x="1481328" y="1645920"/>
            <a:ext cx="2279904" cy="292608"/>
          </a:xfrm>
          <a:prstGeom prst="rect">
            <a:avLst/>
          </a:prstGeom>
          <a:noFill/>
          <a:ln/>
        </p:spPr>
        <p:txBody>
          <a:bodyPr wrap="square" lIns="0" tIns="0" rIns="0" bIns="0" rtlCol="0" anchor="ctr"/>
          <a:lstStyle/>
          <a:p>
            <a:pPr indent="0" marL="0">
              <a:buNone/>
            </a:pPr>
            <a:r>
              <a:rPr lang="en-US" sz="1700" b="1" dirty="0">
                <a:solidFill>
                  <a:srgbClr val="0A2E36"/>
                </a:solidFill>
                <a:latin typeface="Cambria" pitchFamily="34" charset="0"/>
                <a:ea typeface="Cambria" pitchFamily="34" charset="-122"/>
                <a:cs typeface="Cambria" pitchFamily="34" charset="-120"/>
              </a:rPr>
              <a:t>Customer</a:t>
            </a:r>
            <a:endParaRPr lang="en-US" sz="1700" dirty="0"/>
          </a:p>
        </p:txBody>
      </p:sp>
      <p:sp>
        <p:nvSpPr>
          <p:cNvPr id="8" name="Text 6"/>
          <p:cNvSpPr/>
          <p:nvPr/>
        </p:nvSpPr>
        <p:spPr>
          <a:xfrm>
            <a:off x="1481328" y="1938528"/>
            <a:ext cx="2279904" cy="237744"/>
          </a:xfrm>
          <a:prstGeom prst="rect">
            <a:avLst/>
          </a:prstGeom>
          <a:noFill/>
          <a:ln/>
        </p:spPr>
        <p:txBody>
          <a:bodyPr wrap="square" lIns="0" tIns="0" rIns="0" bIns="0" rtlCol="0" anchor="ctr"/>
          <a:lstStyle/>
          <a:p>
            <a:pPr indent="0" marL="0">
              <a:buNone/>
            </a:pPr>
            <a:r>
              <a:rPr lang="en-US" sz="1100" b="1" dirty="0">
                <a:solidFill>
                  <a:srgbClr val="028090"/>
                </a:solidFill>
                <a:latin typeface="Calibri" pitchFamily="34" charset="0"/>
                <a:ea typeface="Calibri" pitchFamily="34" charset="-122"/>
                <a:cs typeface="Calibri" pitchFamily="34" charset="-120"/>
              </a:rPr>
              <a:t>Raises and tracks complaints</a:t>
            </a:r>
            <a:endParaRPr lang="en-US" sz="1100" dirty="0"/>
          </a:p>
        </p:txBody>
      </p:sp>
      <p:sp>
        <p:nvSpPr>
          <p:cNvPr id="9" name="Text 7"/>
          <p:cNvSpPr/>
          <p:nvPr/>
        </p:nvSpPr>
        <p:spPr>
          <a:xfrm>
            <a:off x="859536" y="2395728"/>
            <a:ext cx="2883408" cy="1920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Register, log in, manage profile</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Create a support ticket</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View and search own tickets only</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Reply on a ticket thread</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Receive notifications</a:t>
            </a:r>
            <a:endParaRPr lang="en-US" sz="1150" dirty="0"/>
          </a:p>
        </p:txBody>
      </p:sp>
      <p:sp>
        <p:nvSpPr>
          <p:cNvPr id="10" name="Shape 8"/>
          <p:cNvSpPr/>
          <p:nvPr/>
        </p:nvSpPr>
        <p:spPr>
          <a:xfrm>
            <a:off x="786384" y="4443984"/>
            <a:ext cx="3029712" cy="768096"/>
          </a:xfrm>
          <a:prstGeom prst="roundRect">
            <a:avLst>
              <a:gd name="adj" fmla="val 11905"/>
            </a:avLst>
          </a:prstGeom>
          <a:solidFill>
            <a:srgbClr val="FFFFFF"/>
          </a:solidFill>
          <a:ln w="9525">
            <a:solidFill>
              <a:srgbClr val="D3E3E6"/>
            </a:solidFill>
            <a:prstDash val="solid"/>
          </a:ln>
        </p:spPr>
      </p:sp>
      <p:sp>
        <p:nvSpPr>
          <p:cNvPr id="11" name="Text 9"/>
          <p:cNvSpPr/>
          <p:nvPr/>
        </p:nvSpPr>
        <p:spPr>
          <a:xfrm>
            <a:off x="950976" y="4443984"/>
            <a:ext cx="2700528" cy="768096"/>
          </a:xfrm>
          <a:prstGeom prst="rect">
            <a:avLst/>
          </a:prstGeom>
          <a:noFill/>
          <a:ln/>
        </p:spPr>
        <p:txBody>
          <a:bodyPr wrap="square" lIns="0" tIns="0" rIns="0" bIns="0" rtlCol="0" anchor="ctr"/>
          <a:lstStyle/>
          <a:p>
            <a:pPr indent="0" marL="0">
              <a:lnSpc>
                <a:spcPts val="1300"/>
              </a:lnSpc>
              <a:buNone/>
            </a:pPr>
            <a:r>
              <a:rPr lang="en-US" sz="1050" i="1" dirty="0">
                <a:solidFill>
                  <a:srgbClr val="7C939B"/>
                </a:solidFill>
                <a:latin typeface="Calibri" pitchFamily="34" charset="0"/>
                <a:ea typeface="Calibri" pitchFamily="34" charset="-122"/>
                <a:cs typeface="Calibri" pitchFamily="34" charset="-120"/>
              </a:rPr>
              <a:t>Cannot see any other customer's ticket, or any admin function.</a:t>
            </a:r>
            <a:endParaRPr lang="en-US" sz="1050" dirty="0"/>
          </a:p>
        </p:txBody>
      </p:sp>
      <p:sp>
        <p:nvSpPr>
          <p:cNvPr id="12" name="Shape 10"/>
          <p:cNvSpPr/>
          <p:nvPr/>
        </p:nvSpPr>
        <p:spPr>
          <a:xfrm>
            <a:off x="4346448" y="1389888"/>
            <a:ext cx="3468624" cy="3986784"/>
          </a:xfrm>
          <a:prstGeom prst="roundRect">
            <a:avLst>
              <a:gd name="adj" fmla="val 2636"/>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3" name="Shape 11"/>
          <p:cNvSpPr/>
          <p:nvPr/>
        </p:nvSpPr>
        <p:spPr>
          <a:xfrm>
            <a:off x="4620768" y="1645920"/>
            <a:ext cx="512064" cy="512064"/>
          </a:xfrm>
          <a:prstGeom prst="ellipse">
            <a:avLst/>
          </a:prstGeom>
          <a:solidFill>
            <a:srgbClr val="00A896"/>
          </a:solidFill>
          <a:ln/>
        </p:spPr>
      </p:sp>
      <p:sp>
        <p:nvSpPr>
          <p:cNvPr id="14" name="Text 12"/>
          <p:cNvSpPr/>
          <p:nvPr/>
        </p:nvSpPr>
        <p:spPr>
          <a:xfrm>
            <a:off x="4620768" y="16459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15" name="Text 13"/>
          <p:cNvSpPr/>
          <p:nvPr/>
        </p:nvSpPr>
        <p:spPr>
          <a:xfrm>
            <a:off x="5260848" y="1645920"/>
            <a:ext cx="2279904" cy="292608"/>
          </a:xfrm>
          <a:prstGeom prst="rect">
            <a:avLst/>
          </a:prstGeom>
          <a:noFill/>
          <a:ln/>
        </p:spPr>
        <p:txBody>
          <a:bodyPr wrap="square" lIns="0" tIns="0" rIns="0" bIns="0" rtlCol="0" anchor="ctr"/>
          <a:lstStyle/>
          <a:p>
            <a:pPr indent="0" marL="0">
              <a:buNone/>
            </a:pPr>
            <a:r>
              <a:rPr lang="en-US" sz="1700" b="1" dirty="0">
                <a:solidFill>
                  <a:srgbClr val="0A2E36"/>
                </a:solidFill>
                <a:latin typeface="Cambria" pitchFamily="34" charset="0"/>
                <a:ea typeface="Cambria" pitchFamily="34" charset="-122"/>
                <a:cs typeface="Cambria" pitchFamily="34" charset="-120"/>
              </a:rPr>
              <a:t>Support Agent</a:t>
            </a:r>
            <a:endParaRPr lang="en-US" sz="1700" dirty="0"/>
          </a:p>
        </p:txBody>
      </p:sp>
      <p:sp>
        <p:nvSpPr>
          <p:cNvPr id="16" name="Text 14"/>
          <p:cNvSpPr/>
          <p:nvPr/>
        </p:nvSpPr>
        <p:spPr>
          <a:xfrm>
            <a:off x="5260848" y="1938528"/>
            <a:ext cx="2279904" cy="237744"/>
          </a:xfrm>
          <a:prstGeom prst="rect">
            <a:avLst/>
          </a:prstGeom>
          <a:noFill/>
          <a:ln/>
        </p:spPr>
        <p:txBody>
          <a:bodyPr wrap="square" lIns="0" tIns="0" rIns="0" bIns="0" rtlCol="0" anchor="ctr"/>
          <a:lstStyle/>
          <a:p>
            <a:pPr indent="0" marL="0">
              <a:buNone/>
            </a:pPr>
            <a:r>
              <a:rPr lang="en-US" sz="1100" b="1" dirty="0">
                <a:solidFill>
                  <a:srgbClr val="00A896"/>
                </a:solidFill>
                <a:latin typeface="Calibri" pitchFamily="34" charset="0"/>
                <a:ea typeface="Calibri" pitchFamily="34" charset="-122"/>
                <a:cs typeface="Calibri" pitchFamily="34" charset="-120"/>
              </a:rPr>
              <a:t>Resolves tickets</a:t>
            </a:r>
            <a:endParaRPr lang="en-US" sz="1100" dirty="0"/>
          </a:p>
        </p:txBody>
      </p:sp>
      <p:sp>
        <p:nvSpPr>
          <p:cNvPr id="17" name="Text 15"/>
          <p:cNvSpPr/>
          <p:nvPr/>
        </p:nvSpPr>
        <p:spPr>
          <a:xfrm>
            <a:off x="4639056" y="2395728"/>
            <a:ext cx="2883408" cy="1920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View the assigned ticket queue</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Search and filter all tickets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Update status, priority, category</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Assign and escalate tickets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Use the AI assistance panel</a:t>
            </a:r>
            <a:endParaRPr lang="en-US" sz="1150" dirty="0"/>
          </a:p>
        </p:txBody>
      </p:sp>
      <p:sp>
        <p:nvSpPr>
          <p:cNvPr id="18" name="Shape 16"/>
          <p:cNvSpPr/>
          <p:nvPr/>
        </p:nvSpPr>
        <p:spPr>
          <a:xfrm>
            <a:off x="4565904" y="4443984"/>
            <a:ext cx="3029712" cy="768096"/>
          </a:xfrm>
          <a:prstGeom prst="roundRect">
            <a:avLst>
              <a:gd name="adj" fmla="val 11905"/>
            </a:avLst>
          </a:prstGeom>
          <a:solidFill>
            <a:srgbClr val="FFFFFF"/>
          </a:solidFill>
          <a:ln w="9525">
            <a:solidFill>
              <a:srgbClr val="D3E3E6"/>
            </a:solidFill>
            <a:prstDash val="solid"/>
          </a:ln>
        </p:spPr>
      </p:sp>
      <p:sp>
        <p:nvSpPr>
          <p:cNvPr id="19" name="Text 17"/>
          <p:cNvSpPr/>
          <p:nvPr/>
        </p:nvSpPr>
        <p:spPr>
          <a:xfrm>
            <a:off x="4730496" y="4443984"/>
            <a:ext cx="2700528" cy="768096"/>
          </a:xfrm>
          <a:prstGeom prst="rect">
            <a:avLst/>
          </a:prstGeom>
          <a:noFill/>
          <a:ln/>
        </p:spPr>
        <p:txBody>
          <a:bodyPr wrap="square" lIns="0" tIns="0" rIns="0" bIns="0" rtlCol="0" anchor="ctr"/>
          <a:lstStyle/>
          <a:p>
            <a:pPr indent="0" marL="0">
              <a:lnSpc>
                <a:spcPts val="1300"/>
              </a:lnSpc>
              <a:buNone/>
            </a:pPr>
            <a:r>
              <a:rPr lang="en-US" sz="1050" i="1" dirty="0">
                <a:solidFill>
                  <a:srgbClr val="7C939B"/>
                </a:solidFill>
                <a:latin typeface="Calibri" pitchFamily="34" charset="0"/>
                <a:ea typeface="Calibri" pitchFamily="34" charset="-122"/>
                <a:cs typeface="Calibri" pitchFamily="34" charset="-120"/>
              </a:rPr>
              <a:t>Cannot manage users, roles or categories.</a:t>
            </a:r>
            <a:endParaRPr lang="en-US" sz="1050" dirty="0"/>
          </a:p>
        </p:txBody>
      </p:sp>
      <p:sp>
        <p:nvSpPr>
          <p:cNvPr id="20" name="Shape 18"/>
          <p:cNvSpPr/>
          <p:nvPr/>
        </p:nvSpPr>
        <p:spPr>
          <a:xfrm>
            <a:off x="8125968" y="1389888"/>
            <a:ext cx="3468624" cy="3986784"/>
          </a:xfrm>
          <a:prstGeom prst="roundRect">
            <a:avLst>
              <a:gd name="adj" fmla="val 2636"/>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1" name="Shape 19"/>
          <p:cNvSpPr/>
          <p:nvPr/>
        </p:nvSpPr>
        <p:spPr>
          <a:xfrm>
            <a:off x="8400288" y="1645920"/>
            <a:ext cx="512064" cy="512064"/>
          </a:xfrm>
          <a:prstGeom prst="ellipse">
            <a:avLst/>
          </a:prstGeom>
          <a:solidFill>
            <a:srgbClr val="0A2E36"/>
          </a:solidFill>
          <a:ln/>
        </p:spPr>
      </p:sp>
      <p:sp>
        <p:nvSpPr>
          <p:cNvPr id="22" name="Text 20"/>
          <p:cNvSpPr/>
          <p:nvPr/>
        </p:nvSpPr>
        <p:spPr>
          <a:xfrm>
            <a:off x="8400288" y="1645920"/>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23" name="Text 21"/>
          <p:cNvSpPr/>
          <p:nvPr/>
        </p:nvSpPr>
        <p:spPr>
          <a:xfrm>
            <a:off x="9040368" y="1645920"/>
            <a:ext cx="2279904" cy="292608"/>
          </a:xfrm>
          <a:prstGeom prst="rect">
            <a:avLst/>
          </a:prstGeom>
          <a:noFill/>
          <a:ln/>
        </p:spPr>
        <p:txBody>
          <a:bodyPr wrap="square" lIns="0" tIns="0" rIns="0" bIns="0" rtlCol="0" anchor="ctr"/>
          <a:lstStyle/>
          <a:p>
            <a:pPr indent="0" marL="0">
              <a:buNone/>
            </a:pPr>
            <a:r>
              <a:rPr lang="en-US" sz="1700" b="1" dirty="0">
                <a:solidFill>
                  <a:srgbClr val="0A2E36"/>
                </a:solidFill>
                <a:latin typeface="Cambria" pitchFamily="34" charset="0"/>
                <a:ea typeface="Cambria" pitchFamily="34" charset="-122"/>
                <a:cs typeface="Cambria" pitchFamily="34" charset="-120"/>
              </a:rPr>
              <a:t>Admin</a:t>
            </a:r>
            <a:endParaRPr lang="en-US" sz="1700" dirty="0"/>
          </a:p>
        </p:txBody>
      </p:sp>
      <p:sp>
        <p:nvSpPr>
          <p:cNvPr id="24" name="Text 22"/>
          <p:cNvSpPr/>
          <p:nvPr/>
        </p:nvSpPr>
        <p:spPr>
          <a:xfrm>
            <a:off x="9040368" y="1938528"/>
            <a:ext cx="2279904" cy="237744"/>
          </a:xfrm>
          <a:prstGeom prst="rect">
            <a:avLst/>
          </a:prstGeom>
          <a:noFill/>
          <a:ln/>
        </p:spPr>
        <p:txBody>
          <a:bodyPr wrap="square" lIns="0" tIns="0" rIns="0" bIns="0" rtlCol="0" anchor="ctr"/>
          <a:lstStyle/>
          <a:p>
            <a:pPr indent="0" marL="0">
              <a:buNone/>
            </a:pPr>
            <a:r>
              <a:rPr lang="en-US" sz="1100" b="1" dirty="0">
                <a:solidFill>
                  <a:srgbClr val="0A2E36"/>
                </a:solidFill>
                <a:latin typeface="Calibri" pitchFamily="34" charset="0"/>
                <a:ea typeface="Calibri" pitchFamily="34" charset="-122"/>
                <a:cs typeface="Calibri" pitchFamily="34" charset="-120"/>
              </a:rPr>
              <a:t>Runs the service desk</a:t>
            </a:r>
            <a:endParaRPr lang="en-US" sz="1100" dirty="0"/>
          </a:p>
        </p:txBody>
      </p:sp>
      <p:sp>
        <p:nvSpPr>
          <p:cNvPr id="25" name="Text 23"/>
          <p:cNvSpPr/>
          <p:nvPr/>
        </p:nvSpPr>
        <p:spPr>
          <a:xfrm>
            <a:off x="8418576" y="2395728"/>
            <a:ext cx="2883408" cy="1920240"/>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Manage users, agents and roles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Manage categories and configuration</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View the global dashboard</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Generate and export reports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Review the activity audit log</a:t>
            </a:r>
            <a:endParaRPr lang="en-US" sz="1150" dirty="0"/>
          </a:p>
        </p:txBody>
      </p:sp>
      <p:sp>
        <p:nvSpPr>
          <p:cNvPr id="26" name="Shape 24"/>
          <p:cNvSpPr/>
          <p:nvPr/>
        </p:nvSpPr>
        <p:spPr>
          <a:xfrm>
            <a:off x="8345424" y="4443984"/>
            <a:ext cx="3029712" cy="768096"/>
          </a:xfrm>
          <a:prstGeom prst="roundRect">
            <a:avLst>
              <a:gd name="adj" fmla="val 11905"/>
            </a:avLst>
          </a:prstGeom>
          <a:solidFill>
            <a:srgbClr val="FFFFFF"/>
          </a:solidFill>
          <a:ln w="9525">
            <a:solidFill>
              <a:srgbClr val="D3E3E6"/>
            </a:solidFill>
            <a:prstDash val="solid"/>
          </a:ln>
        </p:spPr>
      </p:sp>
      <p:sp>
        <p:nvSpPr>
          <p:cNvPr id="27" name="Text 25"/>
          <p:cNvSpPr/>
          <p:nvPr/>
        </p:nvSpPr>
        <p:spPr>
          <a:xfrm>
            <a:off x="8510016" y="4443984"/>
            <a:ext cx="2700528" cy="768096"/>
          </a:xfrm>
          <a:prstGeom prst="rect">
            <a:avLst/>
          </a:prstGeom>
          <a:noFill/>
          <a:ln/>
        </p:spPr>
        <p:txBody>
          <a:bodyPr wrap="square" lIns="0" tIns="0" rIns="0" bIns="0" rtlCol="0" anchor="ctr"/>
          <a:lstStyle/>
          <a:p>
            <a:pPr indent="0" marL="0">
              <a:lnSpc>
                <a:spcPts val="1300"/>
              </a:lnSpc>
              <a:buNone/>
            </a:pPr>
            <a:r>
              <a:rPr lang="en-US" sz="1050" i="1" dirty="0">
                <a:solidFill>
                  <a:srgbClr val="7C939B"/>
                </a:solidFill>
                <a:latin typeface="Calibri" pitchFamily="34" charset="0"/>
                <a:ea typeface="Calibri" pitchFamily="34" charset="-122"/>
                <a:cs typeface="Calibri" pitchFamily="34" charset="-120"/>
              </a:rPr>
              <a:t>Full access, with every privileged action written to the audit log.</a:t>
            </a:r>
            <a:endParaRPr lang="en-US" sz="1050" dirty="0"/>
          </a:p>
        </p:txBody>
      </p:sp>
      <p:sp>
        <p:nvSpPr>
          <p:cNvPr id="28" name="Shape 26"/>
          <p:cNvSpPr/>
          <p:nvPr/>
        </p:nvSpPr>
        <p:spPr>
          <a:xfrm>
            <a:off x="566928" y="5522976"/>
            <a:ext cx="11027664" cy="658368"/>
          </a:xfrm>
          <a:prstGeom prst="roundRect">
            <a:avLst>
              <a:gd name="adj" fmla="val 13889"/>
            </a:avLst>
          </a:prstGeom>
          <a:solidFill>
            <a:srgbClr val="0A2E36"/>
          </a:solidFill>
          <a:ln/>
          <a:effectLst>
            <a:outerShdw sx="100000" sy="100000" kx="0" ky="0" algn="bl" rotWithShape="0" blurRad="127000" dist="25400" dir="5400000">
              <a:srgbClr val="0A2E36">
                <a:alpha val="10000"/>
              </a:srgbClr>
            </a:outerShdw>
          </a:effectLst>
        </p:spPr>
      </p:sp>
      <p:sp>
        <p:nvSpPr>
          <p:cNvPr id="29" name="Text 27"/>
          <p:cNvSpPr/>
          <p:nvPr/>
        </p:nvSpPr>
        <p:spPr>
          <a:xfrm>
            <a:off x="896112" y="5522976"/>
            <a:ext cx="10369296" cy="658368"/>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Access control is enforced in the API. Hiding a button in the interface is not security — every protected route checks the role, and every ticket handler checks record ownership.</a:t>
            </a:r>
            <a:endParaRPr lang="en-US" sz="1250" dirty="0"/>
          </a:p>
        </p:txBody>
      </p:sp>
      <p:sp>
        <p:nvSpPr>
          <p:cNvPr id="30" name="Text 28"/>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1" name="Text 29"/>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4</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Functional Requirements</a:t>
            </a:r>
            <a:endParaRPr lang="en-US" sz="3000" dirty="0"/>
          </a:p>
        </p:txBody>
      </p:sp>
      <p:sp>
        <p:nvSpPr>
          <p:cNvPr id="4" name="Text 2"/>
          <p:cNvSpPr/>
          <p:nvPr/>
        </p:nvSpPr>
        <p:spPr>
          <a:xfrm>
            <a:off x="566928" y="1353312"/>
            <a:ext cx="10241280" cy="292608"/>
          </a:xfrm>
          <a:prstGeom prst="rect">
            <a:avLst/>
          </a:prstGeom>
          <a:noFill/>
          <a:ln/>
        </p:spPr>
        <p:txBody>
          <a:bodyPr wrap="square" lIns="0" tIns="0" rIns="0" bIns="0" rtlCol="0" anchor="t"/>
          <a:lstStyle/>
          <a:p>
            <a:pPr indent="0" marL="0">
              <a:lnSpc>
                <a:spcPts val="1700"/>
              </a:lnSpc>
              <a:buNone/>
            </a:pPr>
            <a:r>
              <a:rPr lang="en-US" sz="1250" dirty="0">
                <a:solidFill>
                  <a:srgbClr val="7C939B"/>
                </a:solidFill>
                <a:latin typeface="Calibri" pitchFamily="34" charset="0"/>
                <a:ea typeface="Calibri" pitchFamily="34" charset="-122"/>
                <a:cs typeface="Calibri" pitchFamily="34" charset="-120"/>
              </a:rPr>
              <a:t>The ten requirements below are the official Project 19 functional requirements. Each is mapped to the module that implements it.</a:t>
            </a:r>
            <a:endParaRPr lang="en-US" sz="1250" dirty="0"/>
          </a:p>
        </p:txBody>
      </p:sp>
      <p:sp>
        <p:nvSpPr>
          <p:cNvPr id="5" name="Shape 3"/>
          <p:cNvSpPr/>
          <p:nvPr/>
        </p:nvSpPr>
        <p:spPr>
          <a:xfrm>
            <a:off x="566928" y="1792224"/>
            <a:ext cx="5385816" cy="731520"/>
          </a:xfrm>
          <a:prstGeom prst="roundRect">
            <a:avLst>
              <a:gd name="adj" fmla="val 1250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Text 4"/>
          <p:cNvSpPr/>
          <p:nvPr/>
        </p:nvSpPr>
        <p:spPr>
          <a:xfrm>
            <a:off x="768096" y="1883664"/>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FR-1</a:t>
            </a:r>
            <a:endParaRPr lang="en-US" sz="1200" dirty="0"/>
          </a:p>
        </p:txBody>
      </p:sp>
      <p:sp>
        <p:nvSpPr>
          <p:cNvPr id="7" name="Text 5"/>
          <p:cNvSpPr/>
          <p:nvPr/>
        </p:nvSpPr>
        <p:spPr>
          <a:xfrm>
            <a:off x="1609344" y="1865376"/>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User registration and login</a:t>
            </a:r>
            <a:endParaRPr lang="en-US" sz="1350" dirty="0"/>
          </a:p>
        </p:txBody>
      </p:sp>
      <p:sp>
        <p:nvSpPr>
          <p:cNvPr id="8" name="Text 6"/>
          <p:cNvSpPr/>
          <p:nvPr/>
        </p:nvSpPr>
        <p:spPr>
          <a:xfrm>
            <a:off x="1609344" y="2176272"/>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Authentication</a:t>
            </a:r>
            <a:endParaRPr lang="en-US" sz="1100" dirty="0"/>
          </a:p>
        </p:txBody>
      </p:sp>
      <p:sp>
        <p:nvSpPr>
          <p:cNvPr id="9" name="Shape 7"/>
          <p:cNvSpPr/>
          <p:nvPr/>
        </p:nvSpPr>
        <p:spPr>
          <a:xfrm>
            <a:off x="6208776" y="1792224"/>
            <a:ext cx="5385816" cy="731520"/>
          </a:xfrm>
          <a:prstGeom prst="roundRect">
            <a:avLst>
              <a:gd name="adj" fmla="val 125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0" name="Text 8"/>
          <p:cNvSpPr/>
          <p:nvPr/>
        </p:nvSpPr>
        <p:spPr>
          <a:xfrm>
            <a:off x="6409944" y="1883664"/>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FR-2</a:t>
            </a:r>
            <a:endParaRPr lang="en-US" sz="1200" dirty="0"/>
          </a:p>
        </p:txBody>
      </p:sp>
      <p:sp>
        <p:nvSpPr>
          <p:cNvPr id="11" name="Text 9"/>
          <p:cNvSpPr/>
          <p:nvPr/>
        </p:nvSpPr>
        <p:spPr>
          <a:xfrm>
            <a:off x="7251192" y="1865376"/>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Profile management</a:t>
            </a:r>
            <a:endParaRPr lang="en-US" sz="1350" dirty="0"/>
          </a:p>
        </p:txBody>
      </p:sp>
      <p:sp>
        <p:nvSpPr>
          <p:cNvPr id="12" name="Text 10"/>
          <p:cNvSpPr/>
          <p:nvPr/>
        </p:nvSpPr>
        <p:spPr>
          <a:xfrm>
            <a:off x="7251192" y="2176272"/>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User Management</a:t>
            </a:r>
            <a:endParaRPr lang="en-US" sz="1100" dirty="0"/>
          </a:p>
        </p:txBody>
      </p:sp>
      <p:sp>
        <p:nvSpPr>
          <p:cNvPr id="13" name="Shape 11"/>
          <p:cNvSpPr/>
          <p:nvPr/>
        </p:nvSpPr>
        <p:spPr>
          <a:xfrm>
            <a:off x="566928" y="2633472"/>
            <a:ext cx="5385816" cy="731520"/>
          </a:xfrm>
          <a:prstGeom prst="roundRect">
            <a:avLst>
              <a:gd name="adj" fmla="val 1250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4" name="Text 12"/>
          <p:cNvSpPr/>
          <p:nvPr/>
        </p:nvSpPr>
        <p:spPr>
          <a:xfrm>
            <a:off x="768096" y="2724912"/>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FR-3</a:t>
            </a:r>
            <a:endParaRPr lang="en-US" sz="1200" dirty="0"/>
          </a:p>
        </p:txBody>
      </p:sp>
      <p:sp>
        <p:nvSpPr>
          <p:cNvPr id="15" name="Text 13"/>
          <p:cNvSpPr/>
          <p:nvPr/>
        </p:nvSpPr>
        <p:spPr>
          <a:xfrm>
            <a:off x="1609344" y="2706624"/>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Role-based access control</a:t>
            </a:r>
            <a:endParaRPr lang="en-US" sz="1350" dirty="0"/>
          </a:p>
        </p:txBody>
      </p:sp>
      <p:sp>
        <p:nvSpPr>
          <p:cNvPr id="16" name="Text 14"/>
          <p:cNvSpPr/>
          <p:nvPr/>
        </p:nvSpPr>
        <p:spPr>
          <a:xfrm>
            <a:off x="1609344" y="3017520"/>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Authentication</a:t>
            </a:r>
            <a:endParaRPr lang="en-US" sz="1100" dirty="0"/>
          </a:p>
        </p:txBody>
      </p:sp>
      <p:sp>
        <p:nvSpPr>
          <p:cNvPr id="17" name="Shape 15"/>
          <p:cNvSpPr/>
          <p:nvPr/>
        </p:nvSpPr>
        <p:spPr>
          <a:xfrm>
            <a:off x="6208776" y="2633472"/>
            <a:ext cx="5385816" cy="731520"/>
          </a:xfrm>
          <a:prstGeom prst="roundRect">
            <a:avLst>
              <a:gd name="adj" fmla="val 125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8" name="Text 16"/>
          <p:cNvSpPr/>
          <p:nvPr/>
        </p:nvSpPr>
        <p:spPr>
          <a:xfrm>
            <a:off x="6409944" y="2724912"/>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FR-4</a:t>
            </a:r>
            <a:endParaRPr lang="en-US" sz="1200" dirty="0"/>
          </a:p>
        </p:txBody>
      </p:sp>
      <p:sp>
        <p:nvSpPr>
          <p:cNvPr id="19" name="Text 17"/>
          <p:cNvSpPr/>
          <p:nvPr/>
        </p:nvSpPr>
        <p:spPr>
          <a:xfrm>
            <a:off x="7251192" y="2706624"/>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CRUD operations</a:t>
            </a:r>
            <a:endParaRPr lang="en-US" sz="1350" dirty="0"/>
          </a:p>
        </p:txBody>
      </p:sp>
      <p:sp>
        <p:nvSpPr>
          <p:cNvPr id="20" name="Text 18"/>
          <p:cNvSpPr/>
          <p:nvPr/>
        </p:nvSpPr>
        <p:spPr>
          <a:xfrm>
            <a:off x="7251192" y="3017520"/>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Core Business Module</a:t>
            </a:r>
            <a:endParaRPr lang="en-US" sz="1100" dirty="0"/>
          </a:p>
        </p:txBody>
      </p:sp>
      <p:sp>
        <p:nvSpPr>
          <p:cNvPr id="21" name="Shape 19"/>
          <p:cNvSpPr/>
          <p:nvPr/>
        </p:nvSpPr>
        <p:spPr>
          <a:xfrm>
            <a:off x="566928" y="3474720"/>
            <a:ext cx="5385816" cy="731520"/>
          </a:xfrm>
          <a:prstGeom prst="roundRect">
            <a:avLst>
              <a:gd name="adj" fmla="val 1250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2" name="Text 20"/>
          <p:cNvSpPr/>
          <p:nvPr/>
        </p:nvSpPr>
        <p:spPr>
          <a:xfrm>
            <a:off x="768096" y="3566160"/>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FR-5</a:t>
            </a:r>
            <a:endParaRPr lang="en-US" sz="1200" dirty="0"/>
          </a:p>
        </p:txBody>
      </p:sp>
      <p:sp>
        <p:nvSpPr>
          <p:cNvPr id="23" name="Text 21"/>
          <p:cNvSpPr/>
          <p:nvPr/>
        </p:nvSpPr>
        <p:spPr>
          <a:xfrm>
            <a:off x="1609344" y="3547872"/>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Search and filtering</a:t>
            </a:r>
            <a:endParaRPr lang="en-US" sz="1350" dirty="0"/>
          </a:p>
        </p:txBody>
      </p:sp>
      <p:sp>
        <p:nvSpPr>
          <p:cNvPr id="24" name="Text 22"/>
          <p:cNvSpPr/>
          <p:nvPr/>
        </p:nvSpPr>
        <p:spPr>
          <a:xfrm>
            <a:off x="1609344" y="3858768"/>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Core Business Module</a:t>
            </a:r>
            <a:endParaRPr lang="en-US" sz="1100" dirty="0"/>
          </a:p>
        </p:txBody>
      </p:sp>
      <p:sp>
        <p:nvSpPr>
          <p:cNvPr id="25" name="Shape 23"/>
          <p:cNvSpPr/>
          <p:nvPr/>
        </p:nvSpPr>
        <p:spPr>
          <a:xfrm>
            <a:off x="6208776" y="3474720"/>
            <a:ext cx="5385816" cy="731520"/>
          </a:xfrm>
          <a:prstGeom prst="roundRect">
            <a:avLst>
              <a:gd name="adj" fmla="val 125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6" name="Text 24"/>
          <p:cNvSpPr/>
          <p:nvPr/>
        </p:nvSpPr>
        <p:spPr>
          <a:xfrm>
            <a:off x="6409944" y="3566160"/>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FR-6</a:t>
            </a:r>
            <a:endParaRPr lang="en-US" sz="1200" dirty="0"/>
          </a:p>
        </p:txBody>
      </p:sp>
      <p:sp>
        <p:nvSpPr>
          <p:cNvPr id="27" name="Text 25"/>
          <p:cNvSpPr/>
          <p:nvPr/>
        </p:nvSpPr>
        <p:spPr>
          <a:xfrm>
            <a:off x="7251192" y="3547872"/>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Dashboard</a:t>
            </a:r>
            <a:endParaRPr lang="en-US" sz="1350" dirty="0"/>
          </a:p>
        </p:txBody>
      </p:sp>
      <p:sp>
        <p:nvSpPr>
          <p:cNvPr id="28" name="Text 26"/>
          <p:cNvSpPr/>
          <p:nvPr/>
        </p:nvSpPr>
        <p:spPr>
          <a:xfrm>
            <a:off x="7251192" y="3858768"/>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Reports &amp; Analytics</a:t>
            </a:r>
            <a:endParaRPr lang="en-US" sz="1100" dirty="0"/>
          </a:p>
        </p:txBody>
      </p:sp>
      <p:sp>
        <p:nvSpPr>
          <p:cNvPr id="29" name="Shape 27"/>
          <p:cNvSpPr/>
          <p:nvPr/>
        </p:nvSpPr>
        <p:spPr>
          <a:xfrm>
            <a:off x="566928" y="4315968"/>
            <a:ext cx="5385816" cy="731520"/>
          </a:xfrm>
          <a:prstGeom prst="roundRect">
            <a:avLst>
              <a:gd name="adj" fmla="val 1250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0" name="Text 28"/>
          <p:cNvSpPr/>
          <p:nvPr/>
        </p:nvSpPr>
        <p:spPr>
          <a:xfrm>
            <a:off x="768096" y="4407408"/>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FR-7</a:t>
            </a:r>
            <a:endParaRPr lang="en-US" sz="1200" dirty="0"/>
          </a:p>
        </p:txBody>
      </p:sp>
      <p:sp>
        <p:nvSpPr>
          <p:cNvPr id="31" name="Text 29"/>
          <p:cNvSpPr/>
          <p:nvPr/>
        </p:nvSpPr>
        <p:spPr>
          <a:xfrm>
            <a:off x="1609344" y="4389120"/>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Notifications</a:t>
            </a:r>
            <a:endParaRPr lang="en-US" sz="1350" dirty="0"/>
          </a:p>
        </p:txBody>
      </p:sp>
      <p:sp>
        <p:nvSpPr>
          <p:cNvPr id="32" name="Text 30"/>
          <p:cNvSpPr/>
          <p:nvPr/>
        </p:nvSpPr>
        <p:spPr>
          <a:xfrm>
            <a:off x="1609344" y="4700016"/>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Core Business Module</a:t>
            </a:r>
            <a:endParaRPr lang="en-US" sz="1100" dirty="0"/>
          </a:p>
        </p:txBody>
      </p:sp>
      <p:sp>
        <p:nvSpPr>
          <p:cNvPr id="33" name="Shape 31"/>
          <p:cNvSpPr/>
          <p:nvPr/>
        </p:nvSpPr>
        <p:spPr>
          <a:xfrm>
            <a:off x="6208776" y="4315968"/>
            <a:ext cx="5385816" cy="731520"/>
          </a:xfrm>
          <a:prstGeom prst="roundRect">
            <a:avLst>
              <a:gd name="adj" fmla="val 125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4" name="Text 32"/>
          <p:cNvSpPr/>
          <p:nvPr/>
        </p:nvSpPr>
        <p:spPr>
          <a:xfrm>
            <a:off x="6409944" y="4407408"/>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FR-8</a:t>
            </a:r>
            <a:endParaRPr lang="en-US" sz="1200" dirty="0"/>
          </a:p>
        </p:txBody>
      </p:sp>
      <p:sp>
        <p:nvSpPr>
          <p:cNvPr id="35" name="Text 33"/>
          <p:cNvSpPr/>
          <p:nvPr/>
        </p:nvSpPr>
        <p:spPr>
          <a:xfrm>
            <a:off x="7251192" y="4389120"/>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Report generation</a:t>
            </a:r>
            <a:endParaRPr lang="en-US" sz="1350" dirty="0"/>
          </a:p>
        </p:txBody>
      </p:sp>
      <p:sp>
        <p:nvSpPr>
          <p:cNvPr id="36" name="Text 34"/>
          <p:cNvSpPr/>
          <p:nvPr/>
        </p:nvSpPr>
        <p:spPr>
          <a:xfrm>
            <a:off x="7251192" y="4700016"/>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Reports &amp; Analytics</a:t>
            </a:r>
            <a:endParaRPr lang="en-US" sz="1100" dirty="0"/>
          </a:p>
        </p:txBody>
      </p:sp>
      <p:sp>
        <p:nvSpPr>
          <p:cNvPr id="37" name="Shape 35"/>
          <p:cNvSpPr/>
          <p:nvPr/>
        </p:nvSpPr>
        <p:spPr>
          <a:xfrm>
            <a:off x="566928" y="5157216"/>
            <a:ext cx="5385816" cy="731520"/>
          </a:xfrm>
          <a:prstGeom prst="roundRect">
            <a:avLst>
              <a:gd name="adj" fmla="val 1250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8" name="Text 36"/>
          <p:cNvSpPr/>
          <p:nvPr/>
        </p:nvSpPr>
        <p:spPr>
          <a:xfrm>
            <a:off x="768096" y="5248656"/>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FR-9</a:t>
            </a:r>
            <a:endParaRPr lang="en-US" sz="1200" dirty="0"/>
          </a:p>
        </p:txBody>
      </p:sp>
      <p:sp>
        <p:nvSpPr>
          <p:cNvPr id="39" name="Text 37"/>
          <p:cNvSpPr/>
          <p:nvPr/>
        </p:nvSpPr>
        <p:spPr>
          <a:xfrm>
            <a:off x="1609344" y="5230368"/>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Cloud database integration</a:t>
            </a:r>
            <a:endParaRPr lang="en-US" sz="1350" dirty="0"/>
          </a:p>
        </p:txBody>
      </p:sp>
      <p:sp>
        <p:nvSpPr>
          <p:cNvPr id="40" name="Text 38"/>
          <p:cNvSpPr/>
          <p:nvPr/>
        </p:nvSpPr>
        <p:spPr>
          <a:xfrm>
            <a:off x="1609344" y="5541264"/>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Data Layer</a:t>
            </a:r>
            <a:endParaRPr lang="en-US" sz="1100" dirty="0"/>
          </a:p>
        </p:txBody>
      </p:sp>
      <p:sp>
        <p:nvSpPr>
          <p:cNvPr id="41" name="Shape 39"/>
          <p:cNvSpPr/>
          <p:nvPr/>
        </p:nvSpPr>
        <p:spPr>
          <a:xfrm>
            <a:off x="6208776" y="5157216"/>
            <a:ext cx="5385816" cy="731520"/>
          </a:xfrm>
          <a:prstGeom prst="roundRect">
            <a:avLst>
              <a:gd name="adj" fmla="val 12500"/>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42" name="Text 40"/>
          <p:cNvSpPr/>
          <p:nvPr/>
        </p:nvSpPr>
        <p:spPr>
          <a:xfrm>
            <a:off x="6409944" y="5248656"/>
            <a:ext cx="822960" cy="256032"/>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FR-10</a:t>
            </a:r>
            <a:endParaRPr lang="en-US" sz="1200" dirty="0"/>
          </a:p>
        </p:txBody>
      </p:sp>
      <p:sp>
        <p:nvSpPr>
          <p:cNvPr id="43" name="Text 41"/>
          <p:cNvSpPr/>
          <p:nvPr/>
        </p:nvSpPr>
        <p:spPr>
          <a:xfrm>
            <a:off x="7251192" y="5230368"/>
            <a:ext cx="4142232" cy="292608"/>
          </a:xfrm>
          <a:prstGeom prst="rect">
            <a:avLst/>
          </a:prstGeom>
          <a:noFill/>
          <a:ln/>
        </p:spPr>
        <p:txBody>
          <a:bodyPr wrap="square" lIns="0" tIns="0" rIns="0" bIns="0" rtlCol="0" anchor="ctr"/>
          <a:lstStyle/>
          <a:p>
            <a:pPr indent="0" marL="0">
              <a:buNone/>
            </a:pPr>
            <a:r>
              <a:rPr lang="en-US" sz="1350" b="1" dirty="0">
                <a:solidFill>
                  <a:srgbClr val="0A2E36"/>
                </a:solidFill>
                <a:latin typeface="Calibri" pitchFamily="34" charset="0"/>
                <a:ea typeface="Calibri" pitchFamily="34" charset="-122"/>
                <a:cs typeface="Calibri" pitchFamily="34" charset="-120"/>
              </a:rPr>
              <a:t>Administrator module</a:t>
            </a:r>
            <a:endParaRPr lang="en-US" sz="1350" dirty="0"/>
          </a:p>
        </p:txBody>
      </p:sp>
      <p:sp>
        <p:nvSpPr>
          <p:cNvPr id="44" name="Text 42"/>
          <p:cNvSpPr/>
          <p:nvPr/>
        </p:nvSpPr>
        <p:spPr>
          <a:xfrm>
            <a:off x="7251192" y="5541264"/>
            <a:ext cx="4142232" cy="237744"/>
          </a:xfrm>
          <a:prstGeom prst="rect">
            <a:avLst/>
          </a:prstGeom>
          <a:noFill/>
          <a:ln/>
        </p:spPr>
        <p:txBody>
          <a:bodyPr wrap="square" lIns="0" tIns="0" rIns="0" bIns="0" rtlCol="0" anchor="ctr"/>
          <a:lstStyle/>
          <a:p>
            <a:pPr indent="0" marL="0">
              <a:buNone/>
            </a:pPr>
            <a:r>
              <a:rPr lang="en-US" sz="1100" dirty="0">
                <a:solidFill>
                  <a:srgbClr val="7C939B"/>
                </a:solidFill>
                <a:latin typeface="Calibri" pitchFamily="34" charset="0"/>
                <a:ea typeface="Calibri" pitchFamily="34" charset="-122"/>
                <a:cs typeface="Calibri" pitchFamily="34" charset="-120"/>
              </a:rPr>
              <a:t>Module:  Administration</a:t>
            </a:r>
            <a:endParaRPr lang="en-US" sz="1100" dirty="0"/>
          </a:p>
        </p:txBody>
      </p:sp>
      <p:sp>
        <p:nvSpPr>
          <p:cNvPr id="45" name="Text 43"/>
          <p:cNvSpPr/>
          <p:nvPr/>
        </p:nvSpPr>
        <p:spPr>
          <a:xfrm>
            <a:off x="566928" y="5943600"/>
            <a:ext cx="11027664" cy="310896"/>
          </a:xfrm>
          <a:prstGeom prst="rect">
            <a:avLst/>
          </a:prstGeom>
          <a:noFill/>
          <a:ln/>
        </p:spPr>
        <p:txBody>
          <a:bodyPr wrap="square" lIns="0" tIns="0" rIns="0" bIns="0" rtlCol="0" anchor="ctr"/>
          <a:lstStyle/>
          <a:p>
            <a:pPr indent="0" marL="0">
              <a:buNone/>
            </a:pPr>
            <a:r>
              <a:rPr lang="en-US" sz="1150" i="1" dirty="0">
                <a:solidFill>
                  <a:srgbClr val="028090"/>
                </a:solidFill>
                <a:latin typeface="Calibri" pitchFamily="34" charset="0"/>
                <a:ea typeface="Calibri" pitchFamily="34" charset="-122"/>
                <a:cs typeface="Calibri" pitchFamily="34" charset="-120"/>
              </a:rPr>
              <a:t>Module names match the Suggested Modules named in the project specification.</a:t>
            </a:r>
            <a:endParaRPr lang="en-US" sz="1150" dirty="0"/>
          </a:p>
        </p:txBody>
      </p:sp>
      <p:sp>
        <p:nvSpPr>
          <p:cNvPr id="46" name="Text 44"/>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47" name="Text 45"/>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5</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Non-Functional Requirements</a:t>
            </a:r>
            <a:endParaRPr lang="en-US" sz="3000" dirty="0"/>
          </a:p>
        </p:txBody>
      </p:sp>
      <p:sp>
        <p:nvSpPr>
          <p:cNvPr id="4" name="Text 2"/>
          <p:cNvSpPr/>
          <p:nvPr/>
        </p:nvSpPr>
        <p:spPr>
          <a:xfrm>
            <a:off x="566928" y="1353312"/>
            <a:ext cx="10241280" cy="292608"/>
          </a:xfrm>
          <a:prstGeom prst="rect">
            <a:avLst/>
          </a:prstGeom>
          <a:noFill/>
          <a:ln/>
        </p:spPr>
        <p:txBody>
          <a:bodyPr wrap="square" lIns="0" tIns="0" rIns="0" bIns="0" rtlCol="0" anchor="t"/>
          <a:lstStyle/>
          <a:p>
            <a:pPr indent="0" marL="0">
              <a:lnSpc>
                <a:spcPts val="1700"/>
              </a:lnSpc>
              <a:buNone/>
            </a:pPr>
            <a:r>
              <a:rPr lang="en-US" sz="1250" dirty="0">
                <a:solidFill>
                  <a:srgbClr val="7C939B"/>
                </a:solidFill>
                <a:latin typeface="Calibri" pitchFamily="34" charset="0"/>
                <a:ea typeface="Calibri" pitchFamily="34" charset="-122"/>
                <a:cs typeface="Calibri" pitchFamily="34" charset="-120"/>
              </a:rPr>
              <a:t>The six quality attributes required by the specification, and how each is addressed in our design.</a:t>
            </a:r>
            <a:endParaRPr lang="en-US" sz="1250" dirty="0"/>
          </a:p>
        </p:txBody>
      </p:sp>
      <p:sp>
        <p:nvSpPr>
          <p:cNvPr id="5" name="Shape 3"/>
          <p:cNvSpPr/>
          <p:nvPr/>
        </p:nvSpPr>
        <p:spPr>
          <a:xfrm>
            <a:off x="566928" y="1792224"/>
            <a:ext cx="349300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Shape 4"/>
          <p:cNvSpPr/>
          <p:nvPr/>
        </p:nvSpPr>
        <p:spPr>
          <a:xfrm>
            <a:off x="822960" y="2029968"/>
            <a:ext cx="457200" cy="457200"/>
          </a:xfrm>
          <a:prstGeom prst="ellipse">
            <a:avLst/>
          </a:prstGeom>
          <a:solidFill>
            <a:srgbClr val="028090"/>
          </a:solidFill>
          <a:ln/>
        </p:spPr>
      </p:sp>
      <p:sp>
        <p:nvSpPr>
          <p:cNvPr id="7" name="Text 5"/>
          <p:cNvSpPr/>
          <p:nvPr/>
        </p:nvSpPr>
        <p:spPr>
          <a:xfrm>
            <a:off x="822960" y="2029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8" name="Text 6"/>
          <p:cNvSpPr/>
          <p:nvPr/>
        </p:nvSpPr>
        <p:spPr>
          <a:xfrm>
            <a:off x="1426464" y="2029968"/>
            <a:ext cx="2395728" cy="457200"/>
          </a:xfrm>
          <a:prstGeom prst="rect">
            <a:avLst/>
          </a:prstGeom>
          <a:noFill/>
          <a:ln/>
        </p:spPr>
        <p:txBody>
          <a:bodyPr wrap="square" lIns="0" tIns="0" rIns="0" bIns="0" rtlCol="0" anchor="ctr"/>
          <a:lstStyle/>
          <a:p>
            <a:pPr indent="0" marL="0">
              <a:buNone/>
            </a:pPr>
            <a:r>
              <a:rPr lang="en-US" sz="1550" b="1" dirty="0">
                <a:solidFill>
                  <a:srgbClr val="0A2E36"/>
                </a:solidFill>
                <a:latin typeface="Cambria" pitchFamily="34" charset="0"/>
                <a:ea typeface="Cambria" pitchFamily="34" charset="-122"/>
                <a:cs typeface="Cambria" pitchFamily="34" charset="-120"/>
              </a:rPr>
              <a:t>Security</a:t>
            </a:r>
            <a:endParaRPr lang="en-US" sz="1550" dirty="0"/>
          </a:p>
        </p:txBody>
      </p:sp>
      <p:sp>
        <p:nvSpPr>
          <p:cNvPr id="9" name="Text 7"/>
          <p:cNvSpPr/>
          <p:nvPr/>
        </p:nvSpPr>
        <p:spPr>
          <a:xfrm>
            <a:off x="822960" y="2615184"/>
            <a:ext cx="2980944" cy="100584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Bcrypt password hashing, JWT sessions, role and ownership checks on every protected route, schema validation on every request, secrets in environment variables only.</a:t>
            </a:r>
            <a:endParaRPr lang="en-US" sz="1150" dirty="0"/>
          </a:p>
        </p:txBody>
      </p:sp>
      <p:sp>
        <p:nvSpPr>
          <p:cNvPr id="10" name="Shape 8"/>
          <p:cNvSpPr/>
          <p:nvPr/>
        </p:nvSpPr>
        <p:spPr>
          <a:xfrm>
            <a:off x="4334256" y="1792224"/>
            <a:ext cx="349300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1" name="Shape 9"/>
          <p:cNvSpPr/>
          <p:nvPr/>
        </p:nvSpPr>
        <p:spPr>
          <a:xfrm>
            <a:off x="4590288" y="2029968"/>
            <a:ext cx="457200" cy="457200"/>
          </a:xfrm>
          <a:prstGeom prst="ellipse">
            <a:avLst/>
          </a:prstGeom>
          <a:solidFill>
            <a:srgbClr val="028090"/>
          </a:solidFill>
          <a:ln/>
        </p:spPr>
      </p:sp>
      <p:sp>
        <p:nvSpPr>
          <p:cNvPr id="12" name="Text 10"/>
          <p:cNvSpPr/>
          <p:nvPr/>
        </p:nvSpPr>
        <p:spPr>
          <a:xfrm>
            <a:off x="4590288" y="2029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5193792" y="2029968"/>
            <a:ext cx="2395728" cy="457200"/>
          </a:xfrm>
          <a:prstGeom prst="rect">
            <a:avLst/>
          </a:prstGeom>
          <a:noFill/>
          <a:ln/>
        </p:spPr>
        <p:txBody>
          <a:bodyPr wrap="square" lIns="0" tIns="0" rIns="0" bIns="0" rtlCol="0" anchor="ctr"/>
          <a:lstStyle/>
          <a:p>
            <a:pPr indent="0" marL="0">
              <a:buNone/>
            </a:pPr>
            <a:r>
              <a:rPr lang="en-US" sz="1550" b="1" dirty="0">
                <a:solidFill>
                  <a:srgbClr val="0A2E36"/>
                </a:solidFill>
                <a:latin typeface="Cambria" pitchFamily="34" charset="0"/>
                <a:ea typeface="Cambria" pitchFamily="34" charset="-122"/>
                <a:cs typeface="Cambria" pitchFamily="34" charset="-120"/>
              </a:rPr>
              <a:t>Scalability</a:t>
            </a:r>
            <a:endParaRPr lang="en-US" sz="1550" dirty="0"/>
          </a:p>
        </p:txBody>
      </p:sp>
      <p:sp>
        <p:nvSpPr>
          <p:cNvPr id="14" name="Text 12"/>
          <p:cNvSpPr/>
          <p:nvPr/>
        </p:nvSpPr>
        <p:spPr>
          <a:xfrm>
            <a:off x="4590288" y="2615184"/>
            <a:ext cx="2980944" cy="100584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Stateless API holding no session state, so the platform can run multiple replicas; managed database connection pooling; static frontend on a CDN.</a:t>
            </a:r>
            <a:endParaRPr lang="en-US" sz="1150" dirty="0"/>
          </a:p>
        </p:txBody>
      </p:sp>
      <p:sp>
        <p:nvSpPr>
          <p:cNvPr id="15" name="Shape 13"/>
          <p:cNvSpPr/>
          <p:nvPr/>
        </p:nvSpPr>
        <p:spPr>
          <a:xfrm>
            <a:off x="8101584" y="1792224"/>
            <a:ext cx="349300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6" name="Shape 14"/>
          <p:cNvSpPr/>
          <p:nvPr/>
        </p:nvSpPr>
        <p:spPr>
          <a:xfrm>
            <a:off x="8357616" y="2029968"/>
            <a:ext cx="457200" cy="457200"/>
          </a:xfrm>
          <a:prstGeom prst="ellipse">
            <a:avLst/>
          </a:prstGeom>
          <a:solidFill>
            <a:srgbClr val="028090"/>
          </a:solidFill>
          <a:ln/>
        </p:spPr>
      </p:sp>
      <p:sp>
        <p:nvSpPr>
          <p:cNvPr id="17" name="Text 15"/>
          <p:cNvSpPr/>
          <p:nvPr/>
        </p:nvSpPr>
        <p:spPr>
          <a:xfrm>
            <a:off x="8357616" y="202996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8" name="Text 16"/>
          <p:cNvSpPr/>
          <p:nvPr/>
        </p:nvSpPr>
        <p:spPr>
          <a:xfrm>
            <a:off x="8961120" y="2029968"/>
            <a:ext cx="2395728" cy="457200"/>
          </a:xfrm>
          <a:prstGeom prst="rect">
            <a:avLst/>
          </a:prstGeom>
          <a:noFill/>
          <a:ln/>
        </p:spPr>
        <p:txBody>
          <a:bodyPr wrap="square" lIns="0" tIns="0" rIns="0" bIns="0" rtlCol="0" anchor="ctr"/>
          <a:lstStyle/>
          <a:p>
            <a:pPr indent="0" marL="0">
              <a:buNone/>
            </a:pPr>
            <a:r>
              <a:rPr lang="en-US" sz="1550" b="1" dirty="0">
                <a:solidFill>
                  <a:srgbClr val="0A2E36"/>
                </a:solidFill>
                <a:latin typeface="Cambria" pitchFamily="34" charset="0"/>
                <a:ea typeface="Cambria" pitchFamily="34" charset="-122"/>
                <a:cs typeface="Cambria" pitchFamily="34" charset="-120"/>
              </a:rPr>
              <a:t>Availability</a:t>
            </a:r>
            <a:endParaRPr lang="en-US" sz="1550" dirty="0"/>
          </a:p>
        </p:txBody>
      </p:sp>
      <p:sp>
        <p:nvSpPr>
          <p:cNvPr id="19" name="Text 17"/>
          <p:cNvSpPr/>
          <p:nvPr/>
        </p:nvSpPr>
        <p:spPr>
          <a:xfrm>
            <a:off x="8357616" y="2615184"/>
            <a:ext cx="2980944" cy="100584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Managed cloud services with platform-level uptime; the application degrades gracefully when the AI provider is unreachable rather than failing.</a:t>
            </a:r>
            <a:endParaRPr lang="en-US" sz="1150" dirty="0"/>
          </a:p>
        </p:txBody>
      </p:sp>
      <p:sp>
        <p:nvSpPr>
          <p:cNvPr id="20" name="Shape 18"/>
          <p:cNvSpPr/>
          <p:nvPr/>
        </p:nvSpPr>
        <p:spPr>
          <a:xfrm>
            <a:off x="566928" y="3931920"/>
            <a:ext cx="349300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1" name="Shape 19"/>
          <p:cNvSpPr/>
          <p:nvPr/>
        </p:nvSpPr>
        <p:spPr>
          <a:xfrm>
            <a:off x="822960" y="4169664"/>
            <a:ext cx="457200" cy="457200"/>
          </a:xfrm>
          <a:prstGeom prst="ellipse">
            <a:avLst/>
          </a:prstGeom>
          <a:solidFill>
            <a:srgbClr val="028090"/>
          </a:solidFill>
          <a:ln/>
        </p:spPr>
      </p:sp>
      <p:sp>
        <p:nvSpPr>
          <p:cNvPr id="22" name="Text 20"/>
          <p:cNvSpPr/>
          <p:nvPr/>
        </p:nvSpPr>
        <p:spPr>
          <a:xfrm>
            <a:off x="822960" y="41696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3" name="Text 21"/>
          <p:cNvSpPr/>
          <p:nvPr/>
        </p:nvSpPr>
        <p:spPr>
          <a:xfrm>
            <a:off x="1426464" y="4169664"/>
            <a:ext cx="2395728" cy="457200"/>
          </a:xfrm>
          <a:prstGeom prst="rect">
            <a:avLst/>
          </a:prstGeom>
          <a:noFill/>
          <a:ln/>
        </p:spPr>
        <p:txBody>
          <a:bodyPr wrap="square" lIns="0" tIns="0" rIns="0" bIns="0" rtlCol="0" anchor="ctr"/>
          <a:lstStyle/>
          <a:p>
            <a:pPr indent="0" marL="0">
              <a:buNone/>
            </a:pPr>
            <a:r>
              <a:rPr lang="en-US" sz="1550" b="1" dirty="0">
                <a:solidFill>
                  <a:srgbClr val="0A2E36"/>
                </a:solidFill>
                <a:latin typeface="Cambria" pitchFamily="34" charset="0"/>
                <a:ea typeface="Cambria" pitchFamily="34" charset="-122"/>
                <a:cs typeface="Cambria" pitchFamily="34" charset="-120"/>
              </a:rPr>
              <a:t>Performance</a:t>
            </a:r>
            <a:endParaRPr lang="en-US" sz="1550" dirty="0"/>
          </a:p>
        </p:txBody>
      </p:sp>
      <p:sp>
        <p:nvSpPr>
          <p:cNvPr id="24" name="Text 22"/>
          <p:cNvSpPr/>
          <p:nvPr/>
        </p:nvSpPr>
        <p:spPr>
          <a:xfrm>
            <a:off x="822960" y="4754880"/>
            <a:ext cx="2980944" cy="100584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Indexed queries on every filter column, full-text search index, server-side pagination, and cached client queries.</a:t>
            </a:r>
            <a:endParaRPr lang="en-US" sz="1150" dirty="0"/>
          </a:p>
        </p:txBody>
      </p:sp>
      <p:sp>
        <p:nvSpPr>
          <p:cNvPr id="25" name="Shape 23"/>
          <p:cNvSpPr/>
          <p:nvPr/>
        </p:nvSpPr>
        <p:spPr>
          <a:xfrm>
            <a:off x="4334256" y="3931920"/>
            <a:ext cx="349300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6" name="Shape 24"/>
          <p:cNvSpPr/>
          <p:nvPr/>
        </p:nvSpPr>
        <p:spPr>
          <a:xfrm>
            <a:off x="4590288" y="4169664"/>
            <a:ext cx="457200" cy="457200"/>
          </a:xfrm>
          <a:prstGeom prst="ellipse">
            <a:avLst/>
          </a:prstGeom>
          <a:solidFill>
            <a:srgbClr val="028090"/>
          </a:solidFill>
          <a:ln/>
        </p:spPr>
      </p:sp>
      <p:sp>
        <p:nvSpPr>
          <p:cNvPr id="27" name="Text 25"/>
          <p:cNvSpPr/>
          <p:nvPr/>
        </p:nvSpPr>
        <p:spPr>
          <a:xfrm>
            <a:off x="4590288" y="41696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8" name="Text 26"/>
          <p:cNvSpPr/>
          <p:nvPr/>
        </p:nvSpPr>
        <p:spPr>
          <a:xfrm>
            <a:off x="5193792" y="4169664"/>
            <a:ext cx="2395728" cy="457200"/>
          </a:xfrm>
          <a:prstGeom prst="rect">
            <a:avLst/>
          </a:prstGeom>
          <a:noFill/>
          <a:ln/>
        </p:spPr>
        <p:txBody>
          <a:bodyPr wrap="square" lIns="0" tIns="0" rIns="0" bIns="0" rtlCol="0" anchor="ctr"/>
          <a:lstStyle/>
          <a:p>
            <a:pPr indent="0" marL="0">
              <a:buNone/>
            </a:pPr>
            <a:r>
              <a:rPr lang="en-US" sz="1550" b="1" dirty="0">
                <a:solidFill>
                  <a:srgbClr val="0A2E36"/>
                </a:solidFill>
                <a:latin typeface="Cambria" pitchFamily="34" charset="0"/>
                <a:ea typeface="Cambria" pitchFamily="34" charset="-122"/>
                <a:cs typeface="Cambria" pitchFamily="34" charset="-120"/>
              </a:rPr>
              <a:t>Reliability</a:t>
            </a:r>
            <a:endParaRPr lang="en-US" sz="1550" dirty="0"/>
          </a:p>
        </p:txBody>
      </p:sp>
      <p:sp>
        <p:nvSpPr>
          <p:cNvPr id="29" name="Text 27"/>
          <p:cNvSpPr/>
          <p:nvPr/>
        </p:nvSpPr>
        <p:spPr>
          <a:xfrm>
            <a:off x="4590288" y="4754880"/>
            <a:ext cx="2980944" cy="100584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Database-level constraints, server-side lifecycle validation, structured error handling, and an audit log of privileged actions.</a:t>
            </a:r>
            <a:endParaRPr lang="en-US" sz="1150" dirty="0"/>
          </a:p>
        </p:txBody>
      </p:sp>
      <p:sp>
        <p:nvSpPr>
          <p:cNvPr id="30" name="Shape 28"/>
          <p:cNvSpPr/>
          <p:nvPr/>
        </p:nvSpPr>
        <p:spPr>
          <a:xfrm>
            <a:off x="8101584" y="3931920"/>
            <a:ext cx="3493008" cy="1975104"/>
          </a:xfrm>
          <a:prstGeom prst="roundRect">
            <a:avLst>
              <a:gd name="adj" fmla="val 4630"/>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1" name="Shape 29"/>
          <p:cNvSpPr/>
          <p:nvPr/>
        </p:nvSpPr>
        <p:spPr>
          <a:xfrm>
            <a:off x="8357616" y="4169664"/>
            <a:ext cx="457200" cy="457200"/>
          </a:xfrm>
          <a:prstGeom prst="ellipse">
            <a:avLst/>
          </a:prstGeom>
          <a:solidFill>
            <a:srgbClr val="028090"/>
          </a:solidFill>
          <a:ln/>
        </p:spPr>
      </p:sp>
      <p:sp>
        <p:nvSpPr>
          <p:cNvPr id="32" name="Text 30"/>
          <p:cNvSpPr/>
          <p:nvPr/>
        </p:nvSpPr>
        <p:spPr>
          <a:xfrm>
            <a:off x="8357616" y="416966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8961120" y="4169664"/>
            <a:ext cx="2395728" cy="457200"/>
          </a:xfrm>
          <a:prstGeom prst="rect">
            <a:avLst/>
          </a:prstGeom>
          <a:noFill/>
          <a:ln/>
        </p:spPr>
        <p:txBody>
          <a:bodyPr wrap="square" lIns="0" tIns="0" rIns="0" bIns="0" rtlCol="0" anchor="ctr"/>
          <a:lstStyle/>
          <a:p>
            <a:pPr indent="0" marL="0">
              <a:buNone/>
            </a:pPr>
            <a:r>
              <a:rPr lang="en-US" sz="1550" b="1" dirty="0">
                <a:solidFill>
                  <a:srgbClr val="0A2E36"/>
                </a:solidFill>
                <a:latin typeface="Cambria" pitchFamily="34" charset="0"/>
                <a:ea typeface="Cambria" pitchFamily="34" charset="-122"/>
                <a:cs typeface="Cambria" pitchFamily="34" charset="-120"/>
              </a:rPr>
              <a:t>Usability</a:t>
            </a:r>
            <a:endParaRPr lang="en-US" sz="1550" dirty="0"/>
          </a:p>
        </p:txBody>
      </p:sp>
      <p:sp>
        <p:nvSpPr>
          <p:cNvPr id="34" name="Text 32"/>
          <p:cNvSpPr/>
          <p:nvPr/>
        </p:nvSpPr>
        <p:spPr>
          <a:xfrm>
            <a:off x="8357616" y="4754880"/>
            <a:ext cx="2980944" cy="1005840"/>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One consistent design system, responsive from 375 px upward, clear empty and error states, and no raw error text shown to users.</a:t>
            </a:r>
            <a:endParaRPr lang="en-US" sz="1150" dirty="0"/>
          </a:p>
        </p:txBody>
      </p:sp>
      <p:sp>
        <p:nvSpPr>
          <p:cNvPr id="35" name="Text 33"/>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6" name="Text 34"/>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7</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Use Case Diagram</a:t>
            </a:r>
            <a:endParaRPr lang="en-US" sz="3000" dirty="0"/>
          </a:p>
        </p:txBody>
      </p:sp>
      <p:sp>
        <p:nvSpPr>
          <p:cNvPr id="4" name="Shape 2"/>
          <p:cNvSpPr/>
          <p:nvPr/>
        </p:nvSpPr>
        <p:spPr>
          <a:xfrm>
            <a:off x="566928" y="1389888"/>
            <a:ext cx="11027664" cy="4315968"/>
          </a:xfrm>
          <a:prstGeom prst="roundRect">
            <a:avLst>
              <a:gd name="adj" fmla="val 1271"/>
            </a:avLst>
          </a:prstGeom>
          <a:solidFill>
            <a:srgbClr val="F7FBFB"/>
          </a:solidFill>
          <a:ln w="15875">
            <a:solidFill>
              <a:srgbClr val="028090"/>
            </a:solidFill>
            <a:prstDash val="dash"/>
          </a:ln>
        </p:spPr>
      </p:sp>
      <p:sp>
        <p:nvSpPr>
          <p:cNvPr id="5" name="Text 3"/>
          <p:cNvSpPr/>
          <p:nvPr/>
        </p:nvSpPr>
        <p:spPr>
          <a:xfrm>
            <a:off x="841248" y="1481328"/>
            <a:ext cx="5486400" cy="274320"/>
          </a:xfrm>
          <a:prstGeom prst="rect">
            <a:avLst/>
          </a:prstGeom>
          <a:noFill/>
          <a:ln/>
        </p:spPr>
        <p:txBody>
          <a:bodyPr wrap="square" lIns="0" tIns="0" rIns="0" bIns="0" rtlCol="0" anchor="ctr"/>
          <a:lstStyle/>
          <a:p>
            <a:pPr indent="0" marL="0">
              <a:buNone/>
            </a:pPr>
            <a:r>
              <a:rPr lang="en-US" sz="1200" b="1" dirty="0">
                <a:solidFill>
                  <a:srgbClr val="028090"/>
                </a:solidFill>
                <a:latin typeface="Calibri" pitchFamily="34" charset="0"/>
                <a:ea typeface="Calibri" pitchFamily="34" charset="-122"/>
                <a:cs typeface="Calibri" pitchFamily="34" charset="-120"/>
              </a:rPr>
              <a:t>ServiceDesk AI  —  System Boundary</a:t>
            </a:r>
            <a:endParaRPr lang="en-US" sz="1200" dirty="0"/>
          </a:p>
        </p:txBody>
      </p:sp>
      <p:sp>
        <p:nvSpPr>
          <p:cNvPr id="6" name="Shape 4"/>
          <p:cNvSpPr/>
          <p:nvPr/>
        </p:nvSpPr>
        <p:spPr>
          <a:xfrm>
            <a:off x="2209800" y="1865376"/>
            <a:ext cx="512064" cy="512064"/>
          </a:xfrm>
          <a:prstGeom prst="ellipse">
            <a:avLst/>
          </a:prstGeom>
          <a:solidFill>
            <a:srgbClr val="028090"/>
          </a:solidFill>
          <a:ln/>
        </p:spPr>
      </p:sp>
      <p:sp>
        <p:nvSpPr>
          <p:cNvPr id="7" name="Text 5"/>
          <p:cNvSpPr/>
          <p:nvPr/>
        </p:nvSpPr>
        <p:spPr>
          <a:xfrm>
            <a:off x="2209800" y="186537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8" name="Text 6"/>
          <p:cNvSpPr/>
          <p:nvPr/>
        </p:nvSpPr>
        <p:spPr>
          <a:xfrm>
            <a:off x="841248" y="2432304"/>
            <a:ext cx="3249168" cy="274320"/>
          </a:xfrm>
          <a:prstGeom prst="rect">
            <a:avLst/>
          </a:prstGeom>
          <a:noFill/>
          <a:ln/>
        </p:spPr>
        <p:txBody>
          <a:bodyPr wrap="square" lIns="0" tIns="0" rIns="0" bIns="0" rtlCol="0" anchor="ctr"/>
          <a:lstStyle/>
          <a:p>
            <a:pPr algn="ctr" indent="0" marL="0">
              <a:buNone/>
            </a:pPr>
            <a:r>
              <a:rPr lang="en-US" sz="1400" b="1" dirty="0">
                <a:solidFill>
                  <a:srgbClr val="0A2E36"/>
                </a:solidFill>
                <a:latin typeface="Calibri" pitchFamily="34" charset="0"/>
                <a:ea typeface="Calibri" pitchFamily="34" charset="-122"/>
                <a:cs typeface="Calibri" pitchFamily="34" charset="-120"/>
              </a:rPr>
              <a:t>Customer</a:t>
            </a:r>
            <a:endParaRPr lang="en-US" sz="1400" dirty="0"/>
          </a:p>
        </p:txBody>
      </p:sp>
      <p:sp>
        <p:nvSpPr>
          <p:cNvPr id="9" name="Text 7"/>
          <p:cNvSpPr/>
          <p:nvPr/>
        </p:nvSpPr>
        <p:spPr>
          <a:xfrm>
            <a:off x="841248" y="2688336"/>
            <a:ext cx="3249168" cy="219456"/>
          </a:xfrm>
          <a:prstGeom prst="rect">
            <a:avLst/>
          </a:prstGeom>
          <a:noFill/>
          <a:ln/>
        </p:spPr>
        <p:txBody>
          <a:bodyPr wrap="square" lIns="0" tIns="0" rIns="0" bIns="0" rtlCol="0" anchor="ctr"/>
          <a:lstStyle/>
          <a:p>
            <a:pPr algn="ctr" indent="0" marL="0">
              <a:buNone/>
            </a:pPr>
            <a:r>
              <a:rPr lang="en-US" sz="1000" dirty="0">
                <a:solidFill>
                  <a:srgbClr val="7C939B"/>
                </a:solidFill>
                <a:latin typeface="Calibri" pitchFamily="34" charset="0"/>
                <a:ea typeface="Calibri" pitchFamily="34" charset="-122"/>
                <a:cs typeface="Calibri" pitchFamily="34" charset="-120"/>
              </a:rPr>
              <a:t>«actor»</a:t>
            </a:r>
            <a:endParaRPr lang="en-US" sz="1000" dirty="0"/>
          </a:p>
        </p:txBody>
      </p:sp>
      <p:sp>
        <p:nvSpPr>
          <p:cNvPr id="10" name="Shape 8"/>
          <p:cNvSpPr/>
          <p:nvPr/>
        </p:nvSpPr>
        <p:spPr>
          <a:xfrm>
            <a:off x="2465832" y="2926080"/>
            <a:ext cx="0" cy="164592"/>
          </a:xfrm>
          <a:prstGeom prst="line">
            <a:avLst/>
          </a:prstGeom>
          <a:noFill/>
          <a:ln w="12700">
            <a:solidFill>
              <a:srgbClr val="028090"/>
            </a:solidFill>
            <a:prstDash val="solid"/>
          </a:ln>
        </p:spPr>
      </p:sp>
      <p:sp>
        <p:nvSpPr>
          <p:cNvPr id="11" name="Shape 9"/>
          <p:cNvSpPr/>
          <p:nvPr/>
        </p:nvSpPr>
        <p:spPr>
          <a:xfrm>
            <a:off x="841248" y="3127248"/>
            <a:ext cx="3249168" cy="274320"/>
          </a:xfrm>
          <a:prstGeom prst="roundRect">
            <a:avLst>
              <a:gd name="adj" fmla="val 50000"/>
            </a:avLst>
          </a:prstGeom>
          <a:solidFill>
            <a:srgbClr val="FFFFFF"/>
          </a:solidFill>
          <a:ln w="12700">
            <a:solidFill>
              <a:srgbClr val="028090"/>
            </a:solidFill>
            <a:prstDash val="solid"/>
          </a:ln>
        </p:spPr>
      </p:sp>
      <p:sp>
        <p:nvSpPr>
          <p:cNvPr id="12" name="Text 10"/>
          <p:cNvSpPr/>
          <p:nvPr/>
        </p:nvSpPr>
        <p:spPr>
          <a:xfrm>
            <a:off x="841248" y="3127248"/>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Register / Login</a:t>
            </a:r>
            <a:endParaRPr lang="en-US" sz="1050" dirty="0"/>
          </a:p>
        </p:txBody>
      </p:sp>
      <p:sp>
        <p:nvSpPr>
          <p:cNvPr id="13" name="Shape 11"/>
          <p:cNvSpPr/>
          <p:nvPr/>
        </p:nvSpPr>
        <p:spPr>
          <a:xfrm>
            <a:off x="841248" y="3442716"/>
            <a:ext cx="3249168" cy="274320"/>
          </a:xfrm>
          <a:prstGeom prst="roundRect">
            <a:avLst>
              <a:gd name="adj" fmla="val 50000"/>
            </a:avLst>
          </a:prstGeom>
          <a:solidFill>
            <a:srgbClr val="FFFFFF"/>
          </a:solidFill>
          <a:ln w="12700">
            <a:solidFill>
              <a:srgbClr val="028090"/>
            </a:solidFill>
            <a:prstDash val="solid"/>
          </a:ln>
        </p:spPr>
      </p:sp>
      <p:sp>
        <p:nvSpPr>
          <p:cNvPr id="14" name="Text 12"/>
          <p:cNvSpPr/>
          <p:nvPr/>
        </p:nvSpPr>
        <p:spPr>
          <a:xfrm>
            <a:off x="841248" y="3442716"/>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Manage Profile</a:t>
            </a:r>
            <a:endParaRPr lang="en-US" sz="1050" dirty="0"/>
          </a:p>
        </p:txBody>
      </p:sp>
      <p:sp>
        <p:nvSpPr>
          <p:cNvPr id="15" name="Shape 13"/>
          <p:cNvSpPr/>
          <p:nvPr/>
        </p:nvSpPr>
        <p:spPr>
          <a:xfrm>
            <a:off x="841248" y="3758184"/>
            <a:ext cx="3249168" cy="274320"/>
          </a:xfrm>
          <a:prstGeom prst="roundRect">
            <a:avLst>
              <a:gd name="adj" fmla="val 50000"/>
            </a:avLst>
          </a:prstGeom>
          <a:solidFill>
            <a:srgbClr val="FFFFFF"/>
          </a:solidFill>
          <a:ln w="12700">
            <a:solidFill>
              <a:srgbClr val="028090"/>
            </a:solidFill>
            <a:prstDash val="solid"/>
          </a:ln>
        </p:spPr>
      </p:sp>
      <p:sp>
        <p:nvSpPr>
          <p:cNvPr id="16" name="Text 14"/>
          <p:cNvSpPr/>
          <p:nvPr/>
        </p:nvSpPr>
        <p:spPr>
          <a:xfrm>
            <a:off x="841248" y="3758184"/>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Create Ticket</a:t>
            </a:r>
            <a:endParaRPr lang="en-US" sz="1050" dirty="0"/>
          </a:p>
        </p:txBody>
      </p:sp>
      <p:sp>
        <p:nvSpPr>
          <p:cNvPr id="17" name="Shape 15"/>
          <p:cNvSpPr/>
          <p:nvPr/>
        </p:nvSpPr>
        <p:spPr>
          <a:xfrm>
            <a:off x="841248" y="4073652"/>
            <a:ext cx="3249168" cy="274320"/>
          </a:xfrm>
          <a:prstGeom prst="roundRect">
            <a:avLst>
              <a:gd name="adj" fmla="val 50000"/>
            </a:avLst>
          </a:prstGeom>
          <a:solidFill>
            <a:srgbClr val="FFFFFF"/>
          </a:solidFill>
          <a:ln w="12700">
            <a:solidFill>
              <a:srgbClr val="028090"/>
            </a:solidFill>
            <a:prstDash val="solid"/>
          </a:ln>
        </p:spPr>
      </p:sp>
      <p:sp>
        <p:nvSpPr>
          <p:cNvPr id="18" name="Text 16"/>
          <p:cNvSpPr/>
          <p:nvPr/>
        </p:nvSpPr>
        <p:spPr>
          <a:xfrm>
            <a:off x="841248" y="4073652"/>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View Ticket</a:t>
            </a:r>
            <a:endParaRPr lang="en-US" sz="1050" dirty="0"/>
          </a:p>
        </p:txBody>
      </p:sp>
      <p:sp>
        <p:nvSpPr>
          <p:cNvPr id="19" name="Shape 17"/>
          <p:cNvSpPr/>
          <p:nvPr/>
        </p:nvSpPr>
        <p:spPr>
          <a:xfrm>
            <a:off x="841248" y="4389120"/>
            <a:ext cx="3249168" cy="274320"/>
          </a:xfrm>
          <a:prstGeom prst="roundRect">
            <a:avLst>
              <a:gd name="adj" fmla="val 50000"/>
            </a:avLst>
          </a:prstGeom>
          <a:solidFill>
            <a:srgbClr val="FFFFFF"/>
          </a:solidFill>
          <a:ln w="12700">
            <a:solidFill>
              <a:srgbClr val="028090"/>
            </a:solidFill>
            <a:prstDash val="solid"/>
          </a:ln>
        </p:spPr>
      </p:sp>
      <p:sp>
        <p:nvSpPr>
          <p:cNvPr id="20" name="Text 18"/>
          <p:cNvSpPr/>
          <p:nvPr/>
        </p:nvSpPr>
        <p:spPr>
          <a:xfrm>
            <a:off x="841248" y="4389120"/>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Reply to Ticket</a:t>
            </a:r>
            <a:endParaRPr lang="en-US" sz="1050" dirty="0"/>
          </a:p>
        </p:txBody>
      </p:sp>
      <p:sp>
        <p:nvSpPr>
          <p:cNvPr id="21" name="Shape 19"/>
          <p:cNvSpPr/>
          <p:nvPr/>
        </p:nvSpPr>
        <p:spPr>
          <a:xfrm>
            <a:off x="841248" y="4704588"/>
            <a:ext cx="3249168" cy="274320"/>
          </a:xfrm>
          <a:prstGeom prst="roundRect">
            <a:avLst>
              <a:gd name="adj" fmla="val 50000"/>
            </a:avLst>
          </a:prstGeom>
          <a:solidFill>
            <a:srgbClr val="FFFFFF"/>
          </a:solidFill>
          <a:ln w="12700">
            <a:solidFill>
              <a:srgbClr val="028090"/>
            </a:solidFill>
            <a:prstDash val="solid"/>
          </a:ln>
        </p:spPr>
      </p:sp>
      <p:sp>
        <p:nvSpPr>
          <p:cNvPr id="22" name="Text 20"/>
          <p:cNvSpPr/>
          <p:nvPr/>
        </p:nvSpPr>
        <p:spPr>
          <a:xfrm>
            <a:off x="841248" y="4704588"/>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Track Ticket Status</a:t>
            </a:r>
            <a:endParaRPr lang="en-US" sz="1050" dirty="0"/>
          </a:p>
        </p:txBody>
      </p:sp>
      <p:sp>
        <p:nvSpPr>
          <p:cNvPr id="23" name="Shape 21"/>
          <p:cNvSpPr/>
          <p:nvPr/>
        </p:nvSpPr>
        <p:spPr>
          <a:xfrm>
            <a:off x="841248" y="5020056"/>
            <a:ext cx="3249168" cy="274320"/>
          </a:xfrm>
          <a:prstGeom prst="roundRect">
            <a:avLst>
              <a:gd name="adj" fmla="val 50000"/>
            </a:avLst>
          </a:prstGeom>
          <a:solidFill>
            <a:srgbClr val="FFFFFF"/>
          </a:solidFill>
          <a:ln w="12700">
            <a:solidFill>
              <a:srgbClr val="028090"/>
            </a:solidFill>
            <a:prstDash val="solid"/>
          </a:ln>
        </p:spPr>
      </p:sp>
      <p:sp>
        <p:nvSpPr>
          <p:cNvPr id="24" name="Text 22"/>
          <p:cNvSpPr/>
          <p:nvPr/>
        </p:nvSpPr>
        <p:spPr>
          <a:xfrm>
            <a:off x="841248" y="5020056"/>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Receive Notifications</a:t>
            </a:r>
            <a:endParaRPr lang="en-US" sz="1050" dirty="0"/>
          </a:p>
        </p:txBody>
      </p:sp>
      <p:sp>
        <p:nvSpPr>
          <p:cNvPr id="25" name="Shape 23"/>
          <p:cNvSpPr/>
          <p:nvPr/>
        </p:nvSpPr>
        <p:spPr>
          <a:xfrm>
            <a:off x="5824728" y="1865376"/>
            <a:ext cx="512064" cy="512064"/>
          </a:xfrm>
          <a:prstGeom prst="ellipse">
            <a:avLst/>
          </a:prstGeom>
          <a:solidFill>
            <a:srgbClr val="00A896"/>
          </a:solidFill>
          <a:ln/>
        </p:spPr>
      </p:sp>
      <p:sp>
        <p:nvSpPr>
          <p:cNvPr id="26" name="Text 24"/>
          <p:cNvSpPr/>
          <p:nvPr/>
        </p:nvSpPr>
        <p:spPr>
          <a:xfrm>
            <a:off x="5824728" y="186537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27" name="Text 25"/>
          <p:cNvSpPr/>
          <p:nvPr/>
        </p:nvSpPr>
        <p:spPr>
          <a:xfrm>
            <a:off x="4456176" y="2432304"/>
            <a:ext cx="3249168" cy="274320"/>
          </a:xfrm>
          <a:prstGeom prst="rect">
            <a:avLst/>
          </a:prstGeom>
          <a:noFill/>
          <a:ln/>
        </p:spPr>
        <p:txBody>
          <a:bodyPr wrap="square" lIns="0" tIns="0" rIns="0" bIns="0" rtlCol="0" anchor="ctr"/>
          <a:lstStyle/>
          <a:p>
            <a:pPr algn="ctr" indent="0" marL="0">
              <a:buNone/>
            </a:pPr>
            <a:r>
              <a:rPr lang="en-US" sz="1400" b="1" dirty="0">
                <a:solidFill>
                  <a:srgbClr val="0A2E36"/>
                </a:solidFill>
                <a:latin typeface="Calibri" pitchFamily="34" charset="0"/>
                <a:ea typeface="Calibri" pitchFamily="34" charset="-122"/>
                <a:cs typeface="Calibri" pitchFamily="34" charset="-120"/>
              </a:rPr>
              <a:t>Support Agent</a:t>
            </a:r>
            <a:endParaRPr lang="en-US" sz="1400" dirty="0"/>
          </a:p>
        </p:txBody>
      </p:sp>
      <p:sp>
        <p:nvSpPr>
          <p:cNvPr id="28" name="Text 26"/>
          <p:cNvSpPr/>
          <p:nvPr/>
        </p:nvSpPr>
        <p:spPr>
          <a:xfrm>
            <a:off x="4456176" y="2688336"/>
            <a:ext cx="3249168" cy="219456"/>
          </a:xfrm>
          <a:prstGeom prst="rect">
            <a:avLst/>
          </a:prstGeom>
          <a:noFill/>
          <a:ln/>
        </p:spPr>
        <p:txBody>
          <a:bodyPr wrap="square" lIns="0" tIns="0" rIns="0" bIns="0" rtlCol="0" anchor="ctr"/>
          <a:lstStyle/>
          <a:p>
            <a:pPr algn="ctr" indent="0" marL="0">
              <a:buNone/>
            </a:pPr>
            <a:r>
              <a:rPr lang="en-US" sz="1000" dirty="0">
                <a:solidFill>
                  <a:srgbClr val="7C939B"/>
                </a:solidFill>
                <a:latin typeface="Calibri" pitchFamily="34" charset="0"/>
                <a:ea typeface="Calibri" pitchFamily="34" charset="-122"/>
                <a:cs typeface="Calibri" pitchFamily="34" charset="-120"/>
              </a:rPr>
              <a:t>«actor»</a:t>
            </a:r>
            <a:endParaRPr lang="en-US" sz="1000" dirty="0"/>
          </a:p>
        </p:txBody>
      </p:sp>
      <p:sp>
        <p:nvSpPr>
          <p:cNvPr id="29" name="Shape 27"/>
          <p:cNvSpPr/>
          <p:nvPr/>
        </p:nvSpPr>
        <p:spPr>
          <a:xfrm>
            <a:off x="6080760" y="2926080"/>
            <a:ext cx="0" cy="164592"/>
          </a:xfrm>
          <a:prstGeom prst="line">
            <a:avLst/>
          </a:prstGeom>
          <a:noFill/>
          <a:ln w="12700">
            <a:solidFill>
              <a:srgbClr val="00A896"/>
            </a:solidFill>
            <a:prstDash val="solid"/>
          </a:ln>
        </p:spPr>
      </p:sp>
      <p:sp>
        <p:nvSpPr>
          <p:cNvPr id="30" name="Shape 28"/>
          <p:cNvSpPr/>
          <p:nvPr/>
        </p:nvSpPr>
        <p:spPr>
          <a:xfrm>
            <a:off x="4456176" y="3127248"/>
            <a:ext cx="3249168" cy="274320"/>
          </a:xfrm>
          <a:prstGeom prst="roundRect">
            <a:avLst>
              <a:gd name="adj" fmla="val 50000"/>
            </a:avLst>
          </a:prstGeom>
          <a:solidFill>
            <a:srgbClr val="FFFFFF"/>
          </a:solidFill>
          <a:ln w="12700">
            <a:solidFill>
              <a:srgbClr val="00A896"/>
            </a:solidFill>
            <a:prstDash val="solid"/>
          </a:ln>
        </p:spPr>
      </p:sp>
      <p:sp>
        <p:nvSpPr>
          <p:cNvPr id="31" name="Text 29"/>
          <p:cNvSpPr/>
          <p:nvPr/>
        </p:nvSpPr>
        <p:spPr>
          <a:xfrm>
            <a:off x="4456176" y="3127248"/>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Login</a:t>
            </a:r>
            <a:endParaRPr lang="en-US" sz="1050" dirty="0"/>
          </a:p>
        </p:txBody>
      </p:sp>
      <p:sp>
        <p:nvSpPr>
          <p:cNvPr id="32" name="Shape 30"/>
          <p:cNvSpPr/>
          <p:nvPr/>
        </p:nvSpPr>
        <p:spPr>
          <a:xfrm>
            <a:off x="4456176" y="3442716"/>
            <a:ext cx="3249168" cy="274320"/>
          </a:xfrm>
          <a:prstGeom prst="roundRect">
            <a:avLst>
              <a:gd name="adj" fmla="val 50000"/>
            </a:avLst>
          </a:prstGeom>
          <a:solidFill>
            <a:srgbClr val="FFFFFF"/>
          </a:solidFill>
          <a:ln w="12700">
            <a:solidFill>
              <a:srgbClr val="00A896"/>
            </a:solidFill>
            <a:prstDash val="solid"/>
          </a:ln>
        </p:spPr>
      </p:sp>
      <p:sp>
        <p:nvSpPr>
          <p:cNvPr id="33" name="Text 31"/>
          <p:cNvSpPr/>
          <p:nvPr/>
        </p:nvSpPr>
        <p:spPr>
          <a:xfrm>
            <a:off x="4456176" y="3442716"/>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View Ticket Queue</a:t>
            </a:r>
            <a:endParaRPr lang="en-US" sz="1050" dirty="0"/>
          </a:p>
        </p:txBody>
      </p:sp>
      <p:sp>
        <p:nvSpPr>
          <p:cNvPr id="34" name="Shape 32"/>
          <p:cNvSpPr/>
          <p:nvPr/>
        </p:nvSpPr>
        <p:spPr>
          <a:xfrm>
            <a:off x="4456176" y="3758184"/>
            <a:ext cx="3249168" cy="274320"/>
          </a:xfrm>
          <a:prstGeom prst="roundRect">
            <a:avLst>
              <a:gd name="adj" fmla="val 50000"/>
            </a:avLst>
          </a:prstGeom>
          <a:solidFill>
            <a:srgbClr val="FFFFFF"/>
          </a:solidFill>
          <a:ln w="12700">
            <a:solidFill>
              <a:srgbClr val="00A896"/>
            </a:solidFill>
            <a:prstDash val="solid"/>
          </a:ln>
        </p:spPr>
      </p:sp>
      <p:sp>
        <p:nvSpPr>
          <p:cNvPr id="35" name="Text 33"/>
          <p:cNvSpPr/>
          <p:nvPr/>
        </p:nvSpPr>
        <p:spPr>
          <a:xfrm>
            <a:off x="4456176" y="3758184"/>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Search Tickets</a:t>
            </a:r>
            <a:endParaRPr lang="en-US" sz="1050" dirty="0"/>
          </a:p>
        </p:txBody>
      </p:sp>
      <p:sp>
        <p:nvSpPr>
          <p:cNvPr id="36" name="Shape 34"/>
          <p:cNvSpPr/>
          <p:nvPr/>
        </p:nvSpPr>
        <p:spPr>
          <a:xfrm>
            <a:off x="4456176" y="4073652"/>
            <a:ext cx="3249168" cy="274320"/>
          </a:xfrm>
          <a:prstGeom prst="roundRect">
            <a:avLst>
              <a:gd name="adj" fmla="val 50000"/>
            </a:avLst>
          </a:prstGeom>
          <a:solidFill>
            <a:srgbClr val="FFFFFF"/>
          </a:solidFill>
          <a:ln w="12700">
            <a:solidFill>
              <a:srgbClr val="00A896"/>
            </a:solidFill>
            <a:prstDash val="solid"/>
          </a:ln>
        </p:spPr>
      </p:sp>
      <p:sp>
        <p:nvSpPr>
          <p:cNvPr id="37" name="Text 35"/>
          <p:cNvSpPr/>
          <p:nvPr/>
        </p:nvSpPr>
        <p:spPr>
          <a:xfrm>
            <a:off x="4456176" y="4073652"/>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Update Ticket</a:t>
            </a:r>
            <a:endParaRPr lang="en-US" sz="1050" dirty="0"/>
          </a:p>
        </p:txBody>
      </p:sp>
      <p:sp>
        <p:nvSpPr>
          <p:cNvPr id="38" name="Shape 36"/>
          <p:cNvSpPr/>
          <p:nvPr/>
        </p:nvSpPr>
        <p:spPr>
          <a:xfrm>
            <a:off x="4456176" y="4389120"/>
            <a:ext cx="3249168" cy="274320"/>
          </a:xfrm>
          <a:prstGeom prst="roundRect">
            <a:avLst>
              <a:gd name="adj" fmla="val 50000"/>
            </a:avLst>
          </a:prstGeom>
          <a:solidFill>
            <a:srgbClr val="FFFFFF"/>
          </a:solidFill>
          <a:ln w="12700">
            <a:solidFill>
              <a:srgbClr val="00A896"/>
            </a:solidFill>
            <a:prstDash val="solid"/>
          </a:ln>
        </p:spPr>
      </p:sp>
      <p:sp>
        <p:nvSpPr>
          <p:cNvPr id="39" name="Text 37"/>
          <p:cNvSpPr/>
          <p:nvPr/>
        </p:nvSpPr>
        <p:spPr>
          <a:xfrm>
            <a:off x="4456176" y="4389120"/>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Assign / Escalate</a:t>
            </a:r>
            <a:endParaRPr lang="en-US" sz="1050" dirty="0"/>
          </a:p>
        </p:txBody>
      </p:sp>
      <p:sp>
        <p:nvSpPr>
          <p:cNvPr id="40" name="Shape 38"/>
          <p:cNvSpPr/>
          <p:nvPr/>
        </p:nvSpPr>
        <p:spPr>
          <a:xfrm>
            <a:off x="4456176" y="4704588"/>
            <a:ext cx="3249168" cy="274320"/>
          </a:xfrm>
          <a:prstGeom prst="roundRect">
            <a:avLst>
              <a:gd name="adj" fmla="val 50000"/>
            </a:avLst>
          </a:prstGeom>
          <a:solidFill>
            <a:srgbClr val="FFFFFF"/>
          </a:solidFill>
          <a:ln w="12700">
            <a:solidFill>
              <a:srgbClr val="00A896"/>
            </a:solidFill>
            <a:prstDash val="solid"/>
          </a:ln>
        </p:spPr>
      </p:sp>
      <p:sp>
        <p:nvSpPr>
          <p:cNvPr id="41" name="Text 39"/>
          <p:cNvSpPr/>
          <p:nvPr/>
        </p:nvSpPr>
        <p:spPr>
          <a:xfrm>
            <a:off x="4456176" y="4704588"/>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Reply to Customer</a:t>
            </a:r>
            <a:endParaRPr lang="en-US" sz="1050" dirty="0"/>
          </a:p>
        </p:txBody>
      </p:sp>
      <p:sp>
        <p:nvSpPr>
          <p:cNvPr id="42" name="Shape 40"/>
          <p:cNvSpPr/>
          <p:nvPr/>
        </p:nvSpPr>
        <p:spPr>
          <a:xfrm>
            <a:off x="4456176" y="5020056"/>
            <a:ext cx="3249168" cy="274320"/>
          </a:xfrm>
          <a:prstGeom prst="roundRect">
            <a:avLst>
              <a:gd name="adj" fmla="val 50000"/>
            </a:avLst>
          </a:prstGeom>
          <a:solidFill>
            <a:srgbClr val="FFFFFF"/>
          </a:solidFill>
          <a:ln w="12700">
            <a:solidFill>
              <a:srgbClr val="00A896"/>
            </a:solidFill>
            <a:prstDash val="solid"/>
          </a:ln>
        </p:spPr>
      </p:sp>
      <p:sp>
        <p:nvSpPr>
          <p:cNvPr id="43" name="Text 41"/>
          <p:cNvSpPr/>
          <p:nvPr/>
        </p:nvSpPr>
        <p:spPr>
          <a:xfrm>
            <a:off x="4456176" y="5020056"/>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Use AI Assistance</a:t>
            </a:r>
            <a:endParaRPr lang="en-US" sz="1050" dirty="0"/>
          </a:p>
        </p:txBody>
      </p:sp>
      <p:sp>
        <p:nvSpPr>
          <p:cNvPr id="44" name="Shape 42"/>
          <p:cNvSpPr/>
          <p:nvPr/>
        </p:nvSpPr>
        <p:spPr>
          <a:xfrm>
            <a:off x="4456176" y="5335524"/>
            <a:ext cx="3249168" cy="274320"/>
          </a:xfrm>
          <a:prstGeom prst="roundRect">
            <a:avLst>
              <a:gd name="adj" fmla="val 50000"/>
            </a:avLst>
          </a:prstGeom>
          <a:solidFill>
            <a:srgbClr val="FFFFFF"/>
          </a:solidFill>
          <a:ln w="12700">
            <a:solidFill>
              <a:srgbClr val="00A896"/>
            </a:solidFill>
            <a:prstDash val="solid"/>
          </a:ln>
        </p:spPr>
      </p:sp>
      <p:sp>
        <p:nvSpPr>
          <p:cNvPr id="45" name="Text 43"/>
          <p:cNvSpPr/>
          <p:nvPr/>
        </p:nvSpPr>
        <p:spPr>
          <a:xfrm>
            <a:off x="4456176" y="5335524"/>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View Dashboard</a:t>
            </a:r>
            <a:endParaRPr lang="en-US" sz="1050" dirty="0"/>
          </a:p>
        </p:txBody>
      </p:sp>
      <p:sp>
        <p:nvSpPr>
          <p:cNvPr id="46" name="Shape 44"/>
          <p:cNvSpPr/>
          <p:nvPr/>
        </p:nvSpPr>
        <p:spPr>
          <a:xfrm>
            <a:off x="9439656" y="1865376"/>
            <a:ext cx="512064" cy="512064"/>
          </a:xfrm>
          <a:prstGeom prst="ellipse">
            <a:avLst/>
          </a:prstGeom>
          <a:solidFill>
            <a:srgbClr val="0A2E36"/>
          </a:solidFill>
          <a:ln/>
        </p:spPr>
      </p:sp>
      <p:sp>
        <p:nvSpPr>
          <p:cNvPr id="47" name="Text 45"/>
          <p:cNvSpPr/>
          <p:nvPr/>
        </p:nvSpPr>
        <p:spPr>
          <a:xfrm>
            <a:off x="9439656" y="1865376"/>
            <a:ext cx="512064" cy="512064"/>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48" name="Text 46"/>
          <p:cNvSpPr/>
          <p:nvPr/>
        </p:nvSpPr>
        <p:spPr>
          <a:xfrm>
            <a:off x="8071104" y="2432304"/>
            <a:ext cx="3249168" cy="274320"/>
          </a:xfrm>
          <a:prstGeom prst="rect">
            <a:avLst/>
          </a:prstGeom>
          <a:noFill/>
          <a:ln/>
        </p:spPr>
        <p:txBody>
          <a:bodyPr wrap="square" lIns="0" tIns="0" rIns="0" bIns="0" rtlCol="0" anchor="ctr"/>
          <a:lstStyle/>
          <a:p>
            <a:pPr algn="ctr" indent="0" marL="0">
              <a:buNone/>
            </a:pPr>
            <a:r>
              <a:rPr lang="en-US" sz="1400" b="1" dirty="0">
                <a:solidFill>
                  <a:srgbClr val="0A2E36"/>
                </a:solidFill>
                <a:latin typeface="Calibri" pitchFamily="34" charset="0"/>
                <a:ea typeface="Calibri" pitchFamily="34" charset="-122"/>
                <a:cs typeface="Calibri" pitchFamily="34" charset="-120"/>
              </a:rPr>
              <a:t>Admin</a:t>
            </a:r>
            <a:endParaRPr lang="en-US" sz="1400" dirty="0"/>
          </a:p>
        </p:txBody>
      </p:sp>
      <p:sp>
        <p:nvSpPr>
          <p:cNvPr id="49" name="Text 47"/>
          <p:cNvSpPr/>
          <p:nvPr/>
        </p:nvSpPr>
        <p:spPr>
          <a:xfrm>
            <a:off x="8071104" y="2688336"/>
            <a:ext cx="3249168" cy="219456"/>
          </a:xfrm>
          <a:prstGeom prst="rect">
            <a:avLst/>
          </a:prstGeom>
          <a:noFill/>
          <a:ln/>
        </p:spPr>
        <p:txBody>
          <a:bodyPr wrap="square" lIns="0" tIns="0" rIns="0" bIns="0" rtlCol="0" anchor="ctr"/>
          <a:lstStyle/>
          <a:p>
            <a:pPr algn="ctr" indent="0" marL="0">
              <a:buNone/>
            </a:pPr>
            <a:r>
              <a:rPr lang="en-US" sz="1000" dirty="0">
                <a:solidFill>
                  <a:srgbClr val="7C939B"/>
                </a:solidFill>
                <a:latin typeface="Calibri" pitchFamily="34" charset="0"/>
                <a:ea typeface="Calibri" pitchFamily="34" charset="-122"/>
                <a:cs typeface="Calibri" pitchFamily="34" charset="-120"/>
              </a:rPr>
              <a:t>«actor»</a:t>
            </a:r>
            <a:endParaRPr lang="en-US" sz="1000" dirty="0"/>
          </a:p>
        </p:txBody>
      </p:sp>
      <p:sp>
        <p:nvSpPr>
          <p:cNvPr id="50" name="Shape 48"/>
          <p:cNvSpPr/>
          <p:nvPr/>
        </p:nvSpPr>
        <p:spPr>
          <a:xfrm>
            <a:off x="9695688" y="2926080"/>
            <a:ext cx="0" cy="164592"/>
          </a:xfrm>
          <a:prstGeom prst="line">
            <a:avLst/>
          </a:prstGeom>
          <a:noFill/>
          <a:ln w="12700">
            <a:solidFill>
              <a:srgbClr val="0A2E36"/>
            </a:solidFill>
            <a:prstDash val="solid"/>
          </a:ln>
        </p:spPr>
      </p:sp>
      <p:sp>
        <p:nvSpPr>
          <p:cNvPr id="51" name="Shape 49"/>
          <p:cNvSpPr/>
          <p:nvPr/>
        </p:nvSpPr>
        <p:spPr>
          <a:xfrm>
            <a:off x="8071104" y="3127248"/>
            <a:ext cx="3249168" cy="274320"/>
          </a:xfrm>
          <a:prstGeom prst="roundRect">
            <a:avLst>
              <a:gd name="adj" fmla="val 50000"/>
            </a:avLst>
          </a:prstGeom>
          <a:solidFill>
            <a:srgbClr val="FFFFFF"/>
          </a:solidFill>
          <a:ln w="12700">
            <a:solidFill>
              <a:srgbClr val="0A2E36"/>
            </a:solidFill>
            <a:prstDash val="solid"/>
          </a:ln>
        </p:spPr>
      </p:sp>
      <p:sp>
        <p:nvSpPr>
          <p:cNvPr id="52" name="Text 50"/>
          <p:cNvSpPr/>
          <p:nvPr/>
        </p:nvSpPr>
        <p:spPr>
          <a:xfrm>
            <a:off x="8071104" y="3127248"/>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Manage Users</a:t>
            </a:r>
            <a:endParaRPr lang="en-US" sz="1050" dirty="0"/>
          </a:p>
        </p:txBody>
      </p:sp>
      <p:sp>
        <p:nvSpPr>
          <p:cNvPr id="53" name="Shape 51"/>
          <p:cNvSpPr/>
          <p:nvPr/>
        </p:nvSpPr>
        <p:spPr>
          <a:xfrm>
            <a:off x="8071104" y="3442716"/>
            <a:ext cx="3249168" cy="274320"/>
          </a:xfrm>
          <a:prstGeom prst="roundRect">
            <a:avLst>
              <a:gd name="adj" fmla="val 50000"/>
            </a:avLst>
          </a:prstGeom>
          <a:solidFill>
            <a:srgbClr val="FFFFFF"/>
          </a:solidFill>
          <a:ln w="12700">
            <a:solidFill>
              <a:srgbClr val="0A2E36"/>
            </a:solidFill>
            <a:prstDash val="solid"/>
          </a:ln>
        </p:spPr>
      </p:sp>
      <p:sp>
        <p:nvSpPr>
          <p:cNvPr id="54" name="Text 52"/>
          <p:cNvSpPr/>
          <p:nvPr/>
        </p:nvSpPr>
        <p:spPr>
          <a:xfrm>
            <a:off x="8071104" y="3442716"/>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Manage Agents</a:t>
            </a:r>
            <a:endParaRPr lang="en-US" sz="1050" dirty="0"/>
          </a:p>
        </p:txBody>
      </p:sp>
      <p:sp>
        <p:nvSpPr>
          <p:cNvPr id="55" name="Shape 53"/>
          <p:cNvSpPr/>
          <p:nvPr/>
        </p:nvSpPr>
        <p:spPr>
          <a:xfrm>
            <a:off x="8071104" y="3758184"/>
            <a:ext cx="3249168" cy="274320"/>
          </a:xfrm>
          <a:prstGeom prst="roundRect">
            <a:avLst>
              <a:gd name="adj" fmla="val 50000"/>
            </a:avLst>
          </a:prstGeom>
          <a:solidFill>
            <a:srgbClr val="FFFFFF"/>
          </a:solidFill>
          <a:ln w="12700">
            <a:solidFill>
              <a:srgbClr val="0A2E36"/>
            </a:solidFill>
            <a:prstDash val="solid"/>
          </a:ln>
        </p:spPr>
      </p:sp>
      <p:sp>
        <p:nvSpPr>
          <p:cNvPr id="56" name="Text 54"/>
          <p:cNvSpPr/>
          <p:nvPr/>
        </p:nvSpPr>
        <p:spPr>
          <a:xfrm>
            <a:off x="8071104" y="3758184"/>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Manage Tickets</a:t>
            </a:r>
            <a:endParaRPr lang="en-US" sz="1050" dirty="0"/>
          </a:p>
        </p:txBody>
      </p:sp>
      <p:sp>
        <p:nvSpPr>
          <p:cNvPr id="57" name="Shape 55"/>
          <p:cNvSpPr/>
          <p:nvPr/>
        </p:nvSpPr>
        <p:spPr>
          <a:xfrm>
            <a:off x="8071104" y="4073652"/>
            <a:ext cx="3249168" cy="274320"/>
          </a:xfrm>
          <a:prstGeom prst="roundRect">
            <a:avLst>
              <a:gd name="adj" fmla="val 50000"/>
            </a:avLst>
          </a:prstGeom>
          <a:solidFill>
            <a:srgbClr val="FFFFFF"/>
          </a:solidFill>
          <a:ln w="12700">
            <a:solidFill>
              <a:srgbClr val="0A2E36"/>
            </a:solidFill>
            <a:prstDash val="solid"/>
          </a:ln>
        </p:spPr>
      </p:sp>
      <p:sp>
        <p:nvSpPr>
          <p:cNvPr id="58" name="Text 56"/>
          <p:cNvSpPr/>
          <p:nvPr/>
        </p:nvSpPr>
        <p:spPr>
          <a:xfrm>
            <a:off x="8071104" y="4073652"/>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Manage Categories</a:t>
            </a:r>
            <a:endParaRPr lang="en-US" sz="1050" dirty="0"/>
          </a:p>
        </p:txBody>
      </p:sp>
      <p:sp>
        <p:nvSpPr>
          <p:cNvPr id="59" name="Shape 57"/>
          <p:cNvSpPr/>
          <p:nvPr/>
        </p:nvSpPr>
        <p:spPr>
          <a:xfrm>
            <a:off x="8071104" y="4389120"/>
            <a:ext cx="3249168" cy="274320"/>
          </a:xfrm>
          <a:prstGeom prst="roundRect">
            <a:avLst>
              <a:gd name="adj" fmla="val 50000"/>
            </a:avLst>
          </a:prstGeom>
          <a:solidFill>
            <a:srgbClr val="FFFFFF"/>
          </a:solidFill>
          <a:ln w="12700">
            <a:solidFill>
              <a:srgbClr val="0A2E36"/>
            </a:solidFill>
            <a:prstDash val="solid"/>
          </a:ln>
        </p:spPr>
      </p:sp>
      <p:sp>
        <p:nvSpPr>
          <p:cNvPr id="60" name="Text 58"/>
          <p:cNvSpPr/>
          <p:nvPr/>
        </p:nvSpPr>
        <p:spPr>
          <a:xfrm>
            <a:off x="8071104" y="4389120"/>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View Reports</a:t>
            </a:r>
            <a:endParaRPr lang="en-US" sz="1050" dirty="0"/>
          </a:p>
        </p:txBody>
      </p:sp>
      <p:sp>
        <p:nvSpPr>
          <p:cNvPr id="61" name="Shape 59"/>
          <p:cNvSpPr/>
          <p:nvPr/>
        </p:nvSpPr>
        <p:spPr>
          <a:xfrm>
            <a:off x="8071104" y="4704588"/>
            <a:ext cx="3249168" cy="274320"/>
          </a:xfrm>
          <a:prstGeom prst="roundRect">
            <a:avLst>
              <a:gd name="adj" fmla="val 50000"/>
            </a:avLst>
          </a:prstGeom>
          <a:solidFill>
            <a:srgbClr val="FFFFFF"/>
          </a:solidFill>
          <a:ln w="12700">
            <a:solidFill>
              <a:srgbClr val="0A2E36"/>
            </a:solidFill>
            <a:prstDash val="solid"/>
          </a:ln>
        </p:spPr>
      </p:sp>
      <p:sp>
        <p:nvSpPr>
          <p:cNvPr id="62" name="Text 60"/>
          <p:cNvSpPr/>
          <p:nvPr/>
        </p:nvSpPr>
        <p:spPr>
          <a:xfrm>
            <a:off x="8071104" y="4704588"/>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View Dashboard</a:t>
            </a:r>
            <a:endParaRPr lang="en-US" sz="1050" dirty="0"/>
          </a:p>
        </p:txBody>
      </p:sp>
      <p:sp>
        <p:nvSpPr>
          <p:cNvPr id="63" name="Shape 61"/>
          <p:cNvSpPr/>
          <p:nvPr/>
        </p:nvSpPr>
        <p:spPr>
          <a:xfrm>
            <a:off x="8071104" y="5020056"/>
            <a:ext cx="3249168" cy="274320"/>
          </a:xfrm>
          <a:prstGeom prst="roundRect">
            <a:avLst>
              <a:gd name="adj" fmla="val 50000"/>
            </a:avLst>
          </a:prstGeom>
          <a:solidFill>
            <a:srgbClr val="FFFFFF"/>
          </a:solidFill>
          <a:ln w="12700">
            <a:solidFill>
              <a:srgbClr val="0A2E36"/>
            </a:solidFill>
            <a:prstDash val="solid"/>
          </a:ln>
        </p:spPr>
      </p:sp>
      <p:sp>
        <p:nvSpPr>
          <p:cNvPr id="64" name="Text 62"/>
          <p:cNvSpPr/>
          <p:nvPr/>
        </p:nvSpPr>
        <p:spPr>
          <a:xfrm>
            <a:off x="8071104" y="5020056"/>
            <a:ext cx="3249168" cy="274320"/>
          </a:xfrm>
          <a:prstGeom prst="rect">
            <a:avLst/>
          </a:prstGeom>
          <a:noFill/>
          <a:ln/>
        </p:spPr>
        <p:txBody>
          <a:bodyPr wrap="square" lIns="0" tIns="0" rIns="0" bIns="0" rtlCol="0" anchor="ctr"/>
          <a:lstStyle/>
          <a:p>
            <a:pPr algn="ctr" indent="0" marL="0">
              <a:buNone/>
            </a:pPr>
            <a:r>
              <a:rPr lang="en-US" sz="1050" dirty="0">
                <a:solidFill>
                  <a:srgbClr val="0A2E36"/>
                </a:solidFill>
                <a:latin typeface="Calibri" pitchFamily="34" charset="0"/>
                <a:ea typeface="Calibri" pitchFamily="34" charset="-122"/>
                <a:cs typeface="Calibri" pitchFamily="34" charset="-120"/>
              </a:rPr>
              <a:t>Monitor Activity Log</a:t>
            </a:r>
            <a:endParaRPr lang="en-US" sz="1050" dirty="0"/>
          </a:p>
        </p:txBody>
      </p:sp>
      <p:sp>
        <p:nvSpPr>
          <p:cNvPr id="65" name="Text 63"/>
          <p:cNvSpPr/>
          <p:nvPr/>
        </p:nvSpPr>
        <p:spPr>
          <a:xfrm>
            <a:off x="566928" y="5870448"/>
            <a:ext cx="11027664" cy="292608"/>
          </a:xfrm>
          <a:prstGeom prst="rect">
            <a:avLst/>
          </a:prstGeom>
          <a:noFill/>
          <a:ln/>
        </p:spPr>
        <p:txBody>
          <a:bodyPr wrap="square" lIns="0" tIns="0" rIns="0" bIns="0" rtlCol="0" anchor="ctr"/>
          <a:lstStyle/>
          <a:p>
            <a:pPr indent="0" marL="0">
              <a:buNone/>
            </a:pPr>
            <a:r>
              <a:rPr lang="en-US" sz="1150" i="1" dirty="0">
                <a:solidFill>
                  <a:srgbClr val="7C939B"/>
                </a:solidFill>
                <a:latin typeface="Calibri" pitchFamily="34" charset="0"/>
                <a:ea typeface="Calibri" pitchFamily="34" charset="-122"/>
                <a:cs typeface="Calibri" pitchFamily="34" charset="-120"/>
              </a:rPr>
              <a:t>Grouped by actor for readability. The full UML use case diagram with «include» and «extend» relationships is in Section 11 of the SRS.</a:t>
            </a:r>
            <a:endParaRPr lang="en-US" sz="1150" dirty="0"/>
          </a:p>
        </p:txBody>
      </p:sp>
      <p:sp>
        <p:nvSpPr>
          <p:cNvPr id="66" name="Text 64"/>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67" name="Text 65"/>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CORE WORKFLOW</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Ticket Lifecycle</a:t>
            </a:r>
            <a:endParaRPr lang="en-US" sz="3000" dirty="0"/>
          </a:p>
        </p:txBody>
      </p:sp>
      <p:sp>
        <p:nvSpPr>
          <p:cNvPr id="4" name="Text 2"/>
          <p:cNvSpPr/>
          <p:nvPr/>
        </p:nvSpPr>
        <p:spPr>
          <a:xfrm>
            <a:off x="566928" y="1335024"/>
            <a:ext cx="10424160" cy="420624"/>
          </a:xfrm>
          <a:prstGeom prst="rect">
            <a:avLst/>
          </a:prstGeom>
          <a:noFill/>
          <a:ln/>
        </p:spPr>
        <p:txBody>
          <a:bodyPr wrap="square" lIns="0" tIns="0" rIns="0" bIns="0" rtlCol="0" anchor="t"/>
          <a:lstStyle/>
          <a:p>
            <a:pPr indent="0" marL="0">
              <a:lnSpc>
                <a:spcPts val="1700"/>
              </a:lnSpc>
              <a:buNone/>
            </a:pPr>
            <a:r>
              <a:rPr lang="en-US" sz="1250" dirty="0">
                <a:solidFill>
                  <a:srgbClr val="445C64"/>
                </a:solidFill>
                <a:latin typeface="Calibri" pitchFamily="34" charset="0"/>
                <a:ea typeface="Calibri" pitchFamily="34" charset="-122"/>
                <a:cs typeface="Calibri" pitchFamily="34" charset="-120"/>
              </a:rPr>
              <a:t>A ticket moves through six states. Valid transitions are defined once on the server and validated on every status change — an invalid transition is rejected, not silently applied.</a:t>
            </a:r>
            <a:endParaRPr lang="en-US" sz="1250" dirty="0"/>
          </a:p>
        </p:txBody>
      </p:sp>
      <p:sp>
        <p:nvSpPr>
          <p:cNvPr id="5" name="Shape 3"/>
          <p:cNvSpPr/>
          <p:nvPr/>
        </p:nvSpPr>
        <p:spPr>
          <a:xfrm>
            <a:off x="566928" y="1975104"/>
            <a:ext cx="1986077" cy="841248"/>
          </a:xfrm>
          <a:prstGeom prst="roundRect">
            <a:avLst>
              <a:gd name="adj" fmla="val 13043"/>
            </a:avLst>
          </a:prstGeom>
          <a:solidFill>
            <a:srgbClr val="028090"/>
          </a:solidFill>
          <a:ln/>
          <a:effectLst>
            <a:outerShdw sx="100000" sy="100000" kx="0" ky="0" algn="bl" rotWithShape="0" blurRad="127000" dist="25400" dir="5400000">
              <a:srgbClr val="0A2E36">
                <a:alpha val="10000"/>
              </a:srgbClr>
            </a:outerShdw>
          </a:effectLst>
        </p:spPr>
      </p:sp>
      <p:sp>
        <p:nvSpPr>
          <p:cNvPr id="6" name="Text 4"/>
          <p:cNvSpPr/>
          <p:nvPr/>
        </p:nvSpPr>
        <p:spPr>
          <a:xfrm>
            <a:off x="566928" y="1975104"/>
            <a:ext cx="1986077" cy="8412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NEW</a:t>
            </a:r>
            <a:endParaRPr lang="en-US" sz="1500" dirty="0"/>
          </a:p>
        </p:txBody>
      </p:sp>
      <p:sp>
        <p:nvSpPr>
          <p:cNvPr id="7" name="Text 5"/>
          <p:cNvSpPr/>
          <p:nvPr/>
        </p:nvSpPr>
        <p:spPr>
          <a:xfrm>
            <a:off x="475488" y="2889504"/>
            <a:ext cx="2168957" cy="457200"/>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Submitted, not yet triaged</a:t>
            </a:r>
            <a:endParaRPr lang="en-US" sz="1050" dirty="0"/>
          </a:p>
        </p:txBody>
      </p:sp>
      <p:sp>
        <p:nvSpPr>
          <p:cNvPr id="8" name="Text 6"/>
          <p:cNvSpPr/>
          <p:nvPr/>
        </p:nvSpPr>
        <p:spPr>
          <a:xfrm>
            <a:off x="2553005" y="2212848"/>
            <a:ext cx="274320" cy="365760"/>
          </a:xfrm>
          <a:prstGeom prst="rect">
            <a:avLst/>
          </a:prstGeom>
          <a:noFill/>
          <a:ln/>
        </p:spPr>
        <p:txBody>
          <a:bodyPr wrap="square" lIns="0" tIns="0" rIns="0" bIns="0" rtlCol="0" anchor="ctr"/>
          <a:lstStyle/>
          <a:p>
            <a:pPr algn="ctr" indent="0" marL="0">
              <a:buNone/>
            </a:pPr>
            <a:r>
              <a:rPr lang="en-US" sz="1700" b="1" dirty="0">
                <a:solidFill>
                  <a:srgbClr val="445C64"/>
                </a:solidFill>
                <a:latin typeface="Calibri" pitchFamily="34" charset="0"/>
                <a:ea typeface="Calibri" pitchFamily="34" charset="-122"/>
                <a:cs typeface="Calibri" pitchFamily="34" charset="-120"/>
              </a:rPr>
              <a:t>→</a:t>
            </a:r>
            <a:endParaRPr lang="en-US" sz="1700" dirty="0"/>
          </a:p>
        </p:txBody>
      </p:sp>
      <p:sp>
        <p:nvSpPr>
          <p:cNvPr id="9" name="Shape 7"/>
          <p:cNvSpPr/>
          <p:nvPr/>
        </p:nvSpPr>
        <p:spPr>
          <a:xfrm>
            <a:off x="2827325" y="1975104"/>
            <a:ext cx="1986077" cy="841248"/>
          </a:xfrm>
          <a:prstGeom prst="roundRect">
            <a:avLst>
              <a:gd name="adj" fmla="val 13043"/>
            </a:avLst>
          </a:prstGeom>
          <a:solidFill>
            <a:srgbClr val="028090"/>
          </a:solidFill>
          <a:ln/>
          <a:effectLst>
            <a:outerShdw sx="100000" sy="100000" kx="0" ky="0" algn="bl" rotWithShape="0" blurRad="127000" dist="25400" dir="5400000">
              <a:srgbClr val="0A2E36">
                <a:alpha val="10000"/>
              </a:srgbClr>
            </a:outerShdw>
          </a:effectLst>
        </p:spPr>
      </p:sp>
      <p:sp>
        <p:nvSpPr>
          <p:cNvPr id="10" name="Text 8"/>
          <p:cNvSpPr/>
          <p:nvPr/>
        </p:nvSpPr>
        <p:spPr>
          <a:xfrm>
            <a:off x="2827325" y="1975104"/>
            <a:ext cx="1986077" cy="8412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OPEN</a:t>
            </a:r>
            <a:endParaRPr lang="en-US" sz="1500" dirty="0"/>
          </a:p>
        </p:txBody>
      </p:sp>
      <p:sp>
        <p:nvSpPr>
          <p:cNvPr id="11" name="Text 9"/>
          <p:cNvSpPr/>
          <p:nvPr/>
        </p:nvSpPr>
        <p:spPr>
          <a:xfrm>
            <a:off x="2735885" y="2889504"/>
            <a:ext cx="2168957" cy="457200"/>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Triaged and assigned</a:t>
            </a:r>
            <a:endParaRPr lang="en-US" sz="1050" dirty="0"/>
          </a:p>
        </p:txBody>
      </p:sp>
      <p:sp>
        <p:nvSpPr>
          <p:cNvPr id="12" name="Text 10"/>
          <p:cNvSpPr/>
          <p:nvPr/>
        </p:nvSpPr>
        <p:spPr>
          <a:xfrm>
            <a:off x="4813402" y="2212848"/>
            <a:ext cx="274320" cy="365760"/>
          </a:xfrm>
          <a:prstGeom prst="rect">
            <a:avLst/>
          </a:prstGeom>
          <a:noFill/>
          <a:ln/>
        </p:spPr>
        <p:txBody>
          <a:bodyPr wrap="square" lIns="0" tIns="0" rIns="0" bIns="0" rtlCol="0" anchor="ctr"/>
          <a:lstStyle/>
          <a:p>
            <a:pPr algn="ctr" indent="0" marL="0">
              <a:buNone/>
            </a:pPr>
            <a:r>
              <a:rPr lang="en-US" sz="1700" b="1" dirty="0">
                <a:solidFill>
                  <a:srgbClr val="445C64"/>
                </a:solidFill>
                <a:latin typeface="Calibri" pitchFamily="34" charset="0"/>
                <a:ea typeface="Calibri" pitchFamily="34" charset="-122"/>
                <a:cs typeface="Calibri" pitchFamily="34" charset="-120"/>
              </a:rPr>
              <a:t>→</a:t>
            </a:r>
            <a:endParaRPr lang="en-US" sz="1700" dirty="0"/>
          </a:p>
        </p:txBody>
      </p:sp>
      <p:sp>
        <p:nvSpPr>
          <p:cNvPr id="13" name="Shape 11"/>
          <p:cNvSpPr/>
          <p:nvPr/>
        </p:nvSpPr>
        <p:spPr>
          <a:xfrm>
            <a:off x="5087722" y="1975104"/>
            <a:ext cx="1986077" cy="841248"/>
          </a:xfrm>
          <a:prstGeom prst="roundRect">
            <a:avLst>
              <a:gd name="adj" fmla="val 13043"/>
            </a:avLst>
          </a:prstGeom>
          <a:solidFill>
            <a:srgbClr val="00A896"/>
          </a:solidFill>
          <a:ln/>
          <a:effectLst>
            <a:outerShdw sx="100000" sy="100000" kx="0" ky="0" algn="bl" rotWithShape="0" blurRad="127000" dist="25400" dir="5400000">
              <a:srgbClr val="0A2E36">
                <a:alpha val="10000"/>
              </a:srgbClr>
            </a:outerShdw>
          </a:effectLst>
        </p:spPr>
      </p:sp>
      <p:sp>
        <p:nvSpPr>
          <p:cNvPr id="14" name="Text 12"/>
          <p:cNvSpPr/>
          <p:nvPr/>
        </p:nvSpPr>
        <p:spPr>
          <a:xfrm>
            <a:off x="5087722" y="1975104"/>
            <a:ext cx="1986077" cy="8412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IN_PROGRESS</a:t>
            </a:r>
            <a:endParaRPr lang="en-US" sz="1300" dirty="0"/>
          </a:p>
        </p:txBody>
      </p:sp>
      <p:sp>
        <p:nvSpPr>
          <p:cNvPr id="15" name="Text 13"/>
          <p:cNvSpPr/>
          <p:nvPr/>
        </p:nvSpPr>
        <p:spPr>
          <a:xfrm>
            <a:off x="4996282" y="2889504"/>
            <a:ext cx="2168957" cy="457200"/>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Agent actively working</a:t>
            </a:r>
            <a:endParaRPr lang="en-US" sz="1050" dirty="0"/>
          </a:p>
        </p:txBody>
      </p:sp>
      <p:sp>
        <p:nvSpPr>
          <p:cNvPr id="16" name="Text 14"/>
          <p:cNvSpPr/>
          <p:nvPr/>
        </p:nvSpPr>
        <p:spPr>
          <a:xfrm>
            <a:off x="7073798" y="2212848"/>
            <a:ext cx="274320" cy="365760"/>
          </a:xfrm>
          <a:prstGeom prst="rect">
            <a:avLst/>
          </a:prstGeom>
          <a:noFill/>
          <a:ln/>
        </p:spPr>
        <p:txBody>
          <a:bodyPr wrap="square" lIns="0" tIns="0" rIns="0" bIns="0" rtlCol="0" anchor="ctr"/>
          <a:lstStyle/>
          <a:p>
            <a:pPr algn="ctr" indent="0" marL="0">
              <a:buNone/>
            </a:pPr>
            <a:r>
              <a:rPr lang="en-US" sz="1700" b="1" dirty="0">
                <a:solidFill>
                  <a:srgbClr val="445C64"/>
                </a:solidFill>
                <a:latin typeface="Calibri" pitchFamily="34" charset="0"/>
                <a:ea typeface="Calibri" pitchFamily="34" charset="-122"/>
                <a:cs typeface="Calibri" pitchFamily="34" charset="-120"/>
              </a:rPr>
              <a:t>→</a:t>
            </a:r>
            <a:endParaRPr lang="en-US" sz="1700" dirty="0"/>
          </a:p>
        </p:txBody>
      </p:sp>
      <p:sp>
        <p:nvSpPr>
          <p:cNvPr id="17" name="Shape 15"/>
          <p:cNvSpPr/>
          <p:nvPr/>
        </p:nvSpPr>
        <p:spPr>
          <a:xfrm>
            <a:off x="7348118" y="1975104"/>
            <a:ext cx="1986077" cy="841248"/>
          </a:xfrm>
          <a:prstGeom prst="roundRect">
            <a:avLst>
              <a:gd name="adj" fmla="val 13043"/>
            </a:avLst>
          </a:prstGeom>
          <a:solidFill>
            <a:srgbClr val="02C39A"/>
          </a:solidFill>
          <a:ln/>
          <a:effectLst>
            <a:outerShdw sx="100000" sy="100000" kx="0" ky="0" algn="bl" rotWithShape="0" blurRad="127000" dist="25400" dir="5400000">
              <a:srgbClr val="0A2E36">
                <a:alpha val="10000"/>
              </a:srgbClr>
            </a:outerShdw>
          </a:effectLst>
        </p:spPr>
      </p:sp>
      <p:sp>
        <p:nvSpPr>
          <p:cNvPr id="18" name="Text 16"/>
          <p:cNvSpPr/>
          <p:nvPr/>
        </p:nvSpPr>
        <p:spPr>
          <a:xfrm>
            <a:off x="7348118" y="1975104"/>
            <a:ext cx="1986077" cy="8412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RESOLVED</a:t>
            </a:r>
            <a:endParaRPr lang="en-US" sz="1500" dirty="0"/>
          </a:p>
        </p:txBody>
      </p:sp>
      <p:sp>
        <p:nvSpPr>
          <p:cNvPr id="19" name="Text 17"/>
          <p:cNvSpPr/>
          <p:nvPr/>
        </p:nvSpPr>
        <p:spPr>
          <a:xfrm>
            <a:off x="7256678" y="2889504"/>
            <a:ext cx="2168957" cy="457200"/>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Fix delivered to customer</a:t>
            </a:r>
            <a:endParaRPr lang="en-US" sz="1050" dirty="0"/>
          </a:p>
        </p:txBody>
      </p:sp>
      <p:sp>
        <p:nvSpPr>
          <p:cNvPr id="20" name="Text 18"/>
          <p:cNvSpPr/>
          <p:nvPr/>
        </p:nvSpPr>
        <p:spPr>
          <a:xfrm>
            <a:off x="9334195" y="2212848"/>
            <a:ext cx="274320" cy="365760"/>
          </a:xfrm>
          <a:prstGeom prst="rect">
            <a:avLst/>
          </a:prstGeom>
          <a:noFill/>
          <a:ln/>
        </p:spPr>
        <p:txBody>
          <a:bodyPr wrap="square" lIns="0" tIns="0" rIns="0" bIns="0" rtlCol="0" anchor="ctr"/>
          <a:lstStyle/>
          <a:p>
            <a:pPr algn="ctr" indent="0" marL="0">
              <a:buNone/>
            </a:pPr>
            <a:r>
              <a:rPr lang="en-US" sz="1700" b="1" dirty="0">
                <a:solidFill>
                  <a:srgbClr val="445C64"/>
                </a:solidFill>
                <a:latin typeface="Calibri" pitchFamily="34" charset="0"/>
                <a:ea typeface="Calibri" pitchFamily="34" charset="-122"/>
                <a:cs typeface="Calibri" pitchFamily="34" charset="-120"/>
              </a:rPr>
              <a:t>→</a:t>
            </a:r>
            <a:endParaRPr lang="en-US" sz="1700" dirty="0"/>
          </a:p>
        </p:txBody>
      </p:sp>
      <p:sp>
        <p:nvSpPr>
          <p:cNvPr id="21" name="Shape 19"/>
          <p:cNvSpPr/>
          <p:nvPr/>
        </p:nvSpPr>
        <p:spPr>
          <a:xfrm>
            <a:off x="9608515" y="1975104"/>
            <a:ext cx="1986077" cy="841248"/>
          </a:xfrm>
          <a:prstGeom prst="roundRect">
            <a:avLst>
              <a:gd name="adj" fmla="val 13043"/>
            </a:avLst>
          </a:prstGeom>
          <a:solidFill>
            <a:srgbClr val="0A2E36"/>
          </a:solidFill>
          <a:ln/>
          <a:effectLst>
            <a:outerShdw sx="100000" sy="100000" kx="0" ky="0" algn="bl" rotWithShape="0" blurRad="127000" dist="25400" dir="5400000">
              <a:srgbClr val="0A2E36">
                <a:alpha val="10000"/>
              </a:srgbClr>
            </a:outerShdw>
          </a:effectLst>
        </p:spPr>
      </p:sp>
      <p:sp>
        <p:nvSpPr>
          <p:cNvPr id="22" name="Text 20"/>
          <p:cNvSpPr/>
          <p:nvPr/>
        </p:nvSpPr>
        <p:spPr>
          <a:xfrm>
            <a:off x="9608515" y="1975104"/>
            <a:ext cx="1986077" cy="84124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CLOSED</a:t>
            </a:r>
            <a:endParaRPr lang="en-US" sz="1500" dirty="0"/>
          </a:p>
        </p:txBody>
      </p:sp>
      <p:sp>
        <p:nvSpPr>
          <p:cNvPr id="23" name="Text 21"/>
          <p:cNvSpPr/>
          <p:nvPr/>
        </p:nvSpPr>
        <p:spPr>
          <a:xfrm>
            <a:off x="9517075" y="2889504"/>
            <a:ext cx="2168957" cy="457200"/>
          </a:xfrm>
          <a:prstGeom prst="rect">
            <a:avLst/>
          </a:prstGeom>
          <a:noFill/>
          <a:ln/>
        </p:spPr>
        <p:txBody>
          <a:bodyPr wrap="square" lIns="0" tIns="0" rIns="0" bIns="0" rtlCol="0" anchor="t"/>
          <a:lstStyle/>
          <a:p>
            <a:pPr algn="ctr" indent="0" marL="0">
              <a:lnSpc>
                <a:spcPts val="1300"/>
              </a:lnSpc>
              <a:buNone/>
            </a:pPr>
            <a:r>
              <a:rPr lang="en-US" sz="1050" dirty="0">
                <a:solidFill>
                  <a:srgbClr val="7C939B"/>
                </a:solidFill>
                <a:latin typeface="Calibri" pitchFamily="34" charset="0"/>
                <a:ea typeface="Calibri" pitchFamily="34" charset="-122"/>
                <a:cs typeface="Calibri" pitchFamily="34" charset="-120"/>
              </a:rPr>
              <a:t>Confirmed and archived</a:t>
            </a:r>
            <a:endParaRPr lang="en-US" sz="1050" dirty="0"/>
          </a:p>
        </p:txBody>
      </p:sp>
      <p:sp>
        <p:nvSpPr>
          <p:cNvPr id="24" name="Shape 22"/>
          <p:cNvSpPr/>
          <p:nvPr/>
        </p:nvSpPr>
        <p:spPr>
          <a:xfrm>
            <a:off x="5087722" y="3712464"/>
            <a:ext cx="1986077" cy="786384"/>
          </a:xfrm>
          <a:prstGeom prst="roundRect">
            <a:avLst>
              <a:gd name="adj" fmla="val 13953"/>
            </a:avLst>
          </a:prstGeom>
          <a:solidFill>
            <a:srgbClr val="FFFFFF"/>
          </a:solidFill>
          <a:ln w="19050">
            <a:solidFill>
              <a:srgbClr val="00A896"/>
            </a:solidFill>
            <a:prstDash val="solid"/>
          </a:ln>
        </p:spPr>
      </p:sp>
      <p:sp>
        <p:nvSpPr>
          <p:cNvPr id="25" name="Text 23"/>
          <p:cNvSpPr/>
          <p:nvPr/>
        </p:nvSpPr>
        <p:spPr>
          <a:xfrm>
            <a:off x="5087722" y="3712464"/>
            <a:ext cx="1986077" cy="786384"/>
          </a:xfrm>
          <a:prstGeom prst="rect">
            <a:avLst/>
          </a:prstGeom>
          <a:noFill/>
          <a:ln/>
        </p:spPr>
        <p:txBody>
          <a:bodyPr wrap="square" lIns="0" tIns="0" rIns="0" bIns="0" rtlCol="0" anchor="ctr"/>
          <a:lstStyle/>
          <a:p>
            <a:pPr algn="ctr" indent="0" marL="0">
              <a:buNone/>
            </a:pPr>
            <a:r>
              <a:rPr lang="en-US" sz="1150" b="1" dirty="0">
                <a:solidFill>
                  <a:srgbClr val="00A896"/>
                </a:solidFill>
                <a:latin typeface="Calibri" pitchFamily="34" charset="0"/>
                <a:ea typeface="Calibri" pitchFamily="34" charset="-122"/>
                <a:cs typeface="Calibri" pitchFamily="34" charset="-120"/>
              </a:rPr>
              <a:t>WAITING_FOR</a:t>
            </a:r>
            <a:endParaRPr lang="en-US" sz="1150" dirty="0"/>
          </a:p>
          <a:p>
            <a:pPr algn="ctr" indent="0" marL="0">
              <a:buNone/>
            </a:pPr>
            <a:r>
              <a:rPr lang="en-US" sz="1150" b="1" dirty="0">
                <a:solidFill>
                  <a:srgbClr val="00A896"/>
                </a:solidFill>
                <a:latin typeface="Calibri" pitchFamily="34" charset="0"/>
                <a:ea typeface="Calibri" pitchFamily="34" charset="-122"/>
                <a:cs typeface="Calibri" pitchFamily="34" charset="-120"/>
              </a:rPr>
              <a:t>_CUSTOMER</a:t>
            </a:r>
            <a:endParaRPr lang="en-US" sz="1150" dirty="0"/>
          </a:p>
        </p:txBody>
      </p:sp>
      <p:sp>
        <p:nvSpPr>
          <p:cNvPr id="26" name="Shape 24"/>
          <p:cNvSpPr/>
          <p:nvPr/>
        </p:nvSpPr>
        <p:spPr>
          <a:xfrm>
            <a:off x="6080760" y="3419856"/>
            <a:ext cx="0" cy="292608"/>
          </a:xfrm>
          <a:prstGeom prst="line">
            <a:avLst/>
          </a:prstGeom>
          <a:noFill/>
          <a:ln w="15875">
            <a:solidFill>
              <a:srgbClr val="00A896"/>
            </a:solidFill>
            <a:prstDash val="solid"/>
            <a:headEnd type="triangle"/>
            <a:tailEnd type="triangle"/>
          </a:ln>
        </p:spPr>
      </p:sp>
      <p:sp>
        <p:nvSpPr>
          <p:cNvPr id="27" name="Text 25"/>
          <p:cNvSpPr/>
          <p:nvPr/>
        </p:nvSpPr>
        <p:spPr>
          <a:xfrm>
            <a:off x="7220102" y="3877056"/>
            <a:ext cx="2743200" cy="457200"/>
          </a:xfrm>
          <a:prstGeom prst="rect">
            <a:avLst/>
          </a:prstGeom>
          <a:noFill/>
          <a:ln/>
        </p:spPr>
        <p:txBody>
          <a:bodyPr wrap="square" lIns="0" tIns="0" rIns="0" bIns="0" rtlCol="0" anchor="ctr"/>
          <a:lstStyle/>
          <a:p>
            <a:pPr indent="0" marL="0">
              <a:lnSpc>
                <a:spcPts val="1300"/>
              </a:lnSpc>
              <a:buNone/>
            </a:pPr>
            <a:r>
              <a:rPr lang="en-US" sz="1100" dirty="0">
                <a:solidFill>
                  <a:srgbClr val="7C939B"/>
                </a:solidFill>
                <a:latin typeface="Calibri" pitchFamily="34" charset="0"/>
                <a:ea typeface="Calibri" pitchFamily="34" charset="-122"/>
                <a:cs typeface="Calibri" pitchFamily="34" charset="-120"/>
              </a:rPr>
              <a:t>Agent needs more information from the customer</a:t>
            </a:r>
            <a:endParaRPr lang="en-US" sz="1100" dirty="0"/>
          </a:p>
        </p:txBody>
      </p:sp>
      <p:sp>
        <p:nvSpPr>
          <p:cNvPr id="28" name="Shape 26"/>
          <p:cNvSpPr/>
          <p:nvPr/>
        </p:nvSpPr>
        <p:spPr>
          <a:xfrm>
            <a:off x="566928" y="4773168"/>
            <a:ext cx="3493008" cy="1097280"/>
          </a:xfrm>
          <a:prstGeom prst="roundRect">
            <a:avLst>
              <a:gd name="adj" fmla="val 8333"/>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9" name="Text 27"/>
          <p:cNvSpPr/>
          <p:nvPr/>
        </p:nvSpPr>
        <p:spPr>
          <a:xfrm>
            <a:off x="804672" y="4919472"/>
            <a:ext cx="3017520" cy="256032"/>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Reopening</a:t>
            </a:r>
            <a:endParaRPr lang="en-US" sz="1250" dirty="0"/>
          </a:p>
        </p:txBody>
      </p:sp>
      <p:sp>
        <p:nvSpPr>
          <p:cNvPr id="30" name="Text 28"/>
          <p:cNvSpPr/>
          <p:nvPr/>
        </p:nvSpPr>
        <p:spPr>
          <a:xfrm>
            <a:off x="804672" y="5193792"/>
            <a:ext cx="3017520" cy="585216"/>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A RESOLVED ticket returns to OPEN if the customer replies that the issue persists.</a:t>
            </a:r>
            <a:endParaRPr lang="en-US" sz="1100" dirty="0"/>
          </a:p>
        </p:txBody>
      </p:sp>
      <p:sp>
        <p:nvSpPr>
          <p:cNvPr id="31" name="Shape 29"/>
          <p:cNvSpPr/>
          <p:nvPr/>
        </p:nvSpPr>
        <p:spPr>
          <a:xfrm>
            <a:off x="4334256" y="4773168"/>
            <a:ext cx="3493008" cy="1097280"/>
          </a:xfrm>
          <a:prstGeom prst="roundRect">
            <a:avLst>
              <a:gd name="adj" fmla="val 8333"/>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2" name="Text 30"/>
          <p:cNvSpPr/>
          <p:nvPr/>
        </p:nvSpPr>
        <p:spPr>
          <a:xfrm>
            <a:off x="4572000" y="4919472"/>
            <a:ext cx="3017520" cy="256032"/>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Timestamps</a:t>
            </a:r>
            <a:endParaRPr lang="en-US" sz="1250" dirty="0"/>
          </a:p>
        </p:txBody>
      </p:sp>
      <p:sp>
        <p:nvSpPr>
          <p:cNvPr id="33" name="Text 31"/>
          <p:cNvSpPr/>
          <p:nvPr/>
        </p:nvSpPr>
        <p:spPr>
          <a:xfrm>
            <a:off x="4572000" y="5193792"/>
            <a:ext cx="3017520" cy="585216"/>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created_at, first_response_at and resolved_at are recorded to compute resolution time.</a:t>
            </a:r>
            <a:endParaRPr lang="en-US" sz="1100" dirty="0"/>
          </a:p>
        </p:txBody>
      </p:sp>
      <p:sp>
        <p:nvSpPr>
          <p:cNvPr id="34" name="Shape 32"/>
          <p:cNvSpPr/>
          <p:nvPr/>
        </p:nvSpPr>
        <p:spPr>
          <a:xfrm>
            <a:off x="8101584" y="4773168"/>
            <a:ext cx="3493008" cy="1097280"/>
          </a:xfrm>
          <a:prstGeom prst="roundRect">
            <a:avLst>
              <a:gd name="adj" fmla="val 8333"/>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5" name="Text 33"/>
          <p:cNvSpPr/>
          <p:nvPr/>
        </p:nvSpPr>
        <p:spPr>
          <a:xfrm>
            <a:off x="8339328" y="4919472"/>
            <a:ext cx="3017520" cy="256032"/>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Audit trail</a:t>
            </a:r>
            <a:endParaRPr lang="en-US" sz="1250" dirty="0"/>
          </a:p>
        </p:txBody>
      </p:sp>
      <p:sp>
        <p:nvSpPr>
          <p:cNvPr id="36" name="Text 34"/>
          <p:cNvSpPr/>
          <p:nvPr/>
        </p:nvSpPr>
        <p:spPr>
          <a:xfrm>
            <a:off x="8339328" y="5193792"/>
            <a:ext cx="3017520" cy="585216"/>
          </a:xfrm>
          <a:prstGeom prst="rect">
            <a:avLst/>
          </a:prstGeom>
          <a:noFill/>
          <a:ln/>
        </p:spPr>
        <p:txBody>
          <a:bodyPr wrap="square" lIns="0" tIns="0" rIns="0" bIns="0" rtlCol="0" anchor="t"/>
          <a:lstStyle/>
          <a:p>
            <a:pPr indent="0" marL="0">
              <a:lnSpc>
                <a:spcPts val="1300"/>
              </a:lnSpc>
              <a:buNone/>
            </a:pPr>
            <a:r>
              <a:rPr lang="en-US" sz="1100" dirty="0">
                <a:solidFill>
                  <a:srgbClr val="445C64"/>
                </a:solidFill>
                <a:latin typeface="Calibri" pitchFamily="34" charset="0"/>
                <a:ea typeface="Calibri" pitchFamily="34" charset="-122"/>
                <a:cs typeface="Calibri" pitchFamily="34" charset="-120"/>
              </a:rPr>
              <a:t>Every transition writes a ticket_events row: who changed what, from which value, when.</a:t>
            </a:r>
            <a:endParaRPr lang="en-US" sz="1100" dirty="0"/>
          </a:p>
        </p:txBody>
      </p:sp>
      <p:sp>
        <p:nvSpPr>
          <p:cNvPr id="37" name="Text 35"/>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8" name="Text 36"/>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8</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UI Mockups — Customer</a:t>
            </a:r>
            <a:endParaRPr lang="en-US" sz="3000" dirty="0"/>
          </a:p>
        </p:txBody>
      </p:sp>
      <p:sp>
        <p:nvSpPr>
          <p:cNvPr id="4" name="Shape 2"/>
          <p:cNvSpPr/>
          <p:nvPr/>
        </p:nvSpPr>
        <p:spPr>
          <a:xfrm>
            <a:off x="566928" y="1444752"/>
            <a:ext cx="3456432" cy="3017520"/>
          </a:xfrm>
          <a:prstGeom prst="roundRect">
            <a:avLst>
              <a:gd name="adj" fmla="val 1515"/>
            </a:avLst>
          </a:prstGeom>
          <a:solidFill>
            <a:srgbClr val="FFFFFF"/>
          </a:solidFill>
          <a:ln w="12700">
            <a:solidFill>
              <a:srgbClr val="C2D4D8"/>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566928" y="1444752"/>
            <a:ext cx="3456432" cy="256032"/>
          </a:xfrm>
          <a:prstGeom prst="rect">
            <a:avLst/>
          </a:prstGeom>
          <a:solidFill>
            <a:srgbClr val="E8F0F2"/>
          </a:solidFill>
          <a:ln/>
        </p:spPr>
      </p:sp>
      <p:sp>
        <p:nvSpPr>
          <p:cNvPr id="6" name="Shape 4"/>
          <p:cNvSpPr/>
          <p:nvPr/>
        </p:nvSpPr>
        <p:spPr>
          <a:xfrm>
            <a:off x="658368" y="1531620"/>
            <a:ext cx="82296" cy="82296"/>
          </a:xfrm>
          <a:prstGeom prst="ellipse">
            <a:avLst/>
          </a:prstGeom>
          <a:solidFill>
            <a:srgbClr val="E0B0AE"/>
          </a:solidFill>
          <a:ln/>
        </p:spPr>
      </p:sp>
      <p:sp>
        <p:nvSpPr>
          <p:cNvPr id="7" name="Shape 5"/>
          <p:cNvSpPr/>
          <p:nvPr/>
        </p:nvSpPr>
        <p:spPr>
          <a:xfrm>
            <a:off x="786384" y="1531620"/>
            <a:ext cx="82296" cy="82296"/>
          </a:xfrm>
          <a:prstGeom prst="ellipse">
            <a:avLst/>
          </a:prstGeom>
          <a:solidFill>
            <a:srgbClr val="E6D2A8"/>
          </a:solidFill>
          <a:ln/>
        </p:spPr>
      </p:sp>
      <p:sp>
        <p:nvSpPr>
          <p:cNvPr id="8" name="Shape 6"/>
          <p:cNvSpPr/>
          <p:nvPr/>
        </p:nvSpPr>
        <p:spPr>
          <a:xfrm>
            <a:off x="914400" y="1531620"/>
            <a:ext cx="82296" cy="82296"/>
          </a:xfrm>
          <a:prstGeom prst="ellipse">
            <a:avLst/>
          </a:prstGeom>
          <a:solidFill>
            <a:srgbClr val="B9D4BE"/>
          </a:solidFill>
          <a:ln/>
        </p:spPr>
      </p:sp>
      <p:sp>
        <p:nvSpPr>
          <p:cNvPr id="9" name="Shape 7"/>
          <p:cNvSpPr/>
          <p:nvPr/>
        </p:nvSpPr>
        <p:spPr>
          <a:xfrm>
            <a:off x="1078992" y="1504188"/>
            <a:ext cx="2798064" cy="146304"/>
          </a:xfrm>
          <a:prstGeom prst="roundRect">
            <a:avLst>
              <a:gd name="adj" fmla="val 50000"/>
            </a:avLst>
          </a:prstGeom>
          <a:solidFill>
            <a:srgbClr val="FFFFFF"/>
          </a:solidFill>
          <a:ln/>
        </p:spPr>
      </p:sp>
      <p:sp>
        <p:nvSpPr>
          <p:cNvPr id="10" name="Text 8"/>
          <p:cNvSpPr/>
          <p:nvPr/>
        </p:nvSpPr>
        <p:spPr>
          <a:xfrm>
            <a:off x="1170432" y="1495044"/>
            <a:ext cx="2633472" cy="164592"/>
          </a:xfrm>
          <a:prstGeom prst="rect">
            <a:avLst/>
          </a:prstGeom>
          <a:noFill/>
          <a:ln/>
        </p:spPr>
        <p:txBody>
          <a:bodyPr wrap="square" lIns="0" tIns="0" rIns="0" bIns="0" rtlCol="0" anchor="ctr"/>
          <a:lstStyle/>
          <a:p>
            <a:pPr indent="0" marL="0">
              <a:buNone/>
            </a:pPr>
            <a:r>
              <a:rPr lang="en-US" sz="700" dirty="0">
                <a:solidFill>
                  <a:srgbClr val="7C939B"/>
                </a:solidFill>
                <a:latin typeface="Calibri" pitchFamily="34" charset="0"/>
                <a:ea typeface="Calibri" pitchFamily="34" charset="-122"/>
                <a:cs typeface="Calibri" pitchFamily="34" charset="-120"/>
              </a:rPr>
              <a:t>servicedesk-ai.vercel.app/login</a:t>
            </a:r>
            <a:endParaRPr lang="en-US" sz="700" dirty="0"/>
          </a:p>
        </p:txBody>
      </p:sp>
      <p:sp>
        <p:nvSpPr>
          <p:cNvPr id="11" name="Shape 9"/>
          <p:cNvSpPr/>
          <p:nvPr/>
        </p:nvSpPr>
        <p:spPr>
          <a:xfrm>
            <a:off x="566928" y="1700784"/>
            <a:ext cx="3456432" cy="2761488"/>
          </a:xfrm>
          <a:prstGeom prst="roundRect">
            <a:avLst>
              <a:gd name="adj" fmla="val 993"/>
            </a:avLst>
          </a:prstGeom>
          <a:solidFill>
            <a:srgbClr val="F4F9FA"/>
          </a:solidFill>
          <a:ln/>
        </p:spPr>
      </p:sp>
      <p:sp>
        <p:nvSpPr>
          <p:cNvPr id="12" name="Shape 10"/>
          <p:cNvSpPr/>
          <p:nvPr/>
        </p:nvSpPr>
        <p:spPr>
          <a:xfrm>
            <a:off x="1225296" y="2011680"/>
            <a:ext cx="2139696" cy="2084832"/>
          </a:xfrm>
          <a:prstGeom prst="roundRect">
            <a:avLst>
              <a:gd name="adj" fmla="val 2632"/>
            </a:avLst>
          </a:prstGeom>
          <a:solidFill>
            <a:srgbClr val="FFFFFF"/>
          </a:solidFill>
          <a:ln/>
        </p:spPr>
      </p:sp>
      <p:sp>
        <p:nvSpPr>
          <p:cNvPr id="13" name="Shape 11"/>
          <p:cNvSpPr/>
          <p:nvPr/>
        </p:nvSpPr>
        <p:spPr>
          <a:xfrm>
            <a:off x="1225296" y="2011680"/>
            <a:ext cx="2139696" cy="2084832"/>
          </a:xfrm>
          <a:prstGeom prst="roundRect">
            <a:avLst>
              <a:gd name="adj" fmla="val 2632"/>
            </a:avLst>
          </a:prstGeom>
          <a:solidFill>
            <a:srgbClr val="FFFFFF"/>
          </a:solidFill>
          <a:ln w="9525">
            <a:solidFill>
              <a:srgbClr val="D3E3E6"/>
            </a:solidFill>
            <a:prstDash val="solid"/>
          </a:ln>
        </p:spPr>
      </p:sp>
      <p:sp>
        <p:nvSpPr>
          <p:cNvPr id="14" name="Shape 12"/>
          <p:cNvSpPr/>
          <p:nvPr/>
        </p:nvSpPr>
        <p:spPr>
          <a:xfrm>
            <a:off x="2139696" y="2176272"/>
            <a:ext cx="310896" cy="310896"/>
          </a:xfrm>
          <a:prstGeom prst="ellipse">
            <a:avLst/>
          </a:prstGeom>
          <a:solidFill>
            <a:srgbClr val="028090"/>
          </a:solidFill>
          <a:ln/>
        </p:spPr>
      </p:sp>
      <p:sp>
        <p:nvSpPr>
          <p:cNvPr id="15" name="Text 13"/>
          <p:cNvSpPr/>
          <p:nvPr/>
        </p:nvSpPr>
        <p:spPr>
          <a:xfrm>
            <a:off x="1316736" y="2556320"/>
            <a:ext cx="1956816" cy="154305"/>
          </a:xfrm>
          <a:prstGeom prst="rect">
            <a:avLst/>
          </a:prstGeom>
          <a:noFill/>
          <a:ln/>
        </p:spPr>
        <p:txBody>
          <a:bodyPr wrap="square" lIns="0" tIns="0" rIns="0" bIns="0" rtlCol="0" anchor="ctr"/>
          <a:lstStyle/>
          <a:p>
            <a:pPr algn="ctr" indent="0" marL="0">
              <a:buNone/>
            </a:pPr>
            <a:r>
              <a:rPr lang="en-US" sz="900" b="1" dirty="0">
                <a:solidFill>
                  <a:srgbClr val="0A2E36"/>
                </a:solidFill>
                <a:latin typeface="Calibri" pitchFamily="34" charset="0"/>
                <a:ea typeface="Calibri" pitchFamily="34" charset="-122"/>
                <a:cs typeface="Calibri" pitchFamily="34" charset="-120"/>
              </a:rPr>
              <a:t>ServiceDesk AI</a:t>
            </a:r>
            <a:endParaRPr lang="en-US" sz="900" dirty="0"/>
          </a:p>
        </p:txBody>
      </p:sp>
      <p:sp>
        <p:nvSpPr>
          <p:cNvPr id="16" name="Text 14"/>
          <p:cNvSpPr/>
          <p:nvPr/>
        </p:nvSpPr>
        <p:spPr>
          <a:xfrm>
            <a:off x="1316736" y="2724912"/>
            <a:ext cx="1956816" cy="146304"/>
          </a:xfrm>
          <a:prstGeom prst="rect">
            <a:avLst/>
          </a:prstGeom>
          <a:noFill/>
          <a:ln/>
        </p:spPr>
        <p:txBody>
          <a:bodyPr wrap="square" lIns="0" tIns="0" rIns="0" bIns="0" rtlCol="0" anchor="ctr"/>
          <a:lstStyle/>
          <a:p>
            <a:pPr algn="ctr" indent="0" marL="0">
              <a:buNone/>
            </a:pPr>
            <a:r>
              <a:rPr lang="en-US" sz="700" dirty="0">
                <a:solidFill>
                  <a:srgbClr val="7C939B"/>
                </a:solidFill>
                <a:latin typeface="Calibri" pitchFamily="34" charset="0"/>
                <a:ea typeface="Calibri" pitchFamily="34" charset="-122"/>
                <a:cs typeface="Calibri" pitchFamily="34" charset="-120"/>
              </a:rPr>
              <a:t>Sign in to your account</a:t>
            </a:r>
            <a:endParaRPr lang="en-US" sz="700" dirty="0"/>
          </a:p>
        </p:txBody>
      </p:sp>
      <p:sp>
        <p:nvSpPr>
          <p:cNvPr id="17" name="Text 15"/>
          <p:cNvSpPr/>
          <p:nvPr/>
        </p:nvSpPr>
        <p:spPr>
          <a:xfrm>
            <a:off x="1389888" y="2962656"/>
            <a:ext cx="914400" cy="146304"/>
          </a:xfrm>
          <a:prstGeom prst="rect">
            <a:avLst/>
          </a:prstGeom>
          <a:noFill/>
          <a:ln/>
        </p:spPr>
        <p:txBody>
          <a:bodyPr wrap="square" lIns="0" tIns="0" rIns="0" bIns="0" rtlCol="0" anchor="ctr"/>
          <a:lstStyle/>
          <a:p>
            <a:pPr algn="l" indent="0" marL="0">
              <a:buNone/>
            </a:pPr>
            <a:r>
              <a:rPr lang="en-US" sz="650" dirty="0">
                <a:solidFill>
                  <a:srgbClr val="7C939B"/>
                </a:solidFill>
                <a:latin typeface="Calibri" pitchFamily="34" charset="0"/>
                <a:ea typeface="Calibri" pitchFamily="34" charset="-122"/>
                <a:cs typeface="Calibri" pitchFamily="34" charset="-120"/>
              </a:rPr>
              <a:t>Email</a:t>
            </a:r>
            <a:endParaRPr lang="en-US" sz="650" dirty="0"/>
          </a:p>
        </p:txBody>
      </p:sp>
      <p:sp>
        <p:nvSpPr>
          <p:cNvPr id="18" name="Shape 16"/>
          <p:cNvSpPr/>
          <p:nvPr/>
        </p:nvSpPr>
        <p:spPr>
          <a:xfrm>
            <a:off x="1389888" y="3090672"/>
            <a:ext cx="1810512" cy="182880"/>
          </a:xfrm>
          <a:prstGeom prst="roundRect">
            <a:avLst>
              <a:gd name="adj" fmla="val 15000"/>
            </a:avLst>
          </a:prstGeom>
          <a:solidFill>
            <a:srgbClr val="EDF3F5"/>
          </a:solidFill>
          <a:ln/>
        </p:spPr>
      </p:sp>
      <p:sp>
        <p:nvSpPr>
          <p:cNvPr id="19" name="Text 17"/>
          <p:cNvSpPr/>
          <p:nvPr/>
        </p:nvSpPr>
        <p:spPr>
          <a:xfrm>
            <a:off x="1389888" y="3328416"/>
            <a:ext cx="914400" cy="146304"/>
          </a:xfrm>
          <a:prstGeom prst="rect">
            <a:avLst/>
          </a:prstGeom>
          <a:noFill/>
          <a:ln/>
        </p:spPr>
        <p:txBody>
          <a:bodyPr wrap="square" lIns="0" tIns="0" rIns="0" bIns="0" rtlCol="0" anchor="ctr"/>
          <a:lstStyle/>
          <a:p>
            <a:pPr algn="l" indent="0" marL="0">
              <a:buNone/>
            </a:pPr>
            <a:r>
              <a:rPr lang="en-US" sz="650" dirty="0">
                <a:solidFill>
                  <a:srgbClr val="7C939B"/>
                </a:solidFill>
                <a:latin typeface="Calibri" pitchFamily="34" charset="0"/>
                <a:ea typeface="Calibri" pitchFamily="34" charset="-122"/>
                <a:cs typeface="Calibri" pitchFamily="34" charset="-120"/>
              </a:rPr>
              <a:t>Password</a:t>
            </a:r>
            <a:endParaRPr lang="en-US" sz="650" dirty="0"/>
          </a:p>
        </p:txBody>
      </p:sp>
      <p:sp>
        <p:nvSpPr>
          <p:cNvPr id="20" name="Shape 18"/>
          <p:cNvSpPr/>
          <p:nvPr/>
        </p:nvSpPr>
        <p:spPr>
          <a:xfrm>
            <a:off x="1389888" y="3456432"/>
            <a:ext cx="1810512" cy="182880"/>
          </a:xfrm>
          <a:prstGeom prst="roundRect">
            <a:avLst>
              <a:gd name="adj" fmla="val 15000"/>
            </a:avLst>
          </a:prstGeom>
          <a:solidFill>
            <a:srgbClr val="EDF3F5"/>
          </a:solidFill>
          <a:ln/>
        </p:spPr>
      </p:sp>
      <p:sp>
        <p:nvSpPr>
          <p:cNvPr id="21" name="Shape 19"/>
          <p:cNvSpPr/>
          <p:nvPr/>
        </p:nvSpPr>
        <p:spPr>
          <a:xfrm>
            <a:off x="1389888" y="3730752"/>
            <a:ext cx="1810512" cy="219456"/>
          </a:xfrm>
          <a:prstGeom prst="roundRect">
            <a:avLst>
              <a:gd name="adj" fmla="val 20833"/>
            </a:avLst>
          </a:prstGeom>
          <a:solidFill>
            <a:srgbClr val="028090"/>
          </a:solidFill>
          <a:ln/>
        </p:spPr>
      </p:sp>
      <p:sp>
        <p:nvSpPr>
          <p:cNvPr id="22" name="Text 20"/>
          <p:cNvSpPr/>
          <p:nvPr/>
        </p:nvSpPr>
        <p:spPr>
          <a:xfrm>
            <a:off x="1389888" y="3730752"/>
            <a:ext cx="1810512" cy="146304"/>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Sign in</a:t>
            </a:r>
            <a:endParaRPr lang="en-US" sz="750" dirty="0"/>
          </a:p>
        </p:txBody>
      </p:sp>
      <p:sp>
        <p:nvSpPr>
          <p:cNvPr id="23" name="Text 21"/>
          <p:cNvSpPr/>
          <p:nvPr/>
        </p:nvSpPr>
        <p:spPr>
          <a:xfrm>
            <a:off x="566928" y="4608576"/>
            <a:ext cx="3456432" cy="237744"/>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Login</a:t>
            </a:r>
            <a:endParaRPr lang="en-US" sz="1300" dirty="0"/>
          </a:p>
        </p:txBody>
      </p:sp>
      <p:sp>
        <p:nvSpPr>
          <p:cNvPr id="24" name="Text 22"/>
          <p:cNvSpPr/>
          <p:nvPr/>
        </p:nvSpPr>
        <p:spPr>
          <a:xfrm>
            <a:off x="566928" y="4846320"/>
            <a:ext cx="3456432" cy="640080"/>
          </a:xfrm>
          <a:prstGeom prst="rect">
            <a:avLst/>
          </a:prstGeom>
          <a:noFill/>
          <a:ln/>
        </p:spPr>
        <p:txBody>
          <a:bodyPr wrap="square" lIns="0" tIns="0" rIns="0" bIns="0" rtlCol="0" anchor="t"/>
          <a:lstStyle/>
          <a:p>
            <a:pPr indent="0" marL="0">
              <a:lnSpc>
                <a:spcPts val="1300"/>
              </a:lnSpc>
              <a:buNone/>
            </a:pPr>
            <a:r>
              <a:rPr lang="en-US" sz="1100" dirty="0">
                <a:solidFill>
                  <a:srgbClr val="7C939B"/>
                </a:solidFill>
                <a:latin typeface="Calibri" pitchFamily="34" charset="0"/>
                <a:ea typeface="Calibri" pitchFamily="34" charset="-122"/>
                <a:cs typeface="Calibri" pitchFamily="34" charset="-120"/>
              </a:rPr>
              <a:t>Email and password, with inline validation and clear error states. Registration follows the same layout.</a:t>
            </a:r>
            <a:endParaRPr lang="en-US" sz="1100" dirty="0"/>
          </a:p>
        </p:txBody>
      </p:sp>
      <p:sp>
        <p:nvSpPr>
          <p:cNvPr id="25" name="Shape 23"/>
          <p:cNvSpPr/>
          <p:nvPr/>
        </p:nvSpPr>
        <p:spPr>
          <a:xfrm>
            <a:off x="4352544" y="1444752"/>
            <a:ext cx="3456432" cy="3017520"/>
          </a:xfrm>
          <a:prstGeom prst="roundRect">
            <a:avLst>
              <a:gd name="adj" fmla="val 1515"/>
            </a:avLst>
          </a:prstGeom>
          <a:solidFill>
            <a:srgbClr val="FFFFFF"/>
          </a:solidFill>
          <a:ln w="12700">
            <a:solidFill>
              <a:srgbClr val="C2D4D8"/>
            </a:solidFill>
            <a:prstDash val="solid"/>
          </a:ln>
          <a:effectLst>
            <a:outerShdw sx="100000" sy="100000" kx="0" ky="0" algn="bl" rotWithShape="0" blurRad="127000" dist="25400" dir="5400000">
              <a:srgbClr val="0A2E36">
                <a:alpha val="10000"/>
              </a:srgbClr>
            </a:outerShdw>
          </a:effectLst>
        </p:spPr>
      </p:sp>
      <p:sp>
        <p:nvSpPr>
          <p:cNvPr id="26" name="Shape 24"/>
          <p:cNvSpPr/>
          <p:nvPr/>
        </p:nvSpPr>
        <p:spPr>
          <a:xfrm>
            <a:off x="4352544" y="1444752"/>
            <a:ext cx="3456432" cy="256032"/>
          </a:xfrm>
          <a:prstGeom prst="rect">
            <a:avLst/>
          </a:prstGeom>
          <a:solidFill>
            <a:srgbClr val="E8F0F2"/>
          </a:solidFill>
          <a:ln/>
        </p:spPr>
      </p:sp>
      <p:sp>
        <p:nvSpPr>
          <p:cNvPr id="27" name="Shape 25"/>
          <p:cNvSpPr/>
          <p:nvPr/>
        </p:nvSpPr>
        <p:spPr>
          <a:xfrm>
            <a:off x="4443984" y="1531620"/>
            <a:ext cx="82296" cy="82296"/>
          </a:xfrm>
          <a:prstGeom prst="ellipse">
            <a:avLst/>
          </a:prstGeom>
          <a:solidFill>
            <a:srgbClr val="E0B0AE"/>
          </a:solidFill>
          <a:ln/>
        </p:spPr>
      </p:sp>
      <p:sp>
        <p:nvSpPr>
          <p:cNvPr id="28" name="Shape 26"/>
          <p:cNvSpPr/>
          <p:nvPr/>
        </p:nvSpPr>
        <p:spPr>
          <a:xfrm>
            <a:off x="4572000" y="1531620"/>
            <a:ext cx="82296" cy="82296"/>
          </a:xfrm>
          <a:prstGeom prst="ellipse">
            <a:avLst/>
          </a:prstGeom>
          <a:solidFill>
            <a:srgbClr val="E6D2A8"/>
          </a:solidFill>
          <a:ln/>
        </p:spPr>
      </p:sp>
      <p:sp>
        <p:nvSpPr>
          <p:cNvPr id="29" name="Shape 27"/>
          <p:cNvSpPr/>
          <p:nvPr/>
        </p:nvSpPr>
        <p:spPr>
          <a:xfrm>
            <a:off x="4700016" y="1531620"/>
            <a:ext cx="82296" cy="82296"/>
          </a:xfrm>
          <a:prstGeom prst="ellipse">
            <a:avLst/>
          </a:prstGeom>
          <a:solidFill>
            <a:srgbClr val="B9D4BE"/>
          </a:solidFill>
          <a:ln/>
        </p:spPr>
      </p:sp>
      <p:sp>
        <p:nvSpPr>
          <p:cNvPr id="30" name="Shape 28"/>
          <p:cNvSpPr/>
          <p:nvPr/>
        </p:nvSpPr>
        <p:spPr>
          <a:xfrm>
            <a:off x="4864608" y="1504188"/>
            <a:ext cx="2798064" cy="146304"/>
          </a:xfrm>
          <a:prstGeom prst="roundRect">
            <a:avLst>
              <a:gd name="adj" fmla="val 50000"/>
            </a:avLst>
          </a:prstGeom>
          <a:solidFill>
            <a:srgbClr val="FFFFFF"/>
          </a:solidFill>
          <a:ln/>
        </p:spPr>
      </p:sp>
      <p:sp>
        <p:nvSpPr>
          <p:cNvPr id="31" name="Text 29"/>
          <p:cNvSpPr/>
          <p:nvPr/>
        </p:nvSpPr>
        <p:spPr>
          <a:xfrm>
            <a:off x="4956048" y="1495044"/>
            <a:ext cx="2633472" cy="164592"/>
          </a:xfrm>
          <a:prstGeom prst="rect">
            <a:avLst/>
          </a:prstGeom>
          <a:noFill/>
          <a:ln/>
        </p:spPr>
        <p:txBody>
          <a:bodyPr wrap="square" lIns="0" tIns="0" rIns="0" bIns="0" rtlCol="0" anchor="ctr"/>
          <a:lstStyle/>
          <a:p>
            <a:pPr indent="0" marL="0">
              <a:buNone/>
            </a:pPr>
            <a:r>
              <a:rPr lang="en-US" sz="700" dirty="0">
                <a:solidFill>
                  <a:srgbClr val="7C939B"/>
                </a:solidFill>
                <a:latin typeface="Calibri" pitchFamily="34" charset="0"/>
                <a:ea typeface="Calibri" pitchFamily="34" charset="-122"/>
                <a:cs typeface="Calibri" pitchFamily="34" charset="-120"/>
              </a:rPr>
              <a:t>servicedesk-ai.vercel.app/dashboard</a:t>
            </a:r>
            <a:endParaRPr lang="en-US" sz="700" dirty="0"/>
          </a:p>
        </p:txBody>
      </p:sp>
      <p:sp>
        <p:nvSpPr>
          <p:cNvPr id="32" name="Shape 30"/>
          <p:cNvSpPr/>
          <p:nvPr/>
        </p:nvSpPr>
        <p:spPr>
          <a:xfrm>
            <a:off x="4352544" y="1700784"/>
            <a:ext cx="3456432" cy="2761488"/>
          </a:xfrm>
          <a:prstGeom prst="roundRect">
            <a:avLst>
              <a:gd name="adj" fmla="val 993"/>
            </a:avLst>
          </a:prstGeom>
          <a:solidFill>
            <a:srgbClr val="F4F9FA"/>
          </a:solidFill>
          <a:ln/>
        </p:spPr>
      </p:sp>
      <p:sp>
        <p:nvSpPr>
          <p:cNvPr id="33" name="Shape 31"/>
          <p:cNvSpPr/>
          <p:nvPr/>
        </p:nvSpPr>
        <p:spPr>
          <a:xfrm>
            <a:off x="4352544" y="1700784"/>
            <a:ext cx="676656" cy="2761488"/>
          </a:xfrm>
          <a:prstGeom prst="roundRect">
            <a:avLst>
              <a:gd name="adj" fmla="val 4054"/>
            </a:avLst>
          </a:prstGeom>
          <a:solidFill>
            <a:srgbClr val="0A2E36"/>
          </a:solidFill>
          <a:ln/>
        </p:spPr>
      </p:sp>
      <p:sp>
        <p:nvSpPr>
          <p:cNvPr id="34" name="Shape 32"/>
          <p:cNvSpPr/>
          <p:nvPr/>
        </p:nvSpPr>
        <p:spPr>
          <a:xfrm>
            <a:off x="4462272" y="1920240"/>
            <a:ext cx="457200" cy="128016"/>
          </a:xfrm>
          <a:prstGeom prst="roundRect">
            <a:avLst>
              <a:gd name="adj" fmla="val 21429"/>
            </a:avLst>
          </a:prstGeom>
          <a:solidFill>
            <a:srgbClr val="02C39A"/>
          </a:solidFill>
          <a:ln/>
        </p:spPr>
      </p:sp>
      <p:sp>
        <p:nvSpPr>
          <p:cNvPr id="35" name="Shape 33"/>
          <p:cNvSpPr/>
          <p:nvPr/>
        </p:nvSpPr>
        <p:spPr>
          <a:xfrm>
            <a:off x="4462272" y="2157984"/>
            <a:ext cx="457200" cy="128016"/>
          </a:xfrm>
          <a:prstGeom prst="roundRect">
            <a:avLst>
              <a:gd name="adj" fmla="val 21429"/>
            </a:avLst>
          </a:prstGeom>
          <a:solidFill>
            <a:srgbClr val="27505A"/>
          </a:solidFill>
          <a:ln/>
        </p:spPr>
      </p:sp>
      <p:sp>
        <p:nvSpPr>
          <p:cNvPr id="36" name="Shape 34"/>
          <p:cNvSpPr/>
          <p:nvPr/>
        </p:nvSpPr>
        <p:spPr>
          <a:xfrm>
            <a:off x="4462272" y="2395728"/>
            <a:ext cx="457200" cy="128016"/>
          </a:xfrm>
          <a:prstGeom prst="roundRect">
            <a:avLst>
              <a:gd name="adj" fmla="val 21429"/>
            </a:avLst>
          </a:prstGeom>
          <a:solidFill>
            <a:srgbClr val="27505A"/>
          </a:solidFill>
          <a:ln/>
        </p:spPr>
      </p:sp>
      <p:sp>
        <p:nvSpPr>
          <p:cNvPr id="37" name="Shape 35"/>
          <p:cNvSpPr/>
          <p:nvPr/>
        </p:nvSpPr>
        <p:spPr>
          <a:xfrm>
            <a:off x="4462272" y="2633472"/>
            <a:ext cx="457200" cy="128016"/>
          </a:xfrm>
          <a:prstGeom prst="roundRect">
            <a:avLst>
              <a:gd name="adj" fmla="val 21429"/>
            </a:avLst>
          </a:prstGeom>
          <a:solidFill>
            <a:srgbClr val="27505A"/>
          </a:solidFill>
          <a:ln/>
        </p:spPr>
      </p:sp>
      <p:sp>
        <p:nvSpPr>
          <p:cNvPr id="38" name="Text 36"/>
          <p:cNvSpPr/>
          <p:nvPr/>
        </p:nvSpPr>
        <p:spPr>
          <a:xfrm>
            <a:off x="5157216" y="1861376"/>
            <a:ext cx="1463040" cy="154305"/>
          </a:xfrm>
          <a:prstGeom prst="rect">
            <a:avLst/>
          </a:prstGeom>
          <a:noFill/>
          <a:ln/>
        </p:spPr>
        <p:txBody>
          <a:bodyPr wrap="square" lIns="0" tIns="0" rIns="0" bIns="0" rtlCol="0" anchor="ctr"/>
          <a:lstStyle/>
          <a:p>
            <a:pPr algn="l" indent="0" marL="0">
              <a:buNone/>
            </a:pPr>
            <a:r>
              <a:rPr lang="en-US" sz="900" b="1" dirty="0">
                <a:solidFill>
                  <a:srgbClr val="0A2E36"/>
                </a:solidFill>
                <a:latin typeface="Calibri" pitchFamily="34" charset="0"/>
                <a:ea typeface="Calibri" pitchFamily="34" charset="-122"/>
                <a:cs typeface="Calibri" pitchFamily="34" charset="-120"/>
              </a:rPr>
              <a:t>My tickets</a:t>
            </a:r>
            <a:endParaRPr lang="en-US" sz="900" dirty="0"/>
          </a:p>
        </p:txBody>
      </p:sp>
      <p:sp>
        <p:nvSpPr>
          <p:cNvPr id="39" name="Shape 37"/>
          <p:cNvSpPr/>
          <p:nvPr/>
        </p:nvSpPr>
        <p:spPr>
          <a:xfrm>
            <a:off x="7004304" y="1847088"/>
            <a:ext cx="694944" cy="201168"/>
          </a:xfrm>
          <a:prstGeom prst="roundRect">
            <a:avLst>
              <a:gd name="adj" fmla="val 22727"/>
            </a:avLst>
          </a:prstGeom>
          <a:solidFill>
            <a:srgbClr val="028090"/>
          </a:solidFill>
          <a:ln/>
        </p:spPr>
      </p:sp>
      <p:sp>
        <p:nvSpPr>
          <p:cNvPr id="40" name="Text 38"/>
          <p:cNvSpPr/>
          <p:nvPr/>
        </p:nvSpPr>
        <p:spPr>
          <a:xfrm>
            <a:off x="7004304" y="1847088"/>
            <a:ext cx="694944" cy="146304"/>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 New</a:t>
            </a:r>
            <a:endParaRPr lang="en-US" sz="700" dirty="0"/>
          </a:p>
        </p:txBody>
      </p:sp>
      <p:sp>
        <p:nvSpPr>
          <p:cNvPr id="41" name="Shape 39"/>
          <p:cNvSpPr/>
          <p:nvPr/>
        </p:nvSpPr>
        <p:spPr>
          <a:xfrm>
            <a:off x="5157216" y="2139696"/>
            <a:ext cx="786384" cy="512064"/>
          </a:xfrm>
          <a:prstGeom prst="roundRect">
            <a:avLst>
              <a:gd name="adj" fmla="val 8929"/>
            </a:avLst>
          </a:prstGeom>
          <a:solidFill>
            <a:srgbClr val="FFFFFF"/>
          </a:solidFill>
          <a:ln w="9525">
            <a:solidFill>
              <a:srgbClr val="D3E3E6"/>
            </a:solidFill>
            <a:prstDash val="solid"/>
          </a:ln>
        </p:spPr>
      </p:sp>
      <p:sp>
        <p:nvSpPr>
          <p:cNvPr id="42" name="Text 40"/>
          <p:cNvSpPr/>
          <p:nvPr/>
        </p:nvSpPr>
        <p:spPr>
          <a:xfrm>
            <a:off x="5157216" y="2201418"/>
            <a:ext cx="786384" cy="205740"/>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6</a:t>
            </a:r>
            <a:endParaRPr lang="en-US" sz="1200" dirty="0"/>
          </a:p>
        </p:txBody>
      </p:sp>
      <p:sp>
        <p:nvSpPr>
          <p:cNvPr id="43" name="Text 41"/>
          <p:cNvSpPr/>
          <p:nvPr/>
        </p:nvSpPr>
        <p:spPr>
          <a:xfrm>
            <a:off x="5157216" y="2450592"/>
            <a:ext cx="786384" cy="146304"/>
          </a:xfrm>
          <a:prstGeom prst="rect">
            <a:avLst/>
          </a:prstGeom>
          <a:noFill/>
          <a:ln/>
        </p:spPr>
        <p:txBody>
          <a:bodyPr wrap="square" lIns="0" tIns="0" rIns="0" bIns="0" rtlCol="0" anchor="ctr"/>
          <a:lstStyle/>
          <a:p>
            <a:pPr algn="ctr" indent="0" marL="0">
              <a:buNone/>
            </a:pPr>
            <a:r>
              <a:rPr lang="en-US" sz="650" dirty="0">
                <a:solidFill>
                  <a:srgbClr val="7C939B"/>
                </a:solidFill>
                <a:latin typeface="Calibri" pitchFamily="34" charset="0"/>
                <a:ea typeface="Calibri" pitchFamily="34" charset="-122"/>
                <a:cs typeface="Calibri" pitchFamily="34" charset="-120"/>
              </a:rPr>
              <a:t>Total</a:t>
            </a:r>
            <a:endParaRPr lang="en-US" sz="650" dirty="0"/>
          </a:p>
        </p:txBody>
      </p:sp>
      <p:sp>
        <p:nvSpPr>
          <p:cNvPr id="44" name="Shape 42"/>
          <p:cNvSpPr/>
          <p:nvPr/>
        </p:nvSpPr>
        <p:spPr>
          <a:xfrm>
            <a:off x="6025896" y="2139696"/>
            <a:ext cx="786384" cy="512064"/>
          </a:xfrm>
          <a:prstGeom prst="roundRect">
            <a:avLst>
              <a:gd name="adj" fmla="val 8929"/>
            </a:avLst>
          </a:prstGeom>
          <a:solidFill>
            <a:srgbClr val="FFFFFF"/>
          </a:solidFill>
          <a:ln w="9525">
            <a:solidFill>
              <a:srgbClr val="D3E3E6"/>
            </a:solidFill>
            <a:prstDash val="solid"/>
          </a:ln>
        </p:spPr>
      </p:sp>
      <p:sp>
        <p:nvSpPr>
          <p:cNvPr id="45" name="Text 43"/>
          <p:cNvSpPr/>
          <p:nvPr/>
        </p:nvSpPr>
        <p:spPr>
          <a:xfrm>
            <a:off x="6025896" y="2201418"/>
            <a:ext cx="786384" cy="205740"/>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2</a:t>
            </a:r>
            <a:endParaRPr lang="en-US" sz="1200" dirty="0"/>
          </a:p>
        </p:txBody>
      </p:sp>
      <p:sp>
        <p:nvSpPr>
          <p:cNvPr id="46" name="Text 44"/>
          <p:cNvSpPr/>
          <p:nvPr/>
        </p:nvSpPr>
        <p:spPr>
          <a:xfrm>
            <a:off x="6025896" y="2450592"/>
            <a:ext cx="786384" cy="146304"/>
          </a:xfrm>
          <a:prstGeom prst="rect">
            <a:avLst/>
          </a:prstGeom>
          <a:noFill/>
          <a:ln/>
        </p:spPr>
        <p:txBody>
          <a:bodyPr wrap="square" lIns="0" tIns="0" rIns="0" bIns="0" rtlCol="0" anchor="ctr"/>
          <a:lstStyle/>
          <a:p>
            <a:pPr algn="ctr" indent="0" marL="0">
              <a:buNone/>
            </a:pPr>
            <a:r>
              <a:rPr lang="en-US" sz="650" dirty="0">
                <a:solidFill>
                  <a:srgbClr val="7C939B"/>
                </a:solidFill>
                <a:latin typeface="Calibri" pitchFamily="34" charset="0"/>
                <a:ea typeface="Calibri" pitchFamily="34" charset="-122"/>
                <a:cs typeface="Calibri" pitchFamily="34" charset="-120"/>
              </a:rPr>
              <a:t>Open</a:t>
            </a:r>
            <a:endParaRPr lang="en-US" sz="650" dirty="0"/>
          </a:p>
        </p:txBody>
      </p:sp>
      <p:sp>
        <p:nvSpPr>
          <p:cNvPr id="47" name="Shape 45"/>
          <p:cNvSpPr/>
          <p:nvPr/>
        </p:nvSpPr>
        <p:spPr>
          <a:xfrm>
            <a:off x="6894576" y="2139696"/>
            <a:ext cx="786384" cy="512064"/>
          </a:xfrm>
          <a:prstGeom prst="roundRect">
            <a:avLst>
              <a:gd name="adj" fmla="val 8929"/>
            </a:avLst>
          </a:prstGeom>
          <a:solidFill>
            <a:srgbClr val="FFFFFF"/>
          </a:solidFill>
          <a:ln w="9525">
            <a:solidFill>
              <a:srgbClr val="D3E3E6"/>
            </a:solidFill>
            <a:prstDash val="solid"/>
          </a:ln>
        </p:spPr>
      </p:sp>
      <p:sp>
        <p:nvSpPr>
          <p:cNvPr id="48" name="Text 46"/>
          <p:cNvSpPr/>
          <p:nvPr/>
        </p:nvSpPr>
        <p:spPr>
          <a:xfrm>
            <a:off x="6894576" y="2201418"/>
            <a:ext cx="786384" cy="205740"/>
          </a:xfrm>
          <a:prstGeom prst="rect">
            <a:avLst/>
          </a:prstGeom>
          <a:noFill/>
          <a:ln/>
        </p:spPr>
        <p:txBody>
          <a:bodyPr wrap="square" lIns="0" tIns="0" rIns="0" bIns="0" rtlCol="0" anchor="ctr"/>
          <a:lstStyle/>
          <a:p>
            <a:pPr algn="ctr" indent="0" marL="0">
              <a:buNone/>
            </a:pPr>
            <a:r>
              <a:rPr lang="en-US" sz="1200" b="1" dirty="0">
                <a:solidFill>
                  <a:srgbClr val="028090"/>
                </a:solidFill>
                <a:latin typeface="Calibri" pitchFamily="34" charset="0"/>
                <a:ea typeface="Calibri" pitchFamily="34" charset="-122"/>
                <a:cs typeface="Calibri" pitchFamily="34" charset="-120"/>
              </a:rPr>
              <a:t>4</a:t>
            </a:r>
            <a:endParaRPr lang="en-US" sz="1200" dirty="0"/>
          </a:p>
        </p:txBody>
      </p:sp>
      <p:sp>
        <p:nvSpPr>
          <p:cNvPr id="49" name="Text 47"/>
          <p:cNvSpPr/>
          <p:nvPr/>
        </p:nvSpPr>
        <p:spPr>
          <a:xfrm>
            <a:off x="6894576" y="2450592"/>
            <a:ext cx="786384" cy="146304"/>
          </a:xfrm>
          <a:prstGeom prst="rect">
            <a:avLst/>
          </a:prstGeom>
          <a:noFill/>
          <a:ln/>
        </p:spPr>
        <p:txBody>
          <a:bodyPr wrap="square" lIns="0" tIns="0" rIns="0" bIns="0" rtlCol="0" anchor="ctr"/>
          <a:lstStyle/>
          <a:p>
            <a:pPr algn="ctr" indent="0" marL="0">
              <a:buNone/>
            </a:pPr>
            <a:r>
              <a:rPr lang="en-US" sz="650" dirty="0">
                <a:solidFill>
                  <a:srgbClr val="7C939B"/>
                </a:solidFill>
                <a:latin typeface="Calibri" pitchFamily="34" charset="0"/>
                <a:ea typeface="Calibri" pitchFamily="34" charset="-122"/>
                <a:cs typeface="Calibri" pitchFamily="34" charset="-120"/>
              </a:rPr>
              <a:t>Resolved</a:t>
            </a:r>
            <a:endParaRPr lang="en-US" sz="650" dirty="0"/>
          </a:p>
        </p:txBody>
      </p:sp>
      <p:sp>
        <p:nvSpPr>
          <p:cNvPr id="50" name="Shape 48"/>
          <p:cNvSpPr/>
          <p:nvPr/>
        </p:nvSpPr>
        <p:spPr>
          <a:xfrm>
            <a:off x="5157216" y="2798064"/>
            <a:ext cx="2542032" cy="310896"/>
          </a:xfrm>
          <a:prstGeom prst="roundRect">
            <a:avLst>
              <a:gd name="adj" fmla="val 11765"/>
            </a:avLst>
          </a:prstGeom>
          <a:solidFill>
            <a:srgbClr val="FFFFFF"/>
          </a:solidFill>
          <a:ln w="9525">
            <a:solidFill>
              <a:srgbClr val="D3E3E6"/>
            </a:solidFill>
            <a:prstDash val="solid"/>
          </a:ln>
        </p:spPr>
      </p:sp>
      <p:sp>
        <p:nvSpPr>
          <p:cNvPr id="51" name="Text 49"/>
          <p:cNvSpPr/>
          <p:nvPr/>
        </p:nvSpPr>
        <p:spPr>
          <a:xfrm>
            <a:off x="5230368" y="2843784"/>
            <a:ext cx="548640" cy="146304"/>
          </a:xfrm>
          <a:prstGeom prst="rect">
            <a:avLst/>
          </a:prstGeom>
          <a:noFill/>
          <a:ln/>
        </p:spPr>
        <p:txBody>
          <a:bodyPr wrap="square" lIns="0" tIns="0" rIns="0" bIns="0" rtlCol="0" anchor="ctr"/>
          <a:lstStyle/>
          <a:p>
            <a:pPr algn="l" indent="0" marL="0">
              <a:buNone/>
            </a:pPr>
            <a:r>
              <a:rPr lang="en-US" sz="650" b="1" dirty="0">
                <a:solidFill>
                  <a:srgbClr val="028090"/>
                </a:solidFill>
                <a:latin typeface="Calibri" pitchFamily="34" charset="0"/>
                <a:ea typeface="Calibri" pitchFamily="34" charset="-122"/>
                <a:cs typeface="Calibri" pitchFamily="34" charset="-120"/>
              </a:rPr>
              <a:t>SD-1024</a:t>
            </a:r>
            <a:endParaRPr lang="en-US" sz="650" dirty="0"/>
          </a:p>
        </p:txBody>
      </p:sp>
      <p:sp>
        <p:nvSpPr>
          <p:cNvPr id="52" name="Text 50"/>
          <p:cNvSpPr/>
          <p:nvPr/>
        </p:nvSpPr>
        <p:spPr>
          <a:xfrm>
            <a:off x="5230368" y="2962656"/>
            <a:ext cx="173736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Payment deducted, order pending</a:t>
            </a:r>
            <a:endParaRPr lang="en-US" sz="650" dirty="0"/>
          </a:p>
        </p:txBody>
      </p:sp>
      <p:sp>
        <p:nvSpPr>
          <p:cNvPr id="53" name="Shape 51"/>
          <p:cNvSpPr/>
          <p:nvPr/>
        </p:nvSpPr>
        <p:spPr>
          <a:xfrm>
            <a:off x="7114032" y="2889504"/>
            <a:ext cx="493776" cy="137160"/>
          </a:xfrm>
          <a:prstGeom prst="roundRect">
            <a:avLst>
              <a:gd name="adj" fmla="val 46667"/>
            </a:avLst>
          </a:prstGeom>
          <a:solidFill>
            <a:srgbClr val="E8B4B0"/>
          </a:solidFill>
          <a:ln/>
        </p:spPr>
      </p:sp>
      <p:sp>
        <p:nvSpPr>
          <p:cNvPr id="54" name="Text 52"/>
          <p:cNvSpPr/>
          <p:nvPr/>
        </p:nvSpPr>
        <p:spPr>
          <a:xfrm>
            <a:off x="7114032" y="2884932"/>
            <a:ext cx="493776" cy="146304"/>
          </a:xfrm>
          <a:prstGeom prst="rect">
            <a:avLst/>
          </a:prstGeom>
          <a:noFill/>
          <a:ln/>
        </p:spPr>
        <p:txBody>
          <a:bodyPr wrap="square" lIns="0" tIns="0" rIns="0" bIns="0" rtlCol="0" anchor="ctr"/>
          <a:lstStyle/>
          <a:p>
            <a:pPr algn="ctr" indent="0" marL="0">
              <a:buNone/>
            </a:pPr>
            <a:r>
              <a:rPr lang="en-US" sz="550" b="1" dirty="0">
                <a:solidFill>
                  <a:srgbClr val="3A3A3A"/>
                </a:solidFill>
                <a:latin typeface="Calibri" pitchFamily="34" charset="0"/>
                <a:ea typeface="Calibri" pitchFamily="34" charset="-122"/>
                <a:cs typeface="Calibri" pitchFamily="34" charset="-120"/>
              </a:rPr>
              <a:t>HIGH</a:t>
            </a:r>
            <a:endParaRPr lang="en-US" sz="550" dirty="0"/>
          </a:p>
        </p:txBody>
      </p:sp>
      <p:sp>
        <p:nvSpPr>
          <p:cNvPr id="55" name="Shape 53"/>
          <p:cNvSpPr/>
          <p:nvPr/>
        </p:nvSpPr>
        <p:spPr>
          <a:xfrm>
            <a:off x="5157216" y="3163824"/>
            <a:ext cx="2542032" cy="310896"/>
          </a:xfrm>
          <a:prstGeom prst="roundRect">
            <a:avLst>
              <a:gd name="adj" fmla="val 11765"/>
            </a:avLst>
          </a:prstGeom>
          <a:solidFill>
            <a:srgbClr val="FFFFFF"/>
          </a:solidFill>
          <a:ln w="9525">
            <a:solidFill>
              <a:srgbClr val="D3E3E6"/>
            </a:solidFill>
            <a:prstDash val="solid"/>
          </a:ln>
        </p:spPr>
      </p:sp>
      <p:sp>
        <p:nvSpPr>
          <p:cNvPr id="56" name="Text 54"/>
          <p:cNvSpPr/>
          <p:nvPr/>
        </p:nvSpPr>
        <p:spPr>
          <a:xfrm>
            <a:off x="5230368" y="3209544"/>
            <a:ext cx="548640" cy="146304"/>
          </a:xfrm>
          <a:prstGeom prst="rect">
            <a:avLst/>
          </a:prstGeom>
          <a:noFill/>
          <a:ln/>
        </p:spPr>
        <p:txBody>
          <a:bodyPr wrap="square" lIns="0" tIns="0" rIns="0" bIns="0" rtlCol="0" anchor="ctr"/>
          <a:lstStyle/>
          <a:p>
            <a:pPr algn="l" indent="0" marL="0">
              <a:buNone/>
            </a:pPr>
            <a:r>
              <a:rPr lang="en-US" sz="650" b="1" dirty="0">
                <a:solidFill>
                  <a:srgbClr val="028090"/>
                </a:solidFill>
                <a:latin typeface="Calibri" pitchFamily="34" charset="0"/>
                <a:ea typeface="Calibri" pitchFamily="34" charset="-122"/>
                <a:cs typeface="Calibri" pitchFamily="34" charset="-120"/>
              </a:rPr>
              <a:t>SD-1019</a:t>
            </a:r>
            <a:endParaRPr lang="en-US" sz="650" dirty="0"/>
          </a:p>
        </p:txBody>
      </p:sp>
      <p:sp>
        <p:nvSpPr>
          <p:cNvPr id="57" name="Text 55"/>
          <p:cNvSpPr/>
          <p:nvPr/>
        </p:nvSpPr>
        <p:spPr>
          <a:xfrm>
            <a:off x="5230368" y="3328416"/>
            <a:ext cx="173736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Cannot reset my password</a:t>
            </a:r>
            <a:endParaRPr lang="en-US" sz="650" dirty="0"/>
          </a:p>
        </p:txBody>
      </p:sp>
      <p:sp>
        <p:nvSpPr>
          <p:cNvPr id="58" name="Shape 56"/>
          <p:cNvSpPr/>
          <p:nvPr/>
        </p:nvSpPr>
        <p:spPr>
          <a:xfrm>
            <a:off x="7114032" y="3255264"/>
            <a:ext cx="493776" cy="137160"/>
          </a:xfrm>
          <a:prstGeom prst="roundRect">
            <a:avLst>
              <a:gd name="adj" fmla="val 46667"/>
            </a:avLst>
          </a:prstGeom>
          <a:solidFill>
            <a:srgbClr val="E8D6AC"/>
          </a:solidFill>
          <a:ln/>
        </p:spPr>
      </p:sp>
      <p:sp>
        <p:nvSpPr>
          <p:cNvPr id="59" name="Text 57"/>
          <p:cNvSpPr/>
          <p:nvPr/>
        </p:nvSpPr>
        <p:spPr>
          <a:xfrm>
            <a:off x="7114032" y="3250692"/>
            <a:ext cx="493776" cy="146304"/>
          </a:xfrm>
          <a:prstGeom prst="rect">
            <a:avLst/>
          </a:prstGeom>
          <a:noFill/>
          <a:ln/>
        </p:spPr>
        <p:txBody>
          <a:bodyPr wrap="square" lIns="0" tIns="0" rIns="0" bIns="0" rtlCol="0" anchor="ctr"/>
          <a:lstStyle/>
          <a:p>
            <a:pPr algn="ctr" indent="0" marL="0">
              <a:buNone/>
            </a:pPr>
            <a:r>
              <a:rPr lang="en-US" sz="550" b="1" dirty="0">
                <a:solidFill>
                  <a:srgbClr val="3A3A3A"/>
                </a:solidFill>
                <a:latin typeface="Calibri" pitchFamily="34" charset="0"/>
                <a:ea typeface="Calibri" pitchFamily="34" charset="-122"/>
                <a:cs typeface="Calibri" pitchFamily="34" charset="-120"/>
              </a:rPr>
              <a:t>MEDIUM</a:t>
            </a:r>
            <a:endParaRPr lang="en-US" sz="550" dirty="0"/>
          </a:p>
        </p:txBody>
      </p:sp>
      <p:sp>
        <p:nvSpPr>
          <p:cNvPr id="60" name="Shape 58"/>
          <p:cNvSpPr/>
          <p:nvPr/>
        </p:nvSpPr>
        <p:spPr>
          <a:xfrm>
            <a:off x="5157216" y="3529584"/>
            <a:ext cx="2542032" cy="310896"/>
          </a:xfrm>
          <a:prstGeom prst="roundRect">
            <a:avLst>
              <a:gd name="adj" fmla="val 11765"/>
            </a:avLst>
          </a:prstGeom>
          <a:solidFill>
            <a:srgbClr val="FFFFFF"/>
          </a:solidFill>
          <a:ln w="9525">
            <a:solidFill>
              <a:srgbClr val="D3E3E6"/>
            </a:solidFill>
            <a:prstDash val="solid"/>
          </a:ln>
        </p:spPr>
      </p:sp>
      <p:sp>
        <p:nvSpPr>
          <p:cNvPr id="61" name="Text 59"/>
          <p:cNvSpPr/>
          <p:nvPr/>
        </p:nvSpPr>
        <p:spPr>
          <a:xfrm>
            <a:off x="5230368" y="3575304"/>
            <a:ext cx="548640" cy="146304"/>
          </a:xfrm>
          <a:prstGeom prst="rect">
            <a:avLst/>
          </a:prstGeom>
          <a:noFill/>
          <a:ln/>
        </p:spPr>
        <p:txBody>
          <a:bodyPr wrap="square" lIns="0" tIns="0" rIns="0" bIns="0" rtlCol="0" anchor="ctr"/>
          <a:lstStyle/>
          <a:p>
            <a:pPr algn="l" indent="0" marL="0">
              <a:buNone/>
            </a:pPr>
            <a:r>
              <a:rPr lang="en-US" sz="650" b="1" dirty="0">
                <a:solidFill>
                  <a:srgbClr val="028090"/>
                </a:solidFill>
                <a:latin typeface="Calibri" pitchFamily="34" charset="0"/>
                <a:ea typeface="Calibri" pitchFamily="34" charset="-122"/>
                <a:cs typeface="Calibri" pitchFamily="34" charset="-120"/>
              </a:rPr>
              <a:t>SD-1011</a:t>
            </a:r>
            <a:endParaRPr lang="en-US" sz="650" dirty="0"/>
          </a:p>
        </p:txBody>
      </p:sp>
      <p:sp>
        <p:nvSpPr>
          <p:cNvPr id="62" name="Text 60"/>
          <p:cNvSpPr/>
          <p:nvPr/>
        </p:nvSpPr>
        <p:spPr>
          <a:xfrm>
            <a:off x="5230368" y="3694176"/>
            <a:ext cx="173736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Wrong item delivered</a:t>
            </a:r>
            <a:endParaRPr lang="en-US" sz="650" dirty="0"/>
          </a:p>
        </p:txBody>
      </p:sp>
      <p:sp>
        <p:nvSpPr>
          <p:cNvPr id="63" name="Shape 61"/>
          <p:cNvSpPr/>
          <p:nvPr/>
        </p:nvSpPr>
        <p:spPr>
          <a:xfrm>
            <a:off x="7114032" y="3621024"/>
            <a:ext cx="493776" cy="137160"/>
          </a:xfrm>
          <a:prstGeom prst="roundRect">
            <a:avLst>
              <a:gd name="adj" fmla="val 46667"/>
            </a:avLst>
          </a:prstGeom>
          <a:solidFill>
            <a:srgbClr val="E8B4B0"/>
          </a:solidFill>
          <a:ln/>
        </p:spPr>
      </p:sp>
      <p:sp>
        <p:nvSpPr>
          <p:cNvPr id="64" name="Text 62"/>
          <p:cNvSpPr/>
          <p:nvPr/>
        </p:nvSpPr>
        <p:spPr>
          <a:xfrm>
            <a:off x="7114032" y="3616452"/>
            <a:ext cx="493776" cy="146304"/>
          </a:xfrm>
          <a:prstGeom prst="rect">
            <a:avLst/>
          </a:prstGeom>
          <a:noFill/>
          <a:ln/>
        </p:spPr>
        <p:txBody>
          <a:bodyPr wrap="square" lIns="0" tIns="0" rIns="0" bIns="0" rtlCol="0" anchor="ctr"/>
          <a:lstStyle/>
          <a:p>
            <a:pPr algn="ctr" indent="0" marL="0">
              <a:buNone/>
            </a:pPr>
            <a:r>
              <a:rPr lang="en-US" sz="550" b="1" dirty="0">
                <a:solidFill>
                  <a:srgbClr val="3A3A3A"/>
                </a:solidFill>
                <a:latin typeface="Calibri" pitchFamily="34" charset="0"/>
                <a:ea typeface="Calibri" pitchFamily="34" charset="-122"/>
                <a:cs typeface="Calibri" pitchFamily="34" charset="-120"/>
              </a:rPr>
              <a:t>HIGH</a:t>
            </a:r>
            <a:endParaRPr lang="en-US" sz="550" dirty="0"/>
          </a:p>
        </p:txBody>
      </p:sp>
      <p:sp>
        <p:nvSpPr>
          <p:cNvPr id="65" name="Shape 63"/>
          <p:cNvSpPr/>
          <p:nvPr/>
        </p:nvSpPr>
        <p:spPr>
          <a:xfrm>
            <a:off x="5157216" y="3895344"/>
            <a:ext cx="2542032" cy="310896"/>
          </a:xfrm>
          <a:prstGeom prst="roundRect">
            <a:avLst>
              <a:gd name="adj" fmla="val 11765"/>
            </a:avLst>
          </a:prstGeom>
          <a:solidFill>
            <a:srgbClr val="FFFFFF"/>
          </a:solidFill>
          <a:ln w="9525">
            <a:solidFill>
              <a:srgbClr val="D3E3E6"/>
            </a:solidFill>
            <a:prstDash val="solid"/>
          </a:ln>
        </p:spPr>
      </p:sp>
      <p:sp>
        <p:nvSpPr>
          <p:cNvPr id="66" name="Text 64"/>
          <p:cNvSpPr/>
          <p:nvPr/>
        </p:nvSpPr>
        <p:spPr>
          <a:xfrm>
            <a:off x="5230368" y="3941064"/>
            <a:ext cx="548640" cy="146304"/>
          </a:xfrm>
          <a:prstGeom prst="rect">
            <a:avLst/>
          </a:prstGeom>
          <a:noFill/>
          <a:ln/>
        </p:spPr>
        <p:txBody>
          <a:bodyPr wrap="square" lIns="0" tIns="0" rIns="0" bIns="0" rtlCol="0" anchor="ctr"/>
          <a:lstStyle/>
          <a:p>
            <a:pPr algn="l" indent="0" marL="0">
              <a:buNone/>
            </a:pPr>
            <a:r>
              <a:rPr lang="en-US" sz="650" b="1" dirty="0">
                <a:solidFill>
                  <a:srgbClr val="028090"/>
                </a:solidFill>
                <a:latin typeface="Calibri" pitchFamily="34" charset="0"/>
                <a:ea typeface="Calibri" pitchFamily="34" charset="-122"/>
                <a:cs typeface="Calibri" pitchFamily="34" charset="-120"/>
              </a:rPr>
              <a:t>SD-1004</a:t>
            </a:r>
            <a:endParaRPr lang="en-US" sz="650" dirty="0"/>
          </a:p>
        </p:txBody>
      </p:sp>
      <p:sp>
        <p:nvSpPr>
          <p:cNvPr id="67" name="Text 65"/>
          <p:cNvSpPr/>
          <p:nvPr/>
        </p:nvSpPr>
        <p:spPr>
          <a:xfrm>
            <a:off x="5230368" y="4059936"/>
            <a:ext cx="173736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Invoice not received</a:t>
            </a:r>
            <a:endParaRPr lang="en-US" sz="650" dirty="0"/>
          </a:p>
        </p:txBody>
      </p:sp>
      <p:sp>
        <p:nvSpPr>
          <p:cNvPr id="68" name="Shape 66"/>
          <p:cNvSpPr/>
          <p:nvPr/>
        </p:nvSpPr>
        <p:spPr>
          <a:xfrm>
            <a:off x="7114032" y="3986784"/>
            <a:ext cx="493776" cy="137160"/>
          </a:xfrm>
          <a:prstGeom prst="roundRect">
            <a:avLst>
              <a:gd name="adj" fmla="val 46667"/>
            </a:avLst>
          </a:prstGeom>
          <a:solidFill>
            <a:srgbClr val="C5DCC9"/>
          </a:solidFill>
          <a:ln/>
        </p:spPr>
      </p:sp>
      <p:sp>
        <p:nvSpPr>
          <p:cNvPr id="69" name="Text 67"/>
          <p:cNvSpPr/>
          <p:nvPr/>
        </p:nvSpPr>
        <p:spPr>
          <a:xfrm>
            <a:off x="7114032" y="3982212"/>
            <a:ext cx="493776" cy="146304"/>
          </a:xfrm>
          <a:prstGeom prst="rect">
            <a:avLst/>
          </a:prstGeom>
          <a:noFill/>
          <a:ln/>
        </p:spPr>
        <p:txBody>
          <a:bodyPr wrap="square" lIns="0" tIns="0" rIns="0" bIns="0" rtlCol="0" anchor="ctr"/>
          <a:lstStyle/>
          <a:p>
            <a:pPr algn="ctr" indent="0" marL="0">
              <a:buNone/>
            </a:pPr>
            <a:r>
              <a:rPr lang="en-US" sz="550" b="1" dirty="0">
                <a:solidFill>
                  <a:srgbClr val="3A3A3A"/>
                </a:solidFill>
                <a:latin typeface="Calibri" pitchFamily="34" charset="0"/>
                <a:ea typeface="Calibri" pitchFamily="34" charset="-122"/>
                <a:cs typeface="Calibri" pitchFamily="34" charset="-120"/>
              </a:rPr>
              <a:t>LOW</a:t>
            </a:r>
            <a:endParaRPr lang="en-US" sz="550" dirty="0"/>
          </a:p>
        </p:txBody>
      </p:sp>
      <p:sp>
        <p:nvSpPr>
          <p:cNvPr id="70" name="Text 68"/>
          <p:cNvSpPr/>
          <p:nvPr/>
        </p:nvSpPr>
        <p:spPr>
          <a:xfrm>
            <a:off x="4352544" y="4608576"/>
            <a:ext cx="3456432" cy="237744"/>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Customer Dashboard</a:t>
            </a:r>
            <a:endParaRPr lang="en-US" sz="1300" dirty="0"/>
          </a:p>
        </p:txBody>
      </p:sp>
      <p:sp>
        <p:nvSpPr>
          <p:cNvPr id="71" name="Text 69"/>
          <p:cNvSpPr/>
          <p:nvPr/>
        </p:nvSpPr>
        <p:spPr>
          <a:xfrm>
            <a:off x="4352544" y="4846320"/>
            <a:ext cx="3456432" cy="640080"/>
          </a:xfrm>
          <a:prstGeom prst="rect">
            <a:avLst/>
          </a:prstGeom>
          <a:noFill/>
          <a:ln/>
        </p:spPr>
        <p:txBody>
          <a:bodyPr wrap="square" lIns="0" tIns="0" rIns="0" bIns="0" rtlCol="0" anchor="t"/>
          <a:lstStyle/>
          <a:p>
            <a:pPr indent="0" marL="0">
              <a:lnSpc>
                <a:spcPts val="1300"/>
              </a:lnSpc>
              <a:buNone/>
            </a:pPr>
            <a:r>
              <a:rPr lang="en-US" sz="1100" dirty="0">
                <a:solidFill>
                  <a:srgbClr val="7C939B"/>
                </a:solidFill>
                <a:latin typeface="Calibri" pitchFamily="34" charset="0"/>
                <a:ea typeface="Calibri" pitchFamily="34" charset="-122"/>
                <a:cs typeface="Calibri" pitchFamily="34" charset="-120"/>
              </a:rPr>
              <a:t>Ticket counts computed from live data, then the customer's own tickets with reference, subject and priority.</a:t>
            </a:r>
            <a:endParaRPr lang="en-US" sz="1100" dirty="0"/>
          </a:p>
        </p:txBody>
      </p:sp>
      <p:sp>
        <p:nvSpPr>
          <p:cNvPr id="72" name="Shape 70"/>
          <p:cNvSpPr/>
          <p:nvPr/>
        </p:nvSpPr>
        <p:spPr>
          <a:xfrm>
            <a:off x="8138160" y="1444752"/>
            <a:ext cx="3456432" cy="3017520"/>
          </a:xfrm>
          <a:prstGeom prst="roundRect">
            <a:avLst>
              <a:gd name="adj" fmla="val 1515"/>
            </a:avLst>
          </a:prstGeom>
          <a:solidFill>
            <a:srgbClr val="FFFFFF"/>
          </a:solidFill>
          <a:ln w="12700">
            <a:solidFill>
              <a:srgbClr val="C2D4D8"/>
            </a:solidFill>
            <a:prstDash val="solid"/>
          </a:ln>
          <a:effectLst>
            <a:outerShdw sx="100000" sy="100000" kx="0" ky="0" algn="bl" rotWithShape="0" blurRad="127000" dist="25400" dir="5400000">
              <a:srgbClr val="0A2E36">
                <a:alpha val="10000"/>
              </a:srgbClr>
            </a:outerShdw>
          </a:effectLst>
        </p:spPr>
      </p:sp>
      <p:sp>
        <p:nvSpPr>
          <p:cNvPr id="73" name="Shape 71"/>
          <p:cNvSpPr/>
          <p:nvPr/>
        </p:nvSpPr>
        <p:spPr>
          <a:xfrm>
            <a:off x="8138160" y="1444752"/>
            <a:ext cx="3456432" cy="256032"/>
          </a:xfrm>
          <a:prstGeom prst="rect">
            <a:avLst/>
          </a:prstGeom>
          <a:solidFill>
            <a:srgbClr val="E8F0F2"/>
          </a:solidFill>
          <a:ln/>
        </p:spPr>
      </p:sp>
      <p:sp>
        <p:nvSpPr>
          <p:cNvPr id="74" name="Shape 72"/>
          <p:cNvSpPr/>
          <p:nvPr/>
        </p:nvSpPr>
        <p:spPr>
          <a:xfrm>
            <a:off x="8229600" y="1531620"/>
            <a:ext cx="82296" cy="82296"/>
          </a:xfrm>
          <a:prstGeom prst="ellipse">
            <a:avLst/>
          </a:prstGeom>
          <a:solidFill>
            <a:srgbClr val="E0B0AE"/>
          </a:solidFill>
          <a:ln/>
        </p:spPr>
      </p:sp>
      <p:sp>
        <p:nvSpPr>
          <p:cNvPr id="75" name="Shape 73"/>
          <p:cNvSpPr/>
          <p:nvPr/>
        </p:nvSpPr>
        <p:spPr>
          <a:xfrm>
            <a:off x="8357616" y="1531620"/>
            <a:ext cx="82296" cy="82296"/>
          </a:xfrm>
          <a:prstGeom prst="ellipse">
            <a:avLst/>
          </a:prstGeom>
          <a:solidFill>
            <a:srgbClr val="E6D2A8"/>
          </a:solidFill>
          <a:ln/>
        </p:spPr>
      </p:sp>
      <p:sp>
        <p:nvSpPr>
          <p:cNvPr id="76" name="Shape 74"/>
          <p:cNvSpPr/>
          <p:nvPr/>
        </p:nvSpPr>
        <p:spPr>
          <a:xfrm>
            <a:off x="8485632" y="1531620"/>
            <a:ext cx="82296" cy="82296"/>
          </a:xfrm>
          <a:prstGeom prst="ellipse">
            <a:avLst/>
          </a:prstGeom>
          <a:solidFill>
            <a:srgbClr val="B9D4BE"/>
          </a:solidFill>
          <a:ln/>
        </p:spPr>
      </p:sp>
      <p:sp>
        <p:nvSpPr>
          <p:cNvPr id="77" name="Shape 75"/>
          <p:cNvSpPr/>
          <p:nvPr/>
        </p:nvSpPr>
        <p:spPr>
          <a:xfrm>
            <a:off x="8650224" y="1504188"/>
            <a:ext cx="2798064" cy="146304"/>
          </a:xfrm>
          <a:prstGeom prst="roundRect">
            <a:avLst>
              <a:gd name="adj" fmla="val 50000"/>
            </a:avLst>
          </a:prstGeom>
          <a:solidFill>
            <a:srgbClr val="FFFFFF"/>
          </a:solidFill>
          <a:ln/>
        </p:spPr>
      </p:sp>
      <p:sp>
        <p:nvSpPr>
          <p:cNvPr id="78" name="Text 76"/>
          <p:cNvSpPr/>
          <p:nvPr/>
        </p:nvSpPr>
        <p:spPr>
          <a:xfrm>
            <a:off x="8741664" y="1495044"/>
            <a:ext cx="2633472" cy="164592"/>
          </a:xfrm>
          <a:prstGeom prst="rect">
            <a:avLst/>
          </a:prstGeom>
          <a:noFill/>
          <a:ln/>
        </p:spPr>
        <p:txBody>
          <a:bodyPr wrap="square" lIns="0" tIns="0" rIns="0" bIns="0" rtlCol="0" anchor="ctr"/>
          <a:lstStyle/>
          <a:p>
            <a:pPr indent="0" marL="0">
              <a:buNone/>
            </a:pPr>
            <a:r>
              <a:rPr lang="en-US" sz="700" dirty="0">
                <a:solidFill>
                  <a:srgbClr val="7C939B"/>
                </a:solidFill>
                <a:latin typeface="Calibri" pitchFamily="34" charset="0"/>
                <a:ea typeface="Calibri" pitchFamily="34" charset="-122"/>
                <a:cs typeface="Calibri" pitchFamily="34" charset="-120"/>
              </a:rPr>
              <a:t>servicedesk-ai.vercel.app/tickets/new</a:t>
            </a:r>
            <a:endParaRPr lang="en-US" sz="700" dirty="0"/>
          </a:p>
        </p:txBody>
      </p:sp>
      <p:sp>
        <p:nvSpPr>
          <p:cNvPr id="79" name="Shape 77"/>
          <p:cNvSpPr/>
          <p:nvPr/>
        </p:nvSpPr>
        <p:spPr>
          <a:xfrm>
            <a:off x="8138160" y="1700784"/>
            <a:ext cx="3456432" cy="2761488"/>
          </a:xfrm>
          <a:prstGeom prst="roundRect">
            <a:avLst>
              <a:gd name="adj" fmla="val 993"/>
            </a:avLst>
          </a:prstGeom>
          <a:solidFill>
            <a:srgbClr val="F4F9FA"/>
          </a:solidFill>
          <a:ln/>
        </p:spPr>
      </p:sp>
      <p:sp>
        <p:nvSpPr>
          <p:cNvPr id="80" name="Shape 78"/>
          <p:cNvSpPr/>
          <p:nvPr/>
        </p:nvSpPr>
        <p:spPr>
          <a:xfrm>
            <a:off x="8138160" y="1700784"/>
            <a:ext cx="676656" cy="2761488"/>
          </a:xfrm>
          <a:prstGeom prst="roundRect">
            <a:avLst>
              <a:gd name="adj" fmla="val 4054"/>
            </a:avLst>
          </a:prstGeom>
          <a:solidFill>
            <a:srgbClr val="0A2E36"/>
          </a:solidFill>
          <a:ln/>
        </p:spPr>
      </p:sp>
      <p:sp>
        <p:nvSpPr>
          <p:cNvPr id="81" name="Shape 79"/>
          <p:cNvSpPr/>
          <p:nvPr/>
        </p:nvSpPr>
        <p:spPr>
          <a:xfrm>
            <a:off x="8247888" y="1920240"/>
            <a:ext cx="457200" cy="128016"/>
          </a:xfrm>
          <a:prstGeom prst="roundRect">
            <a:avLst>
              <a:gd name="adj" fmla="val 21429"/>
            </a:avLst>
          </a:prstGeom>
          <a:solidFill>
            <a:srgbClr val="27505A"/>
          </a:solidFill>
          <a:ln/>
        </p:spPr>
      </p:sp>
      <p:sp>
        <p:nvSpPr>
          <p:cNvPr id="82" name="Shape 80"/>
          <p:cNvSpPr/>
          <p:nvPr/>
        </p:nvSpPr>
        <p:spPr>
          <a:xfrm>
            <a:off x="8247888" y="2157984"/>
            <a:ext cx="457200" cy="128016"/>
          </a:xfrm>
          <a:prstGeom prst="roundRect">
            <a:avLst>
              <a:gd name="adj" fmla="val 21429"/>
            </a:avLst>
          </a:prstGeom>
          <a:solidFill>
            <a:srgbClr val="02C39A"/>
          </a:solidFill>
          <a:ln/>
        </p:spPr>
      </p:sp>
      <p:sp>
        <p:nvSpPr>
          <p:cNvPr id="83" name="Shape 81"/>
          <p:cNvSpPr/>
          <p:nvPr/>
        </p:nvSpPr>
        <p:spPr>
          <a:xfrm>
            <a:off x="8247888" y="2395728"/>
            <a:ext cx="457200" cy="128016"/>
          </a:xfrm>
          <a:prstGeom prst="roundRect">
            <a:avLst>
              <a:gd name="adj" fmla="val 21429"/>
            </a:avLst>
          </a:prstGeom>
          <a:solidFill>
            <a:srgbClr val="27505A"/>
          </a:solidFill>
          <a:ln/>
        </p:spPr>
      </p:sp>
      <p:sp>
        <p:nvSpPr>
          <p:cNvPr id="84" name="Shape 82"/>
          <p:cNvSpPr/>
          <p:nvPr/>
        </p:nvSpPr>
        <p:spPr>
          <a:xfrm>
            <a:off x="8247888" y="2633472"/>
            <a:ext cx="457200" cy="128016"/>
          </a:xfrm>
          <a:prstGeom prst="roundRect">
            <a:avLst>
              <a:gd name="adj" fmla="val 21429"/>
            </a:avLst>
          </a:prstGeom>
          <a:solidFill>
            <a:srgbClr val="27505A"/>
          </a:solidFill>
          <a:ln/>
        </p:spPr>
      </p:sp>
      <p:sp>
        <p:nvSpPr>
          <p:cNvPr id="85" name="Text 83"/>
          <p:cNvSpPr/>
          <p:nvPr/>
        </p:nvSpPr>
        <p:spPr>
          <a:xfrm>
            <a:off x="8942832" y="1861376"/>
            <a:ext cx="2194560" cy="154305"/>
          </a:xfrm>
          <a:prstGeom prst="rect">
            <a:avLst/>
          </a:prstGeom>
          <a:noFill/>
          <a:ln/>
        </p:spPr>
        <p:txBody>
          <a:bodyPr wrap="square" lIns="0" tIns="0" rIns="0" bIns="0" rtlCol="0" anchor="ctr"/>
          <a:lstStyle/>
          <a:p>
            <a:pPr algn="l" indent="0" marL="0">
              <a:buNone/>
            </a:pPr>
            <a:r>
              <a:rPr lang="en-US" sz="900" b="1" dirty="0">
                <a:solidFill>
                  <a:srgbClr val="0A2E36"/>
                </a:solidFill>
                <a:latin typeface="Calibri" pitchFamily="34" charset="0"/>
                <a:ea typeface="Calibri" pitchFamily="34" charset="-122"/>
                <a:cs typeface="Calibri" pitchFamily="34" charset="-120"/>
              </a:rPr>
              <a:t>Create a support ticket</a:t>
            </a:r>
            <a:endParaRPr lang="en-US" sz="900" dirty="0"/>
          </a:p>
        </p:txBody>
      </p:sp>
      <p:sp>
        <p:nvSpPr>
          <p:cNvPr id="86" name="Text 84"/>
          <p:cNvSpPr/>
          <p:nvPr/>
        </p:nvSpPr>
        <p:spPr>
          <a:xfrm>
            <a:off x="8942832" y="2194560"/>
            <a:ext cx="1097280" cy="146304"/>
          </a:xfrm>
          <a:prstGeom prst="rect">
            <a:avLst/>
          </a:prstGeom>
          <a:noFill/>
          <a:ln/>
        </p:spPr>
        <p:txBody>
          <a:bodyPr wrap="square" lIns="0" tIns="0" rIns="0" bIns="0" rtlCol="0" anchor="ctr"/>
          <a:lstStyle/>
          <a:p>
            <a:pPr algn="l" indent="0" marL="0">
              <a:buNone/>
            </a:pPr>
            <a:r>
              <a:rPr lang="en-US" sz="650" dirty="0">
                <a:solidFill>
                  <a:srgbClr val="7C939B"/>
                </a:solidFill>
                <a:latin typeface="Calibri" pitchFamily="34" charset="0"/>
                <a:ea typeface="Calibri" pitchFamily="34" charset="-122"/>
                <a:cs typeface="Calibri" pitchFamily="34" charset="-120"/>
              </a:rPr>
              <a:t>Subject</a:t>
            </a:r>
            <a:endParaRPr lang="en-US" sz="650" dirty="0"/>
          </a:p>
        </p:txBody>
      </p:sp>
      <p:sp>
        <p:nvSpPr>
          <p:cNvPr id="87" name="Shape 85"/>
          <p:cNvSpPr/>
          <p:nvPr/>
        </p:nvSpPr>
        <p:spPr>
          <a:xfrm>
            <a:off x="8942832" y="2322576"/>
            <a:ext cx="2542032" cy="201168"/>
          </a:xfrm>
          <a:prstGeom prst="roundRect">
            <a:avLst>
              <a:gd name="adj" fmla="val 13636"/>
            </a:avLst>
          </a:prstGeom>
          <a:solidFill>
            <a:srgbClr val="EDF3F5"/>
          </a:solidFill>
          <a:ln/>
        </p:spPr>
      </p:sp>
      <p:sp>
        <p:nvSpPr>
          <p:cNvPr id="88" name="Text 86"/>
          <p:cNvSpPr/>
          <p:nvPr/>
        </p:nvSpPr>
        <p:spPr>
          <a:xfrm>
            <a:off x="9015984" y="2322576"/>
            <a:ext cx="237744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Payment deducted but order still pending</a:t>
            </a:r>
            <a:endParaRPr lang="en-US" sz="650" dirty="0"/>
          </a:p>
        </p:txBody>
      </p:sp>
      <p:sp>
        <p:nvSpPr>
          <p:cNvPr id="89" name="Text 87"/>
          <p:cNvSpPr/>
          <p:nvPr/>
        </p:nvSpPr>
        <p:spPr>
          <a:xfrm>
            <a:off x="8942832" y="2596896"/>
            <a:ext cx="1097280" cy="146304"/>
          </a:xfrm>
          <a:prstGeom prst="rect">
            <a:avLst/>
          </a:prstGeom>
          <a:noFill/>
          <a:ln/>
        </p:spPr>
        <p:txBody>
          <a:bodyPr wrap="square" lIns="0" tIns="0" rIns="0" bIns="0" rtlCol="0" anchor="ctr"/>
          <a:lstStyle/>
          <a:p>
            <a:pPr algn="l" indent="0" marL="0">
              <a:buNone/>
            </a:pPr>
            <a:r>
              <a:rPr lang="en-US" sz="650" dirty="0">
                <a:solidFill>
                  <a:srgbClr val="7C939B"/>
                </a:solidFill>
                <a:latin typeface="Calibri" pitchFamily="34" charset="0"/>
                <a:ea typeface="Calibri" pitchFamily="34" charset="-122"/>
                <a:cs typeface="Calibri" pitchFamily="34" charset="-120"/>
              </a:rPr>
              <a:t>Description</a:t>
            </a:r>
            <a:endParaRPr lang="en-US" sz="650" dirty="0"/>
          </a:p>
        </p:txBody>
      </p:sp>
      <p:sp>
        <p:nvSpPr>
          <p:cNvPr id="90" name="Shape 88"/>
          <p:cNvSpPr/>
          <p:nvPr/>
        </p:nvSpPr>
        <p:spPr>
          <a:xfrm>
            <a:off x="8942832" y="2724912"/>
            <a:ext cx="2542032" cy="566928"/>
          </a:xfrm>
          <a:prstGeom prst="roundRect">
            <a:avLst>
              <a:gd name="adj" fmla="val 4839"/>
            </a:avLst>
          </a:prstGeom>
          <a:solidFill>
            <a:srgbClr val="EDF3F5"/>
          </a:solidFill>
          <a:ln/>
        </p:spPr>
      </p:sp>
      <p:sp>
        <p:nvSpPr>
          <p:cNvPr id="91" name="Text 89"/>
          <p:cNvSpPr/>
          <p:nvPr/>
        </p:nvSpPr>
        <p:spPr>
          <a:xfrm>
            <a:off x="9015984" y="2798064"/>
            <a:ext cx="237744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My payment was deducted but my order is</a:t>
            </a:r>
            <a:endParaRPr lang="en-US" sz="650" dirty="0"/>
          </a:p>
        </p:txBody>
      </p:sp>
      <p:sp>
        <p:nvSpPr>
          <p:cNvPr id="92" name="Text 90"/>
          <p:cNvSpPr/>
          <p:nvPr/>
        </p:nvSpPr>
        <p:spPr>
          <a:xfrm>
            <a:off x="9015984" y="2926080"/>
            <a:ext cx="237744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still showing as pending. Order #4471.</a:t>
            </a:r>
            <a:endParaRPr lang="en-US" sz="650" dirty="0"/>
          </a:p>
        </p:txBody>
      </p:sp>
      <p:sp>
        <p:nvSpPr>
          <p:cNvPr id="93" name="Text 91"/>
          <p:cNvSpPr/>
          <p:nvPr/>
        </p:nvSpPr>
        <p:spPr>
          <a:xfrm>
            <a:off x="8942832" y="3364992"/>
            <a:ext cx="1097280" cy="146304"/>
          </a:xfrm>
          <a:prstGeom prst="rect">
            <a:avLst/>
          </a:prstGeom>
          <a:noFill/>
          <a:ln/>
        </p:spPr>
        <p:txBody>
          <a:bodyPr wrap="square" lIns="0" tIns="0" rIns="0" bIns="0" rtlCol="0" anchor="ctr"/>
          <a:lstStyle/>
          <a:p>
            <a:pPr algn="l" indent="0" marL="0">
              <a:buNone/>
            </a:pPr>
            <a:r>
              <a:rPr lang="en-US" sz="650" dirty="0">
                <a:solidFill>
                  <a:srgbClr val="7C939B"/>
                </a:solidFill>
                <a:latin typeface="Calibri" pitchFamily="34" charset="0"/>
                <a:ea typeface="Calibri" pitchFamily="34" charset="-122"/>
                <a:cs typeface="Calibri" pitchFamily="34" charset="-120"/>
              </a:rPr>
              <a:t>Category</a:t>
            </a:r>
            <a:endParaRPr lang="en-US" sz="650" dirty="0"/>
          </a:p>
        </p:txBody>
      </p:sp>
      <p:sp>
        <p:nvSpPr>
          <p:cNvPr id="94" name="Shape 92"/>
          <p:cNvSpPr/>
          <p:nvPr/>
        </p:nvSpPr>
        <p:spPr>
          <a:xfrm>
            <a:off x="8942832" y="3493008"/>
            <a:ext cx="1207008" cy="201168"/>
          </a:xfrm>
          <a:prstGeom prst="roundRect">
            <a:avLst>
              <a:gd name="adj" fmla="val 13636"/>
            </a:avLst>
          </a:prstGeom>
          <a:solidFill>
            <a:srgbClr val="EDF3F5"/>
          </a:solidFill>
          <a:ln/>
        </p:spPr>
      </p:sp>
      <p:sp>
        <p:nvSpPr>
          <p:cNvPr id="95" name="Text 93"/>
          <p:cNvSpPr/>
          <p:nvPr/>
        </p:nvSpPr>
        <p:spPr>
          <a:xfrm>
            <a:off x="9015984" y="3493008"/>
            <a:ext cx="1097280" cy="146304"/>
          </a:xfrm>
          <a:prstGeom prst="rect">
            <a:avLst/>
          </a:prstGeom>
          <a:noFill/>
          <a:ln/>
        </p:spPr>
        <p:txBody>
          <a:bodyPr wrap="square" lIns="0" tIns="0" rIns="0" bIns="0" rtlCol="0" anchor="ctr"/>
          <a:lstStyle/>
          <a:p>
            <a:pPr algn="l" indent="0" marL="0">
              <a:buNone/>
            </a:pPr>
            <a:r>
              <a:rPr lang="en-US" sz="650" dirty="0">
                <a:solidFill>
                  <a:srgbClr val="445C64"/>
                </a:solidFill>
                <a:latin typeface="Calibri" pitchFamily="34" charset="0"/>
                <a:ea typeface="Calibri" pitchFamily="34" charset="-122"/>
                <a:cs typeface="Calibri" pitchFamily="34" charset="-120"/>
              </a:rPr>
              <a:t>Billing</a:t>
            </a:r>
            <a:endParaRPr lang="en-US" sz="650" dirty="0"/>
          </a:p>
        </p:txBody>
      </p:sp>
      <p:sp>
        <p:nvSpPr>
          <p:cNvPr id="96" name="Text 94"/>
          <p:cNvSpPr/>
          <p:nvPr/>
        </p:nvSpPr>
        <p:spPr>
          <a:xfrm>
            <a:off x="10277856" y="3364992"/>
            <a:ext cx="1097280" cy="146304"/>
          </a:xfrm>
          <a:prstGeom prst="rect">
            <a:avLst/>
          </a:prstGeom>
          <a:noFill/>
          <a:ln/>
        </p:spPr>
        <p:txBody>
          <a:bodyPr wrap="square" lIns="0" tIns="0" rIns="0" bIns="0" rtlCol="0" anchor="ctr"/>
          <a:lstStyle/>
          <a:p>
            <a:pPr algn="l" indent="0" marL="0">
              <a:buNone/>
            </a:pPr>
            <a:r>
              <a:rPr lang="en-US" sz="650" dirty="0">
                <a:solidFill>
                  <a:srgbClr val="7C939B"/>
                </a:solidFill>
                <a:latin typeface="Calibri" pitchFamily="34" charset="0"/>
                <a:ea typeface="Calibri" pitchFamily="34" charset="-122"/>
                <a:cs typeface="Calibri" pitchFamily="34" charset="-120"/>
              </a:rPr>
              <a:t>Attachment</a:t>
            </a:r>
            <a:endParaRPr lang="en-US" sz="650" dirty="0"/>
          </a:p>
        </p:txBody>
      </p:sp>
      <p:sp>
        <p:nvSpPr>
          <p:cNvPr id="97" name="Shape 95"/>
          <p:cNvSpPr/>
          <p:nvPr/>
        </p:nvSpPr>
        <p:spPr>
          <a:xfrm>
            <a:off x="10277856" y="3493008"/>
            <a:ext cx="1207008" cy="201168"/>
          </a:xfrm>
          <a:prstGeom prst="roundRect">
            <a:avLst>
              <a:gd name="adj" fmla="val 13636"/>
            </a:avLst>
          </a:prstGeom>
          <a:solidFill>
            <a:srgbClr val="EDF3F5"/>
          </a:solidFill>
          <a:ln/>
        </p:spPr>
      </p:sp>
      <p:sp>
        <p:nvSpPr>
          <p:cNvPr id="98" name="Text 96"/>
          <p:cNvSpPr/>
          <p:nvPr/>
        </p:nvSpPr>
        <p:spPr>
          <a:xfrm>
            <a:off x="10351008" y="3493008"/>
            <a:ext cx="1097280" cy="146304"/>
          </a:xfrm>
          <a:prstGeom prst="rect">
            <a:avLst/>
          </a:prstGeom>
          <a:noFill/>
          <a:ln/>
        </p:spPr>
        <p:txBody>
          <a:bodyPr wrap="square" lIns="0" tIns="0" rIns="0" bIns="0" rtlCol="0" anchor="ctr"/>
          <a:lstStyle/>
          <a:p>
            <a:pPr algn="l" indent="0" marL="0">
              <a:buNone/>
            </a:pPr>
            <a:r>
              <a:rPr lang="en-US" sz="650" dirty="0">
                <a:solidFill>
                  <a:srgbClr val="7C939B"/>
                </a:solidFill>
                <a:latin typeface="Calibri" pitchFamily="34" charset="0"/>
                <a:ea typeface="Calibri" pitchFamily="34" charset="-122"/>
                <a:cs typeface="Calibri" pitchFamily="34" charset="-120"/>
              </a:rPr>
              <a:t>Choose file</a:t>
            </a:r>
            <a:endParaRPr lang="en-US" sz="650" dirty="0"/>
          </a:p>
        </p:txBody>
      </p:sp>
      <p:sp>
        <p:nvSpPr>
          <p:cNvPr id="99" name="Shape 97"/>
          <p:cNvSpPr/>
          <p:nvPr/>
        </p:nvSpPr>
        <p:spPr>
          <a:xfrm>
            <a:off x="8942832" y="3803904"/>
            <a:ext cx="1005840" cy="237744"/>
          </a:xfrm>
          <a:prstGeom prst="roundRect">
            <a:avLst>
              <a:gd name="adj" fmla="val 19231"/>
            </a:avLst>
          </a:prstGeom>
          <a:solidFill>
            <a:srgbClr val="028090"/>
          </a:solidFill>
          <a:ln/>
        </p:spPr>
      </p:sp>
      <p:sp>
        <p:nvSpPr>
          <p:cNvPr id="100" name="Text 98"/>
          <p:cNvSpPr/>
          <p:nvPr/>
        </p:nvSpPr>
        <p:spPr>
          <a:xfrm>
            <a:off x="8942832" y="3803904"/>
            <a:ext cx="1005840" cy="146304"/>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Submit ticket</a:t>
            </a:r>
            <a:endParaRPr lang="en-US" sz="700" dirty="0"/>
          </a:p>
        </p:txBody>
      </p:sp>
      <p:sp>
        <p:nvSpPr>
          <p:cNvPr id="101" name="Text 99"/>
          <p:cNvSpPr/>
          <p:nvPr/>
        </p:nvSpPr>
        <p:spPr>
          <a:xfrm>
            <a:off x="8138160" y="4608576"/>
            <a:ext cx="3456432" cy="237744"/>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Create Ticket</a:t>
            </a:r>
            <a:endParaRPr lang="en-US" sz="1300" dirty="0"/>
          </a:p>
        </p:txBody>
      </p:sp>
      <p:sp>
        <p:nvSpPr>
          <p:cNvPr id="102" name="Text 100"/>
          <p:cNvSpPr/>
          <p:nvPr/>
        </p:nvSpPr>
        <p:spPr>
          <a:xfrm>
            <a:off x="8138160" y="4846320"/>
            <a:ext cx="3456432" cy="640080"/>
          </a:xfrm>
          <a:prstGeom prst="rect">
            <a:avLst/>
          </a:prstGeom>
          <a:noFill/>
          <a:ln/>
        </p:spPr>
        <p:txBody>
          <a:bodyPr wrap="square" lIns="0" tIns="0" rIns="0" bIns="0" rtlCol="0" anchor="t"/>
          <a:lstStyle/>
          <a:p>
            <a:pPr indent="0" marL="0">
              <a:lnSpc>
                <a:spcPts val="1300"/>
              </a:lnSpc>
              <a:buNone/>
            </a:pPr>
            <a:r>
              <a:rPr lang="en-US" sz="1100" dirty="0">
                <a:solidFill>
                  <a:srgbClr val="7C939B"/>
                </a:solidFill>
                <a:latin typeface="Calibri" pitchFamily="34" charset="0"/>
                <a:ea typeface="Calibri" pitchFamily="34" charset="-122"/>
                <a:cs typeface="Calibri" pitchFamily="34" charset="-120"/>
              </a:rPr>
              <a:t>A short form. Category is optional — if left blank the AI proposes one, and the customer is never blocked waiting for it.</a:t>
            </a:r>
            <a:endParaRPr lang="en-US" sz="1100" dirty="0"/>
          </a:p>
        </p:txBody>
      </p:sp>
      <p:sp>
        <p:nvSpPr>
          <p:cNvPr id="103" name="Text 101"/>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104" name="Text 102"/>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8</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UI Mockups — Support Agent</a:t>
            </a:r>
            <a:endParaRPr lang="en-US" sz="3000" dirty="0"/>
          </a:p>
        </p:txBody>
      </p:sp>
      <p:sp>
        <p:nvSpPr>
          <p:cNvPr id="4" name="Shape 2"/>
          <p:cNvSpPr/>
          <p:nvPr/>
        </p:nvSpPr>
        <p:spPr>
          <a:xfrm>
            <a:off x="566928" y="1444752"/>
            <a:ext cx="5760720" cy="3054096"/>
          </a:xfrm>
          <a:prstGeom prst="roundRect">
            <a:avLst>
              <a:gd name="adj" fmla="val 1497"/>
            </a:avLst>
          </a:prstGeom>
          <a:solidFill>
            <a:srgbClr val="FFFFFF"/>
          </a:solidFill>
          <a:ln w="12700">
            <a:solidFill>
              <a:srgbClr val="C2D4D8"/>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566928" y="1444752"/>
            <a:ext cx="5760720" cy="256032"/>
          </a:xfrm>
          <a:prstGeom prst="rect">
            <a:avLst/>
          </a:prstGeom>
          <a:solidFill>
            <a:srgbClr val="E8F0F2"/>
          </a:solidFill>
          <a:ln/>
        </p:spPr>
      </p:sp>
      <p:sp>
        <p:nvSpPr>
          <p:cNvPr id="6" name="Shape 4"/>
          <p:cNvSpPr/>
          <p:nvPr/>
        </p:nvSpPr>
        <p:spPr>
          <a:xfrm>
            <a:off x="658368" y="1531620"/>
            <a:ext cx="82296" cy="82296"/>
          </a:xfrm>
          <a:prstGeom prst="ellipse">
            <a:avLst/>
          </a:prstGeom>
          <a:solidFill>
            <a:srgbClr val="E0B0AE"/>
          </a:solidFill>
          <a:ln/>
        </p:spPr>
      </p:sp>
      <p:sp>
        <p:nvSpPr>
          <p:cNvPr id="7" name="Shape 5"/>
          <p:cNvSpPr/>
          <p:nvPr/>
        </p:nvSpPr>
        <p:spPr>
          <a:xfrm>
            <a:off x="786384" y="1531620"/>
            <a:ext cx="82296" cy="82296"/>
          </a:xfrm>
          <a:prstGeom prst="ellipse">
            <a:avLst/>
          </a:prstGeom>
          <a:solidFill>
            <a:srgbClr val="E6D2A8"/>
          </a:solidFill>
          <a:ln/>
        </p:spPr>
      </p:sp>
      <p:sp>
        <p:nvSpPr>
          <p:cNvPr id="8" name="Shape 6"/>
          <p:cNvSpPr/>
          <p:nvPr/>
        </p:nvSpPr>
        <p:spPr>
          <a:xfrm>
            <a:off x="914400" y="1531620"/>
            <a:ext cx="82296" cy="82296"/>
          </a:xfrm>
          <a:prstGeom prst="ellipse">
            <a:avLst/>
          </a:prstGeom>
          <a:solidFill>
            <a:srgbClr val="B9D4BE"/>
          </a:solidFill>
          <a:ln/>
        </p:spPr>
      </p:sp>
      <p:sp>
        <p:nvSpPr>
          <p:cNvPr id="9" name="Shape 7"/>
          <p:cNvSpPr/>
          <p:nvPr/>
        </p:nvSpPr>
        <p:spPr>
          <a:xfrm>
            <a:off x="1078992" y="1504188"/>
            <a:ext cx="5102352" cy="146304"/>
          </a:xfrm>
          <a:prstGeom prst="roundRect">
            <a:avLst>
              <a:gd name="adj" fmla="val 50000"/>
            </a:avLst>
          </a:prstGeom>
          <a:solidFill>
            <a:srgbClr val="FFFFFF"/>
          </a:solidFill>
          <a:ln/>
        </p:spPr>
      </p:sp>
      <p:sp>
        <p:nvSpPr>
          <p:cNvPr id="10" name="Text 8"/>
          <p:cNvSpPr/>
          <p:nvPr/>
        </p:nvSpPr>
        <p:spPr>
          <a:xfrm>
            <a:off x="1170432" y="1495044"/>
            <a:ext cx="4937760" cy="164592"/>
          </a:xfrm>
          <a:prstGeom prst="rect">
            <a:avLst/>
          </a:prstGeom>
          <a:noFill/>
          <a:ln/>
        </p:spPr>
        <p:txBody>
          <a:bodyPr wrap="square" lIns="0" tIns="0" rIns="0" bIns="0" rtlCol="0" anchor="ctr"/>
          <a:lstStyle/>
          <a:p>
            <a:pPr indent="0" marL="0">
              <a:buNone/>
            </a:pPr>
            <a:r>
              <a:rPr lang="en-US" sz="700" dirty="0">
                <a:solidFill>
                  <a:srgbClr val="7C939B"/>
                </a:solidFill>
                <a:latin typeface="Calibri" pitchFamily="34" charset="0"/>
                <a:ea typeface="Calibri" pitchFamily="34" charset="-122"/>
                <a:cs typeface="Calibri" pitchFamily="34" charset="-120"/>
              </a:rPr>
              <a:t>servicedesk-ai.vercel.app/agent/queue</a:t>
            </a:r>
            <a:endParaRPr lang="en-US" sz="700" dirty="0"/>
          </a:p>
        </p:txBody>
      </p:sp>
      <p:sp>
        <p:nvSpPr>
          <p:cNvPr id="11" name="Shape 9"/>
          <p:cNvSpPr/>
          <p:nvPr/>
        </p:nvSpPr>
        <p:spPr>
          <a:xfrm>
            <a:off x="566928" y="1700784"/>
            <a:ext cx="5760720" cy="2798064"/>
          </a:xfrm>
          <a:prstGeom prst="roundRect">
            <a:avLst>
              <a:gd name="adj" fmla="val 980"/>
            </a:avLst>
          </a:prstGeom>
          <a:solidFill>
            <a:srgbClr val="F4F9FA"/>
          </a:solidFill>
          <a:ln/>
        </p:spPr>
      </p:sp>
      <p:sp>
        <p:nvSpPr>
          <p:cNvPr id="12" name="Shape 10"/>
          <p:cNvSpPr/>
          <p:nvPr/>
        </p:nvSpPr>
        <p:spPr>
          <a:xfrm>
            <a:off x="566928" y="1700784"/>
            <a:ext cx="749808" cy="2798064"/>
          </a:xfrm>
          <a:prstGeom prst="roundRect">
            <a:avLst>
              <a:gd name="adj" fmla="val 3659"/>
            </a:avLst>
          </a:prstGeom>
          <a:solidFill>
            <a:srgbClr val="0A2E36"/>
          </a:solidFill>
          <a:ln/>
        </p:spPr>
      </p:sp>
      <p:sp>
        <p:nvSpPr>
          <p:cNvPr id="13" name="Shape 11"/>
          <p:cNvSpPr/>
          <p:nvPr/>
        </p:nvSpPr>
        <p:spPr>
          <a:xfrm>
            <a:off x="694944" y="1920240"/>
            <a:ext cx="493776" cy="128016"/>
          </a:xfrm>
          <a:prstGeom prst="roundRect">
            <a:avLst>
              <a:gd name="adj" fmla="val 21429"/>
            </a:avLst>
          </a:prstGeom>
          <a:solidFill>
            <a:srgbClr val="27505A"/>
          </a:solidFill>
          <a:ln/>
        </p:spPr>
      </p:sp>
      <p:sp>
        <p:nvSpPr>
          <p:cNvPr id="14" name="Shape 12"/>
          <p:cNvSpPr/>
          <p:nvPr/>
        </p:nvSpPr>
        <p:spPr>
          <a:xfrm>
            <a:off x="694944" y="2157984"/>
            <a:ext cx="493776" cy="128016"/>
          </a:xfrm>
          <a:prstGeom prst="roundRect">
            <a:avLst>
              <a:gd name="adj" fmla="val 21429"/>
            </a:avLst>
          </a:prstGeom>
          <a:solidFill>
            <a:srgbClr val="02C39A"/>
          </a:solidFill>
          <a:ln/>
        </p:spPr>
      </p:sp>
      <p:sp>
        <p:nvSpPr>
          <p:cNvPr id="15" name="Shape 13"/>
          <p:cNvSpPr/>
          <p:nvPr/>
        </p:nvSpPr>
        <p:spPr>
          <a:xfrm>
            <a:off x="694944" y="2395728"/>
            <a:ext cx="493776" cy="128016"/>
          </a:xfrm>
          <a:prstGeom prst="roundRect">
            <a:avLst>
              <a:gd name="adj" fmla="val 21429"/>
            </a:avLst>
          </a:prstGeom>
          <a:solidFill>
            <a:srgbClr val="27505A"/>
          </a:solidFill>
          <a:ln/>
        </p:spPr>
      </p:sp>
      <p:sp>
        <p:nvSpPr>
          <p:cNvPr id="16" name="Shape 14"/>
          <p:cNvSpPr/>
          <p:nvPr/>
        </p:nvSpPr>
        <p:spPr>
          <a:xfrm>
            <a:off x="694944" y="2633472"/>
            <a:ext cx="493776" cy="128016"/>
          </a:xfrm>
          <a:prstGeom prst="roundRect">
            <a:avLst>
              <a:gd name="adj" fmla="val 21429"/>
            </a:avLst>
          </a:prstGeom>
          <a:solidFill>
            <a:srgbClr val="27505A"/>
          </a:solidFill>
          <a:ln/>
        </p:spPr>
      </p:sp>
      <p:sp>
        <p:nvSpPr>
          <p:cNvPr id="17" name="Shape 15"/>
          <p:cNvSpPr/>
          <p:nvPr/>
        </p:nvSpPr>
        <p:spPr>
          <a:xfrm>
            <a:off x="694944" y="2871216"/>
            <a:ext cx="493776" cy="128016"/>
          </a:xfrm>
          <a:prstGeom prst="roundRect">
            <a:avLst>
              <a:gd name="adj" fmla="val 21429"/>
            </a:avLst>
          </a:prstGeom>
          <a:solidFill>
            <a:srgbClr val="27505A"/>
          </a:solidFill>
          <a:ln/>
        </p:spPr>
      </p:sp>
      <p:sp>
        <p:nvSpPr>
          <p:cNvPr id="18" name="Text 16"/>
          <p:cNvSpPr/>
          <p:nvPr/>
        </p:nvSpPr>
        <p:spPr>
          <a:xfrm>
            <a:off x="1444752" y="1838801"/>
            <a:ext cx="1828800" cy="162878"/>
          </a:xfrm>
          <a:prstGeom prst="rect">
            <a:avLst/>
          </a:prstGeom>
          <a:noFill/>
          <a:ln/>
        </p:spPr>
        <p:txBody>
          <a:bodyPr wrap="square" lIns="0" tIns="0" rIns="0" bIns="0" rtlCol="0" anchor="ctr"/>
          <a:lstStyle/>
          <a:p>
            <a:pPr algn="l" indent="0" marL="0">
              <a:buNone/>
            </a:pPr>
            <a:r>
              <a:rPr lang="en-US" sz="950" b="1" dirty="0">
                <a:solidFill>
                  <a:srgbClr val="0A2E36"/>
                </a:solidFill>
                <a:latin typeface="Calibri" pitchFamily="34" charset="0"/>
                <a:ea typeface="Calibri" pitchFamily="34" charset="-122"/>
                <a:cs typeface="Calibri" pitchFamily="34" charset="-120"/>
              </a:rPr>
              <a:t>Ticket queue</a:t>
            </a:r>
            <a:endParaRPr lang="en-US" sz="950" dirty="0"/>
          </a:p>
        </p:txBody>
      </p:sp>
      <p:sp>
        <p:nvSpPr>
          <p:cNvPr id="19" name="Shape 17"/>
          <p:cNvSpPr/>
          <p:nvPr/>
        </p:nvSpPr>
        <p:spPr>
          <a:xfrm>
            <a:off x="1444752" y="2121408"/>
            <a:ext cx="658368" cy="182880"/>
          </a:xfrm>
          <a:prstGeom prst="roundRect">
            <a:avLst>
              <a:gd name="adj" fmla="val 20000"/>
            </a:avLst>
          </a:prstGeom>
          <a:solidFill>
            <a:srgbClr val="FFFFFF"/>
          </a:solidFill>
          <a:ln w="9525">
            <a:solidFill>
              <a:srgbClr val="D3E3E6"/>
            </a:solidFill>
            <a:prstDash val="solid"/>
          </a:ln>
        </p:spPr>
      </p:sp>
      <p:sp>
        <p:nvSpPr>
          <p:cNvPr id="20" name="Text 18"/>
          <p:cNvSpPr/>
          <p:nvPr/>
        </p:nvSpPr>
        <p:spPr>
          <a:xfrm>
            <a:off x="1444752" y="2116836"/>
            <a:ext cx="658368" cy="146304"/>
          </a:xfrm>
          <a:prstGeom prst="rect">
            <a:avLst/>
          </a:prstGeom>
          <a:noFill/>
          <a:ln/>
        </p:spPr>
        <p:txBody>
          <a:bodyPr wrap="square" lIns="0" tIns="0" rIns="0" bIns="0" rtlCol="0" anchor="ctr"/>
          <a:lstStyle/>
          <a:p>
            <a:pPr algn="ctr" indent="0" marL="0">
              <a:buNone/>
            </a:pPr>
            <a:r>
              <a:rPr lang="en-US" sz="600" dirty="0">
                <a:solidFill>
                  <a:srgbClr val="7C939B"/>
                </a:solidFill>
                <a:latin typeface="Calibri" pitchFamily="34" charset="0"/>
                <a:ea typeface="Calibri" pitchFamily="34" charset="-122"/>
                <a:cs typeface="Calibri" pitchFamily="34" charset="-120"/>
              </a:rPr>
              <a:t>Status</a:t>
            </a:r>
            <a:endParaRPr lang="en-US" sz="600" dirty="0"/>
          </a:p>
        </p:txBody>
      </p:sp>
      <p:sp>
        <p:nvSpPr>
          <p:cNvPr id="21" name="Shape 19"/>
          <p:cNvSpPr/>
          <p:nvPr/>
        </p:nvSpPr>
        <p:spPr>
          <a:xfrm>
            <a:off x="2176272" y="2121408"/>
            <a:ext cx="658368" cy="182880"/>
          </a:xfrm>
          <a:prstGeom prst="roundRect">
            <a:avLst>
              <a:gd name="adj" fmla="val 20000"/>
            </a:avLst>
          </a:prstGeom>
          <a:solidFill>
            <a:srgbClr val="FFFFFF"/>
          </a:solidFill>
          <a:ln w="9525">
            <a:solidFill>
              <a:srgbClr val="D3E3E6"/>
            </a:solidFill>
            <a:prstDash val="solid"/>
          </a:ln>
        </p:spPr>
      </p:sp>
      <p:sp>
        <p:nvSpPr>
          <p:cNvPr id="22" name="Text 20"/>
          <p:cNvSpPr/>
          <p:nvPr/>
        </p:nvSpPr>
        <p:spPr>
          <a:xfrm>
            <a:off x="2176272" y="2116836"/>
            <a:ext cx="658368" cy="146304"/>
          </a:xfrm>
          <a:prstGeom prst="rect">
            <a:avLst/>
          </a:prstGeom>
          <a:noFill/>
          <a:ln/>
        </p:spPr>
        <p:txBody>
          <a:bodyPr wrap="square" lIns="0" tIns="0" rIns="0" bIns="0" rtlCol="0" anchor="ctr"/>
          <a:lstStyle/>
          <a:p>
            <a:pPr algn="ctr" indent="0" marL="0">
              <a:buNone/>
            </a:pPr>
            <a:r>
              <a:rPr lang="en-US" sz="600" dirty="0">
                <a:solidFill>
                  <a:srgbClr val="7C939B"/>
                </a:solidFill>
                <a:latin typeface="Calibri" pitchFamily="34" charset="0"/>
                <a:ea typeface="Calibri" pitchFamily="34" charset="-122"/>
                <a:cs typeface="Calibri" pitchFamily="34" charset="-120"/>
              </a:rPr>
              <a:t>Priority</a:t>
            </a:r>
            <a:endParaRPr lang="en-US" sz="600" dirty="0"/>
          </a:p>
        </p:txBody>
      </p:sp>
      <p:sp>
        <p:nvSpPr>
          <p:cNvPr id="23" name="Shape 21"/>
          <p:cNvSpPr/>
          <p:nvPr/>
        </p:nvSpPr>
        <p:spPr>
          <a:xfrm>
            <a:off x="2907792" y="2121408"/>
            <a:ext cx="658368" cy="182880"/>
          </a:xfrm>
          <a:prstGeom prst="roundRect">
            <a:avLst>
              <a:gd name="adj" fmla="val 20000"/>
            </a:avLst>
          </a:prstGeom>
          <a:solidFill>
            <a:srgbClr val="FFFFFF"/>
          </a:solidFill>
          <a:ln w="9525">
            <a:solidFill>
              <a:srgbClr val="D3E3E6"/>
            </a:solidFill>
            <a:prstDash val="solid"/>
          </a:ln>
        </p:spPr>
      </p:sp>
      <p:sp>
        <p:nvSpPr>
          <p:cNvPr id="24" name="Text 22"/>
          <p:cNvSpPr/>
          <p:nvPr/>
        </p:nvSpPr>
        <p:spPr>
          <a:xfrm>
            <a:off x="2907792" y="2116836"/>
            <a:ext cx="658368" cy="146304"/>
          </a:xfrm>
          <a:prstGeom prst="rect">
            <a:avLst/>
          </a:prstGeom>
          <a:noFill/>
          <a:ln/>
        </p:spPr>
        <p:txBody>
          <a:bodyPr wrap="square" lIns="0" tIns="0" rIns="0" bIns="0" rtlCol="0" anchor="ctr"/>
          <a:lstStyle/>
          <a:p>
            <a:pPr algn="ctr" indent="0" marL="0">
              <a:buNone/>
            </a:pPr>
            <a:r>
              <a:rPr lang="en-US" sz="600" dirty="0">
                <a:solidFill>
                  <a:srgbClr val="7C939B"/>
                </a:solidFill>
                <a:latin typeface="Calibri" pitchFamily="34" charset="0"/>
                <a:ea typeface="Calibri" pitchFamily="34" charset="-122"/>
                <a:cs typeface="Calibri" pitchFamily="34" charset="-120"/>
              </a:rPr>
              <a:t>Category</a:t>
            </a:r>
            <a:endParaRPr lang="en-US" sz="600" dirty="0"/>
          </a:p>
        </p:txBody>
      </p:sp>
      <p:sp>
        <p:nvSpPr>
          <p:cNvPr id="25" name="Shape 23"/>
          <p:cNvSpPr/>
          <p:nvPr/>
        </p:nvSpPr>
        <p:spPr>
          <a:xfrm>
            <a:off x="3639312" y="2121408"/>
            <a:ext cx="658368" cy="182880"/>
          </a:xfrm>
          <a:prstGeom prst="roundRect">
            <a:avLst>
              <a:gd name="adj" fmla="val 20000"/>
            </a:avLst>
          </a:prstGeom>
          <a:solidFill>
            <a:srgbClr val="FFFFFF"/>
          </a:solidFill>
          <a:ln w="9525">
            <a:solidFill>
              <a:srgbClr val="D3E3E6"/>
            </a:solidFill>
            <a:prstDash val="solid"/>
          </a:ln>
        </p:spPr>
      </p:sp>
      <p:sp>
        <p:nvSpPr>
          <p:cNvPr id="26" name="Text 24"/>
          <p:cNvSpPr/>
          <p:nvPr/>
        </p:nvSpPr>
        <p:spPr>
          <a:xfrm>
            <a:off x="3639312" y="2116836"/>
            <a:ext cx="658368" cy="146304"/>
          </a:xfrm>
          <a:prstGeom prst="rect">
            <a:avLst/>
          </a:prstGeom>
          <a:noFill/>
          <a:ln/>
        </p:spPr>
        <p:txBody>
          <a:bodyPr wrap="square" lIns="0" tIns="0" rIns="0" bIns="0" rtlCol="0" anchor="ctr"/>
          <a:lstStyle/>
          <a:p>
            <a:pPr algn="ctr" indent="0" marL="0">
              <a:buNone/>
            </a:pPr>
            <a:r>
              <a:rPr lang="en-US" sz="600" dirty="0">
                <a:solidFill>
                  <a:srgbClr val="7C939B"/>
                </a:solidFill>
                <a:latin typeface="Calibri" pitchFamily="34" charset="0"/>
                <a:ea typeface="Calibri" pitchFamily="34" charset="-122"/>
                <a:cs typeface="Calibri" pitchFamily="34" charset="-120"/>
              </a:rPr>
              <a:t>Agent</a:t>
            </a:r>
            <a:endParaRPr lang="en-US" sz="600" dirty="0"/>
          </a:p>
        </p:txBody>
      </p:sp>
      <p:sp>
        <p:nvSpPr>
          <p:cNvPr id="27" name="Shape 25"/>
          <p:cNvSpPr/>
          <p:nvPr/>
        </p:nvSpPr>
        <p:spPr>
          <a:xfrm>
            <a:off x="4370832" y="2121408"/>
            <a:ext cx="658368" cy="182880"/>
          </a:xfrm>
          <a:prstGeom prst="roundRect">
            <a:avLst>
              <a:gd name="adj" fmla="val 20000"/>
            </a:avLst>
          </a:prstGeom>
          <a:solidFill>
            <a:srgbClr val="FFFFFF"/>
          </a:solidFill>
          <a:ln w="9525">
            <a:solidFill>
              <a:srgbClr val="D3E3E6"/>
            </a:solidFill>
            <a:prstDash val="solid"/>
          </a:ln>
        </p:spPr>
      </p:sp>
      <p:sp>
        <p:nvSpPr>
          <p:cNvPr id="28" name="Text 26"/>
          <p:cNvSpPr/>
          <p:nvPr/>
        </p:nvSpPr>
        <p:spPr>
          <a:xfrm>
            <a:off x="4370832" y="2116836"/>
            <a:ext cx="658368" cy="146304"/>
          </a:xfrm>
          <a:prstGeom prst="rect">
            <a:avLst/>
          </a:prstGeom>
          <a:noFill/>
          <a:ln/>
        </p:spPr>
        <p:txBody>
          <a:bodyPr wrap="square" lIns="0" tIns="0" rIns="0" bIns="0" rtlCol="0" anchor="ctr"/>
          <a:lstStyle/>
          <a:p>
            <a:pPr algn="ctr" indent="0" marL="0">
              <a:buNone/>
            </a:pPr>
            <a:r>
              <a:rPr lang="en-US" sz="600" dirty="0">
                <a:solidFill>
                  <a:srgbClr val="7C939B"/>
                </a:solidFill>
                <a:latin typeface="Calibri" pitchFamily="34" charset="0"/>
                <a:ea typeface="Calibri" pitchFamily="34" charset="-122"/>
                <a:cs typeface="Calibri" pitchFamily="34" charset="-120"/>
              </a:rPr>
              <a:t>Sentiment</a:t>
            </a:r>
            <a:endParaRPr lang="en-US" sz="600" dirty="0"/>
          </a:p>
        </p:txBody>
      </p:sp>
      <p:sp>
        <p:nvSpPr>
          <p:cNvPr id="29" name="Shape 27"/>
          <p:cNvSpPr/>
          <p:nvPr/>
        </p:nvSpPr>
        <p:spPr>
          <a:xfrm>
            <a:off x="5120640" y="2121408"/>
            <a:ext cx="1078992" cy="182880"/>
          </a:xfrm>
          <a:prstGeom prst="roundRect">
            <a:avLst>
              <a:gd name="adj" fmla="val 20000"/>
            </a:avLst>
          </a:prstGeom>
          <a:solidFill>
            <a:srgbClr val="FFFFFF"/>
          </a:solidFill>
          <a:ln w="9525">
            <a:solidFill>
              <a:srgbClr val="D3E3E6"/>
            </a:solidFill>
            <a:prstDash val="solid"/>
          </a:ln>
        </p:spPr>
      </p:sp>
      <p:sp>
        <p:nvSpPr>
          <p:cNvPr id="30" name="Text 28"/>
          <p:cNvSpPr/>
          <p:nvPr/>
        </p:nvSpPr>
        <p:spPr>
          <a:xfrm>
            <a:off x="5193792" y="2116836"/>
            <a:ext cx="914400"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Search tickets…</a:t>
            </a:r>
            <a:endParaRPr lang="en-US" sz="600" dirty="0"/>
          </a:p>
        </p:txBody>
      </p:sp>
      <p:sp>
        <p:nvSpPr>
          <p:cNvPr id="31" name="Shape 29"/>
          <p:cNvSpPr/>
          <p:nvPr/>
        </p:nvSpPr>
        <p:spPr>
          <a:xfrm>
            <a:off x="1444752" y="2395728"/>
            <a:ext cx="4754880" cy="182880"/>
          </a:xfrm>
          <a:prstGeom prst="roundRect">
            <a:avLst>
              <a:gd name="adj" fmla="val 15000"/>
            </a:avLst>
          </a:prstGeom>
          <a:solidFill>
            <a:srgbClr val="E3EDEF"/>
          </a:solidFill>
          <a:ln/>
        </p:spPr>
      </p:sp>
      <p:sp>
        <p:nvSpPr>
          <p:cNvPr id="32" name="Text 30"/>
          <p:cNvSpPr/>
          <p:nvPr/>
        </p:nvSpPr>
        <p:spPr>
          <a:xfrm>
            <a:off x="1499616" y="2391156"/>
            <a:ext cx="914400" cy="146304"/>
          </a:xfrm>
          <a:prstGeom prst="rect">
            <a:avLst/>
          </a:prstGeom>
          <a:noFill/>
          <a:ln/>
        </p:spPr>
        <p:txBody>
          <a:bodyPr wrap="square" lIns="0" tIns="0" rIns="0" bIns="0" rtlCol="0" anchor="ctr"/>
          <a:lstStyle/>
          <a:p>
            <a:pPr algn="l" indent="0" marL="0">
              <a:buNone/>
            </a:pPr>
            <a:r>
              <a:rPr lang="en-US" sz="550" b="1" dirty="0">
                <a:solidFill>
                  <a:srgbClr val="7C939B"/>
                </a:solidFill>
                <a:latin typeface="Calibri" pitchFamily="34" charset="0"/>
                <a:ea typeface="Calibri" pitchFamily="34" charset="-122"/>
                <a:cs typeface="Calibri" pitchFamily="34" charset="-120"/>
              </a:rPr>
              <a:t>REF</a:t>
            </a:r>
            <a:endParaRPr lang="en-US" sz="550" dirty="0"/>
          </a:p>
        </p:txBody>
      </p:sp>
      <p:sp>
        <p:nvSpPr>
          <p:cNvPr id="33" name="Text 31"/>
          <p:cNvSpPr/>
          <p:nvPr/>
        </p:nvSpPr>
        <p:spPr>
          <a:xfrm>
            <a:off x="2157984" y="2391156"/>
            <a:ext cx="914400" cy="146304"/>
          </a:xfrm>
          <a:prstGeom prst="rect">
            <a:avLst/>
          </a:prstGeom>
          <a:noFill/>
          <a:ln/>
        </p:spPr>
        <p:txBody>
          <a:bodyPr wrap="square" lIns="0" tIns="0" rIns="0" bIns="0" rtlCol="0" anchor="ctr"/>
          <a:lstStyle/>
          <a:p>
            <a:pPr algn="l" indent="0" marL="0">
              <a:buNone/>
            </a:pPr>
            <a:r>
              <a:rPr lang="en-US" sz="550" b="1" dirty="0">
                <a:solidFill>
                  <a:srgbClr val="7C939B"/>
                </a:solidFill>
                <a:latin typeface="Calibri" pitchFamily="34" charset="0"/>
                <a:ea typeface="Calibri" pitchFamily="34" charset="-122"/>
                <a:cs typeface="Calibri" pitchFamily="34" charset="-120"/>
              </a:rPr>
              <a:t>SUBJECT</a:t>
            </a:r>
            <a:endParaRPr lang="en-US" sz="550" dirty="0"/>
          </a:p>
        </p:txBody>
      </p:sp>
      <p:sp>
        <p:nvSpPr>
          <p:cNvPr id="34" name="Text 32"/>
          <p:cNvSpPr/>
          <p:nvPr/>
        </p:nvSpPr>
        <p:spPr>
          <a:xfrm>
            <a:off x="3858768" y="2391156"/>
            <a:ext cx="914400" cy="146304"/>
          </a:xfrm>
          <a:prstGeom prst="rect">
            <a:avLst/>
          </a:prstGeom>
          <a:noFill/>
          <a:ln/>
        </p:spPr>
        <p:txBody>
          <a:bodyPr wrap="square" lIns="0" tIns="0" rIns="0" bIns="0" rtlCol="0" anchor="ctr"/>
          <a:lstStyle/>
          <a:p>
            <a:pPr algn="l" indent="0" marL="0">
              <a:buNone/>
            </a:pPr>
            <a:r>
              <a:rPr lang="en-US" sz="550" b="1" dirty="0">
                <a:solidFill>
                  <a:srgbClr val="7C939B"/>
                </a:solidFill>
                <a:latin typeface="Calibri" pitchFamily="34" charset="0"/>
                <a:ea typeface="Calibri" pitchFamily="34" charset="-122"/>
                <a:cs typeface="Calibri" pitchFamily="34" charset="-120"/>
              </a:rPr>
              <a:t>CUSTOMER</a:t>
            </a:r>
            <a:endParaRPr lang="en-US" sz="550" dirty="0"/>
          </a:p>
        </p:txBody>
      </p:sp>
      <p:sp>
        <p:nvSpPr>
          <p:cNvPr id="35" name="Text 33"/>
          <p:cNvSpPr/>
          <p:nvPr/>
        </p:nvSpPr>
        <p:spPr>
          <a:xfrm>
            <a:off x="4572000" y="2391156"/>
            <a:ext cx="914400" cy="146304"/>
          </a:xfrm>
          <a:prstGeom prst="rect">
            <a:avLst/>
          </a:prstGeom>
          <a:noFill/>
          <a:ln/>
        </p:spPr>
        <p:txBody>
          <a:bodyPr wrap="square" lIns="0" tIns="0" rIns="0" bIns="0" rtlCol="0" anchor="ctr"/>
          <a:lstStyle/>
          <a:p>
            <a:pPr algn="l" indent="0" marL="0">
              <a:buNone/>
            </a:pPr>
            <a:r>
              <a:rPr lang="en-US" sz="550" b="1" dirty="0">
                <a:solidFill>
                  <a:srgbClr val="7C939B"/>
                </a:solidFill>
                <a:latin typeface="Calibri" pitchFamily="34" charset="0"/>
                <a:ea typeface="Calibri" pitchFamily="34" charset="-122"/>
                <a:cs typeface="Calibri" pitchFamily="34" charset="-120"/>
              </a:rPr>
              <a:t>PRIORITY</a:t>
            </a:r>
            <a:endParaRPr lang="en-US" sz="550" dirty="0"/>
          </a:p>
        </p:txBody>
      </p:sp>
      <p:sp>
        <p:nvSpPr>
          <p:cNvPr id="36" name="Text 34"/>
          <p:cNvSpPr/>
          <p:nvPr/>
        </p:nvSpPr>
        <p:spPr>
          <a:xfrm>
            <a:off x="5248656" y="2391156"/>
            <a:ext cx="914400" cy="146304"/>
          </a:xfrm>
          <a:prstGeom prst="rect">
            <a:avLst/>
          </a:prstGeom>
          <a:noFill/>
          <a:ln/>
        </p:spPr>
        <p:txBody>
          <a:bodyPr wrap="square" lIns="0" tIns="0" rIns="0" bIns="0" rtlCol="0" anchor="ctr"/>
          <a:lstStyle/>
          <a:p>
            <a:pPr algn="l" indent="0" marL="0">
              <a:buNone/>
            </a:pPr>
            <a:r>
              <a:rPr lang="en-US" sz="550" b="1" dirty="0">
                <a:solidFill>
                  <a:srgbClr val="7C939B"/>
                </a:solidFill>
                <a:latin typeface="Calibri" pitchFamily="34" charset="0"/>
                <a:ea typeface="Calibri" pitchFamily="34" charset="-122"/>
                <a:cs typeface="Calibri" pitchFamily="34" charset="-120"/>
              </a:rPr>
              <a:t>STATUS</a:t>
            </a:r>
            <a:endParaRPr lang="en-US" sz="550" dirty="0"/>
          </a:p>
        </p:txBody>
      </p:sp>
      <p:sp>
        <p:nvSpPr>
          <p:cNvPr id="37" name="Text 35"/>
          <p:cNvSpPr/>
          <p:nvPr/>
        </p:nvSpPr>
        <p:spPr>
          <a:xfrm>
            <a:off x="5852160" y="2391156"/>
            <a:ext cx="914400" cy="146304"/>
          </a:xfrm>
          <a:prstGeom prst="rect">
            <a:avLst/>
          </a:prstGeom>
          <a:noFill/>
          <a:ln/>
        </p:spPr>
        <p:txBody>
          <a:bodyPr wrap="square" lIns="0" tIns="0" rIns="0" bIns="0" rtlCol="0" anchor="ctr"/>
          <a:lstStyle/>
          <a:p>
            <a:pPr algn="l" indent="0" marL="0">
              <a:buNone/>
            </a:pPr>
            <a:r>
              <a:rPr lang="en-US" sz="550" b="1" dirty="0">
                <a:solidFill>
                  <a:srgbClr val="7C939B"/>
                </a:solidFill>
                <a:latin typeface="Calibri" pitchFamily="34" charset="0"/>
                <a:ea typeface="Calibri" pitchFamily="34" charset="-122"/>
                <a:cs typeface="Calibri" pitchFamily="34" charset="-120"/>
              </a:rPr>
              <a:t>AGENT</a:t>
            </a:r>
            <a:endParaRPr lang="en-US" sz="550" dirty="0"/>
          </a:p>
        </p:txBody>
      </p:sp>
      <p:sp>
        <p:nvSpPr>
          <p:cNvPr id="38" name="Shape 36"/>
          <p:cNvSpPr/>
          <p:nvPr/>
        </p:nvSpPr>
        <p:spPr>
          <a:xfrm>
            <a:off x="1444752" y="2615184"/>
            <a:ext cx="4754880" cy="274320"/>
          </a:xfrm>
          <a:prstGeom prst="roundRect">
            <a:avLst>
              <a:gd name="adj" fmla="val 10000"/>
            </a:avLst>
          </a:prstGeom>
          <a:solidFill>
            <a:srgbClr val="FFFFFF"/>
          </a:solidFill>
          <a:ln/>
        </p:spPr>
      </p:sp>
      <p:sp>
        <p:nvSpPr>
          <p:cNvPr id="39" name="Text 37"/>
          <p:cNvSpPr/>
          <p:nvPr/>
        </p:nvSpPr>
        <p:spPr>
          <a:xfrm>
            <a:off x="1499616" y="2679192"/>
            <a:ext cx="640080" cy="146304"/>
          </a:xfrm>
          <a:prstGeom prst="rect">
            <a:avLst/>
          </a:prstGeom>
          <a:noFill/>
          <a:ln/>
        </p:spPr>
        <p:txBody>
          <a:bodyPr wrap="square" lIns="0" tIns="0" rIns="0" bIns="0" rtlCol="0" anchor="ctr"/>
          <a:lstStyle/>
          <a:p>
            <a:pPr algn="l" indent="0" marL="0">
              <a:buNone/>
            </a:pPr>
            <a:r>
              <a:rPr lang="en-US" sz="600" b="1" dirty="0">
                <a:solidFill>
                  <a:srgbClr val="028090"/>
                </a:solidFill>
                <a:latin typeface="Calibri" pitchFamily="34" charset="0"/>
                <a:ea typeface="Calibri" pitchFamily="34" charset="-122"/>
                <a:cs typeface="Calibri" pitchFamily="34" charset="-120"/>
              </a:rPr>
              <a:t>SD-1024</a:t>
            </a:r>
            <a:endParaRPr lang="en-US" sz="600" dirty="0"/>
          </a:p>
        </p:txBody>
      </p:sp>
      <p:sp>
        <p:nvSpPr>
          <p:cNvPr id="40" name="Text 38"/>
          <p:cNvSpPr/>
          <p:nvPr/>
        </p:nvSpPr>
        <p:spPr>
          <a:xfrm>
            <a:off x="2157984" y="2679192"/>
            <a:ext cx="1645920"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Payment deducted, order pending</a:t>
            </a:r>
            <a:endParaRPr lang="en-US" sz="600" dirty="0"/>
          </a:p>
        </p:txBody>
      </p:sp>
      <p:sp>
        <p:nvSpPr>
          <p:cNvPr id="41" name="Text 39"/>
          <p:cNvSpPr/>
          <p:nvPr/>
        </p:nvSpPr>
        <p:spPr>
          <a:xfrm>
            <a:off x="3803904" y="2679192"/>
            <a:ext cx="694944"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R. Menon</a:t>
            </a:r>
            <a:endParaRPr lang="en-US" sz="600" dirty="0"/>
          </a:p>
        </p:txBody>
      </p:sp>
      <p:sp>
        <p:nvSpPr>
          <p:cNvPr id="42" name="Shape 40"/>
          <p:cNvSpPr/>
          <p:nvPr/>
        </p:nvSpPr>
        <p:spPr>
          <a:xfrm>
            <a:off x="4517136" y="2688336"/>
            <a:ext cx="475488" cy="128016"/>
          </a:xfrm>
          <a:prstGeom prst="roundRect">
            <a:avLst>
              <a:gd name="adj" fmla="val 50000"/>
            </a:avLst>
          </a:prstGeom>
          <a:solidFill>
            <a:srgbClr val="E8B4B0"/>
          </a:solidFill>
          <a:ln/>
        </p:spPr>
      </p:sp>
      <p:sp>
        <p:nvSpPr>
          <p:cNvPr id="43" name="Text 41"/>
          <p:cNvSpPr/>
          <p:nvPr/>
        </p:nvSpPr>
        <p:spPr>
          <a:xfrm>
            <a:off x="4517136" y="2683764"/>
            <a:ext cx="475488" cy="146304"/>
          </a:xfrm>
          <a:prstGeom prst="rect">
            <a:avLst/>
          </a:prstGeom>
          <a:noFill/>
          <a:ln/>
        </p:spPr>
        <p:txBody>
          <a:bodyPr wrap="square" lIns="0" tIns="0" rIns="0" bIns="0" rtlCol="0" anchor="ctr"/>
          <a:lstStyle/>
          <a:p>
            <a:pPr algn="ctr" indent="0" marL="0">
              <a:buNone/>
            </a:pPr>
            <a:r>
              <a:rPr lang="en-US" sz="500" b="1" dirty="0">
                <a:solidFill>
                  <a:srgbClr val="3A3A3A"/>
                </a:solidFill>
                <a:latin typeface="Calibri" pitchFamily="34" charset="0"/>
                <a:ea typeface="Calibri" pitchFamily="34" charset="-122"/>
                <a:cs typeface="Calibri" pitchFamily="34" charset="-120"/>
              </a:rPr>
              <a:t>HIGH</a:t>
            </a:r>
            <a:endParaRPr lang="en-US" sz="500" dirty="0"/>
          </a:p>
        </p:txBody>
      </p:sp>
      <p:sp>
        <p:nvSpPr>
          <p:cNvPr id="44" name="Text 42"/>
          <p:cNvSpPr/>
          <p:nvPr/>
        </p:nvSpPr>
        <p:spPr>
          <a:xfrm>
            <a:off x="5084064" y="2679192"/>
            <a:ext cx="731520" cy="146304"/>
          </a:xfrm>
          <a:prstGeom prst="rect">
            <a:avLst/>
          </a:prstGeom>
          <a:noFill/>
          <a:ln/>
        </p:spPr>
        <p:txBody>
          <a:bodyPr wrap="square" lIns="0" tIns="0" rIns="0" bIns="0" rtlCol="0" anchor="ctr"/>
          <a:lstStyle/>
          <a:p>
            <a:pPr algn="l" indent="0" marL="0">
              <a:buNone/>
            </a:pPr>
            <a:r>
              <a:rPr lang="en-US" sz="550" b="1" dirty="0">
                <a:solidFill>
                  <a:srgbClr val="0A2E36"/>
                </a:solidFill>
                <a:latin typeface="Calibri" pitchFamily="34" charset="0"/>
                <a:ea typeface="Calibri" pitchFamily="34" charset="-122"/>
                <a:cs typeface="Calibri" pitchFamily="34" charset="-120"/>
              </a:rPr>
              <a:t>NEW</a:t>
            </a:r>
            <a:endParaRPr lang="en-US" sz="550" dirty="0"/>
          </a:p>
        </p:txBody>
      </p:sp>
      <p:sp>
        <p:nvSpPr>
          <p:cNvPr id="45" name="Text 43"/>
          <p:cNvSpPr/>
          <p:nvPr/>
        </p:nvSpPr>
        <p:spPr>
          <a:xfrm>
            <a:off x="5797296" y="2679192"/>
            <a:ext cx="384048" cy="146304"/>
          </a:xfrm>
          <a:prstGeom prst="rect">
            <a:avLst/>
          </a:prstGeom>
          <a:noFill/>
          <a:ln/>
        </p:spPr>
        <p:txBody>
          <a:bodyPr wrap="square" lIns="0" tIns="0" rIns="0" bIns="0" rtlCol="0" anchor="ctr"/>
          <a:lstStyle/>
          <a:p>
            <a:pPr algn="l" indent="0" marL="0">
              <a:buNone/>
            </a:pPr>
            <a:r>
              <a:rPr lang="en-US" sz="550" dirty="0">
                <a:solidFill>
                  <a:srgbClr val="7C939B"/>
                </a:solidFill>
                <a:latin typeface="Calibri" pitchFamily="34" charset="0"/>
                <a:ea typeface="Calibri" pitchFamily="34" charset="-122"/>
                <a:cs typeface="Calibri" pitchFamily="34" charset="-120"/>
              </a:rPr>
              <a:t>—</a:t>
            </a:r>
            <a:endParaRPr lang="en-US" sz="550" dirty="0"/>
          </a:p>
        </p:txBody>
      </p:sp>
      <p:sp>
        <p:nvSpPr>
          <p:cNvPr id="46" name="Shape 44"/>
          <p:cNvSpPr/>
          <p:nvPr/>
        </p:nvSpPr>
        <p:spPr>
          <a:xfrm>
            <a:off x="1444752" y="2907792"/>
            <a:ext cx="4754880" cy="274320"/>
          </a:xfrm>
          <a:prstGeom prst="roundRect">
            <a:avLst>
              <a:gd name="adj" fmla="val 10000"/>
            </a:avLst>
          </a:prstGeom>
          <a:solidFill>
            <a:srgbClr val="FAFCFC"/>
          </a:solidFill>
          <a:ln/>
        </p:spPr>
      </p:sp>
      <p:sp>
        <p:nvSpPr>
          <p:cNvPr id="47" name="Text 45"/>
          <p:cNvSpPr/>
          <p:nvPr/>
        </p:nvSpPr>
        <p:spPr>
          <a:xfrm>
            <a:off x="1499616" y="2971800"/>
            <a:ext cx="640080" cy="146304"/>
          </a:xfrm>
          <a:prstGeom prst="rect">
            <a:avLst/>
          </a:prstGeom>
          <a:noFill/>
          <a:ln/>
        </p:spPr>
        <p:txBody>
          <a:bodyPr wrap="square" lIns="0" tIns="0" rIns="0" bIns="0" rtlCol="0" anchor="ctr"/>
          <a:lstStyle/>
          <a:p>
            <a:pPr algn="l" indent="0" marL="0">
              <a:buNone/>
            </a:pPr>
            <a:r>
              <a:rPr lang="en-US" sz="600" b="1" dirty="0">
                <a:solidFill>
                  <a:srgbClr val="028090"/>
                </a:solidFill>
                <a:latin typeface="Calibri" pitchFamily="34" charset="0"/>
                <a:ea typeface="Calibri" pitchFamily="34" charset="-122"/>
                <a:cs typeface="Calibri" pitchFamily="34" charset="-120"/>
              </a:rPr>
              <a:t>SD-1023</a:t>
            </a:r>
            <a:endParaRPr lang="en-US" sz="600" dirty="0"/>
          </a:p>
        </p:txBody>
      </p:sp>
      <p:sp>
        <p:nvSpPr>
          <p:cNvPr id="48" name="Text 46"/>
          <p:cNvSpPr/>
          <p:nvPr/>
        </p:nvSpPr>
        <p:spPr>
          <a:xfrm>
            <a:off x="2157984" y="2971800"/>
            <a:ext cx="1645920"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App crashes on checkout</a:t>
            </a:r>
            <a:endParaRPr lang="en-US" sz="600" dirty="0"/>
          </a:p>
        </p:txBody>
      </p:sp>
      <p:sp>
        <p:nvSpPr>
          <p:cNvPr id="49" name="Text 47"/>
          <p:cNvSpPr/>
          <p:nvPr/>
        </p:nvSpPr>
        <p:spPr>
          <a:xfrm>
            <a:off x="3803904" y="2971800"/>
            <a:ext cx="694944"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S. Iyer</a:t>
            </a:r>
            <a:endParaRPr lang="en-US" sz="600" dirty="0"/>
          </a:p>
        </p:txBody>
      </p:sp>
      <p:sp>
        <p:nvSpPr>
          <p:cNvPr id="50" name="Shape 48"/>
          <p:cNvSpPr/>
          <p:nvPr/>
        </p:nvSpPr>
        <p:spPr>
          <a:xfrm>
            <a:off x="4517136" y="2980944"/>
            <a:ext cx="475488" cy="128016"/>
          </a:xfrm>
          <a:prstGeom prst="roundRect">
            <a:avLst>
              <a:gd name="adj" fmla="val 50000"/>
            </a:avLst>
          </a:prstGeom>
          <a:solidFill>
            <a:srgbClr val="DFA5A0"/>
          </a:solidFill>
          <a:ln/>
        </p:spPr>
      </p:sp>
      <p:sp>
        <p:nvSpPr>
          <p:cNvPr id="51" name="Text 49"/>
          <p:cNvSpPr/>
          <p:nvPr/>
        </p:nvSpPr>
        <p:spPr>
          <a:xfrm>
            <a:off x="4517136" y="2976372"/>
            <a:ext cx="475488" cy="146304"/>
          </a:xfrm>
          <a:prstGeom prst="rect">
            <a:avLst/>
          </a:prstGeom>
          <a:noFill/>
          <a:ln/>
        </p:spPr>
        <p:txBody>
          <a:bodyPr wrap="square" lIns="0" tIns="0" rIns="0" bIns="0" rtlCol="0" anchor="ctr"/>
          <a:lstStyle/>
          <a:p>
            <a:pPr algn="ctr" indent="0" marL="0">
              <a:buNone/>
            </a:pPr>
            <a:r>
              <a:rPr lang="en-US" sz="500" b="1" dirty="0">
                <a:solidFill>
                  <a:srgbClr val="3A3A3A"/>
                </a:solidFill>
                <a:latin typeface="Calibri" pitchFamily="34" charset="0"/>
                <a:ea typeface="Calibri" pitchFamily="34" charset="-122"/>
                <a:cs typeface="Calibri" pitchFamily="34" charset="-120"/>
              </a:rPr>
              <a:t>URGENT</a:t>
            </a:r>
            <a:endParaRPr lang="en-US" sz="500" dirty="0"/>
          </a:p>
        </p:txBody>
      </p:sp>
      <p:sp>
        <p:nvSpPr>
          <p:cNvPr id="52" name="Text 50"/>
          <p:cNvSpPr/>
          <p:nvPr/>
        </p:nvSpPr>
        <p:spPr>
          <a:xfrm>
            <a:off x="5084064" y="2971800"/>
            <a:ext cx="731520" cy="146304"/>
          </a:xfrm>
          <a:prstGeom prst="rect">
            <a:avLst/>
          </a:prstGeom>
          <a:noFill/>
          <a:ln/>
        </p:spPr>
        <p:txBody>
          <a:bodyPr wrap="square" lIns="0" tIns="0" rIns="0" bIns="0" rtlCol="0" anchor="ctr"/>
          <a:lstStyle/>
          <a:p>
            <a:pPr algn="l" indent="0" marL="0">
              <a:buNone/>
            </a:pPr>
            <a:r>
              <a:rPr lang="en-US" sz="550" b="1" dirty="0">
                <a:solidFill>
                  <a:srgbClr val="0A2E36"/>
                </a:solidFill>
                <a:latin typeface="Calibri" pitchFamily="34" charset="0"/>
                <a:ea typeface="Calibri" pitchFamily="34" charset="-122"/>
                <a:cs typeface="Calibri" pitchFamily="34" charset="-120"/>
              </a:rPr>
              <a:t>IN PROGRESS</a:t>
            </a:r>
            <a:endParaRPr lang="en-US" sz="550" dirty="0"/>
          </a:p>
        </p:txBody>
      </p:sp>
      <p:sp>
        <p:nvSpPr>
          <p:cNvPr id="53" name="Text 51"/>
          <p:cNvSpPr/>
          <p:nvPr/>
        </p:nvSpPr>
        <p:spPr>
          <a:xfrm>
            <a:off x="5797296" y="2971800"/>
            <a:ext cx="384048" cy="146304"/>
          </a:xfrm>
          <a:prstGeom prst="rect">
            <a:avLst/>
          </a:prstGeom>
          <a:noFill/>
          <a:ln/>
        </p:spPr>
        <p:txBody>
          <a:bodyPr wrap="square" lIns="0" tIns="0" rIns="0" bIns="0" rtlCol="0" anchor="ctr"/>
          <a:lstStyle/>
          <a:p>
            <a:pPr algn="l" indent="0" marL="0">
              <a:buNone/>
            </a:pPr>
            <a:r>
              <a:rPr lang="en-US" sz="550" dirty="0">
                <a:solidFill>
                  <a:srgbClr val="7C939B"/>
                </a:solidFill>
                <a:latin typeface="Calibri" pitchFamily="34" charset="0"/>
                <a:ea typeface="Calibri" pitchFamily="34" charset="-122"/>
                <a:cs typeface="Calibri" pitchFamily="34" charset="-120"/>
              </a:rPr>
              <a:t>You</a:t>
            </a:r>
            <a:endParaRPr lang="en-US" sz="550" dirty="0"/>
          </a:p>
        </p:txBody>
      </p:sp>
      <p:sp>
        <p:nvSpPr>
          <p:cNvPr id="54" name="Shape 52"/>
          <p:cNvSpPr/>
          <p:nvPr/>
        </p:nvSpPr>
        <p:spPr>
          <a:xfrm>
            <a:off x="1444752" y="3200400"/>
            <a:ext cx="4754880" cy="274320"/>
          </a:xfrm>
          <a:prstGeom prst="roundRect">
            <a:avLst>
              <a:gd name="adj" fmla="val 10000"/>
            </a:avLst>
          </a:prstGeom>
          <a:solidFill>
            <a:srgbClr val="FFFFFF"/>
          </a:solidFill>
          <a:ln/>
        </p:spPr>
      </p:sp>
      <p:sp>
        <p:nvSpPr>
          <p:cNvPr id="55" name="Text 53"/>
          <p:cNvSpPr/>
          <p:nvPr/>
        </p:nvSpPr>
        <p:spPr>
          <a:xfrm>
            <a:off x="1499616" y="3264408"/>
            <a:ext cx="640080" cy="146304"/>
          </a:xfrm>
          <a:prstGeom prst="rect">
            <a:avLst/>
          </a:prstGeom>
          <a:noFill/>
          <a:ln/>
        </p:spPr>
        <p:txBody>
          <a:bodyPr wrap="square" lIns="0" tIns="0" rIns="0" bIns="0" rtlCol="0" anchor="ctr"/>
          <a:lstStyle/>
          <a:p>
            <a:pPr algn="l" indent="0" marL="0">
              <a:buNone/>
            </a:pPr>
            <a:r>
              <a:rPr lang="en-US" sz="600" b="1" dirty="0">
                <a:solidFill>
                  <a:srgbClr val="028090"/>
                </a:solidFill>
                <a:latin typeface="Calibri" pitchFamily="34" charset="0"/>
                <a:ea typeface="Calibri" pitchFamily="34" charset="-122"/>
                <a:cs typeface="Calibri" pitchFamily="34" charset="-120"/>
              </a:rPr>
              <a:t>SD-1021</a:t>
            </a:r>
            <a:endParaRPr lang="en-US" sz="600" dirty="0"/>
          </a:p>
        </p:txBody>
      </p:sp>
      <p:sp>
        <p:nvSpPr>
          <p:cNvPr id="56" name="Text 54"/>
          <p:cNvSpPr/>
          <p:nvPr/>
        </p:nvSpPr>
        <p:spPr>
          <a:xfrm>
            <a:off x="2157984" y="3264408"/>
            <a:ext cx="1645920"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Refund not credited</a:t>
            </a:r>
            <a:endParaRPr lang="en-US" sz="600" dirty="0"/>
          </a:p>
        </p:txBody>
      </p:sp>
      <p:sp>
        <p:nvSpPr>
          <p:cNvPr id="57" name="Text 55"/>
          <p:cNvSpPr/>
          <p:nvPr/>
        </p:nvSpPr>
        <p:spPr>
          <a:xfrm>
            <a:off x="3803904" y="3264408"/>
            <a:ext cx="694944"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A. Khan</a:t>
            </a:r>
            <a:endParaRPr lang="en-US" sz="600" dirty="0"/>
          </a:p>
        </p:txBody>
      </p:sp>
      <p:sp>
        <p:nvSpPr>
          <p:cNvPr id="58" name="Shape 56"/>
          <p:cNvSpPr/>
          <p:nvPr/>
        </p:nvSpPr>
        <p:spPr>
          <a:xfrm>
            <a:off x="4517136" y="3273552"/>
            <a:ext cx="475488" cy="128016"/>
          </a:xfrm>
          <a:prstGeom prst="roundRect">
            <a:avLst>
              <a:gd name="adj" fmla="val 50000"/>
            </a:avLst>
          </a:prstGeom>
          <a:solidFill>
            <a:srgbClr val="E8B4B0"/>
          </a:solidFill>
          <a:ln/>
        </p:spPr>
      </p:sp>
      <p:sp>
        <p:nvSpPr>
          <p:cNvPr id="59" name="Text 57"/>
          <p:cNvSpPr/>
          <p:nvPr/>
        </p:nvSpPr>
        <p:spPr>
          <a:xfrm>
            <a:off x="4517136" y="3268980"/>
            <a:ext cx="475488" cy="146304"/>
          </a:xfrm>
          <a:prstGeom prst="rect">
            <a:avLst/>
          </a:prstGeom>
          <a:noFill/>
          <a:ln/>
        </p:spPr>
        <p:txBody>
          <a:bodyPr wrap="square" lIns="0" tIns="0" rIns="0" bIns="0" rtlCol="0" anchor="ctr"/>
          <a:lstStyle/>
          <a:p>
            <a:pPr algn="ctr" indent="0" marL="0">
              <a:buNone/>
            </a:pPr>
            <a:r>
              <a:rPr lang="en-US" sz="500" b="1" dirty="0">
                <a:solidFill>
                  <a:srgbClr val="3A3A3A"/>
                </a:solidFill>
                <a:latin typeface="Calibri" pitchFamily="34" charset="0"/>
                <a:ea typeface="Calibri" pitchFamily="34" charset="-122"/>
                <a:cs typeface="Calibri" pitchFamily="34" charset="-120"/>
              </a:rPr>
              <a:t>HIGH</a:t>
            </a:r>
            <a:endParaRPr lang="en-US" sz="500" dirty="0"/>
          </a:p>
        </p:txBody>
      </p:sp>
      <p:sp>
        <p:nvSpPr>
          <p:cNvPr id="60" name="Text 58"/>
          <p:cNvSpPr/>
          <p:nvPr/>
        </p:nvSpPr>
        <p:spPr>
          <a:xfrm>
            <a:off x="5084064" y="3264408"/>
            <a:ext cx="731520" cy="146304"/>
          </a:xfrm>
          <a:prstGeom prst="rect">
            <a:avLst/>
          </a:prstGeom>
          <a:noFill/>
          <a:ln/>
        </p:spPr>
        <p:txBody>
          <a:bodyPr wrap="square" lIns="0" tIns="0" rIns="0" bIns="0" rtlCol="0" anchor="ctr"/>
          <a:lstStyle/>
          <a:p>
            <a:pPr algn="l" indent="0" marL="0">
              <a:buNone/>
            </a:pPr>
            <a:r>
              <a:rPr lang="en-US" sz="550" b="1" dirty="0">
                <a:solidFill>
                  <a:srgbClr val="0A2E36"/>
                </a:solidFill>
                <a:latin typeface="Calibri" pitchFamily="34" charset="0"/>
                <a:ea typeface="Calibri" pitchFamily="34" charset="-122"/>
                <a:cs typeface="Calibri" pitchFamily="34" charset="-120"/>
              </a:rPr>
              <a:t>OPEN</a:t>
            </a:r>
            <a:endParaRPr lang="en-US" sz="550" dirty="0"/>
          </a:p>
        </p:txBody>
      </p:sp>
      <p:sp>
        <p:nvSpPr>
          <p:cNvPr id="61" name="Text 59"/>
          <p:cNvSpPr/>
          <p:nvPr/>
        </p:nvSpPr>
        <p:spPr>
          <a:xfrm>
            <a:off x="5797296" y="3264408"/>
            <a:ext cx="384048" cy="146304"/>
          </a:xfrm>
          <a:prstGeom prst="rect">
            <a:avLst/>
          </a:prstGeom>
          <a:noFill/>
          <a:ln/>
        </p:spPr>
        <p:txBody>
          <a:bodyPr wrap="square" lIns="0" tIns="0" rIns="0" bIns="0" rtlCol="0" anchor="ctr"/>
          <a:lstStyle/>
          <a:p>
            <a:pPr algn="l" indent="0" marL="0">
              <a:buNone/>
            </a:pPr>
            <a:r>
              <a:rPr lang="en-US" sz="550" dirty="0">
                <a:solidFill>
                  <a:srgbClr val="7C939B"/>
                </a:solidFill>
                <a:latin typeface="Calibri" pitchFamily="34" charset="0"/>
                <a:ea typeface="Calibri" pitchFamily="34" charset="-122"/>
                <a:cs typeface="Calibri" pitchFamily="34" charset="-120"/>
              </a:rPr>
              <a:t>You</a:t>
            </a:r>
            <a:endParaRPr lang="en-US" sz="550" dirty="0"/>
          </a:p>
        </p:txBody>
      </p:sp>
      <p:sp>
        <p:nvSpPr>
          <p:cNvPr id="62" name="Shape 60"/>
          <p:cNvSpPr/>
          <p:nvPr/>
        </p:nvSpPr>
        <p:spPr>
          <a:xfrm>
            <a:off x="1444752" y="3493008"/>
            <a:ext cx="4754880" cy="274320"/>
          </a:xfrm>
          <a:prstGeom prst="roundRect">
            <a:avLst>
              <a:gd name="adj" fmla="val 10000"/>
            </a:avLst>
          </a:prstGeom>
          <a:solidFill>
            <a:srgbClr val="FAFCFC"/>
          </a:solidFill>
          <a:ln/>
        </p:spPr>
      </p:sp>
      <p:sp>
        <p:nvSpPr>
          <p:cNvPr id="63" name="Text 61"/>
          <p:cNvSpPr/>
          <p:nvPr/>
        </p:nvSpPr>
        <p:spPr>
          <a:xfrm>
            <a:off x="1499616" y="3557016"/>
            <a:ext cx="640080" cy="146304"/>
          </a:xfrm>
          <a:prstGeom prst="rect">
            <a:avLst/>
          </a:prstGeom>
          <a:noFill/>
          <a:ln/>
        </p:spPr>
        <p:txBody>
          <a:bodyPr wrap="square" lIns="0" tIns="0" rIns="0" bIns="0" rtlCol="0" anchor="ctr"/>
          <a:lstStyle/>
          <a:p>
            <a:pPr algn="l" indent="0" marL="0">
              <a:buNone/>
            </a:pPr>
            <a:r>
              <a:rPr lang="en-US" sz="600" b="1" dirty="0">
                <a:solidFill>
                  <a:srgbClr val="028090"/>
                </a:solidFill>
                <a:latin typeface="Calibri" pitchFamily="34" charset="0"/>
                <a:ea typeface="Calibri" pitchFamily="34" charset="-122"/>
                <a:cs typeface="Calibri" pitchFamily="34" charset="-120"/>
              </a:rPr>
              <a:t>SD-1019</a:t>
            </a:r>
            <a:endParaRPr lang="en-US" sz="600" dirty="0"/>
          </a:p>
        </p:txBody>
      </p:sp>
      <p:sp>
        <p:nvSpPr>
          <p:cNvPr id="64" name="Text 62"/>
          <p:cNvSpPr/>
          <p:nvPr/>
        </p:nvSpPr>
        <p:spPr>
          <a:xfrm>
            <a:off x="2157984" y="3557016"/>
            <a:ext cx="1645920"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Cannot reset password</a:t>
            </a:r>
            <a:endParaRPr lang="en-US" sz="600" dirty="0"/>
          </a:p>
        </p:txBody>
      </p:sp>
      <p:sp>
        <p:nvSpPr>
          <p:cNvPr id="65" name="Text 63"/>
          <p:cNvSpPr/>
          <p:nvPr/>
        </p:nvSpPr>
        <p:spPr>
          <a:xfrm>
            <a:off x="3803904" y="3557016"/>
            <a:ext cx="694944"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M. Rao</a:t>
            </a:r>
            <a:endParaRPr lang="en-US" sz="600" dirty="0"/>
          </a:p>
        </p:txBody>
      </p:sp>
      <p:sp>
        <p:nvSpPr>
          <p:cNvPr id="66" name="Shape 64"/>
          <p:cNvSpPr/>
          <p:nvPr/>
        </p:nvSpPr>
        <p:spPr>
          <a:xfrm>
            <a:off x="4517136" y="3566160"/>
            <a:ext cx="475488" cy="128016"/>
          </a:xfrm>
          <a:prstGeom prst="roundRect">
            <a:avLst>
              <a:gd name="adj" fmla="val 50000"/>
            </a:avLst>
          </a:prstGeom>
          <a:solidFill>
            <a:srgbClr val="E8D6AC"/>
          </a:solidFill>
          <a:ln/>
        </p:spPr>
      </p:sp>
      <p:sp>
        <p:nvSpPr>
          <p:cNvPr id="67" name="Text 65"/>
          <p:cNvSpPr/>
          <p:nvPr/>
        </p:nvSpPr>
        <p:spPr>
          <a:xfrm>
            <a:off x="4517136" y="3561588"/>
            <a:ext cx="475488" cy="146304"/>
          </a:xfrm>
          <a:prstGeom prst="rect">
            <a:avLst/>
          </a:prstGeom>
          <a:noFill/>
          <a:ln/>
        </p:spPr>
        <p:txBody>
          <a:bodyPr wrap="square" lIns="0" tIns="0" rIns="0" bIns="0" rtlCol="0" anchor="ctr"/>
          <a:lstStyle/>
          <a:p>
            <a:pPr algn="ctr" indent="0" marL="0">
              <a:buNone/>
            </a:pPr>
            <a:r>
              <a:rPr lang="en-US" sz="500" b="1" dirty="0">
                <a:solidFill>
                  <a:srgbClr val="3A3A3A"/>
                </a:solidFill>
                <a:latin typeface="Calibri" pitchFamily="34" charset="0"/>
                <a:ea typeface="Calibri" pitchFamily="34" charset="-122"/>
                <a:cs typeface="Calibri" pitchFamily="34" charset="-120"/>
              </a:rPr>
              <a:t>MEDIUM</a:t>
            </a:r>
            <a:endParaRPr lang="en-US" sz="500" dirty="0"/>
          </a:p>
        </p:txBody>
      </p:sp>
      <p:sp>
        <p:nvSpPr>
          <p:cNvPr id="68" name="Text 66"/>
          <p:cNvSpPr/>
          <p:nvPr/>
        </p:nvSpPr>
        <p:spPr>
          <a:xfrm>
            <a:off x="5084064" y="3557016"/>
            <a:ext cx="731520" cy="146304"/>
          </a:xfrm>
          <a:prstGeom prst="rect">
            <a:avLst/>
          </a:prstGeom>
          <a:noFill/>
          <a:ln/>
        </p:spPr>
        <p:txBody>
          <a:bodyPr wrap="square" lIns="0" tIns="0" rIns="0" bIns="0" rtlCol="0" anchor="ctr"/>
          <a:lstStyle/>
          <a:p>
            <a:pPr algn="l" indent="0" marL="0">
              <a:buNone/>
            </a:pPr>
            <a:r>
              <a:rPr lang="en-US" sz="550" b="1" dirty="0">
                <a:solidFill>
                  <a:srgbClr val="0A2E36"/>
                </a:solidFill>
                <a:latin typeface="Calibri" pitchFamily="34" charset="0"/>
                <a:ea typeface="Calibri" pitchFamily="34" charset="-122"/>
                <a:cs typeface="Calibri" pitchFamily="34" charset="-120"/>
              </a:rPr>
              <a:t>WAITING</a:t>
            </a:r>
            <a:endParaRPr lang="en-US" sz="550" dirty="0"/>
          </a:p>
        </p:txBody>
      </p:sp>
      <p:sp>
        <p:nvSpPr>
          <p:cNvPr id="69" name="Text 67"/>
          <p:cNvSpPr/>
          <p:nvPr/>
        </p:nvSpPr>
        <p:spPr>
          <a:xfrm>
            <a:off x="5797296" y="3557016"/>
            <a:ext cx="384048" cy="146304"/>
          </a:xfrm>
          <a:prstGeom prst="rect">
            <a:avLst/>
          </a:prstGeom>
          <a:noFill/>
          <a:ln/>
        </p:spPr>
        <p:txBody>
          <a:bodyPr wrap="square" lIns="0" tIns="0" rIns="0" bIns="0" rtlCol="0" anchor="ctr"/>
          <a:lstStyle/>
          <a:p>
            <a:pPr algn="l" indent="0" marL="0">
              <a:buNone/>
            </a:pPr>
            <a:r>
              <a:rPr lang="en-US" sz="550" dirty="0">
                <a:solidFill>
                  <a:srgbClr val="7C939B"/>
                </a:solidFill>
                <a:latin typeface="Calibri" pitchFamily="34" charset="0"/>
                <a:ea typeface="Calibri" pitchFamily="34" charset="-122"/>
                <a:cs typeface="Calibri" pitchFamily="34" charset="-120"/>
              </a:rPr>
              <a:t>You</a:t>
            </a:r>
            <a:endParaRPr lang="en-US" sz="550" dirty="0"/>
          </a:p>
        </p:txBody>
      </p:sp>
      <p:sp>
        <p:nvSpPr>
          <p:cNvPr id="70" name="Shape 68"/>
          <p:cNvSpPr/>
          <p:nvPr/>
        </p:nvSpPr>
        <p:spPr>
          <a:xfrm>
            <a:off x="1444752" y="3785616"/>
            <a:ext cx="4754880" cy="274320"/>
          </a:xfrm>
          <a:prstGeom prst="roundRect">
            <a:avLst>
              <a:gd name="adj" fmla="val 10000"/>
            </a:avLst>
          </a:prstGeom>
          <a:solidFill>
            <a:srgbClr val="FFFFFF"/>
          </a:solidFill>
          <a:ln/>
        </p:spPr>
      </p:sp>
      <p:sp>
        <p:nvSpPr>
          <p:cNvPr id="71" name="Text 69"/>
          <p:cNvSpPr/>
          <p:nvPr/>
        </p:nvSpPr>
        <p:spPr>
          <a:xfrm>
            <a:off x="1499616" y="3849624"/>
            <a:ext cx="640080" cy="146304"/>
          </a:xfrm>
          <a:prstGeom prst="rect">
            <a:avLst/>
          </a:prstGeom>
          <a:noFill/>
          <a:ln/>
        </p:spPr>
        <p:txBody>
          <a:bodyPr wrap="square" lIns="0" tIns="0" rIns="0" bIns="0" rtlCol="0" anchor="ctr"/>
          <a:lstStyle/>
          <a:p>
            <a:pPr algn="l" indent="0" marL="0">
              <a:buNone/>
            </a:pPr>
            <a:r>
              <a:rPr lang="en-US" sz="600" b="1" dirty="0">
                <a:solidFill>
                  <a:srgbClr val="028090"/>
                </a:solidFill>
                <a:latin typeface="Calibri" pitchFamily="34" charset="0"/>
                <a:ea typeface="Calibri" pitchFamily="34" charset="-122"/>
                <a:cs typeface="Calibri" pitchFamily="34" charset="-120"/>
              </a:rPr>
              <a:t>SD-1015</a:t>
            </a:r>
            <a:endParaRPr lang="en-US" sz="600" dirty="0"/>
          </a:p>
        </p:txBody>
      </p:sp>
      <p:sp>
        <p:nvSpPr>
          <p:cNvPr id="72" name="Text 70"/>
          <p:cNvSpPr/>
          <p:nvPr/>
        </p:nvSpPr>
        <p:spPr>
          <a:xfrm>
            <a:off x="2157984" y="3849624"/>
            <a:ext cx="1645920"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Change billing address</a:t>
            </a:r>
            <a:endParaRPr lang="en-US" sz="600" dirty="0"/>
          </a:p>
        </p:txBody>
      </p:sp>
      <p:sp>
        <p:nvSpPr>
          <p:cNvPr id="73" name="Text 71"/>
          <p:cNvSpPr/>
          <p:nvPr/>
        </p:nvSpPr>
        <p:spPr>
          <a:xfrm>
            <a:off x="3803904" y="3849624"/>
            <a:ext cx="694944"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K. Das</a:t>
            </a:r>
            <a:endParaRPr lang="en-US" sz="600" dirty="0"/>
          </a:p>
        </p:txBody>
      </p:sp>
      <p:sp>
        <p:nvSpPr>
          <p:cNvPr id="74" name="Shape 72"/>
          <p:cNvSpPr/>
          <p:nvPr/>
        </p:nvSpPr>
        <p:spPr>
          <a:xfrm>
            <a:off x="4517136" y="3858768"/>
            <a:ext cx="475488" cy="128016"/>
          </a:xfrm>
          <a:prstGeom prst="roundRect">
            <a:avLst>
              <a:gd name="adj" fmla="val 50000"/>
            </a:avLst>
          </a:prstGeom>
          <a:solidFill>
            <a:srgbClr val="C5DCC9"/>
          </a:solidFill>
          <a:ln/>
        </p:spPr>
      </p:sp>
      <p:sp>
        <p:nvSpPr>
          <p:cNvPr id="75" name="Text 73"/>
          <p:cNvSpPr/>
          <p:nvPr/>
        </p:nvSpPr>
        <p:spPr>
          <a:xfrm>
            <a:off x="4517136" y="3854196"/>
            <a:ext cx="475488" cy="146304"/>
          </a:xfrm>
          <a:prstGeom prst="rect">
            <a:avLst/>
          </a:prstGeom>
          <a:noFill/>
          <a:ln/>
        </p:spPr>
        <p:txBody>
          <a:bodyPr wrap="square" lIns="0" tIns="0" rIns="0" bIns="0" rtlCol="0" anchor="ctr"/>
          <a:lstStyle/>
          <a:p>
            <a:pPr algn="ctr" indent="0" marL="0">
              <a:buNone/>
            </a:pPr>
            <a:r>
              <a:rPr lang="en-US" sz="500" b="1" dirty="0">
                <a:solidFill>
                  <a:srgbClr val="3A3A3A"/>
                </a:solidFill>
                <a:latin typeface="Calibri" pitchFamily="34" charset="0"/>
                <a:ea typeface="Calibri" pitchFamily="34" charset="-122"/>
                <a:cs typeface="Calibri" pitchFamily="34" charset="-120"/>
              </a:rPr>
              <a:t>LOW</a:t>
            </a:r>
            <a:endParaRPr lang="en-US" sz="500" dirty="0"/>
          </a:p>
        </p:txBody>
      </p:sp>
      <p:sp>
        <p:nvSpPr>
          <p:cNvPr id="76" name="Text 74"/>
          <p:cNvSpPr/>
          <p:nvPr/>
        </p:nvSpPr>
        <p:spPr>
          <a:xfrm>
            <a:off x="5084064" y="3849624"/>
            <a:ext cx="731520" cy="146304"/>
          </a:xfrm>
          <a:prstGeom prst="rect">
            <a:avLst/>
          </a:prstGeom>
          <a:noFill/>
          <a:ln/>
        </p:spPr>
        <p:txBody>
          <a:bodyPr wrap="square" lIns="0" tIns="0" rIns="0" bIns="0" rtlCol="0" anchor="ctr"/>
          <a:lstStyle/>
          <a:p>
            <a:pPr algn="l" indent="0" marL="0">
              <a:buNone/>
            </a:pPr>
            <a:r>
              <a:rPr lang="en-US" sz="550" b="1" dirty="0">
                <a:solidFill>
                  <a:srgbClr val="0A2E36"/>
                </a:solidFill>
                <a:latin typeface="Calibri" pitchFamily="34" charset="0"/>
                <a:ea typeface="Calibri" pitchFamily="34" charset="-122"/>
                <a:cs typeface="Calibri" pitchFamily="34" charset="-120"/>
              </a:rPr>
              <a:t>OPEN</a:t>
            </a:r>
            <a:endParaRPr lang="en-US" sz="550" dirty="0"/>
          </a:p>
        </p:txBody>
      </p:sp>
      <p:sp>
        <p:nvSpPr>
          <p:cNvPr id="77" name="Text 75"/>
          <p:cNvSpPr/>
          <p:nvPr/>
        </p:nvSpPr>
        <p:spPr>
          <a:xfrm>
            <a:off x="5797296" y="3849624"/>
            <a:ext cx="384048" cy="146304"/>
          </a:xfrm>
          <a:prstGeom prst="rect">
            <a:avLst/>
          </a:prstGeom>
          <a:noFill/>
          <a:ln/>
        </p:spPr>
        <p:txBody>
          <a:bodyPr wrap="square" lIns="0" tIns="0" rIns="0" bIns="0" rtlCol="0" anchor="ctr"/>
          <a:lstStyle/>
          <a:p>
            <a:pPr algn="l" indent="0" marL="0">
              <a:buNone/>
            </a:pPr>
            <a:r>
              <a:rPr lang="en-US" sz="550" dirty="0">
                <a:solidFill>
                  <a:srgbClr val="7C939B"/>
                </a:solidFill>
                <a:latin typeface="Calibri" pitchFamily="34" charset="0"/>
                <a:ea typeface="Calibri" pitchFamily="34" charset="-122"/>
                <a:cs typeface="Calibri" pitchFamily="34" charset="-120"/>
              </a:rPr>
              <a:t>P. Nair</a:t>
            </a:r>
            <a:endParaRPr lang="en-US" sz="550" dirty="0"/>
          </a:p>
        </p:txBody>
      </p:sp>
      <p:sp>
        <p:nvSpPr>
          <p:cNvPr id="78" name="Text 76"/>
          <p:cNvSpPr/>
          <p:nvPr/>
        </p:nvSpPr>
        <p:spPr>
          <a:xfrm>
            <a:off x="566928" y="4645152"/>
            <a:ext cx="5760720" cy="237744"/>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Agent Ticket Queue</a:t>
            </a:r>
            <a:endParaRPr lang="en-US" sz="1300" dirty="0"/>
          </a:p>
        </p:txBody>
      </p:sp>
      <p:sp>
        <p:nvSpPr>
          <p:cNvPr id="79" name="Text 77"/>
          <p:cNvSpPr/>
          <p:nvPr/>
        </p:nvSpPr>
        <p:spPr>
          <a:xfrm>
            <a:off x="566928" y="4882896"/>
            <a:ext cx="5760720" cy="640080"/>
          </a:xfrm>
          <a:prstGeom prst="rect">
            <a:avLst/>
          </a:prstGeom>
          <a:noFill/>
          <a:ln/>
        </p:spPr>
        <p:txBody>
          <a:bodyPr wrap="square" lIns="0" tIns="0" rIns="0" bIns="0" rtlCol="0" anchor="t"/>
          <a:lstStyle/>
          <a:p>
            <a:pPr indent="0" marL="0">
              <a:lnSpc>
                <a:spcPts val="1300"/>
              </a:lnSpc>
              <a:buNone/>
            </a:pPr>
            <a:r>
              <a:rPr lang="en-US" sz="1100" dirty="0">
                <a:solidFill>
                  <a:srgbClr val="7C939B"/>
                </a:solidFill>
                <a:latin typeface="Calibri" pitchFamily="34" charset="0"/>
                <a:ea typeface="Calibri" pitchFamily="34" charset="-122"/>
                <a:cs typeface="Calibri" pitchFamily="34" charset="-120"/>
              </a:rPr>
              <a:t>One prioritised list instead of an inbox. Filters on status, priority, category, agent and sentiment, plus full-text search — all applied server-side with pagination.</a:t>
            </a:r>
            <a:endParaRPr lang="en-US" sz="1100" dirty="0"/>
          </a:p>
        </p:txBody>
      </p:sp>
      <p:sp>
        <p:nvSpPr>
          <p:cNvPr id="80" name="Shape 78"/>
          <p:cNvSpPr/>
          <p:nvPr/>
        </p:nvSpPr>
        <p:spPr>
          <a:xfrm>
            <a:off x="6656832" y="1444752"/>
            <a:ext cx="4937760" cy="3054096"/>
          </a:xfrm>
          <a:prstGeom prst="roundRect">
            <a:avLst>
              <a:gd name="adj" fmla="val 1497"/>
            </a:avLst>
          </a:prstGeom>
          <a:solidFill>
            <a:srgbClr val="FFFFFF"/>
          </a:solidFill>
          <a:ln w="12700">
            <a:solidFill>
              <a:srgbClr val="C2D4D8"/>
            </a:solidFill>
            <a:prstDash val="solid"/>
          </a:ln>
          <a:effectLst>
            <a:outerShdw sx="100000" sy="100000" kx="0" ky="0" algn="bl" rotWithShape="0" blurRad="127000" dist="25400" dir="5400000">
              <a:srgbClr val="0A2E36">
                <a:alpha val="10000"/>
              </a:srgbClr>
            </a:outerShdw>
          </a:effectLst>
        </p:spPr>
      </p:sp>
      <p:sp>
        <p:nvSpPr>
          <p:cNvPr id="81" name="Shape 79"/>
          <p:cNvSpPr/>
          <p:nvPr/>
        </p:nvSpPr>
        <p:spPr>
          <a:xfrm>
            <a:off x="6656832" y="1444752"/>
            <a:ext cx="4937760" cy="256032"/>
          </a:xfrm>
          <a:prstGeom prst="rect">
            <a:avLst/>
          </a:prstGeom>
          <a:solidFill>
            <a:srgbClr val="E8F0F2"/>
          </a:solidFill>
          <a:ln/>
        </p:spPr>
      </p:sp>
      <p:sp>
        <p:nvSpPr>
          <p:cNvPr id="82" name="Shape 80"/>
          <p:cNvSpPr/>
          <p:nvPr/>
        </p:nvSpPr>
        <p:spPr>
          <a:xfrm>
            <a:off x="6748272" y="1531620"/>
            <a:ext cx="82296" cy="82296"/>
          </a:xfrm>
          <a:prstGeom prst="ellipse">
            <a:avLst/>
          </a:prstGeom>
          <a:solidFill>
            <a:srgbClr val="E0B0AE"/>
          </a:solidFill>
          <a:ln/>
        </p:spPr>
      </p:sp>
      <p:sp>
        <p:nvSpPr>
          <p:cNvPr id="83" name="Shape 81"/>
          <p:cNvSpPr/>
          <p:nvPr/>
        </p:nvSpPr>
        <p:spPr>
          <a:xfrm>
            <a:off x="6876288" y="1531620"/>
            <a:ext cx="82296" cy="82296"/>
          </a:xfrm>
          <a:prstGeom prst="ellipse">
            <a:avLst/>
          </a:prstGeom>
          <a:solidFill>
            <a:srgbClr val="E6D2A8"/>
          </a:solidFill>
          <a:ln/>
        </p:spPr>
      </p:sp>
      <p:sp>
        <p:nvSpPr>
          <p:cNvPr id="84" name="Shape 82"/>
          <p:cNvSpPr/>
          <p:nvPr/>
        </p:nvSpPr>
        <p:spPr>
          <a:xfrm>
            <a:off x="7004304" y="1531620"/>
            <a:ext cx="82296" cy="82296"/>
          </a:xfrm>
          <a:prstGeom prst="ellipse">
            <a:avLst/>
          </a:prstGeom>
          <a:solidFill>
            <a:srgbClr val="B9D4BE"/>
          </a:solidFill>
          <a:ln/>
        </p:spPr>
      </p:sp>
      <p:sp>
        <p:nvSpPr>
          <p:cNvPr id="85" name="Shape 83"/>
          <p:cNvSpPr/>
          <p:nvPr/>
        </p:nvSpPr>
        <p:spPr>
          <a:xfrm>
            <a:off x="7168896" y="1504188"/>
            <a:ext cx="4279392" cy="146304"/>
          </a:xfrm>
          <a:prstGeom prst="roundRect">
            <a:avLst>
              <a:gd name="adj" fmla="val 50000"/>
            </a:avLst>
          </a:prstGeom>
          <a:solidFill>
            <a:srgbClr val="FFFFFF"/>
          </a:solidFill>
          <a:ln/>
        </p:spPr>
      </p:sp>
      <p:sp>
        <p:nvSpPr>
          <p:cNvPr id="86" name="Text 84"/>
          <p:cNvSpPr/>
          <p:nvPr/>
        </p:nvSpPr>
        <p:spPr>
          <a:xfrm>
            <a:off x="7260336" y="1495044"/>
            <a:ext cx="4114800" cy="164592"/>
          </a:xfrm>
          <a:prstGeom prst="rect">
            <a:avLst/>
          </a:prstGeom>
          <a:noFill/>
          <a:ln/>
        </p:spPr>
        <p:txBody>
          <a:bodyPr wrap="square" lIns="0" tIns="0" rIns="0" bIns="0" rtlCol="0" anchor="ctr"/>
          <a:lstStyle/>
          <a:p>
            <a:pPr indent="0" marL="0">
              <a:buNone/>
            </a:pPr>
            <a:r>
              <a:rPr lang="en-US" sz="700" dirty="0">
                <a:solidFill>
                  <a:srgbClr val="7C939B"/>
                </a:solidFill>
                <a:latin typeface="Calibri" pitchFamily="34" charset="0"/>
                <a:ea typeface="Calibri" pitchFamily="34" charset="-122"/>
                <a:cs typeface="Calibri" pitchFamily="34" charset="-120"/>
              </a:rPr>
              <a:t>servicedesk-ai.vercel.app/agent/tickets/SD-1024</a:t>
            </a:r>
            <a:endParaRPr lang="en-US" sz="700" dirty="0"/>
          </a:p>
        </p:txBody>
      </p:sp>
      <p:sp>
        <p:nvSpPr>
          <p:cNvPr id="87" name="Shape 85"/>
          <p:cNvSpPr/>
          <p:nvPr/>
        </p:nvSpPr>
        <p:spPr>
          <a:xfrm>
            <a:off x="6656832" y="1700784"/>
            <a:ext cx="4937760" cy="2798064"/>
          </a:xfrm>
          <a:prstGeom prst="roundRect">
            <a:avLst>
              <a:gd name="adj" fmla="val 980"/>
            </a:avLst>
          </a:prstGeom>
          <a:solidFill>
            <a:srgbClr val="F4F9FA"/>
          </a:solidFill>
          <a:ln/>
        </p:spPr>
      </p:sp>
      <p:sp>
        <p:nvSpPr>
          <p:cNvPr id="88" name="Text 86"/>
          <p:cNvSpPr/>
          <p:nvPr/>
        </p:nvSpPr>
        <p:spPr>
          <a:xfrm>
            <a:off x="6821424" y="1847088"/>
            <a:ext cx="2926080" cy="146304"/>
          </a:xfrm>
          <a:prstGeom prst="rect">
            <a:avLst/>
          </a:prstGeom>
          <a:noFill/>
          <a:ln/>
        </p:spPr>
        <p:txBody>
          <a:bodyPr wrap="square" lIns="0" tIns="0" rIns="0" bIns="0" rtlCol="0" anchor="ctr"/>
          <a:lstStyle/>
          <a:p>
            <a:pPr algn="l" indent="0" marL="0">
              <a:buNone/>
            </a:pPr>
            <a:r>
              <a:rPr lang="en-US" sz="850" b="1" dirty="0">
                <a:solidFill>
                  <a:srgbClr val="0A2E36"/>
                </a:solidFill>
                <a:latin typeface="Calibri" pitchFamily="34" charset="0"/>
                <a:ea typeface="Calibri" pitchFamily="34" charset="-122"/>
                <a:cs typeface="Calibri" pitchFamily="34" charset="-120"/>
              </a:rPr>
              <a:t>SD-1024  ·  Payment deducted, order pending</a:t>
            </a:r>
            <a:endParaRPr lang="en-US" sz="850" dirty="0"/>
          </a:p>
        </p:txBody>
      </p:sp>
      <p:sp>
        <p:nvSpPr>
          <p:cNvPr id="89" name="Shape 87"/>
          <p:cNvSpPr/>
          <p:nvPr/>
        </p:nvSpPr>
        <p:spPr>
          <a:xfrm>
            <a:off x="9966960" y="1828800"/>
            <a:ext cx="658368" cy="182880"/>
          </a:xfrm>
          <a:prstGeom prst="roundRect">
            <a:avLst>
              <a:gd name="adj" fmla="val 20000"/>
            </a:avLst>
          </a:prstGeom>
          <a:solidFill>
            <a:srgbClr val="E8B4B0"/>
          </a:solidFill>
          <a:ln/>
        </p:spPr>
      </p:sp>
      <p:sp>
        <p:nvSpPr>
          <p:cNvPr id="90" name="Text 88"/>
          <p:cNvSpPr/>
          <p:nvPr/>
        </p:nvSpPr>
        <p:spPr>
          <a:xfrm>
            <a:off x="9966960" y="1824228"/>
            <a:ext cx="658368" cy="146304"/>
          </a:xfrm>
          <a:prstGeom prst="rect">
            <a:avLst/>
          </a:prstGeom>
          <a:noFill/>
          <a:ln/>
        </p:spPr>
        <p:txBody>
          <a:bodyPr wrap="square" lIns="0" tIns="0" rIns="0" bIns="0" rtlCol="0" anchor="ctr"/>
          <a:lstStyle/>
          <a:p>
            <a:pPr algn="ctr" indent="0" marL="0">
              <a:buNone/>
            </a:pPr>
            <a:r>
              <a:rPr lang="en-US" sz="600" b="1" dirty="0">
                <a:solidFill>
                  <a:srgbClr val="3A3A3A"/>
                </a:solidFill>
                <a:latin typeface="Calibri" pitchFamily="34" charset="0"/>
                <a:ea typeface="Calibri" pitchFamily="34" charset="-122"/>
                <a:cs typeface="Calibri" pitchFamily="34" charset="-120"/>
              </a:rPr>
              <a:t>HIGH</a:t>
            </a:r>
            <a:endParaRPr lang="en-US" sz="600" dirty="0"/>
          </a:p>
        </p:txBody>
      </p:sp>
      <p:sp>
        <p:nvSpPr>
          <p:cNvPr id="91" name="Shape 89"/>
          <p:cNvSpPr/>
          <p:nvPr/>
        </p:nvSpPr>
        <p:spPr>
          <a:xfrm>
            <a:off x="10698480" y="1828800"/>
            <a:ext cx="731520" cy="182880"/>
          </a:xfrm>
          <a:prstGeom prst="roundRect">
            <a:avLst>
              <a:gd name="adj" fmla="val 20000"/>
            </a:avLst>
          </a:prstGeom>
          <a:solidFill>
            <a:srgbClr val="028090"/>
          </a:solidFill>
          <a:ln/>
        </p:spPr>
      </p:sp>
      <p:sp>
        <p:nvSpPr>
          <p:cNvPr id="92" name="Text 90"/>
          <p:cNvSpPr/>
          <p:nvPr/>
        </p:nvSpPr>
        <p:spPr>
          <a:xfrm>
            <a:off x="10698480" y="1824228"/>
            <a:ext cx="731520" cy="146304"/>
          </a:xfrm>
          <a:prstGeom prst="rect">
            <a:avLst/>
          </a:prstGeom>
          <a:noFill/>
          <a:ln/>
        </p:spPr>
        <p:txBody>
          <a:bodyPr wrap="square" lIns="0" tIns="0" rIns="0" bIns="0" rtlCol="0" anchor="ctr"/>
          <a:lstStyle/>
          <a:p>
            <a:pPr algn="ctr" indent="0" marL="0">
              <a:buNone/>
            </a:pPr>
            <a:r>
              <a:rPr lang="en-US" sz="550" b="1" dirty="0">
                <a:solidFill>
                  <a:srgbClr val="FFFFFF"/>
                </a:solidFill>
                <a:latin typeface="Calibri" pitchFamily="34" charset="0"/>
                <a:ea typeface="Calibri" pitchFamily="34" charset="-122"/>
                <a:cs typeface="Calibri" pitchFamily="34" charset="-120"/>
              </a:rPr>
              <a:t>IN PROGRESS</a:t>
            </a:r>
            <a:endParaRPr lang="en-US" sz="550" dirty="0"/>
          </a:p>
        </p:txBody>
      </p:sp>
      <p:sp>
        <p:nvSpPr>
          <p:cNvPr id="93" name="Shape 91"/>
          <p:cNvSpPr/>
          <p:nvPr/>
        </p:nvSpPr>
        <p:spPr>
          <a:xfrm>
            <a:off x="6821424" y="2103120"/>
            <a:ext cx="2286000" cy="475488"/>
          </a:xfrm>
          <a:prstGeom prst="roundRect">
            <a:avLst>
              <a:gd name="adj" fmla="val 9615"/>
            </a:avLst>
          </a:prstGeom>
          <a:solidFill>
            <a:srgbClr val="FFFFFF"/>
          </a:solidFill>
          <a:ln/>
        </p:spPr>
      </p:sp>
      <p:sp>
        <p:nvSpPr>
          <p:cNvPr id="94" name="Shape 92"/>
          <p:cNvSpPr/>
          <p:nvPr/>
        </p:nvSpPr>
        <p:spPr>
          <a:xfrm>
            <a:off x="6821424" y="2103120"/>
            <a:ext cx="2286000" cy="475488"/>
          </a:xfrm>
          <a:prstGeom prst="roundRect">
            <a:avLst>
              <a:gd name="adj" fmla="val 9615"/>
            </a:avLst>
          </a:prstGeom>
          <a:solidFill>
            <a:srgbClr val="FFFFFF"/>
          </a:solidFill>
          <a:ln w="9525">
            <a:solidFill>
              <a:srgbClr val="D3E3E6"/>
            </a:solidFill>
            <a:prstDash val="solid"/>
          </a:ln>
        </p:spPr>
      </p:sp>
      <p:sp>
        <p:nvSpPr>
          <p:cNvPr id="95" name="Text 93"/>
          <p:cNvSpPr/>
          <p:nvPr/>
        </p:nvSpPr>
        <p:spPr>
          <a:xfrm>
            <a:off x="6894576" y="2157984"/>
            <a:ext cx="1828800" cy="146304"/>
          </a:xfrm>
          <a:prstGeom prst="rect">
            <a:avLst/>
          </a:prstGeom>
          <a:noFill/>
          <a:ln/>
        </p:spPr>
        <p:txBody>
          <a:bodyPr wrap="square" lIns="0" tIns="0" rIns="0" bIns="0" rtlCol="0" anchor="ctr"/>
          <a:lstStyle/>
          <a:p>
            <a:pPr algn="l" indent="0" marL="0">
              <a:buNone/>
            </a:pPr>
            <a:r>
              <a:rPr lang="en-US" sz="550" b="1" dirty="0">
                <a:solidFill>
                  <a:srgbClr val="028090"/>
                </a:solidFill>
                <a:latin typeface="Calibri" pitchFamily="34" charset="0"/>
                <a:ea typeface="Calibri" pitchFamily="34" charset="-122"/>
                <a:cs typeface="Calibri" pitchFamily="34" charset="-120"/>
              </a:rPr>
              <a:t>R. Menon  ·  customer</a:t>
            </a:r>
            <a:endParaRPr lang="en-US" sz="550" dirty="0"/>
          </a:p>
        </p:txBody>
      </p:sp>
      <p:sp>
        <p:nvSpPr>
          <p:cNvPr id="96" name="Text 94"/>
          <p:cNvSpPr/>
          <p:nvPr/>
        </p:nvSpPr>
        <p:spPr>
          <a:xfrm>
            <a:off x="6894576" y="2286000"/>
            <a:ext cx="2194560"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My payment was deducted but my order is</a:t>
            </a:r>
            <a:endParaRPr lang="en-US" sz="600" dirty="0"/>
          </a:p>
        </p:txBody>
      </p:sp>
      <p:sp>
        <p:nvSpPr>
          <p:cNvPr id="97" name="Text 95"/>
          <p:cNvSpPr/>
          <p:nvPr/>
        </p:nvSpPr>
        <p:spPr>
          <a:xfrm>
            <a:off x="6894576" y="2404872"/>
            <a:ext cx="2194560"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still showing pending. Order #4471.</a:t>
            </a:r>
            <a:endParaRPr lang="en-US" sz="600" dirty="0"/>
          </a:p>
        </p:txBody>
      </p:sp>
      <p:sp>
        <p:nvSpPr>
          <p:cNvPr id="98" name="Shape 96"/>
          <p:cNvSpPr/>
          <p:nvPr/>
        </p:nvSpPr>
        <p:spPr>
          <a:xfrm>
            <a:off x="9217152" y="2103120"/>
            <a:ext cx="2212848" cy="2212848"/>
          </a:xfrm>
          <a:prstGeom prst="roundRect">
            <a:avLst>
              <a:gd name="adj" fmla="val 2479"/>
            </a:avLst>
          </a:prstGeom>
          <a:solidFill>
            <a:srgbClr val="EAF6F5"/>
          </a:solidFill>
          <a:ln w="12700">
            <a:solidFill>
              <a:srgbClr val="00A896"/>
            </a:solidFill>
            <a:prstDash val="solid"/>
          </a:ln>
        </p:spPr>
      </p:sp>
      <p:sp>
        <p:nvSpPr>
          <p:cNvPr id="99" name="Shape 97"/>
          <p:cNvSpPr/>
          <p:nvPr/>
        </p:nvSpPr>
        <p:spPr>
          <a:xfrm>
            <a:off x="9308592" y="2176272"/>
            <a:ext cx="182880" cy="182880"/>
          </a:xfrm>
          <a:prstGeom prst="ellipse">
            <a:avLst/>
          </a:prstGeom>
          <a:solidFill>
            <a:srgbClr val="00A896"/>
          </a:solidFill>
          <a:ln/>
        </p:spPr>
      </p:sp>
      <p:sp>
        <p:nvSpPr>
          <p:cNvPr id="100" name="Text 98"/>
          <p:cNvSpPr/>
          <p:nvPr/>
        </p:nvSpPr>
        <p:spPr>
          <a:xfrm>
            <a:off x="9546336" y="2167128"/>
            <a:ext cx="1280160" cy="146304"/>
          </a:xfrm>
          <a:prstGeom prst="rect">
            <a:avLst/>
          </a:prstGeom>
          <a:noFill/>
          <a:ln/>
        </p:spPr>
        <p:txBody>
          <a:bodyPr wrap="square" lIns="0" tIns="0" rIns="0" bIns="0" rtlCol="0" anchor="ctr"/>
          <a:lstStyle/>
          <a:p>
            <a:pPr algn="l" indent="0" marL="0">
              <a:buNone/>
            </a:pPr>
            <a:r>
              <a:rPr lang="en-US" sz="700" b="1" dirty="0">
                <a:solidFill>
                  <a:srgbClr val="0A2E36"/>
                </a:solidFill>
                <a:latin typeface="Calibri" pitchFamily="34" charset="0"/>
                <a:ea typeface="Calibri" pitchFamily="34" charset="-122"/>
                <a:cs typeface="Calibri" pitchFamily="34" charset="-120"/>
              </a:rPr>
              <a:t>AI Assistance</a:t>
            </a:r>
            <a:endParaRPr lang="en-US" sz="700" dirty="0"/>
          </a:p>
        </p:txBody>
      </p:sp>
      <p:sp>
        <p:nvSpPr>
          <p:cNvPr id="101" name="Text 99"/>
          <p:cNvSpPr/>
          <p:nvPr/>
        </p:nvSpPr>
        <p:spPr>
          <a:xfrm>
            <a:off x="9546336" y="2286000"/>
            <a:ext cx="1463040" cy="146304"/>
          </a:xfrm>
          <a:prstGeom prst="rect">
            <a:avLst/>
          </a:prstGeom>
          <a:noFill/>
          <a:ln/>
        </p:spPr>
        <p:txBody>
          <a:bodyPr wrap="square" lIns="0" tIns="0" rIns="0" bIns="0" rtlCol="0" anchor="ctr"/>
          <a:lstStyle/>
          <a:p>
            <a:pPr algn="l" indent="0" marL="0">
              <a:buNone/>
            </a:pPr>
            <a:r>
              <a:rPr lang="en-US" sz="550" dirty="0">
                <a:solidFill>
                  <a:srgbClr val="7C939B"/>
                </a:solidFill>
                <a:latin typeface="Calibri" pitchFamily="34" charset="0"/>
                <a:ea typeface="Calibri" pitchFamily="34" charset="-122"/>
                <a:cs typeface="Calibri" pitchFamily="34" charset="-120"/>
              </a:rPr>
              <a:t>review before sending</a:t>
            </a:r>
            <a:endParaRPr lang="en-US" sz="550" dirty="0"/>
          </a:p>
        </p:txBody>
      </p:sp>
      <p:sp>
        <p:nvSpPr>
          <p:cNvPr id="102" name="Text 100"/>
          <p:cNvSpPr/>
          <p:nvPr/>
        </p:nvSpPr>
        <p:spPr>
          <a:xfrm>
            <a:off x="9308592" y="2487168"/>
            <a:ext cx="640080"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Category</a:t>
            </a:r>
            <a:endParaRPr lang="en-US" sz="600" dirty="0"/>
          </a:p>
        </p:txBody>
      </p:sp>
      <p:sp>
        <p:nvSpPr>
          <p:cNvPr id="103" name="Text 101"/>
          <p:cNvSpPr/>
          <p:nvPr/>
        </p:nvSpPr>
        <p:spPr>
          <a:xfrm>
            <a:off x="9966960" y="2487168"/>
            <a:ext cx="914400" cy="146304"/>
          </a:xfrm>
          <a:prstGeom prst="rect">
            <a:avLst/>
          </a:prstGeom>
          <a:noFill/>
          <a:ln/>
        </p:spPr>
        <p:txBody>
          <a:bodyPr wrap="square" lIns="0" tIns="0" rIns="0" bIns="0" rtlCol="0" anchor="ctr"/>
          <a:lstStyle/>
          <a:p>
            <a:pPr algn="l" indent="0" marL="0">
              <a:buNone/>
            </a:pPr>
            <a:r>
              <a:rPr lang="en-US" sz="600" b="1" dirty="0">
                <a:solidFill>
                  <a:srgbClr val="0A2E36"/>
                </a:solidFill>
                <a:latin typeface="Calibri" pitchFamily="34" charset="0"/>
                <a:ea typeface="Calibri" pitchFamily="34" charset="-122"/>
                <a:cs typeface="Calibri" pitchFamily="34" charset="-120"/>
              </a:rPr>
              <a:t>Billing</a:t>
            </a:r>
            <a:endParaRPr lang="en-US" sz="600" dirty="0"/>
          </a:p>
        </p:txBody>
      </p:sp>
      <p:sp>
        <p:nvSpPr>
          <p:cNvPr id="104" name="Text 102"/>
          <p:cNvSpPr/>
          <p:nvPr/>
        </p:nvSpPr>
        <p:spPr>
          <a:xfrm>
            <a:off x="9308592" y="2651760"/>
            <a:ext cx="640080"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Priority</a:t>
            </a:r>
            <a:endParaRPr lang="en-US" sz="600" dirty="0"/>
          </a:p>
        </p:txBody>
      </p:sp>
      <p:sp>
        <p:nvSpPr>
          <p:cNvPr id="105" name="Text 103"/>
          <p:cNvSpPr/>
          <p:nvPr/>
        </p:nvSpPr>
        <p:spPr>
          <a:xfrm>
            <a:off x="9966960" y="2651760"/>
            <a:ext cx="914400" cy="146304"/>
          </a:xfrm>
          <a:prstGeom prst="rect">
            <a:avLst/>
          </a:prstGeom>
          <a:noFill/>
          <a:ln/>
        </p:spPr>
        <p:txBody>
          <a:bodyPr wrap="square" lIns="0" tIns="0" rIns="0" bIns="0" rtlCol="0" anchor="ctr"/>
          <a:lstStyle/>
          <a:p>
            <a:pPr algn="l" indent="0" marL="0">
              <a:buNone/>
            </a:pPr>
            <a:r>
              <a:rPr lang="en-US" sz="600" b="1" dirty="0">
                <a:solidFill>
                  <a:srgbClr val="0A2E36"/>
                </a:solidFill>
                <a:latin typeface="Calibri" pitchFamily="34" charset="0"/>
                <a:ea typeface="Calibri" pitchFamily="34" charset="-122"/>
                <a:cs typeface="Calibri" pitchFamily="34" charset="-120"/>
              </a:rPr>
              <a:t>High</a:t>
            </a:r>
            <a:endParaRPr lang="en-US" sz="600" dirty="0"/>
          </a:p>
        </p:txBody>
      </p:sp>
      <p:sp>
        <p:nvSpPr>
          <p:cNvPr id="106" name="Text 104"/>
          <p:cNvSpPr/>
          <p:nvPr/>
        </p:nvSpPr>
        <p:spPr>
          <a:xfrm>
            <a:off x="9308592" y="2816352"/>
            <a:ext cx="640080"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Sentiment</a:t>
            </a:r>
            <a:endParaRPr lang="en-US" sz="600" dirty="0"/>
          </a:p>
        </p:txBody>
      </p:sp>
      <p:sp>
        <p:nvSpPr>
          <p:cNvPr id="107" name="Text 105"/>
          <p:cNvSpPr/>
          <p:nvPr/>
        </p:nvSpPr>
        <p:spPr>
          <a:xfrm>
            <a:off x="9966960" y="2816352"/>
            <a:ext cx="914400" cy="146304"/>
          </a:xfrm>
          <a:prstGeom prst="rect">
            <a:avLst/>
          </a:prstGeom>
          <a:noFill/>
          <a:ln/>
        </p:spPr>
        <p:txBody>
          <a:bodyPr wrap="square" lIns="0" tIns="0" rIns="0" bIns="0" rtlCol="0" anchor="ctr"/>
          <a:lstStyle/>
          <a:p>
            <a:pPr algn="l" indent="0" marL="0">
              <a:buNone/>
            </a:pPr>
            <a:r>
              <a:rPr lang="en-US" sz="600" b="1" dirty="0">
                <a:solidFill>
                  <a:srgbClr val="0A2E36"/>
                </a:solidFill>
                <a:latin typeface="Calibri" pitchFamily="34" charset="0"/>
                <a:ea typeface="Calibri" pitchFamily="34" charset="-122"/>
                <a:cs typeface="Calibri" pitchFamily="34" charset="-120"/>
              </a:rPr>
              <a:t>Negative</a:t>
            </a:r>
            <a:endParaRPr lang="en-US" sz="600" dirty="0"/>
          </a:p>
        </p:txBody>
      </p:sp>
      <p:sp>
        <p:nvSpPr>
          <p:cNvPr id="108" name="Text 106"/>
          <p:cNvSpPr/>
          <p:nvPr/>
        </p:nvSpPr>
        <p:spPr>
          <a:xfrm>
            <a:off x="9308592" y="3017520"/>
            <a:ext cx="914400"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Summary</a:t>
            </a:r>
            <a:endParaRPr lang="en-US" sz="600" dirty="0"/>
          </a:p>
        </p:txBody>
      </p:sp>
      <p:sp>
        <p:nvSpPr>
          <p:cNvPr id="109" name="Text 107"/>
          <p:cNvSpPr/>
          <p:nvPr/>
        </p:nvSpPr>
        <p:spPr>
          <a:xfrm>
            <a:off x="9308592" y="3136392"/>
            <a:ext cx="2103120" cy="146304"/>
          </a:xfrm>
          <a:prstGeom prst="rect">
            <a:avLst/>
          </a:prstGeom>
          <a:noFill/>
          <a:ln/>
        </p:spPr>
        <p:txBody>
          <a:bodyPr wrap="square" lIns="0" tIns="0" rIns="0" bIns="0" rtlCol="0" anchor="ctr"/>
          <a:lstStyle/>
          <a:p>
            <a:pPr algn="l" indent="0" marL="0">
              <a:buNone/>
            </a:pPr>
            <a:r>
              <a:rPr lang="en-US" sz="550" dirty="0">
                <a:solidFill>
                  <a:srgbClr val="0A2E36"/>
                </a:solidFill>
                <a:latin typeface="Calibri" pitchFamily="34" charset="0"/>
                <a:ea typeface="Calibri" pitchFamily="34" charset="-122"/>
                <a:cs typeface="Calibri" pitchFamily="34" charset="-120"/>
              </a:rPr>
              <a:t>Payment completed but order status</a:t>
            </a:r>
            <a:endParaRPr lang="en-US" sz="550" dirty="0"/>
          </a:p>
        </p:txBody>
      </p:sp>
      <p:sp>
        <p:nvSpPr>
          <p:cNvPr id="110" name="Text 108"/>
          <p:cNvSpPr/>
          <p:nvPr/>
        </p:nvSpPr>
        <p:spPr>
          <a:xfrm>
            <a:off x="9308592" y="3246120"/>
            <a:ext cx="2103120" cy="146304"/>
          </a:xfrm>
          <a:prstGeom prst="rect">
            <a:avLst/>
          </a:prstGeom>
          <a:noFill/>
          <a:ln/>
        </p:spPr>
        <p:txBody>
          <a:bodyPr wrap="square" lIns="0" tIns="0" rIns="0" bIns="0" rtlCol="0" anchor="ctr"/>
          <a:lstStyle/>
          <a:p>
            <a:pPr algn="l" indent="0" marL="0">
              <a:buNone/>
            </a:pPr>
            <a:r>
              <a:rPr lang="en-US" sz="550" dirty="0">
                <a:solidFill>
                  <a:srgbClr val="0A2E36"/>
                </a:solidFill>
                <a:latin typeface="Calibri" pitchFamily="34" charset="0"/>
                <a:ea typeface="Calibri" pitchFamily="34" charset="-122"/>
                <a:cs typeface="Calibri" pitchFamily="34" charset="-120"/>
              </a:rPr>
              <a:t>remains pending.</a:t>
            </a:r>
            <a:endParaRPr lang="en-US" sz="550" dirty="0"/>
          </a:p>
        </p:txBody>
      </p:sp>
      <p:sp>
        <p:nvSpPr>
          <p:cNvPr id="111" name="Text 109"/>
          <p:cNvSpPr/>
          <p:nvPr/>
        </p:nvSpPr>
        <p:spPr>
          <a:xfrm>
            <a:off x="9308592" y="3410712"/>
            <a:ext cx="1645920"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Suggested reply — editable</a:t>
            </a:r>
            <a:endParaRPr lang="en-US" sz="600" dirty="0"/>
          </a:p>
        </p:txBody>
      </p:sp>
      <p:sp>
        <p:nvSpPr>
          <p:cNvPr id="112" name="Shape 110"/>
          <p:cNvSpPr/>
          <p:nvPr/>
        </p:nvSpPr>
        <p:spPr>
          <a:xfrm>
            <a:off x="9308592" y="3529584"/>
            <a:ext cx="2029968" cy="457200"/>
          </a:xfrm>
          <a:prstGeom prst="roundRect">
            <a:avLst>
              <a:gd name="adj" fmla="val 8000"/>
            </a:avLst>
          </a:prstGeom>
          <a:solidFill>
            <a:srgbClr val="FFFFFF"/>
          </a:solidFill>
          <a:ln/>
        </p:spPr>
      </p:sp>
      <p:sp>
        <p:nvSpPr>
          <p:cNvPr id="113" name="Text 111"/>
          <p:cNvSpPr/>
          <p:nvPr/>
        </p:nvSpPr>
        <p:spPr>
          <a:xfrm>
            <a:off x="9363456" y="3575304"/>
            <a:ext cx="1920240" cy="146304"/>
          </a:xfrm>
          <a:prstGeom prst="rect">
            <a:avLst/>
          </a:prstGeom>
          <a:noFill/>
          <a:ln/>
        </p:spPr>
        <p:txBody>
          <a:bodyPr wrap="square" lIns="0" tIns="0" rIns="0" bIns="0" rtlCol="0" anchor="ctr"/>
          <a:lstStyle/>
          <a:p>
            <a:pPr algn="l" indent="0" marL="0">
              <a:buNone/>
            </a:pPr>
            <a:r>
              <a:rPr lang="en-US" sz="550" dirty="0">
                <a:solidFill>
                  <a:srgbClr val="445C64"/>
                </a:solidFill>
                <a:latin typeface="Calibri" pitchFamily="34" charset="0"/>
                <a:ea typeface="Calibri" pitchFamily="34" charset="-122"/>
                <a:cs typeface="Calibri" pitchFamily="34" charset="-120"/>
              </a:rPr>
              <a:t>Hi Rahul, thanks for reaching out. I can</a:t>
            </a:r>
            <a:endParaRPr lang="en-US" sz="550" dirty="0"/>
          </a:p>
        </p:txBody>
      </p:sp>
      <p:sp>
        <p:nvSpPr>
          <p:cNvPr id="114" name="Text 112"/>
          <p:cNvSpPr/>
          <p:nvPr/>
        </p:nvSpPr>
        <p:spPr>
          <a:xfrm>
            <a:off x="9363456" y="3675888"/>
            <a:ext cx="1920240" cy="146304"/>
          </a:xfrm>
          <a:prstGeom prst="rect">
            <a:avLst/>
          </a:prstGeom>
          <a:noFill/>
          <a:ln/>
        </p:spPr>
        <p:txBody>
          <a:bodyPr wrap="square" lIns="0" tIns="0" rIns="0" bIns="0" rtlCol="0" anchor="ctr"/>
          <a:lstStyle/>
          <a:p>
            <a:pPr algn="l" indent="0" marL="0">
              <a:buNone/>
            </a:pPr>
            <a:r>
              <a:rPr lang="en-US" sz="550" dirty="0">
                <a:solidFill>
                  <a:srgbClr val="445C64"/>
                </a:solidFill>
                <a:latin typeface="Calibri" pitchFamily="34" charset="0"/>
                <a:ea typeface="Calibri" pitchFamily="34" charset="-122"/>
                <a:cs typeface="Calibri" pitchFamily="34" charset="-120"/>
              </a:rPr>
              <a:t>see payment for order #4471 was</a:t>
            </a:r>
            <a:endParaRPr lang="en-US" sz="550" dirty="0"/>
          </a:p>
        </p:txBody>
      </p:sp>
      <p:sp>
        <p:nvSpPr>
          <p:cNvPr id="115" name="Text 113"/>
          <p:cNvSpPr/>
          <p:nvPr/>
        </p:nvSpPr>
        <p:spPr>
          <a:xfrm>
            <a:off x="9363456" y="3776472"/>
            <a:ext cx="1920240" cy="146304"/>
          </a:xfrm>
          <a:prstGeom prst="rect">
            <a:avLst/>
          </a:prstGeom>
          <a:noFill/>
          <a:ln/>
        </p:spPr>
        <p:txBody>
          <a:bodyPr wrap="square" lIns="0" tIns="0" rIns="0" bIns="0" rtlCol="0" anchor="ctr"/>
          <a:lstStyle/>
          <a:p>
            <a:pPr algn="l" indent="0" marL="0">
              <a:buNone/>
            </a:pPr>
            <a:r>
              <a:rPr lang="en-US" sz="550" dirty="0">
                <a:solidFill>
                  <a:srgbClr val="445C64"/>
                </a:solidFill>
                <a:latin typeface="Calibri" pitchFamily="34" charset="0"/>
                <a:ea typeface="Calibri" pitchFamily="34" charset="-122"/>
                <a:cs typeface="Calibri" pitchFamily="34" charset="-120"/>
              </a:rPr>
              <a:t>received. I'm escalating this now…</a:t>
            </a:r>
            <a:endParaRPr lang="en-US" sz="550" dirty="0"/>
          </a:p>
        </p:txBody>
      </p:sp>
      <p:sp>
        <p:nvSpPr>
          <p:cNvPr id="116" name="Shape 114"/>
          <p:cNvSpPr/>
          <p:nvPr/>
        </p:nvSpPr>
        <p:spPr>
          <a:xfrm>
            <a:off x="9308592" y="4041648"/>
            <a:ext cx="731520" cy="182880"/>
          </a:xfrm>
          <a:prstGeom prst="roundRect">
            <a:avLst>
              <a:gd name="adj" fmla="val 20000"/>
            </a:avLst>
          </a:prstGeom>
          <a:solidFill>
            <a:srgbClr val="028090"/>
          </a:solidFill>
          <a:ln/>
        </p:spPr>
      </p:sp>
      <p:sp>
        <p:nvSpPr>
          <p:cNvPr id="117" name="Text 115"/>
          <p:cNvSpPr/>
          <p:nvPr/>
        </p:nvSpPr>
        <p:spPr>
          <a:xfrm>
            <a:off x="9308592" y="4037076"/>
            <a:ext cx="731520" cy="146304"/>
          </a:xfrm>
          <a:prstGeom prst="rect">
            <a:avLst/>
          </a:prstGeom>
          <a:noFill/>
          <a:ln/>
        </p:spPr>
        <p:txBody>
          <a:bodyPr wrap="square" lIns="0" tIns="0" rIns="0" bIns="0" rtlCol="0" anchor="ctr"/>
          <a:lstStyle/>
          <a:p>
            <a:pPr algn="ctr" indent="0" marL="0">
              <a:buNone/>
            </a:pPr>
            <a:r>
              <a:rPr lang="en-US" sz="600" b="1" dirty="0">
                <a:solidFill>
                  <a:srgbClr val="FFFFFF"/>
                </a:solidFill>
                <a:latin typeface="Calibri" pitchFamily="34" charset="0"/>
                <a:ea typeface="Calibri" pitchFamily="34" charset="-122"/>
                <a:cs typeface="Calibri" pitchFamily="34" charset="-120"/>
              </a:rPr>
              <a:t>Insert</a:t>
            </a:r>
            <a:endParaRPr lang="en-US" sz="600" dirty="0"/>
          </a:p>
        </p:txBody>
      </p:sp>
      <p:sp>
        <p:nvSpPr>
          <p:cNvPr id="118" name="Shape 116"/>
          <p:cNvSpPr/>
          <p:nvPr/>
        </p:nvSpPr>
        <p:spPr>
          <a:xfrm>
            <a:off x="10113264" y="4041648"/>
            <a:ext cx="731520" cy="182880"/>
          </a:xfrm>
          <a:prstGeom prst="roundRect">
            <a:avLst>
              <a:gd name="adj" fmla="val 20000"/>
            </a:avLst>
          </a:prstGeom>
          <a:solidFill>
            <a:srgbClr val="FFFFFF"/>
          </a:solidFill>
          <a:ln w="9525">
            <a:solidFill>
              <a:srgbClr val="00A896"/>
            </a:solidFill>
            <a:prstDash val="solid"/>
          </a:ln>
        </p:spPr>
      </p:sp>
      <p:sp>
        <p:nvSpPr>
          <p:cNvPr id="119" name="Text 117"/>
          <p:cNvSpPr/>
          <p:nvPr/>
        </p:nvSpPr>
        <p:spPr>
          <a:xfrm>
            <a:off x="10113264" y="4037076"/>
            <a:ext cx="731520" cy="146304"/>
          </a:xfrm>
          <a:prstGeom prst="rect">
            <a:avLst/>
          </a:prstGeom>
          <a:noFill/>
          <a:ln/>
        </p:spPr>
        <p:txBody>
          <a:bodyPr wrap="square" lIns="0" tIns="0" rIns="0" bIns="0" rtlCol="0" anchor="ctr"/>
          <a:lstStyle/>
          <a:p>
            <a:pPr algn="ctr" indent="0" marL="0">
              <a:buNone/>
            </a:pPr>
            <a:r>
              <a:rPr lang="en-US" sz="550" b="1" dirty="0">
                <a:solidFill>
                  <a:srgbClr val="028090"/>
                </a:solidFill>
                <a:latin typeface="Calibri" pitchFamily="34" charset="0"/>
                <a:ea typeface="Calibri" pitchFamily="34" charset="-122"/>
                <a:cs typeface="Calibri" pitchFamily="34" charset="-120"/>
              </a:rPr>
              <a:t>Regenerate</a:t>
            </a:r>
            <a:endParaRPr lang="en-US" sz="550" dirty="0"/>
          </a:p>
        </p:txBody>
      </p:sp>
      <p:sp>
        <p:nvSpPr>
          <p:cNvPr id="120" name="Text 118"/>
          <p:cNvSpPr/>
          <p:nvPr/>
        </p:nvSpPr>
        <p:spPr>
          <a:xfrm>
            <a:off x="6821424" y="2688336"/>
            <a:ext cx="914400"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Your reply</a:t>
            </a:r>
            <a:endParaRPr lang="en-US" sz="600" dirty="0"/>
          </a:p>
        </p:txBody>
      </p:sp>
      <p:sp>
        <p:nvSpPr>
          <p:cNvPr id="121" name="Shape 119"/>
          <p:cNvSpPr/>
          <p:nvPr/>
        </p:nvSpPr>
        <p:spPr>
          <a:xfrm>
            <a:off x="6821424" y="2816352"/>
            <a:ext cx="2286000" cy="1097280"/>
          </a:xfrm>
          <a:prstGeom prst="roundRect">
            <a:avLst>
              <a:gd name="adj" fmla="val 4167"/>
            </a:avLst>
          </a:prstGeom>
          <a:solidFill>
            <a:srgbClr val="FFFFFF"/>
          </a:solidFill>
          <a:ln/>
        </p:spPr>
      </p:sp>
      <p:sp>
        <p:nvSpPr>
          <p:cNvPr id="122" name="Shape 120"/>
          <p:cNvSpPr/>
          <p:nvPr/>
        </p:nvSpPr>
        <p:spPr>
          <a:xfrm>
            <a:off x="6821424" y="2816352"/>
            <a:ext cx="2286000" cy="1097280"/>
          </a:xfrm>
          <a:prstGeom prst="roundRect">
            <a:avLst>
              <a:gd name="adj" fmla="val 4167"/>
            </a:avLst>
          </a:prstGeom>
          <a:solidFill>
            <a:srgbClr val="FFFFFF"/>
          </a:solidFill>
          <a:ln w="9525">
            <a:solidFill>
              <a:srgbClr val="D3E3E6"/>
            </a:solidFill>
            <a:prstDash val="solid"/>
          </a:ln>
        </p:spPr>
      </p:sp>
      <p:sp>
        <p:nvSpPr>
          <p:cNvPr id="123" name="Shape 121"/>
          <p:cNvSpPr/>
          <p:nvPr/>
        </p:nvSpPr>
        <p:spPr>
          <a:xfrm>
            <a:off x="6821424" y="4005072"/>
            <a:ext cx="786384" cy="219456"/>
          </a:xfrm>
          <a:prstGeom prst="roundRect">
            <a:avLst>
              <a:gd name="adj" fmla="val 20833"/>
            </a:avLst>
          </a:prstGeom>
          <a:solidFill>
            <a:srgbClr val="028090"/>
          </a:solidFill>
          <a:ln/>
        </p:spPr>
      </p:sp>
      <p:sp>
        <p:nvSpPr>
          <p:cNvPr id="124" name="Text 122"/>
          <p:cNvSpPr/>
          <p:nvPr/>
        </p:nvSpPr>
        <p:spPr>
          <a:xfrm>
            <a:off x="6821424" y="4005072"/>
            <a:ext cx="786384" cy="146304"/>
          </a:xfrm>
          <a:prstGeom prst="rect">
            <a:avLst/>
          </a:prstGeom>
          <a:noFill/>
          <a:ln/>
        </p:spPr>
        <p:txBody>
          <a:bodyPr wrap="square" lIns="0" tIns="0" rIns="0" bIns="0" rtlCol="0" anchor="ctr"/>
          <a:lstStyle/>
          <a:p>
            <a:pPr algn="ctr" indent="0" marL="0">
              <a:buNone/>
            </a:pPr>
            <a:r>
              <a:rPr lang="en-US" sz="650" b="1" dirty="0">
                <a:solidFill>
                  <a:srgbClr val="FFFFFF"/>
                </a:solidFill>
                <a:latin typeface="Calibri" pitchFamily="34" charset="0"/>
                <a:ea typeface="Calibri" pitchFamily="34" charset="-122"/>
                <a:cs typeface="Calibri" pitchFamily="34" charset="-120"/>
              </a:rPr>
              <a:t>Send reply</a:t>
            </a:r>
            <a:endParaRPr lang="en-US" sz="650" dirty="0"/>
          </a:p>
        </p:txBody>
      </p:sp>
      <p:sp>
        <p:nvSpPr>
          <p:cNvPr id="125" name="Shape 123"/>
          <p:cNvSpPr/>
          <p:nvPr/>
        </p:nvSpPr>
        <p:spPr>
          <a:xfrm>
            <a:off x="7680960" y="4005072"/>
            <a:ext cx="822960" cy="219456"/>
          </a:xfrm>
          <a:prstGeom prst="roundRect">
            <a:avLst>
              <a:gd name="adj" fmla="val 20833"/>
            </a:avLst>
          </a:prstGeom>
          <a:solidFill>
            <a:srgbClr val="FFFFFF"/>
          </a:solidFill>
          <a:ln w="9525">
            <a:solidFill>
              <a:srgbClr val="D3E3E6"/>
            </a:solidFill>
            <a:prstDash val="solid"/>
          </a:ln>
        </p:spPr>
      </p:sp>
      <p:sp>
        <p:nvSpPr>
          <p:cNvPr id="126" name="Text 124"/>
          <p:cNvSpPr/>
          <p:nvPr/>
        </p:nvSpPr>
        <p:spPr>
          <a:xfrm>
            <a:off x="7680960" y="4005072"/>
            <a:ext cx="822960" cy="146304"/>
          </a:xfrm>
          <a:prstGeom prst="rect">
            <a:avLst/>
          </a:prstGeom>
          <a:noFill/>
          <a:ln/>
        </p:spPr>
        <p:txBody>
          <a:bodyPr wrap="square" lIns="0" tIns="0" rIns="0" bIns="0" rtlCol="0" anchor="ctr"/>
          <a:lstStyle/>
          <a:p>
            <a:pPr algn="ctr" indent="0" marL="0">
              <a:buNone/>
            </a:pPr>
            <a:r>
              <a:rPr lang="en-US" sz="600" dirty="0">
                <a:solidFill>
                  <a:srgbClr val="7C939B"/>
                </a:solidFill>
                <a:latin typeface="Calibri" pitchFamily="34" charset="0"/>
                <a:ea typeface="Calibri" pitchFamily="34" charset="-122"/>
                <a:cs typeface="Calibri" pitchFamily="34" charset="-120"/>
              </a:rPr>
              <a:t>Internal note</a:t>
            </a:r>
            <a:endParaRPr lang="en-US" sz="600" dirty="0"/>
          </a:p>
        </p:txBody>
      </p:sp>
      <p:sp>
        <p:nvSpPr>
          <p:cNvPr id="127" name="Text 125"/>
          <p:cNvSpPr/>
          <p:nvPr/>
        </p:nvSpPr>
        <p:spPr>
          <a:xfrm>
            <a:off x="6656832" y="4645152"/>
            <a:ext cx="4937760" cy="237744"/>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Ticket Detail with AI Assistance Panel</a:t>
            </a:r>
            <a:endParaRPr lang="en-US" sz="1300" dirty="0"/>
          </a:p>
        </p:txBody>
      </p:sp>
      <p:sp>
        <p:nvSpPr>
          <p:cNvPr id="128" name="Text 126"/>
          <p:cNvSpPr/>
          <p:nvPr/>
        </p:nvSpPr>
        <p:spPr>
          <a:xfrm>
            <a:off x="6656832" y="4882896"/>
            <a:ext cx="4937760" cy="640080"/>
          </a:xfrm>
          <a:prstGeom prst="rect">
            <a:avLst/>
          </a:prstGeom>
          <a:noFill/>
          <a:ln/>
        </p:spPr>
        <p:txBody>
          <a:bodyPr wrap="square" lIns="0" tIns="0" rIns="0" bIns="0" rtlCol="0" anchor="t"/>
          <a:lstStyle/>
          <a:p>
            <a:pPr indent="0" marL="0">
              <a:lnSpc>
                <a:spcPts val="1300"/>
              </a:lnSpc>
              <a:buNone/>
            </a:pPr>
            <a:r>
              <a:rPr lang="en-US" sz="1100" dirty="0">
                <a:solidFill>
                  <a:srgbClr val="7C939B"/>
                </a:solidFill>
                <a:latin typeface="Calibri" pitchFamily="34" charset="0"/>
                <a:ea typeface="Calibri" pitchFamily="34" charset="-122"/>
                <a:cs typeface="Calibri" pitchFamily="34" charset="-120"/>
              </a:rPr>
              <a:t>The AI proposes classification, a summary and a draft reply. Nothing is sent automatically — the agent inserts the draft into their own reply box, edits it, and sends.</a:t>
            </a:r>
            <a:endParaRPr lang="en-US" sz="1100" dirty="0"/>
          </a:p>
        </p:txBody>
      </p:sp>
      <p:sp>
        <p:nvSpPr>
          <p:cNvPr id="129" name="Text 127"/>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130" name="Text 128"/>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REVIEW 1 · DELIVERABLE 8</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UI Mockups — Admin</a:t>
            </a:r>
            <a:endParaRPr lang="en-US" sz="3000" dirty="0"/>
          </a:p>
        </p:txBody>
      </p:sp>
      <p:sp>
        <p:nvSpPr>
          <p:cNvPr id="4" name="Shape 2"/>
          <p:cNvSpPr/>
          <p:nvPr/>
        </p:nvSpPr>
        <p:spPr>
          <a:xfrm>
            <a:off x="566928" y="1444752"/>
            <a:ext cx="6766560" cy="3712464"/>
          </a:xfrm>
          <a:prstGeom prst="roundRect">
            <a:avLst>
              <a:gd name="adj" fmla="val 1232"/>
            </a:avLst>
          </a:prstGeom>
          <a:solidFill>
            <a:srgbClr val="FFFFFF"/>
          </a:solidFill>
          <a:ln w="12700">
            <a:solidFill>
              <a:srgbClr val="C2D4D8"/>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566928" y="1444752"/>
            <a:ext cx="6766560" cy="256032"/>
          </a:xfrm>
          <a:prstGeom prst="rect">
            <a:avLst/>
          </a:prstGeom>
          <a:solidFill>
            <a:srgbClr val="E8F0F2"/>
          </a:solidFill>
          <a:ln/>
        </p:spPr>
      </p:sp>
      <p:sp>
        <p:nvSpPr>
          <p:cNvPr id="6" name="Shape 4"/>
          <p:cNvSpPr/>
          <p:nvPr/>
        </p:nvSpPr>
        <p:spPr>
          <a:xfrm>
            <a:off x="658368" y="1531620"/>
            <a:ext cx="82296" cy="82296"/>
          </a:xfrm>
          <a:prstGeom prst="ellipse">
            <a:avLst/>
          </a:prstGeom>
          <a:solidFill>
            <a:srgbClr val="E0B0AE"/>
          </a:solidFill>
          <a:ln/>
        </p:spPr>
      </p:sp>
      <p:sp>
        <p:nvSpPr>
          <p:cNvPr id="7" name="Shape 5"/>
          <p:cNvSpPr/>
          <p:nvPr/>
        </p:nvSpPr>
        <p:spPr>
          <a:xfrm>
            <a:off x="786384" y="1531620"/>
            <a:ext cx="82296" cy="82296"/>
          </a:xfrm>
          <a:prstGeom prst="ellipse">
            <a:avLst/>
          </a:prstGeom>
          <a:solidFill>
            <a:srgbClr val="E6D2A8"/>
          </a:solidFill>
          <a:ln/>
        </p:spPr>
      </p:sp>
      <p:sp>
        <p:nvSpPr>
          <p:cNvPr id="8" name="Shape 6"/>
          <p:cNvSpPr/>
          <p:nvPr/>
        </p:nvSpPr>
        <p:spPr>
          <a:xfrm>
            <a:off x="914400" y="1531620"/>
            <a:ext cx="82296" cy="82296"/>
          </a:xfrm>
          <a:prstGeom prst="ellipse">
            <a:avLst/>
          </a:prstGeom>
          <a:solidFill>
            <a:srgbClr val="B9D4BE"/>
          </a:solidFill>
          <a:ln/>
        </p:spPr>
      </p:sp>
      <p:sp>
        <p:nvSpPr>
          <p:cNvPr id="9" name="Shape 7"/>
          <p:cNvSpPr/>
          <p:nvPr/>
        </p:nvSpPr>
        <p:spPr>
          <a:xfrm>
            <a:off x="1078992" y="1504188"/>
            <a:ext cx="6108192" cy="146304"/>
          </a:xfrm>
          <a:prstGeom prst="roundRect">
            <a:avLst>
              <a:gd name="adj" fmla="val 50000"/>
            </a:avLst>
          </a:prstGeom>
          <a:solidFill>
            <a:srgbClr val="FFFFFF"/>
          </a:solidFill>
          <a:ln/>
        </p:spPr>
      </p:sp>
      <p:sp>
        <p:nvSpPr>
          <p:cNvPr id="10" name="Text 8"/>
          <p:cNvSpPr/>
          <p:nvPr/>
        </p:nvSpPr>
        <p:spPr>
          <a:xfrm>
            <a:off x="1170432" y="1495044"/>
            <a:ext cx="5943600" cy="164592"/>
          </a:xfrm>
          <a:prstGeom prst="rect">
            <a:avLst/>
          </a:prstGeom>
          <a:noFill/>
          <a:ln/>
        </p:spPr>
        <p:txBody>
          <a:bodyPr wrap="square" lIns="0" tIns="0" rIns="0" bIns="0" rtlCol="0" anchor="ctr"/>
          <a:lstStyle/>
          <a:p>
            <a:pPr indent="0" marL="0">
              <a:buNone/>
            </a:pPr>
            <a:r>
              <a:rPr lang="en-US" sz="700" dirty="0">
                <a:solidFill>
                  <a:srgbClr val="7C939B"/>
                </a:solidFill>
                <a:latin typeface="Calibri" pitchFamily="34" charset="0"/>
                <a:ea typeface="Calibri" pitchFamily="34" charset="-122"/>
                <a:cs typeface="Calibri" pitchFamily="34" charset="-120"/>
              </a:rPr>
              <a:t>servicedesk-ai.vercel.app/admin/dashboard</a:t>
            </a:r>
            <a:endParaRPr lang="en-US" sz="700" dirty="0"/>
          </a:p>
        </p:txBody>
      </p:sp>
      <p:sp>
        <p:nvSpPr>
          <p:cNvPr id="11" name="Shape 9"/>
          <p:cNvSpPr/>
          <p:nvPr/>
        </p:nvSpPr>
        <p:spPr>
          <a:xfrm>
            <a:off x="566928" y="1700784"/>
            <a:ext cx="6766560" cy="3456432"/>
          </a:xfrm>
          <a:prstGeom prst="roundRect">
            <a:avLst>
              <a:gd name="adj" fmla="val 794"/>
            </a:avLst>
          </a:prstGeom>
          <a:solidFill>
            <a:srgbClr val="F4F9FA"/>
          </a:solidFill>
          <a:ln/>
        </p:spPr>
      </p:sp>
      <p:sp>
        <p:nvSpPr>
          <p:cNvPr id="12" name="Shape 10"/>
          <p:cNvSpPr/>
          <p:nvPr/>
        </p:nvSpPr>
        <p:spPr>
          <a:xfrm>
            <a:off x="566928" y="1700784"/>
            <a:ext cx="822960" cy="3456432"/>
          </a:xfrm>
          <a:prstGeom prst="roundRect">
            <a:avLst>
              <a:gd name="adj" fmla="val 3333"/>
            </a:avLst>
          </a:prstGeom>
          <a:solidFill>
            <a:srgbClr val="0A2E36"/>
          </a:solidFill>
          <a:ln/>
        </p:spPr>
      </p:sp>
      <p:sp>
        <p:nvSpPr>
          <p:cNvPr id="13" name="Shape 11"/>
          <p:cNvSpPr/>
          <p:nvPr/>
        </p:nvSpPr>
        <p:spPr>
          <a:xfrm>
            <a:off x="658368" y="1901952"/>
            <a:ext cx="640080" cy="182880"/>
          </a:xfrm>
          <a:prstGeom prst="roundRect">
            <a:avLst>
              <a:gd name="adj" fmla="val 15000"/>
            </a:avLst>
          </a:prstGeom>
          <a:solidFill>
            <a:srgbClr val="02C39A"/>
          </a:solidFill>
          <a:ln/>
        </p:spPr>
      </p:sp>
      <p:sp>
        <p:nvSpPr>
          <p:cNvPr id="14" name="Text 12"/>
          <p:cNvSpPr/>
          <p:nvPr/>
        </p:nvSpPr>
        <p:spPr>
          <a:xfrm>
            <a:off x="713232" y="1897380"/>
            <a:ext cx="548640" cy="146304"/>
          </a:xfrm>
          <a:prstGeom prst="rect">
            <a:avLst/>
          </a:prstGeom>
          <a:noFill/>
          <a:ln/>
        </p:spPr>
        <p:txBody>
          <a:bodyPr wrap="square" lIns="0" tIns="0" rIns="0" bIns="0" rtlCol="0" anchor="ctr"/>
          <a:lstStyle/>
          <a:p>
            <a:pPr algn="l" indent="0" marL="0">
              <a:buNone/>
            </a:pPr>
            <a:r>
              <a:rPr lang="en-US" sz="550" b="1" dirty="0">
                <a:solidFill>
                  <a:srgbClr val="0A2E36"/>
                </a:solidFill>
                <a:latin typeface="Calibri" pitchFamily="34" charset="0"/>
                <a:ea typeface="Calibri" pitchFamily="34" charset="-122"/>
                <a:cs typeface="Calibri" pitchFamily="34" charset="-120"/>
              </a:rPr>
              <a:t>Overview</a:t>
            </a:r>
            <a:endParaRPr lang="en-US" sz="550" dirty="0"/>
          </a:p>
        </p:txBody>
      </p:sp>
      <p:sp>
        <p:nvSpPr>
          <p:cNvPr id="15" name="Shape 13"/>
          <p:cNvSpPr/>
          <p:nvPr/>
        </p:nvSpPr>
        <p:spPr>
          <a:xfrm>
            <a:off x="658368" y="2176272"/>
            <a:ext cx="640080" cy="182880"/>
          </a:xfrm>
          <a:prstGeom prst="roundRect">
            <a:avLst>
              <a:gd name="adj" fmla="val 15000"/>
            </a:avLst>
          </a:prstGeom>
          <a:solidFill>
            <a:srgbClr val="27505A"/>
          </a:solidFill>
          <a:ln/>
        </p:spPr>
      </p:sp>
      <p:sp>
        <p:nvSpPr>
          <p:cNvPr id="16" name="Text 14"/>
          <p:cNvSpPr/>
          <p:nvPr/>
        </p:nvSpPr>
        <p:spPr>
          <a:xfrm>
            <a:off x="713232" y="2171700"/>
            <a:ext cx="548640" cy="146304"/>
          </a:xfrm>
          <a:prstGeom prst="rect">
            <a:avLst/>
          </a:prstGeom>
          <a:noFill/>
          <a:ln/>
        </p:spPr>
        <p:txBody>
          <a:bodyPr wrap="square" lIns="0" tIns="0" rIns="0" bIns="0" rtlCol="0" anchor="ctr"/>
          <a:lstStyle/>
          <a:p>
            <a:pPr algn="l" indent="0" marL="0">
              <a:buNone/>
            </a:pPr>
            <a:r>
              <a:rPr lang="en-US" sz="550" dirty="0">
                <a:solidFill>
                  <a:srgbClr val="8FAAB1"/>
                </a:solidFill>
                <a:latin typeface="Calibri" pitchFamily="34" charset="0"/>
                <a:ea typeface="Calibri" pitchFamily="34" charset="-122"/>
                <a:cs typeface="Calibri" pitchFamily="34" charset="-120"/>
              </a:rPr>
              <a:t>Users</a:t>
            </a:r>
            <a:endParaRPr lang="en-US" sz="550" dirty="0"/>
          </a:p>
        </p:txBody>
      </p:sp>
      <p:sp>
        <p:nvSpPr>
          <p:cNvPr id="17" name="Shape 15"/>
          <p:cNvSpPr/>
          <p:nvPr/>
        </p:nvSpPr>
        <p:spPr>
          <a:xfrm>
            <a:off x="658368" y="2450592"/>
            <a:ext cx="640080" cy="182880"/>
          </a:xfrm>
          <a:prstGeom prst="roundRect">
            <a:avLst>
              <a:gd name="adj" fmla="val 15000"/>
            </a:avLst>
          </a:prstGeom>
          <a:solidFill>
            <a:srgbClr val="27505A"/>
          </a:solidFill>
          <a:ln/>
        </p:spPr>
      </p:sp>
      <p:sp>
        <p:nvSpPr>
          <p:cNvPr id="18" name="Text 16"/>
          <p:cNvSpPr/>
          <p:nvPr/>
        </p:nvSpPr>
        <p:spPr>
          <a:xfrm>
            <a:off x="713232" y="2446020"/>
            <a:ext cx="548640" cy="146304"/>
          </a:xfrm>
          <a:prstGeom prst="rect">
            <a:avLst/>
          </a:prstGeom>
          <a:noFill/>
          <a:ln/>
        </p:spPr>
        <p:txBody>
          <a:bodyPr wrap="square" lIns="0" tIns="0" rIns="0" bIns="0" rtlCol="0" anchor="ctr"/>
          <a:lstStyle/>
          <a:p>
            <a:pPr algn="l" indent="0" marL="0">
              <a:buNone/>
            </a:pPr>
            <a:r>
              <a:rPr lang="en-US" sz="550" dirty="0">
                <a:solidFill>
                  <a:srgbClr val="8FAAB1"/>
                </a:solidFill>
                <a:latin typeface="Calibri" pitchFamily="34" charset="0"/>
                <a:ea typeface="Calibri" pitchFamily="34" charset="-122"/>
                <a:cs typeface="Calibri" pitchFamily="34" charset="-120"/>
              </a:rPr>
              <a:t>Agents</a:t>
            </a:r>
            <a:endParaRPr lang="en-US" sz="550" dirty="0"/>
          </a:p>
        </p:txBody>
      </p:sp>
      <p:sp>
        <p:nvSpPr>
          <p:cNvPr id="19" name="Shape 17"/>
          <p:cNvSpPr/>
          <p:nvPr/>
        </p:nvSpPr>
        <p:spPr>
          <a:xfrm>
            <a:off x="658368" y="2724912"/>
            <a:ext cx="640080" cy="182880"/>
          </a:xfrm>
          <a:prstGeom prst="roundRect">
            <a:avLst>
              <a:gd name="adj" fmla="val 15000"/>
            </a:avLst>
          </a:prstGeom>
          <a:solidFill>
            <a:srgbClr val="27505A"/>
          </a:solidFill>
          <a:ln/>
        </p:spPr>
      </p:sp>
      <p:sp>
        <p:nvSpPr>
          <p:cNvPr id="20" name="Text 18"/>
          <p:cNvSpPr/>
          <p:nvPr/>
        </p:nvSpPr>
        <p:spPr>
          <a:xfrm>
            <a:off x="713232" y="2720340"/>
            <a:ext cx="548640" cy="146304"/>
          </a:xfrm>
          <a:prstGeom prst="rect">
            <a:avLst/>
          </a:prstGeom>
          <a:noFill/>
          <a:ln/>
        </p:spPr>
        <p:txBody>
          <a:bodyPr wrap="square" lIns="0" tIns="0" rIns="0" bIns="0" rtlCol="0" anchor="ctr"/>
          <a:lstStyle/>
          <a:p>
            <a:pPr algn="l" indent="0" marL="0">
              <a:buNone/>
            </a:pPr>
            <a:r>
              <a:rPr lang="en-US" sz="550" dirty="0">
                <a:solidFill>
                  <a:srgbClr val="8FAAB1"/>
                </a:solidFill>
                <a:latin typeface="Calibri" pitchFamily="34" charset="0"/>
                <a:ea typeface="Calibri" pitchFamily="34" charset="-122"/>
                <a:cs typeface="Calibri" pitchFamily="34" charset="-120"/>
              </a:rPr>
              <a:t>Tickets</a:t>
            </a:r>
            <a:endParaRPr lang="en-US" sz="550" dirty="0"/>
          </a:p>
        </p:txBody>
      </p:sp>
      <p:sp>
        <p:nvSpPr>
          <p:cNvPr id="21" name="Shape 19"/>
          <p:cNvSpPr/>
          <p:nvPr/>
        </p:nvSpPr>
        <p:spPr>
          <a:xfrm>
            <a:off x="658368" y="2999232"/>
            <a:ext cx="640080" cy="182880"/>
          </a:xfrm>
          <a:prstGeom prst="roundRect">
            <a:avLst>
              <a:gd name="adj" fmla="val 15000"/>
            </a:avLst>
          </a:prstGeom>
          <a:solidFill>
            <a:srgbClr val="27505A"/>
          </a:solidFill>
          <a:ln/>
        </p:spPr>
      </p:sp>
      <p:sp>
        <p:nvSpPr>
          <p:cNvPr id="22" name="Text 20"/>
          <p:cNvSpPr/>
          <p:nvPr/>
        </p:nvSpPr>
        <p:spPr>
          <a:xfrm>
            <a:off x="713232" y="2994660"/>
            <a:ext cx="548640" cy="146304"/>
          </a:xfrm>
          <a:prstGeom prst="rect">
            <a:avLst/>
          </a:prstGeom>
          <a:noFill/>
          <a:ln/>
        </p:spPr>
        <p:txBody>
          <a:bodyPr wrap="square" lIns="0" tIns="0" rIns="0" bIns="0" rtlCol="0" anchor="ctr"/>
          <a:lstStyle/>
          <a:p>
            <a:pPr algn="l" indent="0" marL="0">
              <a:buNone/>
            </a:pPr>
            <a:r>
              <a:rPr lang="en-US" sz="550" dirty="0">
                <a:solidFill>
                  <a:srgbClr val="8FAAB1"/>
                </a:solidFill>
                <a:latin typeface="Calibri" pitchFamily="34" charset="0"/>
                <a:ea typeface="Calibri" pitchFamily="34" charset="-122"/>
                <a:cs typeface="Calibri" pitchFamily="34" charset="-120"/>
              </a:rPr>
              <a:t>Categories</a:t>
            </a:r>
            <a:endParaRPr lang="en-US" sz="550" dirty="0"/>
          </a:p>
        </p:txBody>
      </p:sp>
      <p:sp>
        <p:nvSpPr>
          <p:cNvPr id="23" name="Shape 21"/>
          <p:cNvSpPr/>
          <p:nvPr/>
        </p:nvSpPr>
        <p:spPr>
          <a:xfrm>
            <a:off x="658368" y="3273552"/>
            <a:ext cx="640080" cy="182880"/>
          </a:xfrm>
          <a:prstGeom prst="roundRect">
            <a:avLst>
              <a:gd name="adj" fmla="val 15000"/>
            </a:avLst>
          </a:prstGeom>
          <a:solidFill>
            <a:srgbClr val="27505A"/>
          </a:solidFill>
          <a:ln/>
        </p:spPr>
      </p:sp>
      <p:sp>
        <p:nvSpPr>
          <p:cNvPr id="24" name="Text 22"/>
          <p:cNvSpPr/>
          <p:nvPr/>
        </p:nvSpPr>
        <p:spPr>
          <a:xfrm>
            <a:off x="713232" y="3268980"/>
            <a:ext cx="548640" cy="146304"/>
          </a:xfrm>
          <a:prstGeom prst="rect">
            <a:avLst/>
          </a:prstGeom>
          <a:noFill/>
          <a:ln/>
        </p:spPr>
        <p:txBody>
          <a:bodyPr wrap="square" lIns="0" tIns="0" rIns="0" bIns="0" rtlCol="0" anchor="ctr"/>
          <a:lstStyle/>
          <a:p>
            <a:pPr algn="l" indent="0" marL="0">
              <a:buNone/>
            </a:pPr>
            <a:r>
              <a:rPr lang="en-US" sz="550" dirty="0">
                <a:solidFill>
                  <a:srgbClr val="8FAAB1"/>
                </a:solidFill>
                <a:latin typeface="Calibri" pitchFamily="34" charset="0"/>
                <a:ea typeface="Calibri" pitchFamily="34" charset="-122"/>
                <a:cs typeface="Calibri" pitchFamily="34" charset="-120"/>
              </a:rPr>
              <a:t>Reports</a:t>
            </a:r>
            <a:endParaRPr lang="en-US" sz="550" dirty="0"/>
          </a:p>
        </p:txBody>
      </p:sp>
      <p:sp>
        <p:nvSpPr>
          <p:cNvPr id="25" name="Shape 23"/>
          <p:cNvSpPr/>
          <p:nvPr/>
        </p:nvSpPr>
        <p:spPr>
          <a:xfrm>
            <a:off x="658368" y="3547872"/>
            <a:ext cx="640080" cy="182880"/>
          </a:xfrm>
          <a:prstGeom prst="roundRect">
            <a:avLst>
              <a:gd name="adj" fmla="val 15000"/>
            </a:avLst>
          </a:prstGeom>
          <a:solidFill>
            <a:srgbClr val="27505A"/>
          </a:solidFill>
          <a:ln/>
        </p:spPr>
      </p:sp>
      <p:sp>
        <p:nvSpPr>
          <p:cNvPr id="26" name="Text 24"/>
          <p:cNvSpPr/>
          <p:nvPr/>
        </p:nvSpPr>
        <p:spPr>
          <a:xfrm>
            <a:off x="713232" y="3543300"/>
            <a:ext cx="548640" cy="146304"/>
          </a:xfrm>
          <a:prstGeom prst="rect">
            <a:avLst/>
          </a:prstGeom>
          <a:noFill/>
          <a:ln/>
        </p:spPr>
        <p:txBody>
          <a:bodyPr wrap="square" lIns="0" tIns="0" rIns="0" bIns="0" rtlCol="0" anchor="ctr"/>
          <a:lstStyle/>
          <a:p>
            <a:pPr algn="l" indent="0" marL="0">
              <a:buNone/>
            </a:pPr>
            <a:r>
              <a:rPr lang="en-US" sz="550" dirty="0">
                <a:solidFill>
                  <a:srgbClr val="8FAAB1"/>
                </a:solidFill>
                <a:latin typeface="Calibri" pitchFamily="34" charset="0"/>
                <a:ea typeface="Calibri" pitchFamily="34" charset="-122"/>
                <a:cs typeface="Calibri" pitchFamily="34" charset="-120"/>
              </a:rPr>
              <a:t>Activity</a:t>
            </a:r>
            <a:endParaRPr lang="en-US" sz="550" dirty="0"/>
          </a:p>
        </p:txBody>
      </p:sp>
      <p:sp>
        <p:nvSpPr>
          <p:cNvPr id="27" name="Text 25"/>
          <p:cNvSpPr/>
          <p:nvPr/>
        </p:nvSpPr>
        <p:spPr>
          <a:xfrm>
            <a:off x="1536192" y="1834515"/>
            <a:ext cx="2011680" cy="171450"/>
          </a:xfrm>
          <a:prstGeom prst="rect">
            <a:avLst/>
          </a:prstGeom>
          <a:noFill/>
          <a:ln/>
        </p:spPr>
        <p:txBody>
          <a:bodyPr wrap="square" lIns="0" tIns="0" rIns="0" bIns="0" rtlCol="0" anchor="ctr"/>
          <a:lstStyle/>
          <a:p>
            <a:pPr algn="l" indent="0" marL="0">
              <a:buNone/>
            </a:pPr>
            <a:r>
              <a:rPr lang="en-US" sz="1000" b="1" dirty="0">
                <a:solidFill>
                  <a:srgbClr val="0A2E36"/>
                </a:solidFill>
                <a:latin typeface="Calibri" pitchFamily="34" charset="0"/>
                <a:ea typeface="Calibri" pitchFamily="34" charset="-122"/>
                <a:cs typeface="Calibri" pitchFamily="34" charset="-120"/>
              </a:rPr>
              <a:t>Admin overview</a:t>
            </a:r>
            <a:endParaRPr lang="en-US" sz="1000" dirty="0"/>
          </a:p>
        </p:txBody>
      </p:sp>
      <p:sp>
        <p:nvSpPr>
          <p:cNvPr id="28" name="Shape 26"/>
          <p:cNvSpPr/>
          <p:nvPr/>
        </p:nvSpPr>
        <p:spPr>
          <a:xfrm>
            <a:off x="1536192" y="2139696"/>
            <a:ext cx="1298448" cy="640080"/>
          </a:xfrm>
          <a:prstGeom prst="roundRect">
            <a:avLst>
              <a:gd name="adj" fmla="val 7143"/>
            </a:avLst>
          </a:prstGeom>
          <a:solidFill>
            <a:srgbClr val="FFFFFF"/>
          </a:solidFill>
          <a:ln w="9525">
            <a:solidFill>
              <a:srgbClr val="D3E3E6"/>
            </a:solidFill>
            <a:prstDash val="solid"/>
          </a:ln>
        </p:spPr>
      </p:sp>
      <p:sp>
        <p:nvSpPr>
          <p:cNvPr id="29" name="Text 27"/>
          <p:cNvSpPr/>
          <p:nvPr/>
        </p:nvSpPr>
        <p:spPr>
          <a:xfrm>
            <a:off x="1627632" y="2202561"/>
            <a:ext cx="1115568" cy="240030"/>
          </a:xfrm>
          <a:prstGeom prst="rect">
            <a:avLst/>
          </a:prstGeom>
          <a:noFill/>
          <a:ln/>
        </p:spPr>
        <p:txBody>
          <a:bodyPr wrap="square" lIns="0" tIns="0" rIns="0" bIns="0" rtlCol="0" anchor="ctr"/>
          <a:lstStyle/>
          <a:p>
            <a:pPr algn="l" indent="0" marL="0">
              <a:buNone/>
            </a:pPr>
            <a:r>
              <a:rPr lang="en-US" sz="1400" b="1" dirty="0">
                <a:solidFill>
                  <a:srgbClr val="028090"/>
                </a:solidFill>
                <a:latin typeface="Calibri" pitchFamily="34" charset="0"/>
                <a:ea typeface="Calibri" pitchFamily="34" charset="-122"/>
                <a:cs typeface="Calibri" pitchFamily="34" charset="-120"/>
              </a:rPr>
              <a:t>148</a:t>
            </a:r>
            <a:endParaRPr lang="en-US" sz="1400" dirty="0"/>
          </a:p>
        </p:txBody>
      </p:sp>
      <p:sp>
        <p:nvSpPr>
          <p:cNvPr id="30" name="Text 28"/>
          <p:cNvSpPr/>
          <p:nvPr/>
        </p:nvSpPr>
        <p:spPr>
          <a:xfrm>
            <a:off x="1627632" y="2542032"/>
            <a:ext cx="111556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Total tickets</a:t>
            </a:r>
            <a:endParaRPr lang="en-US" sz="600" dirty="0"/>
          </a:p>
        </p:txBody>
      </p:sp>
      <p:sp>
        <p:nvSpPr>
          <p:cNvPr id="31" name="Shape 29"/>
          <p:cNvSpPr/>
          <p:nvPr/>
        </p:nvSpPr>
        <p:spPr>
          <a:xfrm>
            <a:off x="2962656" y="2139696"/>
            <a:ext cx="1298448" cy="640080"/>
          </a:xfrm>
          <a:prstGeom prst="roundRect">
            <a:avLst>
              <a:gd name="adj" fmla="val 7143"/>
            </a:avLst>
          </a:prstGeom>
          <a:solidFill>
            <a:srgbClr val="FFFFFF"/>
          </a:solidFill>
          <a:ln w="9525">
            <a:solidFill>
              <a:srgbClr val="D3E3E6"/>
            </a:solidFill>
            <a:prstDash val="solid"/>
          </a:ln>
        </p:spPr>
      </p:sp>
      <p:sp>
        <p:nvSpPr>
          <p:cNvPr id="32" name="Text 30"/>
          <p:cNvSpPr/>
          <p:nvPr/>
        </p:nvSpPr>
        <p:spPr>
          <a:xfrm>
            <a:off x="3054096" y="2202561"/>
            <a:ext cx="1115568" cy="240030"/>
          </a:xfrm>
          <a:prstGeom prst="rect">
            <a:avLst/>
          </a:prstGeom>
          <a:noFill/>
          <a:ln/>
        </p:spPr>
        <p:txBody>
          <a:bodyPr wrap="square" lIns="0" tIns="0" rIns="0" bIns="0" rtlCol="0" anchor="ctr"/>
          <a:lstStyle/>
          <a:p>
            <a:pPr algn="l" indent="0" marL="0">
              <a:buNone/>
            </a:pPr>
            <a:r>
              <a:rPr lang="en-US" sz="1400" b="1" dirty="0">
                <a:solidFill>
                  <a:srgbClr val="00A896"/>
                </a:solidFill>
                <a:latin typeface="Calibri" pitchFamily="34" charset="0"/>
                <a:ea typeface="Calibri" pitchFamily="34" charset="-122"/>
                <a:cs typeface="Calibri" pitchFamily="34" charset="-120"/>
              </a:rPr>
              <a:t>23</a:t>
            </a:r>
            <a:endParaRPr lang="en-US" sz="1400" dirty="0"/>
          </a:p>
        </p:txBody>
      </p:sp>
      <p:sp>
        <p:nvSpPr>
          <p:cNvPr id="33" name="Text 31"/>
          <p:cNvSpPr/>
          <p:nvPr/>
        </p:nvSpPr>
        <p:spPr>
          <a:xfrm>
            <a:off x="3054096" y="2542032"/>
            <a:ext cx="111556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Open</a:t>
            </a:r>
            <a:endParaRPr lang="en-US" sz="600" dirty="0"/>
          </a:p>
        </p:txBody>
      </p:sp>
      <p:sp>
        <p:nvSpPr>
          <p:cNvPr id="34" name="Shape 32"/>
          <p:cNvSpPr/>
          <p:nvPr/>
        </p:nvSpPr>
        <p:spPr>
          <a:xfrm>
            <a:off x="4389120" y="2139696"/>
            <a:ext cx="1298448" cy="640080"/>
          </a:xfrm>
          <a:prstGeom prst="roundRect">
            <a:avLst>
              <a:gd name="adj" fmla="val 7143"/>
            </a:avLst>
          </a:prstGeom>
          <a:solidFill>
            <a:srgbClr val="FFFFFF"/>
          </a:solidFill>
          <a:ln w="9525">
            <a:solidFill>
              <a:srgbClr val="D3E3E6"/>
            </a:solidFill>
            <a:prstDash val="solid"/>
          </a:ln>
        </p:spPr>
      </p:sp>
      <p:sp>
        <p:nvSpPr>
          <p:cNvPr id="35" name="Text 33"/>
          <p:cNvSpPr/>
          <p:nvPr/>
        </p:nvSpPr>
        <p:spPr>
          <a:xfrm>
            <a:off x="4480560" y="2202561"/>
            <a:ext cx="1115568" cy="240030"/>
          </a:xfrm>
          <a:prstGeom prst="rect">
            <a:avLst/>
          </a:prstGeom>
          <a:noFill/>
          <a:ln/>
        </p:spPr>
        <p:txBody>
          <a:bodyPr wrap="square" lIns="0" tIns="0" rIns="0" bIns="0" rtlCol="0" anchor="ctr"/>
          <a:lstStyle/>
          <a:p>
            <a:pPr algn="l" indent="0" marL="0">
              <a:buNone/>
            </a:pPr>
            <a:r>
              <a:rPr lang="en-US" sz="1400" b="1" dirty="0">
                <a:solidFill>
                  <a:srgbClr val="02C39A"/>
                </a:solidFill>
                <a:latin typeface="Calibri" pitchFamily="34" charset="0"/>
                <a:ea typeface="Calibri" pitchFamily="34" charset="-122"/>
                <a:cs typeface="Calibri" pitchFamily="34" charset="-120"/>
              </a:rPr>
              <a:t>112</a:t>
            </a:r>
            <a:endParaRPr lang="en-US" sz="1400" dirty="0"/>
          </a:p>
        </p:txBody>
      </p:sp>
      <p:sp>
        <p:nvSpPr>
          <p:cNvPr id="36" name="Text 34"/>
          <p:cNvSpPr/>
          <p:nvPr/>
        </p:nvSpPr>
        <p:spPr>
          <a:xfrm>
            <a:off x="4480560" y="2542032"/>
            <a:ext cx="111556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Resolved</a:t>
            </a:r>
            <a:endParaRPr lang="en-US" sz="600" dirty="0"/>
          </a:p>
        </p:txBody>
      </p:sp>
      <p:sp>
        <p:nvSpPr>
          <p:cNvPr id="37" name="Shape 35"/>
          <p:cNvSpPr/>
          <p:nvPr/>
        </p:nvSpPr>
        <p:spPr>
          <a:xfrm>
            <a:off x="5815584" y="2139696"/>
            <a:ext cx="1298448" cy="640080"/>
          </a:xfrm>
          <a:prstGeom prst="roundRect">
            <a:avLst>
              <a:gd name="adj" fmla="val 7143"/>
            </a:avLst>
          </a:prstGeom>
          <a:solidFill>
            <a:srgbClr val="FFFFFF"/>
          </a:solidFill>
          <a:ln w="9525">
            <a:solidFill>
              <a:srgbClr val="D3E3E6"/>
            </a:solidFill>
            <a:prstDash val="solid"/>
          </a:ln>
        </p:spPr>
      </p:sp>
      <p:sp>
        <p:nvSpPr>
          <p:cNvPr id="38" name="Text 36"/>
          <p:cNvSpPr/>
          <p:nvPr/>
        </p:nvSpPr>
        <p:spPr>
          <a:xfrm>
            <a:off x="5907024" y="2202561"/>
            <a:ext cx="1115568" cy="240030"/>
          </a:xfrm>
          <a:prstGeom prst="rect">
            <a:avLst/>
          </a:prstGeom>
          <a:noFill/>
          <a:ln/>
        </p:spPr>
        <p:txBody>
          <a:bodyPr wrap="square" lIns="0" tIns="0" rIns="0" bIns="0" rtlCol="0" anchor="ctr"/>
          <a:lstStyle/>
          <a:p>
            <a:pPr algn="l" indent="0" marL="0">
              <a:buNone/>
            </a:pPr>
            <a:r>
              <a:rPr lang="en-US" sz="1400" b="1" dirty="0">
                <a:solidFill>
                  <a:srgbClr val="0A2E36"/>
                </a:solidFill>
                <a:latin typeface="Calibri" pitchFamily="34" charset="0"/>
                <a:ea typeface="Calibri" pitchFamily="34" charset="-122"/>
                <a:cs typeface="Calibri" pitchFamily="34" charset="-120"/>
              </a:rPr>
              <a:t>6.4h</a:t>
            </a:r>
            <a:endParaRPr lang="en-US" sz="1400" dirty="0"/>
          </a:p>
        </p:txBody>
      </p:sp>
      <p:sp>
        <p:nvSpPr>
          <p:cNvPr id="39" name="Text 37"/>
          <p:cNvSpPr/>
          <p:nvPr/>
        </p:nvSpPr>
        <p:spPr>
          <a:xfrm>
            <a:off x="5907024" y="2542032"/>
            <a:ext cx="111556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Avg resolution</a:t>
            </a:r>
            <a:endParaRPr lang="en-US" sz="600" dirty="0"/>
          </a:p>
        </p:txBody>
      </p:sp>
      <p:sp>
        <p:nvSpPr>
          <p:cNvPr id="40" name="Shape 38"/>
          <p:cNvSpPr/>
          <p:nvPr/>
        </p:nvSpPr>
        <p:spPr>
          <a:xfrm>
            <a:off x="1536192" y="2889504"/>
            <a:ext cx="2889504" cy="1517904"/>
          </a:xfrm>
          <a:prstGeom prst="roundRect">
            <a:avLst>
              <a:gd name="adj" fmla="val 3012"/>
            </a:avLst>
          </a:prstGeom>
          <a:solidFill>
            <a:srgbClr val="FFFFFF"/>
          </a:solidFill>
          <a:ln w="9525">
            <a:solidFill>
              <a:srgbClr val="D3E3E6"/>
            </a:solidFill>
            <a:prstDash val="solid"/>
          </a:ln>
        </p:spPr>
      </p:sp>
      <p:sp>
        <p:nvSpPr>
          <p:cNvPr id="41" name="Text 39"/>
          <p:cNvSpPr/>
          <p:nvPr/>
        </p:nvSpPr>
        <p:spPr>
          <a:xfrm>
            <a:off x="1645920" y="2980944"/>
            <a:ext cx="1828800" cy="146304"/>
          </a:xfrm>
          <a:prstGeom prst="rect">
            <a:avLst/>
          </a:prstGeom>
          <a:noFill/>
          <a:ln/>
        </p:spPr>
        <p:txBody>
          <a:bodyPr wrap="square" lIns="0" tIns="0" rIns="0" bIns="0" rtlCol="0" anchor="ctr"/>
          <a:lstStyle/>
          <a:p>
            <a:pPr algn="l" indent="0" marL="0">
              <a:buNone/>
            </a:pPr>
            <a:r>
              <a:rPr lang="en-US" sz="700" b="1" dirty="0">
                <a:solidFill>
                  <a:srgbClr val="0A2E36"/>
                </a:solidFill>
                <a:latin typeface="Calibri" pitchFamily="34" charset="0"/>
                <a:ea typeface="Calibri" pitchFamily="34" charset="-122"/>
                <a:cs typeface="Calibri" pitchFamily="34" charset="-120"/>
              </a:rPr>
              <a:t>Tickets by category</a:t>
            </a:r>
            <a:endParaRPr lang="en-US" sz="700" dirty="0"/>
          </a:p>
        </p:txBody>
      </p:sp>
      <p:sp>
        <p:nvSpPr>
          <p:cNvPr id="42" name="Text 40"/>
          <p:cNvSpPr/>
          <p:nvPr/>
        </p:nvSpPr>
        <p:spPr>
          <a:xfrm>
            <a:off x="1645920" y="3200400"/>
            <a:ext cx="56692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Billing</a:t>
            </a:r>
            <a:endParaRPr lang="en-US" sz="600" dirty="0"/>
          </a:p>
        </p:txBody>
      </p:sp>
      <p:sp>
        <p:nvSpPr>
          <p:cNvPr id="43" name="Shape 41"/>
          <p:cNvSpPr/>
          <p:nvPr/>
        </p:nvSpPr>
        <p:spPr>
          <a:xfrm>
            <a:off x="2249424" y="3232404"/>
            <a:ext cx="1833921" cy="118872"/>
          </a:xfrm>
          <a:prstGeom prst="roundRect">
            <a:avLst>
              <a:gd name="adj" fmla="val 15385"/>
            </a:avLst>
          </a:prstGeom>
          <a:solidFill>
            <a:srgbClr val="028090"/>
          </a:solidFill>
          <a:ln/>
        </p:spPr>
      </p:sp>
      <p:sp>
        <p:nvSpPr>
          <p:cNvPr id="44" name="Text 42"/>
          <p:cNvSpPr/>
          <p:nvPr/>
        </p:nvSpPr>
        <p:spPr>
          <a:xfrm>
            <a:off x="1645920" y="3424428"/>
            <a:ext cx="56692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Technical</a:t>
            </a:r>
            <a:endParaRPr lang="en-US" sz="600" dirty="0"/>
          </a:p>
        </p:txBody>
      </p:sp>
      <p:sp>
        <p:nvSpPr>
          <p:cNvPr id="45" name="Shape 43"/>
          <p:cNvSpPr/>
          <p:nvPr/>
        </p:nvSpPr>
        <p:spPr>
          <a:xfrm>
            <a:off x="2249424" y="3456432"/>
            <a:ext cx="1475110" cy="118872"/>
          </a:xfrm>
          <a:prstGeom prst="roundRect">
            <a:avLst>
              <a:gd name="adj" fmla="val 15385"/>
            </a:avLst>
          </a:prstGeom>
          <a:solidFill>
            <a:srgbClr val="00A896"/>
          </a:solidFill>
          <a:ln/>
        </p:spPr>
      </p:sp>
      <p:sp>
        <p:nvSpPr>
          <p:cNvPr id="46" name="Text 44"/>
          <p:cNvSpPr/>
          <p:nvPr/>
        </p:nvSpPr>
        <p:spPr>
          <a:xfrm>
            <a:off x="1645920" y="3648456"/>
            <a:ext cx="56692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Delivery</a:t>
            </a:r>
            <a:endParaRPr lang="en-US" sz="600" dirty="0"/>
          </a:p>
        </p:txBody>
      </p:sp>
      <p:sp>
        <p:nvSpPr>
          <p:cNvPr id="47" name="Shape 45"/>
          <p:cNvSpPr/>
          <p:nvPr/>
        </p:nvSpPr>
        <p:spPr>
          <a:xfrm>
            <a:off x="2249424" y="3680460"/>
            <a:ext cx="1036564" cy="118872"/>
          </a:xfrm>
          <a:prstGeom prst="roundRect">
            <a:avLst>
              <a:gd name="adj" fmla="val 15385"/>
            </a:avLst>
          </a:prstGeom>
          <a:solidFill>
            <a:srgbClr val="00A896"/>
          </a:solidFill>
          <a:ln/>
        </p:spPr>
      </p:sp>
      <p:sp>
        <p:nvSpPr>
          <p:cNvPr id="48" name="Text 46"/>
          <p:cNvSpPr/>
          <p:nvPr/>
        </p:nvSpPr>
        <p:spPr>
          <a:xfrm>
            <a:off x="1645920" y="3872484"/>
            <a:ext cx="56692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Account</a:t>
            </a:r>
            <a:endParaRPr lang="en-US" sz="600" dirty="0"/>
          </a:p>
        </p:txBody>
      </p:sp>
      <p:sp>
        <p:nvSpPr>
          <p:cNvPr id="49" name="Shape 47"/>
          <p:cNvSpPr/>
          <p:nvPr/>
        </p:nvSpPr>
        <p:spPr>
          <a:xfrm>
            <a:off x="2249424" y="3904488"/>
            <a:ext cx="717621" cy="118872"/>
          </a:xfrm>
          <a:prstGeom prst="roundRect">
            <a:avLst>
              <a:gd name="adj" fmla="val 15385"/>
            </a:avLst>
          </a:prstGeom>
          <a:solidFill>
            <a:srgbClr val="00A896"/>
          </a:solidFill>
          <a:ln/>
        </p:spPr>
      </p:sp>
      <p:sp>
        <p:nvSpPr>
          <p:cNvPr id="50" name="Text 48"/>
          <p:cNvSpPr/>
          <p:nvPr/>
        </p:nvSpPr>
        <p:spPr>
          <a:xfrm>
            <a:off x="1645920" y="4096512"/>
            <a:ext cx="566928" cy="146304"/>
          </a:xfrm>
          <a:prstGeom prst="rect">
            <a:avLst/>
          </a:prstGeom>
          <a:noFill/>
          <a:ln/>
        </p:spPr>
        <p:txBody>
          <a:bodyPr wrap="square" lIns="0" tIns="0" rIns="0" bIns="0" rtlCol="0" anchor="ctr"/>
          <a:lstStyle/>
          <a:p>
            <a:pPr algn="l" indent="0" marL="0">
              <a:buNone/>
            </a:pPr>
            <a:r>
              <a:rPr lang="en-US" sz="600" dirty="0">
                <a:solidFill>
                  <a:srgbClr val="7C939B"/>
                </a:solidFill>
                <a:latin typeface="Calibri" pitchFamily="34" charset="0"/>
                <a:ea typeface="Calibri" pitchFamily="34" charset="-122"/>
                <a:cs typeface="Calibri" pitchFamily="34" charset="-120"/>
              </a:rPr>
              <a:t>Other</a:t>
            </a:r>
            <a:endParaRPr lang="en-US" sz="600" dirty="0"/>
          </a:p>
        </p:txBody>
      </p:sp>
      <p:sp>
        <p:nvSpPr>
          <p:cNvPr id="51" name="Shape 49"/>
          <p:cNvSpPr/>
          <p:nvPr/>
        </p:nvSpPr>
        <p:spPr>
          <a:xfrm>
            <a:off x="2249424" y="4128516"/>
            <a:ext cx="398678" cy="118872"/>
          </a:xfrm>
          <a:prstGeom prst="roundRect">
            <a:avLst>
              <a:gd name="adj" fmla="val 15385"/>
            </a:avLst>
          </a:prstGeom>
          <a:solidFill>
            <a:srgbClr val="00A896"/>
          </a:solidFill>
          <a:ln/>
        </p:spPr>
      </p:sp>
      <p:sp>
        <p:nvSpPr>
          <p:cNvPr id="52" name="Shape 50"/>
          <p:cNvSpPr/>
          <p:nvPr/>
        </p:nvSpPr>
        <p:spPr>
          <a:xfrm>
            <a:off x="4535424" y="2889504"/>
            <a:ext cx="2651760" cy="1517904"/>
          </a:xfrm>
          <a:prstGeom prst="roundRect">
            <a:avLst>
              <a:gd name="adj" fmla="val 3012"/>
            </a:avLst>
          </a:prstGeom>
          <a:solidFill>
            <a:srgbClr val="FFFFFF"/>
          </a:solidFill>
          <a:ln w="9525">
            <a:solidFill>
              <a:srgbClr val="D3E3E6"/>
            </a:solidFill>
            <a:prstDash val="solid"/>
          </a:ln>
        </p:spPr>
      </p:sp>
      <p:sp>
        <p:nvSpPr>
          <p:cNvPr id="53" name="Text 51"/>
          <p:cNvSpPr/>
          <p:nvPr/>
        </p:nvSpPr>
        <p:spPr>
          <a:xfrm>
            <a:off x="4645152" y="2980944"/>
            <a:ext cx="1828800" cy="146304"/>
          </a:xfrm>
          <a:prstGeom prst="rect">
            <a:avLst/>
          </a:prstGeom>
          <a:noFill/>
          <a:ln/>
        </p:spPr>
        <p:txBody>
          <a:bodyPr wrap="square" lIns="0" tIns="0" rIns="0" bIns="0" rtlCol="0" anchor="ctr"/>
          <a:lstStyle/>
          <a:p>
            <a:pPr algn="l" indent="0" marL="0">
              <a:buNone/>
            </a:pPr>
            <a:r>
              <a:rPr lang="en-US" sz="700" b="1" dirty="0">
                <a:solidFill>
                  <a:srgbClr val="0A2E36"/>
                </a:solidFill>
                <a:latin typeface="Calibri" pitchFamily="34" charset="0"/>
                <a:ea typeface="Calibri" pitchFamily="34" charset="-122"/>
                <a:cs typeface="Calibri" pitchFamily="34" charset="-120"/>
              </a:rPr>
              <a:t>Sentiment distribution</a:t>
            </a:r>
            <a:endParaRPr lang="en-US" sz="700" dirty="0"/>
          </a:p>
        </p:txBody>
      </p:sp>
      <p:sp>
        <p:nvSpPr>
          <p:cNvPr id="54" name="Shape 52"/>
          <p:cNvSpPr/>
          <p:nvPr/>
        </p:nvSpPr>
        <p:spPr>
          <a:xfrm>
            <a:off x="4754880" y="3218688"/>
            <a:ext cx="969264" cy="969264"/>
          </a:xfrm>
          <a:prstGeom prst="ellipse">
            <a:avLst/>
          </a:prstGeom>
          <a:solidFill>
            <a:srgbClr val="00A896"/>
          </a:solidFill>
          <a:ln w="25400">
            <a:solidFill>
              <a:srgbClr val="FFFFFF"/>
            </a:solidFill>
            <a:prstDash val="solid"/>
          </a:ln>
        </p:spPr>
      </p:sp>
      <p:sp>
        <p:nvSpPr>
          <p:cNvPr id="55" name="Shape 53"/>
          <p:cNvSpPr/>
          <p:nvPr/>
        </p:nvSpPr>
        <p:spPr>
          <a:xfrm>
            <a:off x="4983480" y="3447288"/>
            <a:ext cx="512064" cy="512064"/>
          </a:xfrm>
          <a:prstGeom prst="ellipse">
            <a:avLst/>
          </a:prstGeom>
          <a:solidFill>
            <a:srgbClr val="FFFFFF"/>
          </a:solidFill>
          <a:ln/>
        </p:spPr>
      </p:sp>
      <p:sp>
        <p:nvSpPr>
          <p:cNvPr id="56" name="Shape 54"/>
          <p:cNvSpPr/>
          <p:nvPr/>
        </p:nvSpPr>
        <p:spPr>
          <a:xfrm>
            <a:off x="5925312" y="3355848"/>
            <a:ext cx="100584" cy="100584"/>
          </a:xfrm>
          <a:prstGeom prst="ellipse">
            <a:avLst/>
          </a:prstGeom>
          <a:solidFill>
            <a:srgbClr val="E8B4B0"/>
          </a:solidFill>
          <a:ln/>
        </p:spPr>
      </p:sp>
      <p:sp>
        <p:nvSpPr>
          <p:cNvPr id="57" name="Text 55"/>
          <p:cNvSpPr/>
          <p:nvPr/>
        </p:nvSpPr>
        <p:spPr>
          <a:xfrm>
            <a:off x="6071616" y="3328416"/>
            <a:ext cx="658368"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Negative</a:t>
            </a:r>
            <a:endParaRPr lang="en-US" sz="600" dirty="0"/>
          </a:p>
        </p:txBody>
      </p:sp>
      <p:sp>
        <p:nvSpPr>
          <p:cNvPr id="58" name="Text 56"/>
          <p:cNvSpPr/>
          <p:nvPr/>
        </p:nvSpPr>
        <p:spPr>
          <a:xfrm>
            <a:off x="6748272" y="3328416"/>
            <a:ext cx="365760" cy="146304"/>
          </a:xfrm>
          <a:prstGeom prst="rect">
            <a:avLst/>
          </a:prstGeom>
          <a:noFill/>
          <a:ln/>
        </p:spPr>
        <p:txBody>
          <a:bodyPr wrap="square" lIns="0" tIns="0" rIns="0" bIns="0" rtlCol="0" anchor="ctr"/>
          <a:lstStyle/>
          <a:p>
            <a:pPr algn="l" indent="0" marL="0">
              <a:buNone/>
            </a:pPr>
            <a:r>
              <a:rPr lang="en-US" sz="600" b="1" dirty="0">
                <a:solidFill>
                  <a:srgbClr val="0A2E36"/>
                </a:solidFill>
                <a:latin typeface="Calibri" pitchFamily="34" charset="0"/>
                <a:ea typeface="Calibri" pitchFamily="34" charset="-122"/>
                <a:cs typeface="Calibri" pitchFamily="34" charset="-120"/>
              </a:rPr>
              <a:t>46%</a:t>
            </a:r>
            <a:endParaRPr lang="en-US" sz="600" dirty="0"/>
          </a:p>
        </p:txBody>
      </p:sp>
      <p:sp>
        <p:nvSpPr>
          <p:cNvPr id="59" name="Shape 57"/>
          <p:cNvSpPr/>
          <p:nvPr/>
        </p:nvSpPr>
        <p:spPr>
          <a:xfrm>
            <a:off x="5925312" y="3593592"/>
            <a:ext cx="100584" cy="100584"/>
          </a:xfrm>
          <a:prstGeom prst="ellipse">
            <a:avLst/>
          </a:prstGeom>
          <a:solidFill>
            <a:srgbClr val="9FC6CC"/>
          </a:solidFill>
          <a:ln/>
        </p:spPr>
      </p:sp>
      <p:sp>
        <p:nvSpPr>
          <p:cNvPr id="60" name="Text 58"/>
          <p:cNvSpPr/>
          <p:nvPr/>
        </p:nvSpPr>
        <p:spPr>
          <a:xfrm>
            <a:off x="6071616" y="3566160"/>
            <a:ext cx="658368"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Neutral</a:t>
            </a:r>
            <a:endParaRPr lang="en-US" sz="600" dirty="0"/>
          </a:p>
        </p:txBody>
      </p:sp>
      <p:sp>
        <p:nvSpPr>
          <p:cNvPr id="61" name="Text 59"/>
          <p:cNvSpPr/>
          <p:nvPr/>
        </p:nvSpPr>
        <p:spPr>
          <a:xfrm>
            <a:off x="6748272" y="3566160"/>
            <a:ext cx="365760" cy="146304"/>
          </a:xfrm>
          <a:prstGeom prst="rect">
            <a:avLst/>
          </a:prstGeom>
          <a:noFill/>
          <a:ln/>
        </p:spPr>
        <p:txBody>
          <a:bodyPr wrap="square" lIns="0" tIns="0" rIns="0" bIns="0" rtlCol="0" anchor="ctr"/>
          <a:lstStyle/>
          <a:p>
            <a:pPr algn="l" indent="0" marL="0">
              <a:buNone/>
            </a:pPr>
            <a:r>
              <a:rPr lang="en-US" sz="600" b="1" dirty="0">
                <a:solidFill>
                  <a:srgbClr val="0A2E36"/>
                </a:solidFill>
                <a:latin typeface="Calibri" pitchFamily="34" charset="0"/>
                <a:ea typeface="Calibri" pitchFamily="34" charset="-122"/>
                <a:cs typeface="Calibri" pitchFamily="34" charset="-120"/>
              </a:rPr>
              <a:t>38%</a:t>
            </a:r>
            <a:endParaRPr lang="en-US" sz="600" dirty="0"/>
          </a:p>
        </p:txBody>
      </p:sp>
      <p:sp>
        <p:nvSpPr>
          <p:cNvPr id="62" name="Shape 60"/>
          <p:cNvSpPr/>
          <p:nvPr/>
        </p:nvSpPr>
        <p:spPr>
          <a:xfrm>
            <a:off x="5925312" y="3831336"/>
            <a:ext cx="100584" cy="100584"/>
          </a:xfrm>
          <a:prstGeom prst="ellipse">
            <a:avLst/>
          </a:prstGeom>
          <a:solidFill>
            <a:srgbClr val="02C39A"/>
          </a:solidFill>
          <a:ln/>
        </p:spPr>
      </p:sp>
      <p:sp>
        <p:nvSpPr>
          <p:cNvPr id="63" name="Text 61"/>
          <p:cNvSpPr/>
          <p:nvPr/>
        </p:nvSpPr>
        <p:spPr>
          <a:xfrm>
            <a:off x="6071616" y="3803904"/>
            <a:ext cx="658368" cy="146304"/>
          </a:xfrm>
          <a:prstGeom prst="rect">
            <a:avLst/>
          </a:prstGeom>
          <a:noFill/>
          <a:ln/>
        </p:spPr>
        <p:txBody>
          <a:bodyPr wrap="square" lIns="0" tIns="0" rIns="0" bIns="0" rtlCol="0" anchor="ctr"/>
          <a:lstStyle/>
          <a:p>
            <a:pPr algn="l" indent="0" marL="0">
              <a:buNone/>
            </a:pPr>
            <a:r>
              <a:rPr lang="en-US" sz="600" dirty="0">
                <a:solidFill>
                  <a:srgbClr val="445C64"/>
                </a:solidFill>
                <a:latin typeface="Calibri" pitchFamily="34" charset="0"/>
                <a:ea typeface="Calibri" pitchFamily="34" charset="-122"/>
                <a:cs typeface="Calibri" pitchFamily="34" charset="-120"/>
              </a:rPr>
              <a:t>Positive</a:t>
            </a:r>
            <a:endParaRPr lang="en-US" sz="600" dirty="0"/>
          </a:p>
        </p:txBody>
      </p:sp>
      <p:sp>
        <p:nvSpPr>
          <p:cNvPr id="64" name="Text 62"/>
          <p:cNvSpPr/>
          <p:nvPr/>
        </p:nvSpPr>
        <p:spPr>
          <a:xfrm>
            <a:off x="6748272" y="3803904"/>
            <a:ext cx="365760" cy="146304"/>
          </a:xfrm>
          <a:prstGeom prst="rect">
            <a:avLst/>
          </a:prstGeom>
          <a:noFill/>
          <a:ln/>
        </p:spPr>
        <p:txBody>
          <a:bodyPr wrap="square" lIns="0" tIns="0" rIns="0" bIns="0" rtlCol="0" anchor="ctr"/>
          <a:lstStyle/>
          <a:p>
            <a:pPr algn="l" indent="0" marL="0">
              <a:buNone/>
            </a:pPr>
            <a:r>
              <a:rPr lang="en-US" sz="600" b="1" dirty="0">
                <a:solidFill>
                  <a:srgbClr val="0A2E36"/>
                </a:solidFill>
                <a:latin typeface="Calibri" pitchFamily="34" charset="0"/>
                <a:ea typeface="Calibri" pitchFamily="34" charset="-122"/>
                <a:cs typeface="Calibri" pitchFamily="34" charset="-120"/>
              </a:rPr>
              <a:t>16%</a:t>
            </a:r>
            <a:endParaRPr lang="en-US" sz="600" dirty="0"/>
          </a:p>
        </p:txBody>
      </p:sp>
      <p:sp>
        <p:nvSpPr>
          <p:cNvPr id="65" name="Shape 63"/>
          <p:cNvSpPr/>
          <p:nvPr/>
        </p:nvSpPr>
        <p:spPr>
          <a:xfrm>
            <a:off x="1536192" y="4498848"/>
            <a:ext cx="5650992" cy="512064"/>
          </a:xfrm>
          <a:prstGeom prst="roundRect">
            <a:avLst>
              <a:gd name="adj" fmla="val 8929"/>
            </a:avLst>
          </a:prstGeom>
          <a:solidFill>
            <a:srgbClr val="FFFFFF"/>
          </a:solidFill>
          <a:ln w="9525">
            <a:solidFill>
              <a:srgbClr val="D3E3E6"/>
            </a:solidFill>
            <a:prstDash val="solid"/>
          </a:ln>
        </p:spPr>
      </p:sp>
      <p:sp>
        <p:nvSpPr>
          <p:cNvPr id="66" name="Text 64"/>
          <p:cNvSpPr/>
          <p:nvPr/>
        </p:nvSpPr>
        <p:spPr>
          <a:xfrm>
            <a:off x="1645920" y="4553712"/>
            <a:ext cx="2011680" cy="146304"/>
          </a:xfrm>
          <a:prstGeom prst="rect">
            <a:avLst/>
          </a:prstGeom>
          <a:noFill/>
          <a:ln/>
        </p:spPr>
        <p:txBody>
          <a:bodyPr wrap="square" lIns="0" tIns="0" rIns="0" bIns="0" rtlCol="0" anchor="ctr"/>
          <a:lstStyle/>
          <a:p>
            <a:pPr algn="l" indent="0" marL="0">
              <a:buNone/>
            </a:pPr>
            <a:r>
              <a:rPr lang="en-US" sz="650" b="1" dirty="0">
                <a:solidFill>
                  <a:srgbClr val="0A2E36"/>
                </a:solidFill>
                <a:latin typeface="Calibri" pitchFamily="34" charset="0"/>
                <a:ea typeface="Calibri" pitchFamily="34" charset="-122"/>
                <a:cs typeface="Calibri" pitchFamily="34" charset="-120"/>
              </a:rPr>
              <a:t>Ticket volume — last 30 days</a:t>
            </a:r>
            <a:endParaRPr lang="en-US" sz="650" dirty="0"/>
          </a:p>
        </p:txBody>
      </p:sp>
      <p:sp>
        <p:nvSpPr>
          <p:cNvPr id="67" name="Shape 65"/>
          <p:cNvSpPr/>
          <p:nvPr/>
        </p:nvSpPr>
        <p:spPr>
          <a:xfrm>
            <a:off x="3858768" y="4842662"/>
            <a:ext cx="146304" cy="76810"/>
          </a:xfrm>
          <a:prstGeom prst="roundRect">
            <a:avLst>
              <a:gd name="adj" fmla="val 11905"/>
            </a:avLst>
          </a:prstGeom>
          <a:solidFill>
            <a:srgbClr val="028090"/>
          </a:solidFill>
          <a:ln/>
        </p:spPr>
      </p:sp>
      <p:sp>
        <p:nvSpPr>
          <p:cNvPr id="68" name="Shape 66"/>
          <p:cNvSpPr/>
          <p:nvPr/>
        </p:nvSpPr>
        <p:spPr>
          <a:xfrm>
            <a:off x="4091940" y="4796577"/>
            <a:ext cx="146304" cy="122895"/>
          </a:xfrm>
          <a:prstGeom prst="roundRect">
            <a:avLst>
              <a:gd name="adj" fmla="val 7440"/>
            </a:avLst>
          </a:prstGeom>
          <a:solidFill>
            <a:srgbClr val="00A896"/>
          </a:solidFill>
          <a:ln/>
        </p:spPr>
      </p:sp>
      <p:sp>
        <p:nvSpPr>
          <p:cNvPr id="69" name="Shape 67"/>
          <p:cNvSpPr/>
          <p:nvPr/>
        </p:nvSpPr>
        <p:spPr>
          <a:xfrm>
            <a:off x="4325112" y="4822180"/>
            <a:ext cx="146304" cy="97292"/>
          </a:xfrm>
          <a:prstGeom prst="roundRect">
            <a:avLst>
              <a:gd name="adj" fmla="val 9399"/>
            </a:avLst>
          </a:prstGeom>
          <a:solidFill>
            <a:srgbClr val="028090"/>
          </a:solidFill>
          <a:ln/>
        </p:spPr>
      </p:sp>
      <p:sp>
        <p:nvSpPr>
          <p:cNvPr id="70" name="Shape 68"/>
          <p:cNvSpPr/>
          <p:nvPr/>
        </p:nvSpPr>
        <p:spPr>
          <a:xfrm>
            <a:off x="4558284" y="4760732"/>
            <a:ext cx="146304" cy="158740"/>
          </a:xfrm>
          <a:prstGeom prst="roundRect">
            <a:avLst>
              <a:gd name="adj" fmla="val 6250"/>
            </a:avLst>
          </a:prstGeom>
          <a:solidFill>
            <a:srgbClr val="00A896"/>
          </a:solidFill>
          <a:ln/>
        </p:spPr>
      </p:sp>
      <p:sp>
        <p:nvSpPr>
          <p:cNvPr id="71" name="Shape 69"/>
          <p:cNvSpPr/>
          <p:nvPr/>
        </p:nvSpPr>
        <p:spPr>
          <a:xfrm>
            <a:off x="4791456" y="4778654"/>
            <a:ext cx="146304" cy="140818"/>
          </a:xfrm>
          <a:prstGeom prst="roundRect">
            <a:avLst>
              <a:gd name="adj" fmla="val 6493"/>
            </a:avLst>
          </a:prstGeom>
          <a:solidFill>
            <a:srgbClr val="028090"/>
          </a:solidFill>
          <a:ln/>
        </p:spPr>
      </p:sp>
      <p:sp>
        <p:nvSpPr>
          <p:cNvPr id="72" name="Shape 70"/>
          <p:cNvSpPr/>
          <p:nvPr/>
        </p:nvSpPr>
        <p:spPr>
          <a:xfrm>
            <a:off x="5024628" y="4719767"/>
            <a:ext cx="146304" cy="199705"/>
          </a:xfrm>
          <a:prstGeom prst="roundRect">
            <a:avLst>
              <a:gd name="adj" fmla="val 6250"/>
            </a:avLst>
          </a:prstGeom>
          <a:solidFill>
            <a:srgbClr val="00A896"/>
          </a:solidFill>
          <a:ln/>
        </p:spPr>
      </p:sp>
      <p:sp>
        <p:nvSpPr>
          <p:cNvPr id="73" name="Shape 71"/>
          <p:cNvSpPr/>
          <p:nvPr/>
        </p:nvSpPr>
        <p:spPr>
          <a:xfrm>
            <a:off x="5257800" y="4750491"/>
            <a:ext cx="146304" cy="168981"/>
          </a:xfrm>
          <a:prstGeom prst="roundRect">
            <a:avLst>
              <a:gd name="adj" fmla="val 6250"/>
            </a:avLst>
          </a:prstGeom>
          <a:solidFill>
            <a:srgbClr val="028090"/>
          </a:solidFill>
          <a:ln/>
        </p:spPr>
      </p:sp>
      <p:sp>
        <p:nvSpPr>
          <p:cNvPr id="74" name="Shape 72"/>
          <p:cNvSpPr/>
          <p:nvPr/>
        </p:nvSpPr>
        <p:spPr>
          <a:xfrm>
            <a:off x="5490972" y="4701845"/>
            <a:ext cx="146304" cy="217627"/>
          </a:xfrm>
          <a:prstGeom prst="roundRect">
            <a:avLst>
              <a:gd name="adj" fmla="val 6250"/>
            </a:avLst>
          </a:prstGeom>
          <a:solidFill>
            <a:srgbClr val="00A896"/>
          </a:solidFill>
          <a:ln/>
        </p:spPr>
      </p:sp>
      <p:sp>
        <p:nvSpPr>
          <p:cNvPr id="75" name="Shape 73"/>
          <p:cNvSpPr/>
          <p:nvPr/>
        </p:nvSpPr>
        <p:spPr>
          <a:xfrm>
            <a:off x="5724144" y="4735129"/>
            <a:ext cx="146304" cy="184343"/>
          </a:xfrm>
          <a:prstGeom prst="roundRect">
            <a:avLst>
              <a:gd name="adj" fmla="val 6250"/>
            </a:avLst>
          </a:prstGeom>
          <a:solidFill>
            <a:srgbClr val="028090"/>
          </a:solidFill>
          <a:ln/>
        </p:spPr>
      </p:sp>
      <p:sp>
        <p:nvSpPr>
          <p:cNvPr id="76" name="Shape 74"/>
          <p:cNvSpPr/>
          <p:nvPr/>
        </p:nvSpPr>
        <p:spPr>
          <a:xfrm>
            <a:off x="5957316" y="4678802"/>
            <a:ext cx="146304" cy="240670"/>
          </a:xfrm>
          <a:prstGeom prst="roundRect">
            <a:avLst>
              <a:gd name="adj" fmla="val 6250"/>
            </a:avLst>
          </a:prstGeom>
          <a:solidFill>
            <a:srgbClr val="00A896"/>
          </a:solidFill>
          <a:ln/>
        </p:spPr>
      </p:sp>
      <p:sp>
        <p:nvSpPr>
          <p:cNvPr id="77" name="Shape 75"/>
          <p:cNvSpPr/>
          <p:nvPr/>
        </p:nvSpPr>
        <p:spPr>
          <a:xfrm>
            <a:off x="6190488" y="4765853"/>
            <a:ext cx="146304" cy="153619"/>
          </a:xfrm>
          <a:prstGeom prst="roundRect">
            <a:avLst>
              <a:gd name="adj" fmla="val 6250"/>
            </a:avLst>
          </a:prstGeom>
          <a:solidFill>
            <a:srgbClr val="028090"/>
          </a:solidFill>
          <a:ln/>
        </p:spPr>
      </p:sp>
      <p:sp>
        <p:nvSpPr>
          <p:cNvPr id="78" name="Shape 76"/>
          <p:cNvSpPr/>
          <p:nvPr/>
        </p:nvSpPr>
        <p:spPr>
          <a:xfrm>
            <a:off x="6423660" y="4714646"/>
            <a:ext cx="146304" cy="204826"/>
          </a:xfrm>
          <a:prstGeom prst="roundRect">
            <a:avLst>
              <a:gd name="adj" fmla="val 6250"/>
            </a:avLst>
          </a:prstGeom>
          <a:solidFill>
            <a:srgbClr val="00A896"/>
          </a:solidFill>
          <a:ln/>
        </p:spPr>
      </p:sp>
      <p:sp>
        <p:nvSpPr>
          <p:cNvPr id="79" name="Shape 77"/>
          <p:cNvSpPr/>
          <p:nvPr/>
        </p:nvSpPr>
        <p:spPr>
          <a:xfrm>
            <a:off x="6656832" y="4745370"/>
            <a:ext cx="146304" cy="174102"/>
          </a:xfrm>
          <a:prstGeom prst="roundRect">
            <a:avLst>
              <a:gd name="adj" fmla="val 6250"/>
            </a:avLst>
          </a:prstGeom>
          <a:solidFill>
            <a:srgbClr val="028090"/>
          </a:solidFill>
          <a:ln/>
        </p:spPr>
      </p:sp>
      <p:sp>
        <p:nvSpPr>
          <p:cNvPr id="80" name="Shape 78"/>
          <p:cNvSpPr/>
          <p:nvPr/>
        </p:nvSpPr>
        <p:spPr>
          <a:xfrm>
            <a:off x="6890004" y="4689043"/>
            <a:ext cx="146304" cy="230429"/>
          </a:xfrm>
          <a:prstGeom prst="roundRect">
            <a:avLst>
              <a:gd name="adj" fmla="val 6250"/>
            </a:avLst>
          </a:prstGeom>
          <a:solidFill>
            <a:srgbClr val="00A896"/>
          </a:solidFill>
          <a:ln/>
        </p:spPr>
      </p:sp>
      <p:sp>
        <p:nvSpPr>
          <p:cNvPr id="81" name="Text 79"/>
          <p:cNvSpPr/>
          <p:nvPr/>
        </p:nvSpPr>
        <p:spPr>
          <a:xfrm>
            <a:off x="566928" y="5303520"/>
            <a:ext cx="6766560" cy="237744"/>
          </a:xfrm>
          <a:prstGeom prst="rect">
            <a:avLst/>
          </a:prstGeom>
          <a:noFill/>
          <a:ln/>
        </p:spPr>
        <p:txBody>
          <a:bodyPr wrap="square" lIns="0" tIns="0" rIns="0" bIns="0" rtlCol="0" anchor="ctr"/>
          <a:lstStyle/>
          <a:p>
            <a:pPr indent="0" marL="0">
              <a:buNone/>
            </a:pPr>
            <a:r>
              <a:rPr lang="en-US" sz="1300" b="1" dirty="0">
                <a:solidFill>
                  <a:srgbClr val="0A2E36"/>
                </a:solidFill>
                <a:latin typeface="Calibri" pitchFamily="34" charset="0"/>
                <a:ea typeface="Calibri" pitchFamily="34" charset="-122"/>
                <a:cs typeface="Calibri" pitchFamily="34" charset="-120"/>
              </a:rPr>
              <a:t>Admin Dashboard</a:t>
            </a:r>
            <a:endParaRPr lang="en-US" sz="1300" dirty="0"/>
          </a:p>
        </p:txBody>
      </p:sp>
      <p:sp>
        <p:nvSpPr>
          <p:cNvPr id="82" name="Text 80"/>
          <p:cNvSpPr/>
          <p:nvPr/>
        </p:nvSpPr>
        <p:spPr>
          <a:xfrm>
            <a:off x="566928" y="5541264"/>
            <a:ext cx="6766560" cy="640080"/>
          </a:xfrm>
          <a:prstGeom prst="rect">
            <a:avLst/>
          </a:prstGeom>
          <a:noFill/>
          <a:ln/>
        </p:spPr>
        <p:txBody>
          <a:bodyPr wrap="square" lIns="0" tIns="0" rIns="0" bIns="0" rtlCol="0" anchor="t"/>
          <a:lstStyle/>
          <a:p>
            <a:pPr indent="0" marL="0">
              <a:lnSpc>
                <a:spcPts val="1300"/>
              </a:lnSpc>
              <a:buNone/>
            </a:pPr>
            <a:r>
              <a:rPr lang="en-US" sz="1100" dirty="0">
                <a:solidFill>
                  <a:srgbClr val="7C939B"/>
                </a:solidFill>
                <a:latin typeface="Calibri" pitchFamily="34" charset="0"/>
                <a:ea typeface="Calibri" pitchFamily="34" charset="-122"/>
                <a:cs typeface="Calibri" pitchFamily="34" charset="-120"/>
              </a:rPr>
              <a:t>Every number and every chart is computed from the database at request time. No dashboard figure is hard-coded.</a:t>
            </a:r>
            <a:endParaRPr lang="en-US" sz="1100" dirty="0"/>
          </a:p>
        </p:txBody>
      </p:sp>
      <p:sp>
        <p:nvSpPr>
          <p:cNvPr id="83" name="Shape 81"/>
          <p:cNvSpPr/>
          <p:nvPr/>
        </p:nvSpPr>
        <p:spPr>
          <a:xfrm>
            <a:off x="7662672" y="1444752"/>
            <a:ext cx="3931920" cy="1060704"/>
          </a:xfrm>
          <a:prstGeom prst="roundRect">
            <a:avLst>
              <a:gd name="adj" fmla="val 8621"/>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84" name="Text 82"/>
          <p:cNvSpPr/>
          <p:nvPr/>
        </p:nvSpPr>
        <p:spPr>
          <a:xfrm>
            <a:off x="7882128" y="1572768"/>
            <a:ext cx="3493008"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Reports &amp; export</a:t>
            </a:r>
            <a:endParaRPr lang="en-US" sz="1250" dirty="0"/>
          </a:p>
        </p:txBody>
      </p:sp>
      <p:sp>
        <p:nvSpPr>
          <p:cNvPr id="85" name="Text 83"/>
          <p:cNvSpPr/>
          <p:nvPr/>
        </p:nvSpPr>
        <p:spPr>
          <a:xfrm>
            <a:off x="7882128" y="1828800"/>
            <a:ext cx="3493008" cy="60350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Tickets by status, priority and category; agent workload; sentiment; volume trend; average resolution time — all exportable as CSV.</a:t>
            </a:r>
            <a:endParaRPr lang="en-US" sz="1050" dirty="0"/>
          </a:p>
        </p:txBody>
      </p:sp>
      <p:sp>
        <p:nvSpPr>
          <p:cNvPr id="86" name="Shape 84"/>
          <p:cNvSpPr/>
          <p:nvPr/>
        </p:nvSpPr>
        <p:spPr>
          <a:xfrm>
            <a:off x="7662672" y="2596896"/>
            <a:ext cx="3931920" cy="1060704"/>
          </a:xfrm>
          <a:prstGeom prst="roundRect">
            <a:avLst>
              <a:gd name="adj" fmla="val 8621"/>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87" name="Text 85"/>
          <p:cNvSpPr/>
          <p:nvPr/>
        </p:nvSpPr>
        <p:spPr>
          <a:xfrm>
            <a:off x="7882128" y="2724912"/>
            <a:ext cx="3493008"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User &amp; agent management</a:t>
            </a:r>
            <a:endParaRPr lang="en-US" sz="1250" dirty="0"/>
          </a:p>
        </p:txBody>
      </p:sp>
      <p:sp>
        <p:nvSpPr>
          <p:cNvPr id="88" name="Text 86"/>
          <p:cNvSpPr/>
          <p:nvPr/>
        </p:nvSpPr>
        <p:spPr>
          <a:xfrm>
            <a:off x="7882128" y="2980944"/>
            <a:ext cx="3493008" cy="60350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Create users, change roles, deactivate accounts. A deactivated user cannot log in but their ticket history is preserved.</a:t>
            </a:r>
            <a:endParaRPr lang="en-US" sz="1050" dirty="0"/>
          </a:p>
        </p:txBody>
      </p:sp>
      <p:sp>
        <p:nvSpPr>
          <p:cNvPr id="89" name="Shape 87"/>
          <p:cNvSpPr/>
          <p:nvPr/>
        </p:nvSpPr>
        <p:spPr>
          <a:xfrm>
            <a:off x="7662672" y="3749040"/>
            <a:ext cx="3931920" cy="1060704"/>
          </a:xfrm>
          <a:prstGeom prst="roundRect">
            <a:avLst>
              <a:gd name="adj" fmla="val 8621"/>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90" name="Text 88"/>
          <p:cNvSpPr/>
          <p:nvPr/>
        </p:nvSpPr>
        <p:spPr>
          <a:xfrm>
            <a:off x="7882128" y="3877056"/>
            <a:ext cx="3493008"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Activity audit log</a:t>
            </a:r>
            <a:endParaRPr lang="en-US" sz="1250" dirty="0"/>
          </a:p>
        </p:txBody>
      </p:sp>
      <p:sp>
        <p:nvSpPr>
          <p:cNvPr id="91" name="Text 89"/>
          <p:cNvSpPr/>
          <p:nvPr/>
        </p:nvSpPr>
        <p:spPr>
          <a:xfrm>
            <a:off x="7882128" y="4133088"/>
            <a:ext cx="3493008" cy="60350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Every privileged action records actor, action, entity and timestamp — answering who changed this ticket, and when.</a:t>
            </a:r>
            <a:endParaRPr lang="en-US" sz="1050" dirty="0"/>
          </a:p>
        </p:txBody>
      </p:sp>
      <p:sp>
        <p:nvSpPr>
          <p:cNvPr id="92" name="Shape 90"/>
          <p:cNvSpPr/>
          <p:nvPr/>
        </p:nvSpPr>
        <p:spPr>
          <a:xfrm>
            <a:off x="7662672" y="4901184"/>
            <a:ext cx="3931920" cy="1060704"/>
          </a:xfrm>
          <a:prstGeom prst="roundRect">
            <a:avLst>
              <a:gd name="adj" fmla="val 8621"/>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93" name="Text 91"/>
          <p:cNvSpPr/>
          <p:nvPr/>
        </p:nvSpPr>
        <p:spPr>
          <a:xfrm>
            <a:off x="7882128" y="5029200"/>
            <a:ext cx="3493008" cy="237744"/>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Responsive layout</a:t>
            </a:r>
            <a:endParaRPr lang="en-US" sz="1250" dirty="0"/>
          </a:p>
        </p:txBody>
      </p:sp>
      <p:sp>
        <p:nvSpPr>
          <p:cNvPr id="94" name="Text 92"/>
          <p:cNvSpPr/>
          <p:nvPr/>
        </p:nvSpPr>
        <p:spPr>
          <a:xfrm>
            <a:off x="7882128" y="5285232"/>
            <a:ext cx="3493008" cy="603504"/>
          </a:xfrm>
          <a:prstGeom prst="rect">
            <a:avLst/>
          </a:prstGeom>
          <a:noFill/>
          <a:ln/>
        </p:spPr>
        <p:txBody>
          <a:bodyPr wrap="square" lIns="0" tIns="0" rIns="0" bIns="0" rtlCol="0" anchor="t"/>
          <a:lstStyle/>
          <a:p>
            <a:pPr indent="0" marL="0">
              <a:lnSpc>
                <a:spcPts val="1300"/>
              </a:lnSpc>
              <a:buNone/>
            </a:pPr>
            <a:r>
              <a:rPr lang="en-US" sz="1050" dirty="0">
                <a:solidFill>
                  <a:srgbClr val="445C64"/>
                </a:solidFill>
                <a:latin typeface="Calibri" pitchFamily="34" charset="0"/>
                <a:ea typeface="Calibri" pitchFamily="34" charset="-122"/>
                <a:cs typeface="Calibri" pitchFamily="34" charset="-120"/>
              </a:rPr>
              <a:t>The sidebar collapses to a bottom navigation bar below 768 px; tables become stacked cards on mobile.</a:t>
            </a:r>
            <a:endParaRPr lang="en-US" sz="1050" dirty="0"/>
          </a:p>
        </p:txBody>
      </p:sp>
      <p:sp>
        <p:nvSpPr>
          <p:cNvPr id="95" name="Text 93"/>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96" name="Text 94"/>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LOOKING AHEAD TO REVIEW 2</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Proposed Cloud Architecture</a:t>
            </a:r>
            <a:endParaRPr lang="en-US" sz="3000" dirty="0"/>
          </a:p>
        </p:txBody>
      </p:sp>
      <p:sp>
        <p:nvSpPr>
          <p:cNvPr id="4" name="Text 2"/>
          <p:cNvSpPr/>
          <p:nvPr/>
        </p:nvSpPr>
        <p:spPr>
          <a:xfrm>
            <a:off x="566928" y="1316736"/>
            <a:ext cx="10424160" cy="420624"/>
          </a:xfrm>
          <a:prstGeom prst="rect">
            <a:avLst/>
          </a:prstGeom>
          <a:noFill/>
          <a:ln/>
        </p:spPr>
        <p:txBody>
          <a:bodyPr wrap="square" lIns="0" tIns="0" rIns="0" bIns="0" rtlCol="0" anchor="t"/>
          <a:lstStyle/>
          <a:p>
            <a:pPr indent="0" marL="0">
              <a:lnSpc>
                <a:spcPts val="1700"/>
              </a:lnSpc>
              <a:buNone/>
            </a:pPr>
            <a:r>
              <a:rPr lang="en-US" sz="1250" dirty="0">
                <a:solidFill>
                  <a:srgbClr val="445C64"/>
                </a:solidFill>
                <a:latin typeface="Calibri" pitchFamily="34" charset="0"/>
                <a:ea typeface="Calibri" pitchFamily="34" charset="-122"/>
                <a:cs typeface="Calibri" pitchFamily="34" charset="-120"/>
              </a:rPr>
              <a:t>Three independently deployed tiers. Detailed system, cloud and database design is the Review 2 deliverable — this is the direction we have settled on.</a:t>
            </a:r>
            <a:endParaRPr lang="en-US" sz="1250" dirty="0"/>
          </a:p>
        </p:txBody>
      </p:sp>
      <p:sp>
        <p:nvSpPr>
          <p:cNvPr id="5" name="Shape 3"/>
          <p:cNvSpPr/>
          <p:nvPr/>
        </p:nvSpPr>
        <p:spPr>
          <a:xfrm>
            <a:off x="566928" y="1828800"/>
            <a:ext cx="3310128" cy="3017520"/>
          </a:xfrm>
          <a:prstGeom prst="roundRect">
            <a:avLst>
              <a:gd name="adj" fmla="val 3030"/>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6" name="Shape 4"/>
          <p:cNvSpPr/>
          <p:nvPr/>
        </p:nvSpPr>
        <p:spPr>
          <a:xfrm>
            <a:off x="566928" y="1828800"/>
            <a:ext cx="3310128" cy="694944"/>
          </a:xfrm>
          <a:prstGeom prst="roundRect">
            <a:avLst>
              <a:gd name="adj" fmla="val 13158"/>
            </a:avLst>
          </a:prstGeom>
          <a:solidFill>
            <a:srgbClr val="028090"/>
          </a:solidFill>
          <a:ln/>
        </p:spPr>
      </p:sp>
      <p:sp>
        <p:nvSpPr>
          <p:cNvPr id="7" name="Text 5"/>
          <p:cNvSpPr/>
          <p:nvPr/>
        </p:nvSpPr>
        <p:spPr>
          <a:xfrm>
            <a:off x="804672" y="1920240"/>
            <a:ext cx="283464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Presentation Tier</a:t>
            </a:r>
            <a:endParaRPr lang="en-US" sz="1450" dirty="0"/>
          </a:p>
        </p:txBody>
      </p:sp>
      <p:sp>
        <p:nvSpPr>
          <p:cNvPr id="8" name="Text 6"/>
          <p:cNvSpPr/>
          <p:nvPr/>
        </p:nvSpPr>
        <p:spPr>
          <a:xfrm>
            <a:off x="804672" y="2194560"/>
            <a:ext cx="2834640" cy="237744"/>
          </a:xfrm>
          <a:prstGeom prst="rect">
            <a:avLst/>
          </a:prstGeom>
          <a:noFill/>
          <a:ln/>
        </p:spPr>
        <p:txBody>
          <a:bodyPr wrap="square" lIns="0" tIns="0" rIns="0" bIns="0" rtlCol="0" anchor="ctr"/>
          <a:lstStyle/>
          <a:p>
            <a:pPr indent="0" marL="0">
              <a:buNone/>
            </a:pPr>
            <a:r>
              <a:rPr lang="en-US" sz="1050" dirty="0">
                <a:solidFill>
                  <a:srgbClr val="CFE8E6"/>
                </a:solidFill>
                <a:latin typeface="Calibri" pitchFamily="34" charset="0"/>
                <a:ea typeface="Calibri" pitchFamily="34" charset="-122"/>
                <a:cs typeface="Calibri" pitchFamily="34" charset="-120"/>
              </a:rPr>
              <a:t>hosted on Vercel</a:t>
            </a:r>
            <a:endParaRPr lang="en-US" sz="1050" dirty="0"/>
          </a:p>
        </p:txBody>
      </p:sp>
      <p:sp>
        <p:nvSpPr>
          <p:cNvPr id="9" name="Text 7"/>
          <p:cNvSpPr/>
          <p:nvPr/>
        </p:nvSpPr>
        <p:spPr>
          <a:xfrm>
            <a:off x="804672" y="2688336"/>
            <a:ext cx="2834640" cy="914400"/>
          </a:xfrm>
          <a:prstGeom prst="rect">
            <a:avLst/>
          </a:prstGeom>
          <a:noFill/>
          <a:ln/>
        </p:spPr>
        <p:txBody>
          <a:bodyPr wrap="square" lIns="0" tIns="0" rIns="0" bIns="0" rtlCol="0" anchor="t"/>
          <a:lstStyle/>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React 18 · Vite · TypeScript</a:t>
            </a:r>
            <a:endParaRPr lang="en-US" sz="1200" dirty="0"/>
          </a:p>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Tailwind CSS · React Router</a:t>
            </a:r>
            <a:endParaRPr lang="en-US" sz="1200" dirty="0"/>
          </a:p>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TanStack Query · Recharts</a:t>
            </a:r>
            <a:endParaRPr lang="en-US" sz="1200" dirty="0"/>
          </a:p>
        </p:txBody>
      </p:sp>
      <p:sp>
        <p:nvSpPr>
          <p:cNvPr id="10" name="Text 8"/>
          <p:cNvSpPr/>
          <p:nvPr/>
        </p:nvSpPr>
        <p:spPr>
          <a:xfrm>
            <a:off x="804672" y="3675888"/>
            <a:ext cx="2834640" cy="1005840"/>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Static build distributed on a global CDN. Holds no credentials and never talks to the database directly.</a:t>
            </a:r>
            <a:endParaRPr lang="en-US" sz="1100" dirty="0"/>
          </a:p>
        </p:txBody>
      </p:sp>
      <p:sp>
        <p:nvSpPr>
          <p:cNvPr id="11" name="Text 9"/>
          <p:cNvSpPr/>
          <p:nvPr/>
        </p:nvSpPr>
        <p:spPr>
          <a:xfrm>
            <a:off x="3931920" y="3054096"/>
            <a:ext cx="438912" cy="365760"/>
          </a:xfrm>
          <a:prstGeom prst="rect">
            <a:avLst/>
          </a:prstGeom>
          <a:noFill/>
          <a:ln/>
        </p:spPr>
        <p:txBody>
          <a:bodyPr wrap="square" lIns="0" tIns="0" rIns="0" bIns="0" rtlCol="0" anchor="ctr"/>
          <a:lstStyle/>
          <a:p>
            <a:pPr algn="ctr" indent="0" marL="0">
              <a:buNone/>
            </a:pPr>
            <a:r>
              <a:rPr lang="en-US" sz="2000" b="1" dirty="0">
                <a:solidFill>
                  <a:srgbClr val="445C64"/>
                </a:solidFill>
                <a:latin typeface="Calibri" pitchFamily="34" charset="0"/>
                <a:ea typeface="Calibri" pitchFamily="34" charset="-122"/>
                <a:cs typeface="Calibri" pitchFamily="34" charset="-120"/>
              </a:rPr>
              <a:t>→</a:t>
            </a:r>
            <a:endParaRPr lang="en-US" sz="2000" dirty="0"/>
          </a:p>
        </p:txBody>
      </p:sp>
      <p:sp>
        <p:nvSpPr>
          <p:cNvPr id="12" name="Text 10"/>
          <p:cNvSpPr/>
          <p:nvPr/>
        </p:nvSpPr>
        <p:spPr>
          <a:xfrm>
            <a:off x="3931920" y="3401568"/>
            <a:ext cx="438912" cy="219456"/>
          </a:xfrm>
          <a:prstGeom prst="rect">
            <a:avLst/>
          </a:prstGeom>
          <a:noFill/>
          <a:ln/>
        </p:spPr>
        <p:txBody>
          <a:bodyPr wrap="square" lIns="0" tIns="0" rIns="0" bIns="0" rtlCol="0" anchor="ctr"/>
          <a:lstStyle/>
          <a:p>
            <a:pPr algn="ctr" indent="0" marL="0">
              <a:buNone/>
            </a:pPr>
            <a:r>
              <a:rPr lang="en-US" sz="800" dirty="0">
                <a:solidFill>
                  <a:srgbClr val="7C939B"/>
                </a:solidFill>
                <a:latin typeface="Calibri" pitchFamily="34" charset="0"/>
                <a:ea typeface="Calibri" pitchFamily="34" charset="-122"/>
                <a:cs typeface="Calibri" pitchFamily="34" charset="-120"/>
              </a:rPr>
              <a:t>HTTPS</a:t>
            </a:r>
            <a:endParaRPr lang="en-US" sz="800" dirty="0"/>
          </a:p>
        </p:txBody>
      </p:sp>
      <p:sp>
        <p:nvSpPr>
          <p:cNvPr id="13" name="Shape 11"/>
          <p:cNvSpPr/>
          <p:nvPr/>
        </p:nvSpPr>
        <p:spPr>
          <a:xfrm>
            <a:off x="4425696" y="1828800"/>
            <a:ext cx="3310128" cy="3017520"/>
          </a:xfrm>
          <a:prstGeom prst="roundRect">
            <a:avLst>
              <a:gd name="adj" fmla="val 3030"/>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4" name="Shape 12"/>
          <p:cNvSpPr/>
          <p:nvPr/>
        </p:nvSpPr>
        <p:spPr>
          <a:xfrm>
            <a:off x="4425696" y="1828800"/>
            <a:ext cx="3310128" cy="694944"/>
          </a:xfrm>
          <a:prstGeom prst="roundRect">
            <a:avLst>
              <a:gd name="adj" fmla="val 13158"/>
            </a:avLst>
          </a:prstGeom>
          <a:solidFill>
            <a:srgbClr val="00A896"/>
          </a:solidFill>
          <a:ln/>
        </p:spPr>
      </p:sp>
      <p:sp>
        <p:nvSpPr>
          <p:cNvPr id="15" name="Text 13"/>
          <p:cNvSpPr/>
          <p:nvPr/>
        </p:nvSpPr>
        <p:spPr>
          <a:xfrm>
            <a:off x="4663440" y="1920240"/>
            <a:ext cx="283464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Application Tier</a:t>
            </a:r>
            <a:endParaRPr lang="en-US" sz="1450" dirty="0"/>
          </a:p>
        </p:txBody>
      </p:sp>
      <p:sp>
        <p:nvSpPr>
          <p:cNvPr id="16" name="Text 14"/>
          <p:cNvSpPr/>
          <p:nvPr/>
        </p:nvSpPr>
        <p:spPr>
          <a:xfrm>
            <a:off x="4663440" y="2194560"/>
            <a:ext cx="2834640" cy="237744"/>
          </a:xfrm>
          <a:prstGeom prst="rect">
            <a:avLst/>
          </a:prstGeom>
          <a:noFill/>
          <a:ln/>
        </p:spPr>
        <p:txBody>
          <a:bodyPr wrap="square" lIns="0" tIns="0" rIns="0" bIns="0" rtlCol="0" anchor="ctr"/>
          <a:lstStyle/>
          <a:p>
            <a:pPr indent="0" marL="0">
              <a:buNone/>
            </a:pPr>
            <a:r>
              <a:rPr lang="en-US" sz="1050" dirty="0">
                <a:solidFill>
                  <a:srgbClr val="CFE8E6"/>
                </a:solidFill>
                <a:latin typeface="Calibri" pitchFamily="34" charset="0"/>
                <a:ea typeface="Calibri" pitchFamily="34" charset="-122"/>
                <a:cs typeface="Calibri" pitchFamily="34" charset="-120"/>
              </a:rPr>
              <a:t>hosted on Render</a:t>
            </a:r>
            <a:endParaRPr lang="en-US" sz="1050" dirty="0"/>
          </a:p>
        </p:txBody>
      </p:sp>
      <p:sp>
        <p:nvSpPr>
          <p:cNvPr id="17" name="Text 15"/>
          <p:cNvSpPr/>
          <p:nvPr/>
        </p:nvSpPr>
        <p:spPr>
          <a:xfrm>
            <a:off x="4663440" y="2688336"/>
            <a:ext cx="2834640" cy="914400"/>
          </a:xfrm>
          <a:prstGeom prst="rect">
            <a:avLst/>
          </a:prstGeom>
          <a:noFill/>
          <a:ln/>
        </p:spPr>
        <p:txBody>
          <a:bodyPr wrap="square" lIns="0" tIns="0" rIns="0" bIns="0" rtlCol="0" anchor="t"/>
          <a:lstStyle/>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Node.js 20 · Express · TypeScript</a:t>
            </a:r>
            <a:endParaRPr lang="en-US" sz="1200" dirty="0"/>
          </a:p>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Zod validation · JWT · bcrypt</a:t>
            </a:r>
            <a:endParaRPr lang="en-US" sz="1200" dirty="0"/>
          </a:p>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AI provider adapter</a:t>
            </a:r>
            <a:endParaRPr lang="en-US" sz="1200" dirty="0"/>
          </a:p>
        </p:txBody>
      </p:sp>
      <p:sp>
        <p:nvSpPr>
          <p:cNvPr id="18" name="Text 16"/>
          <p:cNvSpPr/>
          <p:nvPr/>
        </p:nvSpPr>
        <p:spPr>
          <a:xfrm>
            <a:off x="4663440" y="3675888"/>
            <a:ext cx="2834640" cy="1005840"/>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Stateless REST API. Enforces authentication, role-based access, validation and the ticket lifecycle.</a:t>
            </a:r>
            <a:endParaRPr lang="en-US" sz="1100" dirty="0"/>
          </a:p>
        </p:txBody>
      </p:sp>
      <p:sp>
        <p:nvSpPr>
          <p:cNvPr id="19" name="Text 17"/>
          <p:cNvSpPr/>
          <p:nvPr/>
        </p:nvSpPr>
        <p:spPr>
          <a:xfrm>
            <a:off x="7790688" y="3054096"/>
            <a:ext cx="438912" cy="365760"/>
          </a:xfrm>
          <a:prstGeom prst="rect">
            <a:avLst/>
          </a:prstGeom>
          <a:noFill/>
          <a:ln/>
        </p:spPr>
        <p:txBody>
          <a:bodyPr wrap="square" lIns="0" tIns="0" rIns="0" bIns="0" rtlCol="0" anchor="ctr"/>
          <a:lstStyle/>
          <a:p>
            <a:pPr algn="ctr" indent="0" marL="0">
              <a:buNone/>
            </a:pPr>
            <a:r>
              <a:rPr lang="en-US" sz="2000" b="1" dirty="0">
                <a:solidFill>
                  <a:srgbClr val="445C64"/>
                </a:solidFill>
                <a:latin typeface="Calibri" pitchFamily="34" charset="0"/>
                <a:ea typeface="Calibri" pitchFamily="34" charset="-122"/>
                <a:cs typeface="Calibri" pitchFamily="34" charset="-120"/>
              </a:rPr>
              <a:t>→</a:t>
            </a:r>
            <a:endParaRPr lang="en-US" sz="2000" dirty="0"/>
          </a:p>
        </p:txBody>
      </p:sp>
      <p:sp>
        <p:nvSpPr>
          <p:cNvPr id="20" name="Text 18"/>
          <p:cNvSpPr/>
          <p:nvPr/>
        </p:nvSpPr>
        <p:spPr>
          <a:xfrm>
            <a:off x="7790688" y="3401568"/>
            <a:ext cx="438912" cy="219456"/>
          </a:xfrm>
          <a:prstGeom prst="rect">
            <a:avLst/>
          </a:prstGeom>
          <a:noFill/>
          <a:ln/>
        </p:spPr>
        <p:txBody>
          <a:bodyPr wrap="square" lIns="0" tIns="0" rIns="0" bIns="0" rtlCol="0" anchor="ctr"/>
          <a:lstStyle/>
          <a:p>
            <a:pPr algn="ctr" indent="0" marL="0">
              <a:buNone/>
            </a:pPr>
            <a:r>
              <a:rPr lang="en-US" sz="800" dirty="0">
                <a:solidFill>
                  <a:srgbClr val="7C939B"/>
                </a:solidFill>
                <a:latin typeface="Calibri" pitchFamily="34" charset="0"/>
                <a:ea typeface="Calibri" pitchFamily="34" charset="-122"/>
                <a:cs typeface="Calibri" pitchFamily="34" charset="-120"/>
              </a:rPr>
              <a:t>TLS</a:t>
            </a:r>
            <a:endParaRPr lang="en-US" sz="800" dirty="0"/>
          </a:p>
        </p:txBody>
      </p:sp>
      <p:sp>
        <p:nvSpPr>
          <p:cNvPr id="21" name="Shape 19"/>
          <p:cNvSpPr/>
          <p:nvPr/>
        </p:nvSpPr>
        <p:spPr>
          <a:xfrm>
            <a:off x="8284464" y="1828800"/>
            <a:ext cx="3310128" cy="3017520"/>
          </a:xfrm>
          <a:prstGeom prst="roundRect">
            <a:avLst>
              <a:gd name="adj" fmla="val 3030"/>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2" name="Shape 20"/>
          <p:cNvSpPr/>
          <p:nvPr/>
        </p:nvSpPr>
        <p:spPr>
          <a:xfrm>
            <a:off x="8284464" y="1828800"/>
            <a:ext cx="3310128" cy="694944"/>
          </a:xfrm>
          <a:prstGeom prst="roundRect">
            <a:avLst>
              <a:gd name="adj" fmla="val 13158"/>
            </a:avLst>
          </a:prstGeom>
          <a:solidFill>
            <a:srgbClr val="0A2E36"/>
          </a:solidFill>
          <a:ln/>
        </p:spPr>
      </p:sp>
      <p:sp>
        <p:nvSpPr>
          <p:cNvPr id="23" name="Text 21"/>
          <p:cNvSpPr/>
          <p:nvPr/>
        </p:nvSpPr>
        <p:spPr>
          <a:xfrm>
            <a:off x="8522208" y="1920240"/>
            <a:ext cx="2834640" cy="27432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Data Tier</a:t>
            </a:r>
            <a:endParaRPr lang="en-US" sz="1450" dirty="0"/>
          </a:p>
        </p:txBody>
      </p:sp>
      <p:sp>
        <p:nvSpPr>
          <p:cNvPr id="24" name="Text 22"/>
          <p:cNvSpPr/>
          <p:nvPr/>
        </p:nvSpPr>
        <p:spPr>
          <a:xfrm>
            <a:off x="8522208" y="2194560"/>
            <a:ext cx="2834640" cy="237744"/>
          </a:xfrm>
          <a:prstGeom prst="rect">
            <a:avLst/>
          </a:prstGeom>
          <a:noFill/>
          <a:ln/>
        </p:spPr>
        <p:txBody>
          <a:bodyPr wrap="square" lIns="0" tIns="0" rIns="0" bIns="0" rtlCol="0" anchor="ctr"/>
          <a:lstStyle/>
          <a:p>
            <a:pPr indent="0" marL="0">
              <a:buNone/>
            </a:pPr>
            <a:r>
              <a:rPr lang="en-US" sz="1050" dirty="0">
                <a:solidFill>
                  <a:srgbClr val="CFE8E6"/>
                </a:solidFill>
                <a:latin typeface="Calibri" pitchFamily="34" charset="0"/>
                <a:ea typeface="Calibri" pitchFamily="34" charset="-122"/>
                <a:cs typeface="Calibri" pitchFamily="34" charset="-120"/>
              </a:rPr>
              <a:t>hosted on Supabase</a:t>
            </a:r>
            <a:endParaRPr lang="en-US" sz="1050" dirty="0"/>
          </a:p>
        </p:txBody>
      </p:sp>
      <p:sp>
        <p:nvSpPr>
          <p:cNvPr id="25" name="Text 23"/>
          <p:cNvSpPr/>
          <p:nvPr/>
        </p:nvSpPr>
        <p:spPr>
          <a:xfrm>
            <a:off x="8522208" y="2688336"/>
            <a:ext cx="2834640" cy="914400"/>
          </a:xfrm>
          <a:prstGeom prst="rect">
            <a:avLst/>
          </a:prstGeom>
          <a:noFill/>
          <a:ln/>
        </p:spPr>
        <p:txBody>
          <a:bodyPr wrap="square" lIns="0" tIns="0" rIns="0" bIns="0" rtlCol="0" anchor="t"/>
          <a:lstStyle/>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Managed PostgreSQL 15</a:t>
            </a:r>
            <a:endParaRPr lang="en-US" sz="1200" dirty="0"/>
          </a:p>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Object storage for attachments</a:t>
            </a:r>
            <a:endParaRPr lang="en-US" sz="1200" dirty="0"/>
          </a:p>
          <a:p>
            <a:pPr indent="0" marL="0">
              <a:lnSpc>
                <a:spcPts val="1600"/>
              </a:lnSpc>
              <a:buNone/>
            </a:pPr>
            <a:r>
              <a:rPr lang="en-US" sz="1200" b="1" dirty="0">
                <a:solidFill>
                  <a:srgbClr val="0A2E36"/>
                </a:solidFill>
                <a:latin typeface="Calibri" pitchFamily="34" charset="0"/>
                <a:ea typeface="Calibri" pitchFamily="34" charset="-122"/>
                <a:cs typeface="Calibri" pitchFamily="34" charset="-120"/>
              </a:rPr>
              <a:t>Automated backups</a:t>
            </a:r>
            <a:endParaRPr lang="en-US" sz="1200" dirty="0"/>
          </a:p>
        </p:txBody>
      </p:sp>
      <p:sp>
        <p:nvSpPr>
          <p:cNvPr id="26" name="Text 24"/>
          <p:cNvSpPr/>
          <p:nvPr/>
        </p:nvSpPr>
        <p:spPr>
          <a:xfrm>
            <a:off x="8522208" y="3675888"/>
            <a:ext cx="2834640" cy="1005840"/>
          </a:xfrm>
          <a:prstGeom prst="rect">
            <a:avLst/>
          </a:prstGeom>
          <a:noFill/>
          <a:ln/>
        </p:spPr>
        <p:txBody>
          <a:bodyPr wrap="square" lIns="0" tIns="0" rIns="0" bIns="0" rtlCol="0" anchor="t"/>
          <a:lstStyle/>
          <a:p>
            <a:pPr indent="0" marL="0">
              <a:lnSpc>
                <a:spcPts val="1400"/>
              </a:lnSpc>
              <a:buNone/>
            </a:pPr>
            <a:r>
              <a:rPr lang="en-US" sz="1100" dirty="0">
                <a:solidFill>
                  <a:srgbClr val="445C64"/>
                </a:solidFill>
                <a:latin typeface="Calibri" pitchFamily="34" charset="0"/>
                <a:ea typeface="Calibri" pitchFamily="34" charset="-122"/>
                <a:cs typeface="Calibri" pitchFamily="34" charset="-120"/>
              </a:rPr>
              <a:t>Single source of truth. Constraints and indexes defined in versioned SQL migrations.</a:t>
            </a:r>
            <a:endParaRPr lang="en-US" sz="1100" dirty="0"/>
          </a:p>
        </p:txBody>
      </p:sp>
      <p:sp>
        <p:nvSpPr>
          <p:cNvPr id="27" name="Shape 25"/>
          <p:cNvSpPr/>
          <p:nvPr/>
        </p:nvSpPr>
        <p:spPr>
          <a:xfrm>
            <a:off x="566928" y="5065776"/>
            <a:ext cx="11027664" cy="1060704"/>
          </a:xfrm>
          <a:prstGeom prst="roundRect">
            <a:avLst>
              <a:gd name="adj" fmla="val 8621"/>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8" name="Text 26"/>
          <p:cNvSpPr/>
          <p:nvPr/>
        </p:nvSpPr>
        <p:spPr>
          <a:xfrm>
            <a:off x="877824" y="5193792"/>
            <a:ext cx="2743200" cy="256032"/>
          </a:xfrm>
          <a:prstGeom prst="rect">
            <a:avLst/>
          </a:prstGeom>
          <a:noFill/>
          <a:ln/>
        </p:spPr>
        <p:txBody>
          <a:bodyPr wrap="square" lIns="0" tIns="0" rIns="0" bIns="0" rtlCol="0" anchor="ctr"/>
          <a:lstStyle/>
          <a:p>
            <a:pPr indent="0" marL="0">
              <a:buNone/>
            </a:pPr>
            <a:r>
              <a:rPr lang="en-US" sz="1250" b="1" dirty="0">
                <a:solidFill>
                  <a:srgbClr val="028090"/>
                </a:solidFill>
                <a:latin typeface="Calibri" pitchFamily="34" charset="0"/>
                <a:ea typeface="Calibri" pitchFamily="34" charset="-122"/>
                <a:cs typeface="Calibri" pitchFamily="34" charset="-120"/>
              </a:rPr>
              <a:t>Seven planned entities</a:t>
            </a:r>
            <a:endParaRPr lang="en-US" sz="1250" dirty="0"/>
          </a:p>
        </p:txBody>
      </p:sp>
      <p:sp>
        <p:nvSpPr>
          <p:cNvPr id="29" name="Text 27"/>
          <p:cNvSpPr/>
          <p:nvPr/>
        </p:nvSpPr>
        <p:spPr>
          <a:xfrm>
            <a:off x="877824" y="5449824"/>
            <a:ext cx="10405872" cy="256032"/>
          </a:xfrm>
          <a:prstGeom prst="rect">
            <a:avLst/>
          </a:prstGeom>
          <a:noFill/>
          <a:ln/>
        </p:spPr>
        <p:txBody>
          <a:bodyPr wrap="square" lIns="0" tIns="0" rIns="0" bIns="0" rtlCol="0" anchor="ctr"/>
          <a:lstStyle/>
          <a:p>
            <a:pPr indent="0" marL="0">
              <a:buNone/>
            </a:pPr>
            <a:r>
              <a:rPr lang="en-US" sz="1200" dirty="0">
                <a:solidFill>
                  <a:srgbClr val="0A2E36"/>
                </a:solidFill>
                <a:latin typeface="Calibri" pitchFamily="34" charset="0"/>
                <a:ea typeface="Calibri" pitchFamily="34" charset="-122"/>
                <a:cs typeface="Calibri" pitchFamily="34" charset="-120"/>
              </a:rPr>
              <a:t>users  ·  categories  ·  tickets  ·  ticket_messages  ·  ticket_events  ·  notifications  ·  audit_logs</a:t>
            </a:r>
            <a:endParaRPr lang="en-US" sz="1200" dirty="0"/>
          </a:p>
        </p:txBody>
      </p:sp>
      <p:sp>
        <p:nvSpPr>
          <p:cNvPr id="30" name="Text 28"/>
          <p:cNvSpPr/>
          <p:nvPr/>
        </p:nvSpPr>
        <p:spPr>
          <a:xfrm>
            <a:off x="877824" y="5705856"/>
            <a:ext cx="10405872" cy="256032"/>
          </a:xfrm>
          <a:prstGeom prst="rect">
            <a:avLst/>
          </a:prstGeom>
          <a:noFill/>
          <a:ln/>
        </p:spPr>
        <p:txBody>
          <a:bodyPr wrap="square" lIns="0" tIns="0" rIns="0" bIns="0" rtlCol="0" anchor="ctr"/>
          <a:lstStyle/>
          <a:p>
            <a:pPr indent="0" marL="0">
              <a:buNone/>
            </a:pPr>
            <a:r>
              <a:rPr lang="en-US" sz="1100" i="1" dirty="0">
                <a:solidFill>
                  <a:srgbClr val="7C939B"/>
                </a:solidFill>
                <a:latin typeface="Calibri" pitchFamily="34" charset="0"/>
                <a:ea typeface="Calibri" pitchFamily="34" charset="-122"/>
                <a:cs typeface="Calibri" pitchFamily="34" charset="-120"/>
              </a:rPr>
              <a:t>The ER diagram will be generated from the migration SQL, so the diagram and the live database cannot drift apart.</a:t>
            </a:r>
            <a:endParaRPr lang="en-US" sz="1100" dirty="0"/>
          </a:p>
        </p:txBody>
      </p:sp>
      <p:sp>
        <p:nvSpPr>
          <p:cNvPr id="31" name="Text 29"/>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2" name="Text 30"/>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DESIGN DECISION</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AI-Assisted Ticket Handling</a:t>
            </a:r>
            <a:endParaRPr lang="en-US" sz="3000" dirty="0"/>
          </a:p>
        </p:txBody>
      </p:sp>
      <p:sp>
        <p:nvSpPr>
          <p:cNvPr id="4" name="Shape 2"/>
          <p:cNvSpPr/>
          <p:nvPr/>
        </p:nvSpPr>
        <p:spPr>
          <a:xfrm>
            <a:off x="566928" y="1353312"/>
            <a:ext cx="11027664" cy="731520"/>
          </a:xfrm>
          <a:prstGeom prst="roundRect">
            <a:avLst>
              <a:gd name="adj" fmla="val 12500"/>
            </a:avLst>
          </a:prstGeom>
          <a:solidFill>
            <a:srgbClr val="FBF7EF"/>
          </a:solidFill>
          <a:ln w="9525">
            <a:solidFill>
              <a:srgbClr val="EBDFC8"/>
            </a:solidFill>
            <a:prstDash val="solid"/>
          </a:ln>
          <a:effectLst>
            <a:outerShdw sx="100000" sy="100000" kx="0" ky="0" algn="bl" rotWithShape="0" blurRad="127000" dist="25400" dir="5400000">
              <a:srgbClr val="0A2E36">
                <a:alpha val="10000"/>
              </a:srgbClr>
            </a:outerShdw>
          </a:effectLst>
        </p:spPr>
      </p:sp>
      <p:sp>
        <p:nvSpPr>
          <p:cNvPr id="5" name="Text 3"/>
          <p:cNvSpPr/>
          <p:nvPr/>
        </p:nvSpPr>
        <p:spPr>
          <a:xfrm>
            <a:off x="877824" y="1353312"/>
            <a:ext cx="10405872" cy="731520"/>
          </a:xfrm>
          <a:prstGeom prst="rect">
            <a:avLst/>
          </a:prstGeom>
          <a:noFill/>
          <a:ln/>
        </p:spPr>
        <p:txBody>
          <a:bodyPr wrap="square" lIns="0" tIns="0" rIns="0" bIns="0" rtlCol="0" anchor="ctr"/>
          <a:lstStyle/>
          <a:p>
            <a:pPr indent="0" marL="0">
              <a:lnSpc>
                <a:spcPts val="1500"/>
              </a:lnSpc>
              <a:buNone/>
            </a:pPr>
            <a:r>
              <a:rPr lang="en-US" sz="1200" dirty="0">
                <a:solidFill>
                  <a:srgbClr val="6B4E10"/>
                </a:solidFill>
                <a:latin typeface="Calibri" pitchFamily="34" charset="0"/>
                <a:ea typeface="Calibri" pitchFamily="34" charset="-122"/>
                <a:cs typeface="Calibri" pitchFamily="34" charset="-120"/>
              </a:rPr>
              <a:t>Honest scoping note:  the official Project 19 specification does not require AI — only the project title contains it. Every AI capability here is our own addition, so no mandatory requirement is allowed to depend on it.</a:t>
            </a:r>
            <a:endParaRPr lang="en-US" sz="1200" dirty="0"/>
          </a:p>
        </p:txBody>
      </p:sp>
      <p:sp>
        <p:nvSpPr>
          <p:cNvPr id="6" name="Shape 4"/>
          <p:cNvSpPr/>
          <p:nvPr/>
        </p:nvSpPr>
        <p:spPr>
          <a:xfrm>
            <a:off x="566928" y="2267712"/>
            <a:ext cx="2564892" cy="1755648"/>
          </a:xfrm>
          <a:prstGeom prst="roundRect">
            <a:avLst>
              <a:gd name="adj" fmla="val 5208"/>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7" name="Text 5"/>
          <p:cNvSpPr/>
          <p:nvPr/>
        </p:nvSpPr>
        <p:spPr>
          <a:xfrm>
            <a:off x="804672" y="2432304"/>
            <a:ext cx="2089404" cy="274320"/>
          </a:xfrm>
          <a:prstGeom prst="rect">
            <a:avLst/>
          </a:prstGeom>
          <a:noFill/>
          <a:ln/>
        </p:spPr>
        <p:txBody>
          <a:bodyPr wrap="square" lIns="0" tIns="0" rIns="0" bIns="0" rtlCol="0" anchor="ctr"/>
          <a:lstStyle/>
          <a:p>
            <a:pPr indent="0" marL="0">
              <a:buNone/>
            </a:pPr>
            <a:r>
              <a:rPr lang="en-US" sz="1400" b="1" dirty="0">
                <a:solidFill>
                  <a:srgbClr val="0A2E36"/>
                </a:solidFill>
                <a:latin typeface="Cambria" pitchFamily="34" charset="0"/>
                <a:ea typeface="Cambria" pitchFamily="34" charset="-122"/>
                <a:cs typeface="Cambria" pitchFamily="34" charset="-120"/>
              </a:rPr>
              <a:t>Classification</a:t>
            </a:r>
            <a:endParaRPr lang="en-US" sz="1400" dirty="0"/>
          </a:p>
        </p:txBody>
      </p:sp>
      <p:sp>
        <p:nvSpPr>
          <p:cNvPr id="8" name="Text 6"/>
          <p:cNvSpPr/>
          <p:nvPr/>
        </p:nvSpPr>
        <p:spPr>
          <a:xfrm>
            <a:off x="804672" y="2724912"/>
            <a:ext cx="2089404" cy="603504"/>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On submission, proposes category, priority and sentiment.</a:t>
            </a:r>
            <a:endParaRPr lang="en-US" sz="1150" dirty="0"/>
          </a:p>
        </p:txBody>
      </p:sp>
      <p:sp>
        <p:nvSpPr>
          <p:cNvPr id="9" name="Text 7"/>
          <p:cNvSpPr/>
          <p:nvPr/>
        </p:nvSpPr>
        <p:spPr>
          <a:xfrm>
            <a:off x="804672" y="3364992"/>
            <a:ext cx="2089404" cy="530352"/>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Agent can override every field.</a:t>
            </a:r>
            <a:endParaRPr lang="en-US" sz="1050" dirty="0"/>
          </a:p>
        </p:txBody>
      </p:sp>
      <p:sp>
        <p:nvSpPr>
          <p:cNvPr id="10" name="Shape 8"/>
          <p:cNvSpPr/>
          <p:nvPr/>
        </p:nvSpPr>
        <p:spPr>
          <a:xfrm>
            <a:off x="3387852" y="2267712"/>
            <a:ext cx="2564892" cy="1755648"/>
          </a:xfrm>
          <a:prstGeom prst="roundRect">
            <a:avLst>
              <a:gd name="adj" fmla="val 5208"/>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1" name="Text 9"/>
          <p:cNvSpPr/>
          <p:nvPr/>
        </p:nvSpPr>
        <p:spPr>
          <a:xfrm>
            <a:off x="3625596" y="2432304"/>
            <a:ext cx="2089404" cy="274320"/>
          </a:xfrm>
          <a:prstGeom prst="rect">
            <a:avLst/>
          </a:prstGeom>
          <a:noFill/>
          <a:ln/>
        </p:spPr>
        <p:txBody>
          <a:bodyPr wrap="square" lIns="0" tIns="0" rIns="0" bIns="0" rtlCol="0" anchor="ctr"/>
          <a:lstStyle/>
          <a:p>
            <a:pPr indent="0" marL="0">
              <a:buNone/>
            </a:pPr>
            <a:r>
              <a:rPr lang="en-US" sz="1400" b="1" dirty="0">
                <a:solidFill>
                  <a:srgbClr val="0A2E36"/>
                </a:solidFill>
                <a:latin typeface="Cambria" pitchFamily="34" charset="0"/>
                <a:ea typeface="Cambria" pitchFamily="34" charset="-122"/>
                <a:cs typeface="Cambria" pitchFamily="34" charset="-120"/>
              </a:rPr>
              <a:t>Summarisation</a:t>
            </a:r>
            <a:endParaRPr lang="en-US" sz="1400" dirty="0"/>
          </a:p>
        </p:txBody>
      </p:sp>
      <p:sp>
        <p:nvSpPr>
          <p:cNvPr id="12" name="Text 10"/>
          <p:cNvSpPr/>
          <p:nvPr/>
        </p:nvSpPr>
        <p:spPr>
          <a:xfrm>
            <a:off x="3625596" y="2724912"/>
            <a:ext cx="2089404" cy="603504"/>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Condenses a long conversation into one line.</a:t>
            </a:r>
            <a:endParaRPr lang="en-US" sz="1150" dirty="0"/>
          </a:p>
        </p:txBody>
      </p:sp>
      <p:sp>
        <p:nvSpPr>
          <p:cNvPr id="13" name="Text 11"/>
          <p:cNvSpPr/>
          <p:nvPr/>
        </p:nvSpPr>
        <p:spPr>
          <a:xfrm>
            <a:off x="3625596" y="3364992"/>
            <a:ext cx="2089404" cy="530352"/>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Advisory only — never sent to a customer.</a:t>
            </a:r>
            <a:endParaRPr lang="en-US" sz="1050" dirty="0"/>
          </a:p>
        </p:txBody>
      </p:sp>
      <p:sp>
        <p:nvSpPr>
          <p:cNvPr id="14" name="Shape 12"/>
          <p:cNvSpPr/>
          <p:nvPr/>
        </p:nvSpPr>
        <p:spPr>
          <a:xfrm>
            <a:off x="6208776" y="2267712"/>
            <a:ext cx="2564892" cy="1755648"/>
          </a:xfrm>
          <a:prstGeom prst="roundRect">
            <a:avLst>
              <a:gd name="adj" fmla="val 5208"/>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5" name="Text 13"/>
          <p:cNvSpPr/>
          <p:nvPr/>
        </p:nvSpPr>
        <p:spPr>
          <a:xfrm>
            <a:off x="6446520" y="2432304"/>
            <a:ext cx="2089404" cy="274320"/>
          </a:xfrm>
          <a:prstGeom prst="rect">
            <a:avLst/>
          </a:prstGeom>
          <a:noFill/>
          <a:ln/>
        </p:spPr>
        <p:txBody>
          <a:bodyPr wrap="square" lIns="0" tIns="0" rIns="0" bIns="0" rtlCol="0" anchor="ctr"/>
          <a:lstStyle/>
          <a:p>
            <a:pPr indent="0" marL="0">
              <a:buNone/>
            </a:pPr>
            <a:r>
              <a:rPr lang="en-US" sz="1400" b="1" dirty="0">
                <a:solidFill>
                  <a:srgbClr val="0A2E36"/>
                </a:solidFill>
                <a:latin typeface="Cambria" pitchFamily="34" charset="0"/>
                <a:ea typeface="Cambria" pitchFamily="34" charset="-122"/>
                <a:cs typeface="Cambria" pitchFamily="34" charset="-120"/>
              </a:rPr>
              <a:t>Draft reply</a:t>
            </a:r>
            <a:endParaRPr lang="en-US" sz="1400" dirty="0"/>
          </a:p>
        </p:txBody>
      </p:sp>
      <p:sp>
        <p:nvSpPr>
          <p:cNvPr id="16" name="Text 14"/>
          <p:cNvSpPr/>
          <p:nvPr/>
        </p:nvSpPr>
        <p:spPr>
          <a:xfrm>
            <a:off x="6446520" y="2724912"/>
            <a:ext cx="2089404" cy="603504"/>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Generates a response for the agent to work from.</a:t>
            </a:r>
            <a:endParaRPr lang="en-US" sz="1150" dirty="0"/>
          </a:p>
        </p:txBody>
      </p:sp>
      <p:sp>
        <p:nvSpPr>
          <p:cNvPr id="17" name="Text 15"/>
          <p:cNvSpPr/>
          <p:nvPr/>
        </p:nvSpPr>
        <p:spPr>
          <a:xfrm>
            <a:off x="6446520" y="3364992"/>
            <a:ext cx="2089404" cy="530352"/>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Agent must insert, edit and press send.</a:t>
            </a:r>
            <a:endParaRPr lang="en-US" sz="1050" dirty="0"/>
          </a:p>
        </p:txBody>
      </p:sp>
      <p:sp>
        <p:nvSpPr>
          <p:cNvPr id="18" name="Shape 16"/>
          <p:cNvSpPr/>
          <p:nvPr/>
        </p:nvSpPr>
        <p:spPr>
          <a:xfrm>
            <a:off x="9029700" y="2267712"/>
            <a:ext cx="2564892" cy="1755648"/>
          </a:xfrm>
          <a:prstGeom prst="roundRect">
            <a:avLst>
              <a:gd name="adj" fmla="val 5208"/>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9" name="Text 17"/>
          <p:cNvSpPr/>
          <p:nvPr/>
        </p:nvSpPr>
        <p:spPr>
          <a:xfrm>
            <a:off x="9267444" y="2432304"/>
            <a:ext cx="2089404" cy="274320"/>
          </a:xfrm>
          <a:prstGeom prst="rect">
            <a:avLst/>
          </a:prstGeom>
          <a:noFill/>
          <a:ln/>
        </p:spPr>
        <p:txBody>
          <a:bodyPr wrap="square" lIns="0" tIns="0" rIns="0" bIns="0" rtlCol="0" anchor="ctr"/>
          <a:lstStyle/>
          <a:p>
            <a:pPr indent="0" marL="0">
              <a:buNone/>
            </a:pPr>
            <a:r>
              <a:rPr lang="en-US" sz="1400" b="1" dirty="0">
                <a:solidFill>
                  <a:srgbClr val="0A2E36"/>
                </a:solidFill>
                <a:latin typeface="Cambria" pitchFamily="34" charset="0"/>
                <a:ea typeface="Cambria" pitchFamily="34" charset="-122"/>
                <a:cs typeface="Cambria" pitchFamily="34" charset="-120"/>
              </a:rPr>
              <a:t>Resolution steps</a:t>
            </a:r>
            <a:endParaRPr lang="en-US" sz="1400" dirty="0"/>
          </a:p>
        </p:txBody>
      </p:sp>
      <p:sp>
        <p:nvSpPr>
          <p:cNvPr id="20" name="Text 18"/>
          <p:cNvSpPr/>
          <p:nvPr/>
        </p:nvSpPr>
        <p:spPr>
          <a:xfrm>
            <a:off x="9267444" y="2724912"/>
            <a:ext cx="2089404" cy="603504"/>
          </a:xfrm>
          <a:prstGeom prst="rect">
            <a:avLst/>
          </a:prstGeom>
          <a:noFill/>
          <a:ln/>
        </p:spPr>
        <p:txBody>
          <a:bodyPr wrap="square" lIns="0" tIns="0" rIns="0" bIns="0" rtlCol="0" anchor="t"/>
          <a:lstStyle/>
          <a:p>
            <a:pPr indent="0" marL="0">
              <a:lnSpc>
                <a:spcPts val="1400"/>
              </a:lnSpc>
              <a:buNone/>
            </a:pPr>
            <a:r>
              <a:rPr lang="en-US" sz="1150" dirty="0">
                <a:solidFill>
                  <a:srgbClr val="445C64"/>
                </a:solidFill>
                <a:latin typeface="Calibri" pitchFamily="34" charset="0"/>
                <a:ea typeface="Calibri" pitchFamily="34" charset="-122"/>
                <a:cs typeface="Calibri" pitchFamily="34" charset="-120"/>
              </a:rPr>
              <a:t>Suggests troubleshooting steps for the issue.</a:t>
            </a:r>
            <a:endParaRPr lang="en-US" sz="1150" dirty="0"/>
          </a:p>
        </p:txBody>
      </p:sp>
      <p:sp>
        <p:nvSpPr>
          <p:cNvPr id="21" name="Text 19"/>
          <p:cNvSpPr/>
          <p:nvPr/>
        </p:nvSpPr>
        <p:spPr>
          <a:xfrm>
            <a:off x="9267444" y="3364992"/>
            <a:ext cx="2089404" cy="530352"/>
          </a:xfrm>
          <a:prstGeom prst="rect">
            <a:avLst/>
          </a:prstGeom>
          <a:noFill/>
          <a:ln/>
        </p:spPr>
        <p:txBody>
          <a:bodyPr wrap="square" lIns="0" tIns="0" rIns="0" bIns="0" rtlCol="0" anchor="t"/>
          <a:lstStyle/>
          <a:p>
            <a:pPr indent="0" marL="0">
              <a:lnSpc>
                <a:spcPts val="1300"/>
              </a:lnSpc>
              <a:buNone/>
            </a:pPr>
            <a:r>
              <a:rPr lang="en-US" sz="1050" b="1" dirty="0">
                <a:solidFill>
                  <a:srgbClr val="028090"/>
                </a:solidFill>
                <a:latin typeface="Calibri" pitchFamily="34" charset="0"/>
                <a:ea typeface="Calibri" pitchFamily="34" charset="-122"/>
                <a:cs typeface="Calibri" pitchFamily="34" charset="-120"/>
              </a:rPr>
              <a:t>Human control:  Advisory only.</a:t>
            </a:r>
            <a:endParaRPr lang="en-US" sz="1050" dirty="0"/>
          </a:p>
        </p:txBody>
      </p:sp>
      <p:sp>
        <p:nvSpPr>
          <p:cNvPr id="22" name="Shape 20"/>
          <p:cNvSpPr/>
          <p:nvPr/>
        </p:nvSpPr>
        <p:spPr>
          <a:xfrm>
            <a:off x="566928" y="4224528"/>
            <a:ext cx="6035040" cy="1883664"/>
          </a:xfrm>
          <a:prstGeom prst="roundRect">
            <a:avLst>
              <a:gd name="adj" fmla="val 4854"/>
            </a:avLst>
          </a:prstGeom>
          <a:solidFill>
            <a:srgbClr val="0A2E36"/>
          </a:solidFill>
          <a:ln/>
          <a:effectLst>
            <a:outerShdw sx="100000" sy="100000" kx="0" ky="0" algn="bl" rotWithShape="0" blurRad="127000" dist="25400" dir="5400000">
              <a:srgbClr val="0A2E36">
                <a:alpha val="10000"/>
              </a:srgbClr>
            </a:outerShdw>
          </a:effectLst>
        </p:spPr>
      </p:sp>
      <p:sp>
        <p:nvSpPr>
          <p:cNvPr id="23" name="Text 21"/>
          <p:cNvSpPr/>
          <p:nvPr/>
        </p:nvSpPr>
        <p:spPr>
          <a:xfrm>
            <a:off x="841248" y="4352544"/>
            <a:ext cx="2743200" cy="237744"/>
          </a:xfrm>
          <a:prstGeom prst="rect">
            <a:avLst/>
          </a:prstGeom>
          <a:noFill/>
          <a:ln/>
        </p:spPr>
        <p:txBody>
          <a:bodyPr wrap="square" lIns="0" tIns="0" rIns="0" bIns="0" rtlCol="0" anchor="ctr"/>
          <a:lstStyle/>
          <a:p>
            <a:pPr indent="0" marL="0">
              <a:buNone/>
            </a:pPr>
            <a:r>
              <a:rPr lang="en-US" sz="1100" b="1" spc="140" kern="0" dirty="0">
                <a:solidFill>
                  <a:srgbClr val="02C39A"/>
                </a:solidFill>
                <a:latin typeface="Calibri" pitchFamily="34" charset="0"/>
                <a:ea typeface="Calibri" pitchFamily="34" charset="-122"/>
                <a:cs typeface="Calibri" pitchFamily="34" charset="-120"/>
              </a:rPr>
              <a:t>Worked example</a:t>
            </a:r>
            <a:endParaRPr lang="en-US" sz="1100" dirty="0"/>
          </a:p>
        </p:txBody>
      </p:sp>
      <p:sp>
        <p:nvSpPr>
          <p:cNvPr id="24" name="Text 22"/>
          <p:cNvSpPr/>
          <p:nvPr/>
        </p:nvSpPr>
        <p:spPr>
          <a:xfrm>
            <a:off x="841248" y="4626864"/>
            <a:ext cx="5486400" cy="274320"/>
          </a:xfrm>
          <a:prstGeom prst="rect">
            <a:avLst/>
          </a:prstGeom>
          <a:noFill/>
          <a:ln/>
        </p:spPr>
        <p:txBody>
          <a:bodyPr wrap="square" lIns="0" tIns="0" rIns="0" bIns="0" rtlCol="0" anchor="ctr"/>
          <a:lstStyle/>
          <a:p>
            <a:pPr indent="0" marL="0">
              <a:buNone/>
            </a:pPr>
            <a:r>
              <a:rPr lang="en-US" sz="1200" i="1" dirty="0">
                <a:solidFill>
                  <a:srgbClr val="FFFFFF"/>
                </a:solidFill>
                <a:latin typeface="Calibri" pitchFamily="34" charset="0"/>
                <a:ea typeface="Calibri" pitchFamily="34" charset="-122"/>
                <a:cs typeface="Calibri" pitchFamily="34" charset="-120"/>
              </a:rPr>
              <a:t>Customer:  “My payment was deducted but my order is still showing pending.”</a:t>
            </a:r>
            <a:endParaRPr lang="en-US" sz="1200" dirty="0"/>
          </a:p>
        </p:txBody>
      </p:sp>
      <p:sp>
        <p:nvSpPr>
          <p:cNvPr id="25" name="Text 23"/>
          <p:cNvSpPr/>
          <p:nvPr/>
        </p:nvSpPr>
        <p:spPr>
          <a:xfrm>
            <a:off x="841248" y="5010912"/>
            <a:ext cx="1188720" cy="201168"/>
          </a:xfrm>
          <a:prstGeom prst="rect">
            <a:avLst/>
          </a:prstGeom>
          <a:noFill/>
          <a:ln/>
        </p:spPr>
        <p:txBody>
          <a:bodyPr wrap="square" lIns="0" tIns="0" rIns="0" bIns="0" rtlCol="0" anchor="ctr"/>
          <a:lstStyle/>
          <a:p>
            <a:pPr indent="0" marL="0">
              <a:buNone/>
            </a:pPr>
            <a:r>
              <a:rPr lang="en-US" sz="950" dirty="0">
                <a:solidFill>
                  <a:srgbClr val="8FAAB1"/>
                </a:solidFill>
                <a:latin typeface="Calibri" pitchFamily="34" charset="0"/>
                <a:ea typeface="Calibri" pitchFamily="34" charset="-122"/>
                <a:cs typeface="Calibri" pitchFamily="34" charset="-120"/>
              </a:rPr>
              <a:t>Category</a:t>
            </a:r>
            <a:endParaRPr lang="en-US" sz="950" dirty="0"/>
          </a:p>
        </p:txBody>
      </p:sp>
      <p:sp>
        <p:nvSpPr>
          <p:cNvPr id="26" name="Text 24"/>
          <p:cNvSpPr/>
          <p:nvPr/>
        </p:nvSpPr>
        <p:spPr>
          <a:xfrm>
            <a:off x="841248" y="5193792"/>
            <a:ext cx="1188720" cy="237744"/>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Billing</a:t>
            </a:r>
            <a:endParaRPr lang="en-US" sz="1300" dirty="0"/>
          </a:p>
        </p:txBody>
      </p:sp>
      <p:sp>
        <p:nvSpPr>
          <p:cNvPr id="27" name="Text 25"/>
          <p:cNvSpPr/>
          <p:nvPr/>
        </p:nvSpPr>
        <p:spPr>
          <a:xfrm>
            <a:off x="2157984" y="5010912"/>
            <a:ext cx="1188720" cy="201168"/>
          </a:xfrm>
          <a:prstGeom prst="rect">
            <a:avLst/>
          </a:prstGeom>
          <a:noFill/>
          <a:ln/>
        </p:spPr>
        <p:txBody>
          <a:bodyPr wrap="square" lIns="0" tIns="0" rIns="0" bIns="0" rtlCol="0" anchor="ctr"/>
          <a:lstStyle/>
          <a:p>
            <a:pPr indent="0" marL="0">
              <a:buNone/>
            </a:pPr>
            <a:r>
              <a:rPr lang="en-US" sz="950" dirty="0">
                <a:solidFill>
                  <a:srgbClr val="8FAAB1"/>
                </a:solidFill>
                <a:latin typeface="Calibri" pitchFamily="34" charset="0"/>
                <a:ea typeface="Calibri" pitchFamily="34" charset="-122"/>
                <a:cs typeface="Calibri" pitchFamily="34" charset="-120"/>
              </a:rPr>
              <a:t>Priority</a:t>
            </a:r>
            <a:endParaRPr lang="en-US" sz="950" dirty="0"/>
          </a:p>
        </p:txBody>
      </p:sp>
      <p:sp>
        <p:nvSpPr>
          <p:cNvPr id="28" name="Text 26"/>
          <p:cNvSpPr/>
          <p:nvPr/>
        </p:nvSpPr>
        <p:spPr>
          <a:xfrm>
            <a:off x="2157984" y="5193792"/>
            <a:ext cx="1188720" cy="237744"/>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High</a:t>
            </a:r>
            <a:endParaRPr lang="en-US" sz="1300" dirty="0"/>
          </a:p>
        </p:txBody>
      </p:sp>
      <p:sp>
        <p:nvSpPr>
          <p:cNvPr id="29" name="Text 27"/>
          <p:cNvSpPr/>
          <p:nvPr/>
        </p:nvSpPr>
        <p:spPr>
          <a:xfrm>
            <a:off x="3474720" y="5010912"/>
            <a:ext cx="1188720" cy="201168"/>
          </a:xfrm>
          <a:prstGeom prst="rect">
            <a:avLst/>
          </a:prstGeom>
          <a:noFill/>
          <a:ln/>
        </p:spPr>
        <p:txBody>
          <a:bodyPr wrap="square" lIns="0" tIns="0" rIns="0" bIns="0" rtlCol="0" anchor="ctr"/>
          <a:lstStyle/>
          <a:p>
            <a:pPr indent="0" marL="0">
              <a:buNone/>
            </a:pPr>
            <a:r>
              <a:rPr lang="en-US" sz="950" dirty="0">
                <a:solidFill>
                  <a:srgbClr val="8FAAB1"/>
                </a:solidFill>
                <a:latin typeface="Calibri" pitchFamily="34" charset="0"/>
                <a:ea typeface="Calibri" pitchFamily="34" charset="-122"/>
                <a:cs typeface="Calibri" pitchFamily="34" charset="-120"/>
              </a:rPr>
              <a:t>Sentiment</a:t>
            </a:r>
            <a:endParaRPr lang="en-US" sz="950" dirty="0"/>
          </a:p>
        </p:txBody>
      </p:sp>
      <p:sp>
        <p:nvSpPr>
          <p:cNvPr id="30" name="Text 28"/>
          <p:cNvSpPr/>
          <p:nvPr/>
        </p:nvSpPr>
        <p:spPr>
          <a:xfrm>
            <a:off x="3474720" y="5193792"/>
            <a:ext cx="1188720" cy="237744"/>
          </a:xfrm>
          <a:prstGeom prst="rect">
            <a:avLst/>
          </a:prstGeom>
          <a:noFill/>
          <a:ln/>
        </p:spPr>
        <p:txBody>
          <a:bodyPr wrap="square" lIns="0" tIns="0" rIns="0" bIns="0" rtlCol="0" anchor="ctr"/>
          <a:lstStyle/>
          <a:p>
            <a:pPr indent="0" marL="0">
              <a:buNone/>
            </a:pPr>
            <a:r>
              <a:rPr lang="en-US" sz="1300" b="1" dirty="0">
                <a:solidFill>
                  <a:srgbClr val="02C39A"/>
                </a:solidFill>
                <a:latin typeface="Calibri" pitchFamily="34" charset="0"/>
                <a:ea typeface="Calibri" pitchFamily="34" charset="-122"/>
                <a:cs typeface="Calibri" pitchFamily="34" charset="-120"/>
              </a:rPr>
              <a:t>Negative</a:t>
            </a:r>
            <a:endParaRPr lang="en-US" sz="1300" dirty="0"/>
          </a:p>
        </p:txBody>
      </p:sp>
      <p:sp>
        <p:nvSpPr>
          <p:cNvPr id="31" name="Text 29"/>
          <p:cNvSpPr/>
          <p:nvPr/>
        </p:nvSpPr>
        <p:spPr>
          <a:xfrm>
            <a:off x="841248" y="5614416"/>
            <a:ext cx="5486400" cy="256032"/>
          </a:xfrm>
          <a:prstGeom prst="rect">
            <a:avLst/>
          </a:prstGeom>
          <a:noFill/>
          <a:ln/>
        </p:spPr>
        <p:txBody>
          <a:bodyPr wrap="square" lIns="0" tIns="0" rIns="0" bIns="0" rtlCol="0" anchor="ctr"/>
          <a:lstStyle/>
          <a:p>
            <a:pPr indent="0" marL="0">
              <a:buNone/>
            </a:pPr>
            <a:r>
              <a:rPr lang="en-US" sz="1150" dirty="0">
                <a:solidFill>
                  <a:srgbClr val="BCD4D8"/>
                </a:solidFill>
                <a:latin typeface="Calibri" pitchFamily="34" charset="0"/>
                <a:ea typeface="Calibri" pitchFamily="34" charset="-122"/>
                <a:cs typeface="Calibri" pitchFamily="34" charset="-120"/>
              </a:rPr>
              <a:t>Summary:  Payment completed but order status remains pending.</a:t>
            </a:r>
            <a:endParaRPr lang="en-US" sz="1150" dirty="0"/>
          </a:p>
        </p:txBody>
      </p:sp>
      <p:sp>
        <p:nvSpPr>
          <p:cNvPr id="32" name="Shape 30"/>
          <p:cNvSpPr/>
          <p:nvPr/>
        </p:nvSpPr>
        <p:spPr>
          <a:xfrm>
            <a:off x="6876288" y="4224528"/>
            <a:ext cx="4718304" cy="1883664"/>
          </a:xfrm>
          <a:prstGeom prst="roundRect">
            <a:avLst>
              <a:gd name="adj" fmla="val 4854"/>
            </a:avLst>
          </a:prstGeom>
          <a:solidFill>
            <a:srgbClr val="EEF6F7"/>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33" name="Text 31"/>
          <p:cNvSpPr/>
          <p:nvPr/>
        </p:nvSpPr>
        <p:spPr>
          <a:xfrm>
            <a:off x="7132320" y="4352544"/>
            <a:ext cx="4389120" cy="256032"/>
          </a:xfrm>
          <a:prstGeom prst="rect">
            <a:avLst/>
          </a:prstGeom>
          <a:noFill/>
          <a:ln/>
        </p:spPr>
        <p:txBody>
          <a:bodyPr wrap="square" lIns="0" tIns="0" rIns="0" bIns="0" rtlCol="0" anchor="ctr"/>
          <a:lstStyle/>
          <a:p>
            <a:pPr indent="0" marL="0">
              <a:buNone/>
            </a:pPr>
            <a:r>
              <a:rPr lang="en-US" sz="1300" b="1" dirty="0">
                <a:solidFill>
                  <a:srgbClr val="0A2E36"/>
                </a:solidFill>
                <a:latin typeface="Cambria" pitchFamily="34" charset="0"/>
                <a:ea typeface="Cambria" pitchFamily="34" charset="-122"/>
                <a:cs typeface="Cambria" pitchFamily="34" charset="-120"/>
              </a:rPr>
              <a:t>What happens when the AI is unavailable</a:t>
            </a:r>
            <a:endParaRPr lang="en-US" sz="1300" dirty="0"/>
          </a:p>
        </p:txBody>
      </p:sp>
      <p:sp>
        <p:nvSpPr>
          <p:cNvPr id="34" name="Text 32"/>
          <p:cNvSpPr/>
          <p:nvPr/>
        </p:nvSpPr>
        <p:spPr>
          <a:xfrm>
            <a:off x="7132320" y="4700016"/>
            <a:ext cx="4206240" cy="1316736"/>
          </a:xfrm>
          <a:prstGeom prst="rect">
            <a:avLst/>
          </a:prstGeom>
          <a:noFill/>
          <a:ln/>
        </p:spPr>
        <p:txBody>
          <a:bodyPr wrap="square" lIns="0" tIns="0" rIns="0" bIns="0" rtlCol="0" anchor="t"/>
          <a:lstStyle/>
          <a:p>
            <a:pPr marL="342900" indent="-342900">
              <a:spcAft>
                <a:spcPts val="500"/>
              </a:spcAft>
              <a:buSzPct val="100000"/>
              <a:buChar char="•"/>
            </a:pPr>
            <a:r>
              <a:rPr lang="en-US" sz="1100" dirty="0">
                <a:solidFill>
                  <a:srgbClr val="445C64"/>
                </a:solidFill>
                <a:latin typeface="Calibri" pitchFamily="34" charset="0"/>
                <a:ea typeface="Calibri" pitchFamily="34" charset="-122"/>
                <a:cs typeface="Calibri" pitchFamily="34" charset="-120"/>
              </a:rPr>
              <a:t>Ticket creation still succeeds — AI runs after the ticket is saved.</a:t>
            </a:r>
            <a:endParaRPr lang="en-US" sz="1100" dirty="0"/>
          </a:p>
          <a:p>
            <a:pPr marL="342900" indent="-342900">
              <a:spcAft>
                <a:spcPts val="500"/>
              </a:spcAft>
              <a:buSzPct val="100000"/>
              <a:buChar char="•"/>
            </a:pPr>
            <a:r>
              <a:rPr lang="en-US" sz="1100" dirty="0">
                <a:solidFill>
                  <a:srgbClr val="445C64"/>
                </a:solidFill>
                <a:latin typeface="Calibri" pitchFamily="34" charset="0"/>
                <a:ea typeface="Calibri" pitchFamily="34" charset="-122"/>
                <a:cs typeface="Calibri" pitchFamily="34" charset="-120"/>
              </a:rPr>
              <a:t>Falls back to a deterministic rule-based classifier.</a:t>
            </a:r>
            <a:endParaRPr lang="en-US" sz="1100" dirty="0"/>
          </a:p>
          <a:p>
            <a:pPr marL="342900" indent="-342900">
              <a:spcAft>
                <a:spcPts val="500"/>
              </a:spcAft>
              <a:buSzPct val="100000"/>
              <a:buChar char="•"/>
            </a:pPr>
            <a:r>
              <a:rPr lang="en-US" sz="1100" dirty="0">
                <a:solidFill>
                  <a:srgbClr val="445C64"/>
                </a:solidFill>
                <a:latin typeface="Calibri" pitchFamily="34" charset="0"/>
                <a:ea typeface="Calibri" pitchFamily="34" charset="-122"/>
                <a:cs typeface="Calibri" pitchFamily="34" charset="-120"/>
              </a:rPr>
              <a:t>The panel shows a notice; the agent writes the reply.</a:t>
            </a:r>
            <a:endParaRPr lang="en-US" sz="1100" dirty="0"/>
          </a:p>
          <a:p>
            <a:pPr marL="342900" indent="-342900">
              <a:spcAft>
                <a:spcPts val="500"/>
              </a:spcAft>
              <a:buSzPct val="100000"/>
              <a:buChar char="•"/>
            </a:pPr>
            <a:r>
              <a:rPr lang="en-US" sz="1100" dirty="0">
                <a:solidFill>
                  <a:srgbClr val="445C64"/>
                </a:solidFill>
                <a:latin typeface="Calibri" pitchFamily="34" charset="0"/>
                <a:ea typeface="Calibri" pitchFamily="34" charset="-122"/>
                <a:cs typeface="Calibri" pitchFamily="34" charset="-120"/>
              </a:rPr>
              <a:t>CRUD, dashboards and reports are unaffected.</a:t>
            </a:r>
            <a:endParaRPr lang="en-US" sz="1100" dirty="0"/>
          </a:p>
        </p:txBody>
      </p:sp>
      <p:sp>
        <p:nvSpPr>
          <p:cNvPr id="35" name="Text 33"/>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6" name="Text 34"/>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65760"/>
            <a:ext cx="11027664" cy="237744"/>
          </a:xfrm>
          <a:prstGeom prst="rect">
            <a:avLst/>
          </a:prstGeom>
          <a:noFill/>
          <a:ln/>
        </p:spPr>
        <p:txBody>
          <a:bodyPr wrap="square" lIns="0" tIns="0" rIns="0" bIns="0" rtlCol="0" anchor="ctr"/>
          <a:lstStyle/>
          <a:p>
            <a:pPr indent="0" marL="0">
              <a:buNone/>
            </a:pPr>
            <a:r>
              <a:rPr lang="en-US" sz="1100" b="1" spc="220" kern="0" dirty="0">
                <a:solidFill>
                  <a:srgbClr val="028090"/>
                </a:solidFill>
                <a:latin typeface="Calibri" pitchFamily="34" charset="0"/>
                <a:ea typeface="Calibri" pitchFamily="34" charset="-122"/>
                <a:cs typeface="Calibri" pitchFamily="34" charset="-120"/>
              </a:rPr>
              <a:t>PLANNING</a:t>
            </a:r>
            <a:endParaRPr lang="en-US" sz="1100" dirty="0"/>
          </a:p>
        </p:txBody>
      </p:sp>
      <p:sp>
        <p:nvSpPr>
          <p:cNvPr id="3" name="Text 1"/>
          <p:cNvSpPr/>
          <p:nvPr/>
        </p:nvSpPr>
        <p:spPr>
          <a:xfrm>
            <a:off x="566928" y="621792"/>
            <a:ext cx="11027664" cy="621792"/>
          </a:xfrm>
          <a:prstGeom prst="rect">
            <a:avLst/>
          </a:prstGeom>
          <a:noFill/>
          <a:ln/>
        </p:spPr>
        <p:txBody>
          <a:bodyPr wrap="square" lIns="0" tIns="0" rIns="0" bIns="0" rtlCol="0" anchor="t"/>
          <a:lstStyle/>
          <a:p>
            <a:pPr indent="0" marL="0">
              <a:buNone/>
            </a:pPr>
            <a:r>
              <a:rPr lang="en-US" sz="3000" b="1" dirty="0">
                <a:solidFill>
                  <a:srgbClr val="0A2E36"/>
                </a:solidFill>
                <a:latin typeface="Cambria" pitchFamily="34" charset="0"/>
                <a:ea typeface="Cambria" pitchFamily="34" charset="-122"/>
                <a:cs typeface="Cambria" pitchFamily="34" charset="-120"/>
              </a:rPr>
              <a:t>Review Roadmap and Deliverables</a:t>
            </a:r>
            <a:endParaRPr lang="en-US" sz="3000" dirty="0"/>
          </a:p>
        </p:txBody>
      </p:sp>
      <p:sp>
        <p:nvSpPr>
          <p:cNvPr id="4" name="Shape 2"/>
          <p:cNvSpPr/>
          <p:nvPr/>
        </p:nvSpPr>
        <p:spPr>
          <a:xfrm>
            <a:off x="566928" y="1426464"/>
            <a:ext cx="3456432" cy="4059936"/>
          </a:xfrm>
          <a:prstGeom prst="roundRect">
            <a:avLst>
              <a:gd name="adj" fmla="val 2646"/>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5" name="Shape 3"/>
          <p:cNvSpPr/>
          <p:nvPr/>
        </p:nvSpPr>
        <p:spPr>
          <a:xfrm>
            <a:off x="566928" y="1426464"/>
            <a:ext cx="3456432" cy="932688"/>
          </a:xfrm>
          <a:prstGeom prst="roundRect">
            <a:avLst>
              <a:gd name="adj" fmla="val 9804"/>
            </a:avLst>
          </a:prstGeom>
          <a:solidFill>
            <a:srgbClr val="028090"/>
          </a:solidFill>
          <a:ln/>
        </p:spPr>
      </p:sp>
      <p:sp>
        <p:nvSpPr>
          <p:cNvPr id="6" name="Text 4"/>
          <p:cNvSpPr/>
          <p:nvPr/>
        </p:nvSpPr>
        <p:spPr>
          <a:xfrm>
            <a:off x="822960" y="1554480"/>
            <a:ext cx="914400" cy="32918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R1</a:t>
            </a:r>
            <a:endParaRPr lang="en-US" sz="2200" dirty="0"/>
          </a:p>
        </p:txBody>
      </p:sp>
      <p:sp>
        <p:nvSpPr>
          <p:cNvPr id="7" name="Text 5"/>
          <p:cNvSpPr/>
          <p:nvPr/>
        </p:nvSpPr>
        <p:spPr>
          <a:xfrm>
            <a:off x="1664208" y="1591056"/>
            <a:ext cx="2084832" cy="256032"/>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20 August</a:t>
            </a:r>
            <a:endParaRPr lang="en-US" sz="1250" dirty="0"/>
          </a:p>
        </p:txBody>
      </p:sp>
      <p:sp>
        <p:nvSpPr>
          <p:cNvPr id="8" name="Text 6"/>
          <p:cNvSpPr/>
          <p:nvPr/>
        </p:nvSpPr>
        <p:spPr>
          <a:xfrm>
            <a:off x="822960" y="1956816"/>
            <a:ext cx="2944368" cy="274320"/>
          </a:xfrm>
          <a:prstGeom prst="rect">
            <a:avLst/>
          </a:prstGeom>
          <a:noFill/>
          <a:ln/>
        </p:spPr>
        <p:txBody>
          <a:bodyPr wrap="square" lIns="0" tIns="0" rIns="0" bIns="0" rtlCol="0" anchor="ctr"/>
          <a:lstStyle/>
          <a:p>
            <a:pPr indent="0" marL="0">
              <a:buNone/>
            </a:pPr>
            <a:r>
              <a:rPr lang="en-US" sz="1250" dirty="0">
                <a:solidFill>
                  <a:srgbClr val="CFE8E6"/>
                </a:solidFill>
                <a:latin typeface="Calibri" pitchFamily="34" charset="0"/>
                <a:ea typeface="Calibri" pitchFamily="34" charset="-122"/>
                <a:cs typeface="Calibri" pitchFamily="34" charset="-120"/>
              </a:rPr>
              <a:t>Requirements &amp; Design</a:t>
            </a:r>
            <a:endParaRPr lang="en-US" sz="1250" dirty="0"/>
          </a:p>
        </p:txBody>
      </p:sp>
      <p:sp>
        <p:nvSpPr>
          <p:cNvPr id="9" name="Text 7"/>
          <p:cNvSpPr/>
          <p:nvPr/>
        </p:nvSpPr>
        <p:spPr>
          <a:xfrm>
            <a:off x="841248" y="2542032"/>
            <a:ext cx="2907792" cy="2139696"/>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Problem statement, existing and proposed system</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Functional and non-functional requirements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Scope and use case diagram</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UI mockups and initial SRS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Repository initialised</a:t>
            </a:r>
            <a:endParaRPr lang="en-US" sz="1150" dirty="0"/>
          </a:p>
        </p:txBody>
      </p:sp>
      <p:sp>
        <p:nvSpPr>
          <p:cNvPr id="10" name="Shape 8"/>
          <p:cNvSpPr/>
          <p:nvPr/>
        </p:nvSpPr>
        <p:spPr>
          <a:xfrm>
            <a:off x="822960" y="4901184"/>
            <a:ext cx="1188720" cy="274320"/>
          </a:xfrm>
          <a:prstGeom prst="roundRect">
            <a:avLst>
              <a:gd name="adj" fmla="val 20000"/>
            </a:avLst>
          </a:prstGeom>
          <a:solidFill>
            <a:srgbClr val="DCF0EC"/>
          </a:solidFill>
          <a:ln/>
        </p:spPr>
      </p:sp>
      <p:sp>
        <p:nvSpPr>
          <p:cNvPr id="11" name="Text 9"/>
          <p:cNvSpPr/>
          <p:nvPr/>
        </p:nvSpPr>
        <p:spPr>
          <a:xfrm>
            <a:off x="822960" y="4901184"/>
            <a:ext cx="1188720" cy="274320"/>
          </a:xfrm>
          <a:prstGeom prst="rect">
            <a:avLst/>
          </a:prstGeom>
          <a:noFill/>
          <a:ln/>
        </p:spPr>
        <p:txBody>
          <a:bodyPr wrap="square" lIns="0" tIns="0" rIns="0" bIns="0" rtlCol="0" anchor="ctr"/>
          <a:lstStyle/>
          <a:p>
            <a:pPr algn="ctr" indent="0" marL="0">
              <a:buNone/>
            </a:pPr>
            <a:r>
              <a:rPr lang="en-US" sz="1000" b="1" dirty="0">
                <a:solidFill>
                  <a:srgbClr val="028090"/>
                </a:solidFill>
                <a:latin typeface="Calibri" pitchFamily="34" charset="0"/>
                <a:ea typeface="Calibri" pitchFamily="34" charset="-122"/>
                <a:cs typeface="Calibri" pitchFamily="34" charset="-120"/>
              </a:rPr>
              <a:t>In progress</a:t>
            </a:r>
            <a:endParaRPr lang="en-US" sz="1000" dirty="0"/>
          </a:p>
        </p:txBody>
      </p:sp>
      <p:sp>
        <p:nvSpPr>
          <p:cNvPr id="12" name="Shape 10"/>
          <p:cNvSpPr/>
          <p:nvPr/>
        </p:nvSpPr>
        <p:spPr>
          <a:xfrm>
            <a:off x="4352544" y="1426464"/>
            <a:ext cx="3456432" cy="4059936"/>
          </a:xfrm>
          <a:prstGeom prst="roundRect">
            <a:avLst>
              <a:gd name="adj" fmla="val 2646"/>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13" name="Shape 11"/>
          <p:cNvSpPr/>
          <p:nvPr/>
        </p:nvSpPr>
        <p:spPr>
          <a:xfrm>
            <a:off x="4352544" y="1426464"/>
            <a:ext cx="3456432" cy="932688"/>
          </a:xfrm>
          <a:prstGeom prst="roundRect">
            <a:avLst>
              <a:gd name="adj" fmla="val 9804"/>
            </a:avLst>
          </a:prstGeom>
          <a:solidFill>
            <a:srgbClr val="00A896"/>
          </a:solidFill>
          <a:ln/>
        </p:spPr>
      </p:sp>
      <p:sp>
        <p:nvSpPr>
          <p:cNvPr id="14" name="Text 12"/>
          <p:cNvSpPr/>
          <p:nvPr/>
        </p:nvSpPr>
        <p:spPr>
          <a:xfrm>
            <a:off x="4608576" y="1554480"/>
            <a:ext cx="914400" cy="32918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R2</a:t>
            </a:r>
            <a:endParaRPr lang="en-US" sz="2200" dirty="0"/>
          </a:p>
        </p:txBody>
      </p:sp>
      <p:sp>
        <p:nvSpPr>
          <p:cNvPr id="15" name="Text 13"/>
          <p:cNvSpPr/>
          <p:nvPr/>
        </p:nvSpPr>
        <p:spPr>
          <a:xfrm>
            <a:off x="5449824" y="1591056"/>
            <a:ext cx="2084832" cy="256032"/>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17 September</a:t>
            </a:r>
            <a:endParaRPr lang="en-US" sz="1250" dirty="0"/>
          </a:p>
        </p:txBody>
      </p:sp>
      <p:sp>
        <p:nvSpPr>
          <p:cNvPr id="16" name="Text 14"/>
          <p:cNvSpPr/>
          <p:nvPr/>
        </p:nvSpPr>
        <p:spPr>
          <a:xfrm>
            <a:off x="4608576" y="1956816"/>
            <a:ext cx="2944368" cy="274320"/>
          </a:xfrm>
          <a:prstGeom prst="rect">
            <a:avLst/>
          </a:prstGeom>
          <a:noFill/>
          <a:ln/>
        </p:spPr>
        <p:txBody>
          <a:bodyPr wrap="square" lIns="0" tIns="0" rIns="0" bIns="0" rtlCol="0" anchor="ctr"/>
          <a:lstStyle/>
          <a:p>
            <a:pPr indent="0" marL="0">
              <a:buNone/>
            </a:pPr>
            <a:r>
              <a:rPr lang="en-US" sz="1250" dirty="0">
                <a:solidFill>
                  <a:srgbClr val="CFE8E6"/>
                </a:solidFill>
                <a:latin typeface="Calibri" pitchFamily="34" charset="0"/>
                <a:ea typeface="Calibri" pitchFamily="34" charset="-122"/>
                <a:cs typeface="Calibri" pitchFamily="34" charset="-120"/>
              </a:rPr>
              <a:t>Build &amp; Deploy</a:t>
            </a:r>
            <a:endParaRPr lang="en-US" sz="1250" dirty="0"/>
          </a:p>
        </p:txBody>
      </p:sp>
      <p:sp>
        <p:nvSpPr>
          <p:cNvPr id="17" name="Text 15"/>
          <p:cNvSpPr/>
          <p:nvPr/>
        </p:nvSpPr>
        <p:spPr>
          <a:xfrm>
            <a:off x="4626864" y="2542032"/>
            <a:ext cx="2907792" cy="2139696"/>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System, cloud and database architecture</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ER diagram and module design</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Authentication and role-based access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Ticket CRUD and REST APIs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Initial public cloud deployment</a:t>
            </a:r>
            <a:endParaRPr lang="en-US" sz="1150" dirty="0"/>
          </a:p>
        </p:txBody>
      </p:sp>
      <p:sp>
        <p:nvSpPr>
          <p:cNvPr id="18" name="Shape 16"/>
          <p:cNvSpPr/>
          <p:nvPr/>
        </p:nvSpPr>
        <p:spPr>
          <a:xfrm>
            <a:off x="4608576" y="4901184"/>
            <a:ext cx="1188720" cy="274320"/>
          </a:xfrm>
          <a:prstGeom prst="roundRect">
            <a:avLst>
              <a:gd name="adj" fmla="val 20000"/>
            </a:avLst>
          </a:prstGeom>
          <a:solidFill>
            <a:srgbClr val="EEF2F3"/>
          </a:solidFill>
          <a:ln/>
        </p:spPr>
      </p:sp>
      <p:sp>
        <p:nvSpPr>
          <p:cNvPr id="19" name="Text 17"/>
          <p:cNvSpPr/>
          <p:nvPr/>
        </p:nvSpPr>
        <p:spPr>
          <a:xfrm>
            <a:off x="4608576" y="4901184"/>
            <a:ext cx="1188720" cy="274320"/>
          </a:xfrm>
          <a:prstGeom prst="rect">
            <a:avLst/>
          </a:prstGeom>
          <a:noFill/>
          <a:ln/>
        </p:spPr>
        <p:txBody>
          <a:bodyPr wrap="square" lIns="0" tIns="0" rIns="0" bIns="0" rtlCol="0" anchor="ctr"/>
          <a:lstStyle/>
          <a:p>
            <a:pPr algn="ctr" indent="0" marL="0">
              <a:buNone/>
            </a:pPr>
            <a:r>
              <a:rPr lang="en-US" sz="1000" b="1" dirty="0">
                <a:solidFill>
                  <a:srgbClr val="7C939B"/>
                </a:solidFill>
                <a:latin typeface="Calibri" pitchFamily="34" charset="0"/>
                <a:ea typeface="Calibri" pitchFamily="34" charset="-122"/>
                <a:cs typeface="Calibri" pitchFamily="34" charset="-120"/>
              </a:rPr>
              <a:t>Planned</a:t>
            </a:r>
            <a:endParaRPr lang="en-US" sz="1000" dirty="0"/>
          </a:p>
        </p:txBody>
      </p:sp>
      <p:sp>
        <p:nvSpPr>
          <p:cNvPr id="20" name="Shape 18"/>
          <p:cNvSpPr/>
          <p:nvPr/>
        </p:nvSpPr>
        <p:spPr>
          <a:xfrm>
            <a:off x="8138160" y="1426464"/>
            <a:ext cx="3456432" cy="4059936"/>
          </a:xfrm>
          <a:prstGeom prst="roundRect">
            <a:avLst>
              <a:gd name="adj" fmla="val 2646"/>
            </a:avLst>
          </a:prstGeom>
          <a:solidFill>
            <a:srgbClr val="FFFFFF"/>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1" name="Shape 19"/>
          <p:cNvSpPr/>
          <p:nvPr/>
        </p:nvSpPr>
        <p:spPr>
          <a:xfrm>
            <a:off x="8138160" y="1426464"/>
            <a:ext cx="3456432" cy="932688"/>
          </a:xfrm>
          <a:prstGeom prst="roundRect">
            <a:avLst>
              <a:gd name="adj" fmla="val 9804"/>
            </a:avLst>
          </a:prstGeom>
          <a:solidFill>
            <a:srgbClr val="0A2E36"/>
          </a:solidFill>
          <a:ln/>
        </p:spPr>
      </p:sp>
      <p:sp>
        <p:nvSpPr>
          <p:cNvPr id="22" name="Text 20"/>
          <p:cNvSpPr/>
          <p:nvPr/>
        </p:nvSpPr>
        <p:spPr>
          <a:xfrm>
            <a:off x="8394192" y="1554480"/>
            <a:ext cx="914400" cy="329184"/>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R3</a:t>
            </a:r>
            <a:endParaRPr lang="en-US" sz="2200" dirty="0"/>
          </a:p>
        </p:txBody>
      </p:sp>
      <p:sp>
        <p:nvSpPr>
          <p:cNvPr id="23" name="Text 21"/>
          <p:cNvSpPr/>
          <p:nvPr/>
        </p:nvSpPr>
        <p:spPr>
          <a:xfrm>
            <a:off x="9235440" y="1591056"/>
            <a:ext cx="2084832" cy="256032"/>
          </a:xfrm>
          <a:prstGeom prst="rect">
            <a:avLst/>
          </a:prstGeom>
          <a:noFill/>
          <a:ln/>
        </p:spPr>
        <p:txBody>
          <a:bodyPr wrap="square" lIns="0" tIns="0" rIns="0" bIns="0" rtlCol="0" anchor="ctr"/>
          <a:lstStyle/>
          <a:p>
            <a:pPr algn="r" indent="0" marL="0">
              <a:buNone/>
            </a:pPr>
            <a:r>
              <a:rPr lang="en-US" sz="1250" b="1" dirty="0">
                <a:solidFill>
                  <a:srgbClr val="FFFFFF"/>
                </a:solidFill>
                <a:latin typeface="Calibri" pitchFamily="34" charset="0"/>
                <a:ea typeface="Calibri" pitchFamily="34" charset="-122"/>
                <a:cs typeface="Calibri" pitchFamily="34" charset="-120"/>
              </a:rPr>
              <a:t>15 October</a:t>
            </a:r>
            <a:endParaRPr lang="en-US" sz="1250" dirty="0"/>
          </a:p>
        </p:txBody>
      </p:sp>
      <p:sp>
        <p:nvSpPr>
          <p:cNvPr id="24" name="Text 22"/>
          <p:cNvSpPr/>
          <p:nvPr/>
        </p:nvSpPr>
        <p:spPr>
          <a:xfrm>
            <a:off x="8394192" y="1956816"/>
            <a:ext cx="2944368" cy="274320"/>
          </a:xfrm>
          <a:prstGeom prst="rect">
            <a:avLst/>
          </a:prstGeom>
          <a:noFill/>
          <a:ln/>
        </p:spPr>
        <p:txBody>
          <a:bodyPr wrap="square" lIns="0" tIns="0" rIns="0" bIns="0" rtlCol="0" anchor="ctr"/>
          <a:lstStyle/>
          <a:p>
            <a:pPr indent="0" marL="0">
              <a:buNone/>
            </a:pPr>
            <a:r>
              <a:rPr lang="en-US" sz="1250" dirty="0">
                <a:solidFill>
                  <a:srgbClr val="CFE8E6"/>
                </a:solidFill>
                <a:latin typeface="Calibri" pitchFamily="34" charset="0"/>
                <a:ea typeface="Calibri" pitchFamily="34" charset="-122"/>
                <a:cs typeface="Calibri" pitchFamily="34" charset="-120"/>
              </a:rPr>
              <a:t>Complete &amp; Demonstrate</a:t>
            </a:r>
            <a:endParaRPr lang="en-US" sz="1250" dirty="0"/>
          </a:p>
        </p:txBody>
      </p:sp>
      <p:sp>
        <p:nvSpPr>
          <p:cNvPr id="25" name="Text 23"/>
          <p:cNvSpPr/>
          <p:nvPr/>
        </p:nvSpPr>
        <p:spPr>
          <a:xfrm>
            <a:off x="8412480" y="2542032"/>
            <a:ext cx="2907792" cy="2139696"/>
          </a:xfrm>
          <a:prstGeom prst="rect">
            <a:avLst/>
          </a:prstGeom>
          <a:noFill/>
          <a:ln/>
        </p:spPr>
        <p:txBody>
          <a:bodyPr wrap="square" lIns="0" tIns="0" rIns="0" bIns="0" rtlCol="0" anchor="t"/>
          <a:lstStyle/>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Dashboards, reports and notifications</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AI assistance and error handling</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Responsive polish and testing</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Final report and presentation</a:t>
            </a:r>
            <a:endParaRPr lang="en-US" sz="1150" dirty="0"/>
          </a:p>
          <a:p>
            <a:pPr marL="342900" indent="-342900">
              <a:spcAft>
                <a:spcPts val="700"/>
              </a:spcAft>
              <a:buSzPct val="100000"/>
              <a:buChar char="•"/>
            </a:pPr>
            <a:r>
              <a:rPr lang="en-US" sz="1150" dirty="0">
                <a:solidFill>
                  <a:srgbClr val="445C64"/>
                </a:solidFill>
                <a:latin typeface="Calibri" pitchFamily="34" charset="0"/>
                <a:ea typeface="Calibri" pitchFamily="34" charset="-122"/>
                <a:cs typeface="Calibri" pitchFamily="34" charset="-120"/>
              </a:rPr>
              <a:t>Live URL and working demonstration</a:t>
            </a:r>
            <a:endParaRPr lang="en-US" sz="1150" dirty="0"/>
          </a:p>
        </p:txBody>
      </p:sp>
      <p:sp>
        <p:nvSpPr>
          <p:cNvPr id="26" name="Shape 24"/>
          <p:cNvSpPr/>
          <p:nvPr/>
        </p:nvSpPr>
        <p:spPr>
          <a:xfrm>
            <a:off x="8394192" y="4901184"/>
            <a:ext cx="1188720" cy="274320"/>
          </a:xfrm>
          <a:prstGeom prst="roundRect">
            <a:avLst>
              <a:gd name="adj" fmla="val 20000"/>
            </a:avLst>
          </a:prstGeom>
          <a:solidFill>
            <a:srgbClr val="EEF2F3"/>
          </a:solidFill>
          <a:ln/>
        </p:spPr>
      </p:sp>
      <p:sp>
        <p:nvSpPr>
          <p:cNvPr id="27" name="Text 25"/>
          <p:cNvSpPr/>
          <p:nvPr/>
        </p:nvSpPr>
        <p:spPr>
          <a:xfrm>
            <a:off x="8394192" y="4901184"/>
            <a:ext cx="1188720" cy="274320"/>
          </a:xfrm>
          <a:prstGeom prst="rect">
            <a:avLst/>
          </a:prstGeom>
          <a:noFill/>
          <a:ln/>
        </p:spPr>
        <p:txBody>
          <a:bodyPr wrap="square" lIns="0" tIns="0" rIns="0" bIns="0" rtlCol="0" anchor="ctr"/>
          <a:lstStyle/>
          <a:p>
            <a:pPr algn="ctr" indent="0" marL="0">
              <a:buNone/>
            </a:pPr>
            <a:r>
              <a:rPr lang="en-US" sz="1000" b="1" dirty="0">
                <a:solidFill>
                  <a:srgbClr val="7C939B"/>
                </a:solidFill>
                <a:latin typeface="Calibri" pitchFamily="34" charset="0"/>
                <a:ea typeface="Calibri" pitchFamily="34" charset="-122"/>
                <a:cs typeface="Calibri" pitchFamily="34" charset="-120"/>
              </a:rPr>
              <a:t>Planned</a:t>
            </a:r>
            <a:endParaRPr lang="en-US" sz="1000" dirty="0"/>
          </a:p>
        </p:txBody>
      </p:sp>
      <p:sp>
        <p:nvSpPr>
          <p:cNvPr id="28" name="Shape 26"/>
          <p:cNvSpPr/>
          <p:nvPr/>
        </p:nvSpPr>
        <p:spPr>
          <a:xfrm>
            <a:off x="566928" y="5614416"/>
            <a:ext cx="11027664" cy="566928"/>
          </a:xfrm>
          <a:prstGeom prst="roundRect">
            <a:avLst>
              <a:gd name="adj" fmla="val 16129"/>
            </a:avLst>
          </a:prstGeom>
          <a:solidFill>
            <a:srgbClr val="F7FBFB"/>
          </a:solidFill>
          <a:ln w="9525">
            <a:solidFill>
              <a:srgbClr val="D3E3E6"/>
            </a:solidFill>
            <a:prstDash val="solid"/>
          </a:ln>
          <a:effectLst>
            <a:outerShdw sx="100000" sy="100000" kx="0" ky="0" algn="bl" rotWithShape="0" blurRad="127000" dist="25400" dir="5400000">
              <a:srgbClr val="0A2E36">
                <a:alpha val="10000"/>
              </a:srgbClr>
            </a:outerShdw>
          </a:effectLst>
        </p:spPr>
      </p:sp>
      <p:sp>
        <p:nvSpPr>
          <p:cNvPr id="29" name="Text 27"/>
          <p:cNvSpPr/>
          <p:nvPr/>
        </p:nvSpPr>
        <p:spPr>
          <a:xfrm>
            <a:off x="877824" y="5614416"/>
            <a:ext cx="10405872" cy="566928"/>
          </a:xfrm>
          <a:prstGeom prst="rect">
            <a:avLst/>
          </a:prstGeom>
          <a:noFill/>
          <a:ln/>
        </p:spPr>
        <p:txBody>
          <a:bodyPr wrap="square" lIns="0" tIns="0" rIns="0" bIns="0" rtlCol="0" anchor="ctr"/>
          <a:lstStyle/>
          <a:p>
            <a:pPr indent="0" marL="0">
              <a:buNone/>
            </a:pPr>
            <a:r>
              <a:rPr lang="en-US" sz="1200" dirty="0">
                <a:solidFill>
                  <a:srgbClr val="445C64"/>
                </a:solidFill>
                <a:latin typeface="Calibri" pitchFamily="34" charset="0"/>
                <a:ea typeface="Calibri" pitchFamily="34" charset="-122"/>
                <a:cs typeface="Calibri" pitchFamily="34" charset="-120"/>
              </a:rPr>
              <a:t>Each of us can explain and modify any part of the system — module ownership rotates, and design decisions are documented as they are made.</a:t>
            </a:r>
            <a:endParaRPr lang="en-US" sz="1200" dirty="0"/>
          </a:p>
        </p:txBody>
      </p:sp>
      <p:sp>
        <p:nvSpPr>
          <p:cNvPr id="30" name="Text 28"/>
          <p:cNvSpPr/>
          <p:nvPr/>
        </p:nvSpPr>
        <p:spPr>
          <a:xfrm>
            <a:off x="566928" y="6345936"/>
            <a:ext cx="7315200" cy="219456"/>
          </a:xfrm>
          <a:prstGeom prst="rect">
            <a:avLst/>
          </a:prstGeom>
          <a:noFill/>
          <a:ln/>
        </p:spPr>
        <p:txBody>
          <a:bodyPr wrap="square" lIns="0" tIns="0" rIns="0" bIns="0" rtlCol="0" anchor="ctr"/>
          <a:lstStyle/>
          <a:p>
            <a:pPr indent="0" marL="0">
              <a:buNone/>
            </a:pPr>
            <a:r>
              <a:rPr lang="en-US" sz="900" dirty="0">
                <a:solidFill>
                  <a:srgbClr val="7C939B"/>
                </a:solidFill>
                <a:latin typeface="Calibri" pitchFamily="34" charset="0"/>
                <a:ea typeface="Calibri" pitchFamily="34" charset="-122"/>
                <a:cs typeface="Calibri" pitchFamily="34" charset="-120"/>
              </a:rPr>
              <a:t>ServiceDesk AI  ·  BCSE408L Cloud Computing  ·  Review 1</a:t>
            </a:r>
            <a:endParaRPr lang="en-US" sz="900" dirty="0"/>
          </a:p>
        </p:txBody>
      </p:sp>
      <p:sp>
        <p:nvSpPr>
          <p:cNvPr id="31" name="Text 29"/>
          <p:cNvSpPr/>
          <p:nvPr/>
        </p:nvSpPr>
        <p:spPr>
          <a:xfrm>
            <a:off x="10680192" y="6345936"/>
            <a:ext cx="914400" cy="219456"/>
          </a:xfrm>
          <a:prstGeom prst="rect">
            <a:avLst/>
          </a:prstGeom>
          <a:noFill/>
          <a:ln/>
        </p:spPr>
        <p:txBody>
          <a:bodyPr wrap="square" lIns="0" tIns="0" rIns="0" bIns="0" rtlCol="0" anchor="ctr"/>
          <a:lstStyle/>
          <a:p>
            <a:pPr algn="r" indent="0" marL="0">
              <a:buNone/>
            </a:pPr>
            <a:r>
              <a:rPr lang="en-US" sz="900" dirty="0">
                <a:solidFill>
                  <a:srgbClr val="7C939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2E36"/>
        </a:solidFill>
      </p:bgPr>
    </p:bg>
    <p:spTree>
      <p:nvGrpSpPr>
        <p:cNvPr id="1" name=""/>
        <p:cNvGrpSpPr/>
        <p:nvPr/>
      </p:nvGrpSpPr>
      <p:grpSpPr>
        <a:xfrm>
          <a:off x="0" y="0"/>
          <a:ext cx="0" cy="0"/>
          <a:chOff x="0" y="0"/>
          <a:chExt cx="0" cy="0"/>
        </a:xfrm>
      </p:grpSpPr>
      <p:sp>
        <p:nvSpPr>
          <p:cNvPr id="2" name="Shape 0"/>
          <p:cNvSpPr/>
          <p:nvPr/>
        </p:nvSpPr>
        <p:spPr>
          <a:xfrm>
            <a:off x="-1371600" y="4023360"/>
            <a:ext cx="4754880" cy="4754880"/>
          </a:xfrm>
          <a:prstGeom prst="ellipse">
            <a:avLst/>
          </a:prstGeom>
          <a:ln w="15240">
            <a:solidFill>
              <a:srgbClr val="14454F"/>
            </a:solidFill>
            <a:prstDash val="solid"/>
          </a:ln>
        </p:spPr>
      </p:sp>
      <p:sp>
        <p:nvSpPr>
          <p:cNvPr id="3" name="Shape 1"/>
          <p:cNvSpPr/>
          <p:nvPr/>
        </p:nvSpPr>
        <p:spPr>
          <a:xfrm>
            <a:off x="9692640" y="-1463040"/>
            <a:ext cx="4023360" cy="4023360"/>
          </a:xfrm>
          <a:prstGeom prst="ellipse">
            <a:avLst/>
          </a:prstGeom>
          <a:ln w="15240">
            <a:solidFill>
              <a:srgbClr val="14454F"/>
            </a:solidFill>
            <a:prstDash val="solid"/>
          </a:ln>
        </p:spPr>
      </p:sp>
      <p:sp>
        <p:nvSpPr>
          <p:cNvPr id="4" name="Text 2"/>
          <p:cNvSpPr/>
          <p:nvPr/>
        </p:nvSpPr>
        <p:spPr>
          <a:xfrm>
            <a:off x="566928" y="1920240"/>
            <a:ext cx="7315200" cy="914400"/>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Thank you</a:t>
            </a:r>
            <a:endParaRPr lang="en-US" sz="5000" dirty="0"/>
          </a:p>
        </p:txBody>
      </p:sp>
      <p:sp>
        <p:nvSpPr>
          <p:cNvPr id="5" name="Text 3"/>
          <p:cNvSpPr/>
          <p:nvPr/>
        </p:nvSpPr>
        <p:spPr>
          <a:xfrm>
            <a:off x="566928" y="2889504"/>
            <a:ext cx="7315200" cy="365760"/>
          </a:xfrm>
          <a:prstGeom prst="rect">
            <a:avLst/>
          </a:prstGeom>
          <a:noFill/>
          <a:ln/>
        </p:spPr>
        <p:txBody>
          <a:bodyPr wrap="square" lIns="0" tIns="0" rIns="0" bIns="0" rtlCol="0" anchor="ctr"/>
          <a:lstStyle/>
          <a:p>
            <a:pPr indent="0" marL="0">
              <a:buNone/>
            </a:pPr>
            <a:r>
              <a:rPr lang="en-US" sz="1500" dirty="0">
                <a:solidFill>
                  <a:srgbClr val="BCD4D8"/>
                </a:solidFill>
                <a:latin typeface="Cambria" pitchFamily="34" charset="0"/>
                <a:ea typeface="Cambria" pitchFamily="34" charset="-122"/>
                <a:cs typeface="Cambria" pitchFamily="34" charset="-120"/>
              </a:rPr>
              <a:t>Questions are welcome — both of us are prepared to answer.</a:t>
            </a:r>
            <a:endParaRPr lang="en-US" sz="1500" dirty="0"/>
          </a:p>
        </p:txBody>
      </p:sp>
      <p:sp>
        <p:nvSpPr>
          <p:cNvPr id="6" name="Text 4"/>
          <p:cNvSpPr/>
          <p:nvPr/>
        </p:nvSpPr>
        <p:spPr>
          <a:xfrm>
            <a:off x="566928" y="3712464"/>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Project 19</a:t>
            </a:r>
            <a:endParaRPr lang="en-US" sz="1100" dirty="0"/>
          </a:p>
        </p:txBody>
      </p:sp>
      <p:sp>
        <p:nvSpPr>
          <p:cNvPr id="7" name="Text 5"/>
          <p:cNvSpPr/>
          <p:nvPr/>
        </p:nvSpPr>
        <p:spPr>
          <a:xfrm>
            <a:off x="2487168" y="3712464"/>
            <a:ext cx="768096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ServiceDesk AI · Customer Support SaaS</a:t>
            </a:r>
            <a:endParaRPr lang="en-US" sz="1250" dirty="0"/>
          </a:p>
        </p:txBody>
      </p:sp>
      <p:sp>
        <p:nvSpPr>
          <p:cNvPr id="8" name="Text 6"/>
          <p:cNvSpPr/>
          <p:nvPr/>
        </p:nvSpPr>
        <p:spPr>
          <a:xfrm>
            <a:off x="566928" y="4133088"/>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Team</a:t>
            </a:r>
            <a:endParaRPr lang="en-US" sz="1100" dirty="0"/>
          </a:p>
        </p:txBody>
      </p:sp>
      <p:sp>
        <p:nvSpPr>
          <p:cNvPr id="9" name="Text 7"/>
          <p:cNvSpPr/>
          <p:nvPr/>
        </p:nvSpPr>
        <p:spPr>
          <a:xfrm>
            <a:off x="2487168" y="4133088"/>
            <a:ext cx="768096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Aarush Jagannathan 23BLC1211 · Gomatheswar M 23BLC1195</a:t>
            </a:r>
            <a:endParaRPr lang="en-US" sz="1250" dirty="0"/>
          </a:p>
        </p:txBody>
      </p:sp>
      <p:sp>
        <p:nvSpPr>
          <p:cNvPr id="10" name="Text 8"/>
          <p:cNvSpPr/>
          <p:nvPr/>
        </p:nvSpPr>
        <p:spPr>
          <a:xfrm>
            <a:off x="566928" y="4553712"/>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Repository</a:t>
            </a:r>
            <a:endParaRPr lang="en-US" sz="1100" dirty="0"/>
          </a:p>
        </p:txBody>
      </p:sp>
      <p:sp>
        <p:nvSpPr>
          <p:cNvPr id="11" name="Text 9"/>
          <p:cNvSpPr/>
          <p:nvPr/>
        </p:nvSpPr>
        <p:spPr>
          <a:xfrm>
            <a:off x="2487168" y="4553712"/>
            <a:ext cx="7680960" cy="27432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github.com/ItzGOLLY/servicedesk-ai</a:t>
            </a:r>
            <a:endParaRPr lang="en-US" sz="1250" dirty="0"/>
          </a:p>
        </p:txBody>
      </p:sp>
      <p:sp>
        <p:nvSpPr>
          <p:cNvPr id="12" name="Text 10"/>
          <p:cNvSpPr/>
          <p:nvPr/>
        </p:nvSpPr>
        <p:spPr>
          <a:xfrm>
            <a:off x="566928" y="4974336"/>
            <a:ext cx="1828800" cy="274320"/>
          </a:xfrm>
          <a:prstGeom prst="rect">
            <a:avLst/>
          </a:prstGeom>
          <a:noFill/>
          <a:ln/>
        </p:spPr>
        <p:txBody>
          <a:bodyPr wrap="square" lIns="0" tIns="0" rIns="0" bIns="0" rtlCol="0" anchor="ctr"/>
          <a:lstStyle/>
          <a:p>
            <a:pPr indent="0" marL="0">
              <a:buNone/>
            </a:pPr>
            <a:r>
              <a:rPr lang="en-US" sz="1100" b="1" spc="120" kern="0" dirty="0">
                <a:solidFill>
                  <a:srgbClr val="02C39A"/>
                </a:solidFill>
                <a:latin typeface="Calibri" pitchFamily="34" charset="0"/>
                <a:ea typeface="Calibri" pitchFamily="34" charset="-122"/>
                <a:cs typeface="Calibri" pitchFamily="34" charset="-120"/>
              </a:rPr>
              <a:t>Live URL</a:t>
            </a:r>
            <a:endParaRPr lang="en-US" sz="1100" dirty="0"/>
          </a:p>
        </p:txBody>
      </p:sp>
      <p:sp>
        <p:nvSpPr>
          <p:cNvPr id="13" name="Text 11"/>
          <p:cNvSpPr/>
          <p:nvPr/>
        </p:nvSpPr>
        <p:spPr>
          <a:xfrm>
            <a:off x="2487168" y="4974336"/>
            <a:ext cx="7680960" cy="274320"/>
          </a:xfrm>
          <a:prstGeom prst="rect">
            <a:avLst/>
          </a:prstGeom>
          <a:noFill/>
          <a:ln/>
        </p:spPr>
        <p:txBody>
          <a:bodyPr wrap="square" lIns="0" tIns="0" rIns="0" bIns="0" rtlCol="0" anchor="ctr"/>
          <a:lstStyle/>
          <a:p>
            <a:pPr indent="0" marL="0">
              <a:buNone/>
            </a:pPr>
            <a:r>
              <a:rPr lang="en-US" sz="1250" i="1" dirty="0">
                <a:solidFill>
                  <a:srgbClr val="8FAAB1"/>
                </a:solidFill>
                <a:latin typeface="Calibri" pitchFamily="34" charset="0"/>
                <a:ea typeface="Calibri" pitchFamily="34" charset="-122"/>
                <a:cs typeface="Calibri" pitchFamily="34" charset="-120"/>
              </a:rPr>
              <a:t>To be published at Review 2 — not yet deployed</a:t>
            </a:r>
            <a:endParaRPr lang="en-US" sz="1250" dirty="0"/>
          </a:p>
        </p:txBody>
      </p:sp>
      <p:sp>
        <p:nvSpPr>
          <p:cNvPr id="14" name="Text 12"/>
          <p:cNvSpPr/>
          <p:nvPr/>
        </p:nvSpPr>
        <p:spPr>
          <a:xfrm>
            <a:off x="566928" y="5888736"/>
            <a:ext cx="10424160" cy="274320"/>
          </a:xfrm>
          <a:prstGeom prst="rect">
            <a:avLst/>
          </a:prstGeom>
          <a:noFill/>
          <a:ln/>
        </p:spPr>
        <p:txBody>
          <a:bodyPr wrap="square" lIns="0" tIns="0" rIns="0" bIns="0" rtlCol="0" anchor="ctr"/>
          <a:lstStyle/>
          <a:p>
            <a:pPr indent="0" marL="0">
              <a:buNone/>
            </a:pPr>
            <a:r>
              <a:rPr lang="en-US" sz="1050" dirty="0">
                <a:solidFill>
                  <a:srgbClr val="5E7D85"/>
                </a:solidFill>
                <a:latin typeface="Calibri" pitchFamily="34" charset="0"/>
                <a:ea typeface="Calibri" pitchFamily="34" charset="-122"/>
                <a:cs typeface="Calibri" pitchFamily="34" charset="-120"/>
              </a:rPr>
              <a:t>BCSE408L — Cloud Computing  ·  School of Computer Science Engineering and Information Systems  ·  VIT Chennai</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VIT Chennai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ServiceDesk AI — Review 1</dc:title>
  <dc:subject>PptxGenJS Presentation</dc:subject>
  <dc:creator>Aarush Jagannathan, Gomatheswar M</dc:creator>
  <cp:lastModifiedBy>Aarush Jagannathan, Gomatheswar M</cp:lastModifiedBy>
  <cp:revision>1</cp:revision>
  <dcterms:created xsi:type="dcterms:W3CDTF">2026-08-17T16:05:14Z</dcterms:created>
  <dcterms:modified xsi:type="dcterms:W3CDTF">2026-08-17T16:05:14Z</dcterms:modified>
</cp:coreProperties>
</file>